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lb" ContentType="model/gltf.binary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68"/>
  </p:notesMasterIdLst>
  <p:sldIdLst>
    <p:sldId id="256" r:id="rId2"/>
    <p:sldId id="257" r:id="rId3"/>
    <p:sldId id="549" r:id="rId4"/>
    <p:sldId id="554" r:id="rId5"/>
    <p:sldId id="258" r:id="rId6"/>
    <p:sldId id="261" r:id="rId7"/>
    <p:sldId id="618" r:id="rId8"/>
    <p:sldId id="560" r:id="rId9"/>
    <p:sldId id="561" r:id="rId10"/>
    <p:sldId id="559" r:id="rId11"/>
    <p:sldId id="555" r:id="rId12"/>
    <p:sldId id="562" r:id="rId13"/>
    <p:sldId id="584" r:id="rId14"/>
    <p:sldId id="619" r:id="rId15"/>
    <p:sldId id="567" r:id="rId16"/>
    <p:sldId id="633" r:id="rId17"/>
    <p:sldId id="259" r:id="rId18"/>
    <p:sldId id="585" r:id="rId19"/>
    <p:sldId id="599" r:id="rId20"/>
    <p:sldId id="589" r:id="rId21"/>
    <p:sldId id="571" r:id="rId22"/>
    <p:sldId id="578" r:id="rId23"/>
    <p:sldId id="552" r:id="rId24"/>
    <p:sldId id="634" r:id="rId25"/>
    <p:sldId id="607" r:id="rId26"/>
    <p:sldId id="624" r:id="rId27"/>
    <p:sldId id="597" r:id="rId28"/>
    <p:sldId id="598" r:id="rId29"/>
    <p:sldId id="588" r:id="rId30"/>
    <p:sldId id="591" r:id="rId31"/>
    <p:sldId id="593" r:id="rId32"/>
    <p:sldId id="595" r:id="rId33"/>
    <p:sldId id="629" r:id="rId34"/>
    <p:sldId id="601" r:id="rId35"/>
    <p:sldId id="611" r:id="rId36"/>
    <p:sldId id="623" r:id="rId37"/>
    <p:sldId id="637" r:id="rId38"/>
    <p:sldId id="647" r:id="rId39"/>
    <p:sldId id="609" r:id="rId40"/>
    <p:sldId id="610" r:id="rId41"/>
    <p:sldId id="642" r:id="rId42"/>
    <p:sldId id="643" r:id="rId43"/>
    <p:sldId id="644" r:id="rId44"/>
    <p:sldId id="645" r:id="rId45"/>
    <p:sldId id="646" r:id="rId46"/>
    <p:sldId id="648" r:id="rId47"/>
    <p:sldId id="602" r:id="rId48"/>
    <p:sldId id="613" r:id="rId49"/>
    <p:sldId id="603" r:id="rId50"/>
    <p:sldId id="608" r:id="rId51"/>
    <p:sldId id="631" r:id="rId52"/>
    <p:sldId id="626" r:id="rId53"/>
    <p:sldId id="627" r:id="rId54"/>
    <p:sldId id="617" r:id="rId55"/>
    <p:sldId id="625" r:id="rId56"/>
    <p:sldId id="655" r:id="rId57"/>
    <p:sldId id="641" r:id="rId58"/>
    <p:sldId id="654" r:id="rId59"/>
    <p:sldId id="639" r:id="rId60"/>
    <p:sldId id="649" r:id="rId61"/>
    <p:sldId id="638" r:id="rId62"/>
    <p:sldId id="636" r:id="rId63"/>
    <p:sldId id="650" r:id="rId64"/>
    <p:sldId id="621" r:id="rId65"/>
    <p:sldId id="628" r:id="rId66"/>
    <p:sldId id="577" r:id="rId67"/>
  </p:sldIdLst>
  <p:sldSz cx="9144000" cy="5143500" type="screen16x9"/>
  <p:notesSz cx="6858000" cy="9144000"/>
  <p:embeddedFontLst>
    <p:embeddedFont>
      <p:font typeface="Arial Nova Cond Light" panose="020B0306020202020204" pitchFamily="34" charset="0"/>
      <p:regular r:id="rId69"/>
    </p:embeddedFont>
    <p:embeddedFont>
      <p:font typeface="Montserrat" panose="00000500000000000000" pitchFamily="2" charset="0"/>
      <p:regular r:id="rId70"/>
      <p:bold r:id="rId71"/>
      <p:italic r:id="rId72"/>
      <p:boldItalic r:id="rId73"/>
    </p:embeddedFont>
    <p:embeddedFont>
      <p:font typeface="Montserrat Black" panose="00000A00000000000000" pitchFamily="2" charset="0"/>
      <p:bold r:id="rId74"/>
    </p:embeddedFont>
    <p:embeddedFont>
      <p:font typeface="Montserrat ExtraLight" panose="00000300000000000000" pitchFamily="2" charset="0"/>
      <p:regular r:id="rId75"/>
    </p:embeddedFont>
    <p:embeddedFont>
      <p:font typeface="Montserrat Thin" panose="00000300000000000000" pitchFamily="2" charset="0"/>
      <p:regular r:id="rId76"/>
    </p:embeddedFont>
    <p:embeddedFont>
      <p:font typeface="Open Sans" panose="020B0606030504020204" pitchFamily="34" charset="0"/>
      <p:regular r:id="rId77"/>
      <p:bold r:id="rId78"/>
    </p:embeddedFont>
    <p:embeddedFont>
      <p:font typeface="Segoe UI" panose="020B0502040204020203" pitchFamily="34" charset="0"/>
      <p:regular r:id="rId79"/>
      <p:bold r:id="rId80"/>
      <p:italic r:id="rId81"/>
      <p:boldItalic r:id="rId8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tiane MACHADO" initials="TM" lastIdx="2" clrIdx="0">
    <p:extLst>
      <p:ext uri="{19B8F6BF-5375-455C-9EA6-DF929625EA0E}">
        <p15:presenceInfo xmlns:p15="http://schemas.microsoft.com/office/powerpoint/2012/main" userId="S::tatiane.machado@bureauveritas.com::7a766bf5-7638-4633-b5e7-6ef8a5497af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00"/>
    <a:srgbClr val="FFCC00"/>
    <a:srgbClr val="33CCFF"/>
    <a:srgbClr val="7CB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FC8AE0-A4BC-4041-880B-A5ACEC0C5461}">
  <a:tblStyle styleId="{2BFC8AE0-A4BC-4041-880B-A5ACEC0C54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6357" autoAdjust="0"/>
  </p:normalViewPr>
  <p:slideViewPr>
    <p:cSldViewPr snapToGrid="0">
      <p:cViewPr varScale="1">
        <p:scale>
          <a:sx n="109" d="100"/>
          <a:sy n="109" d="100"/>
        </p:scale>
        <p:origin x="878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6.fntdata"/><Relationship Id="rId79" Type="http://schemas.openxmlformats.org/officeDocument/2006/relationships/font" Target="fonts/font11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80" Type="http://schemas.openxmlformats.org/officeDocument/2006/relationships/font" Target="fonts/font12.fntdata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3" Type="http://schemas.openxmlformats.org/officeDocument/2006/relationships/commentAuthors" Target="commentAuthors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1" Type="http://schemas.openxmlformats.org/officeDocument/2006/relationships/font" Target="fonts/font13.fntdata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Somogyi" userId="94ea200989126f6d" providerId="LiveId" clId="{8C91E982-4918-44F0-A830-2DE951E9F24D}"/>
    <pc:docChg chg="modSld">
      <pc:chgData name="Jean Somogyi" userId="94ea200989126f6d" providerId="LiveId" clId="{8C91E982-4918-44F0-A830-2DE951E9F24D}" dt="2026-10-20T02:44:02.879" v="9" actId="20577"/>
      <pc:docMkLst>
        <pc:docMk/>
      </pc:docMkLst>
      <pc:sldChg chg="modSp mod">
        <pc:chgData name="Jean Somogyi" userId="94ea200989126f6d" providerId="LiveId" clId="{8C91E982-4918-44F0-A830-2DE951E9F24D}" dt="2026-10-20T02:44:02.879" v="9" actId="20577"/>
        <pc:sldMkLst>
          <pc:docMk/>
          <pc:sldMk cId="0" sldId="257"/>
        </pc:sldMkLst>
        <pc:spChg chg="mod">
          <ac:chgData name="Jean Somogyi" userId="94ea200989126f6d" providerId="LiveId" clId="{8C91E982-4918-44F0-A830-2DE951E9F24D}" dt="2026-10-20T02:43:49.121" v="1" actId="20577"/>
          <ac:spMkLst>
            <pc:docMk/>
            <pc:sldMk cId="0" sldId="257"/>
            <ac:spMk id="10" creationId="{1769F549-8FCF-4AA7-800A-38B6252D34D2}"/>
          </ac:spMkLst>
        </pc:spChg>
        <pc:spChg chg="mod">
          <ac:chgData name="Jean Somogyi" userId="94ea200989126f6d" providerId="LiveId" clId="{8C91E982-4918-44F0-A830-2DE951E9F24D}" dt="2026-10-20T02:43:46.603" v="0" actId="20577"/>
          <ac:spMkLst>
            <pc:docMk/>
            <pc:sldMk cId="0" sldId="257"/>
            <ac:spMk id="11" creationId="{05C3F0AF-17C1-467F-9647-8EBA363F1D4B}"/>
          </ac:spMkLst>
        </pc:spChg>
        <pc:spChg chg="mod">
          <ac:chgData name="Jean Somogyi" userId="94ea200989126f6d" providerId="LiveId" clId="{8C91E982-4918-44F0-A830-2DE951E9F24D}" dt="2026-10-20T02:43:53.161" v="3" actId="20577"/>
          <ac:spMkLst>
            <pc:docMk/>
            <pc:sldMk cId="0" sldId="257"/>
            <ac:spMk id="12" creationId="{0F218895-C448-4F64-A1DF-443254527F15}"/>
          </ac:spMkLst>
        </pc:spChg>
        <pc:spChg chg="mod">
          <ac:chgData name="Jean Somogyi" userId="94ea200989126f6d" providerId="LiveId" clId="{8C91E982-4918-44F0-A830-2DE951E9F24D}" dt="2026-10-20T02:44:02.879" v="9" actId="20577"/>
          <ac:spMkLst>
            <pc:docMk/>
            <pc:sldMk cId="0" sldId="257"/>
            <ac:spMk id="13" creationId="{D3CE5069-DB13-4B70-8103-1CB076EB173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pt-BR" b="1" baseline="0" dirty="0">
                <a:solidFill>
                  <a:schemeClr val="bg1"/>
                </a:solidFill>
              </a:rPr>
              <a:t>FATURAMENTO INDICADO RFI X LUCRO                                         (ÚLTIMOS 12 MESES)</a:t>
            </a:r>
            <a:endParaRPr lang="pt-BR" b="1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Planilha1!$D$4</c:f>
              <c:strCache>
                <c:ptCount val="1"/>
                <c:pt idx="0">
                  <c:v>TOTAL DE 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Planilha1!$C$5:$C$9</c:f>
              <c:strCache>
                <c:ptCount val="5"/>
                <c:pt idx="0">
                  <c:v>PTC BRASIL</c:v>
                </c:pt>
                <c:pt idx="1">
                  <c:v>PARISOTTI ENGENHARIA</c:v>
                </c:pt>
                <c:pt idx="2">
                  <c:v>MPE ENGENHARIA</c:v>
                </c:pt>
                <c:pt idx="3">
                  <c:v>MEI ENGENHARIA</c:v>
                </c:pt>
                <c:pt idx="4">
                  <c:v>CONIN CONSTRUÇÃO</c:v>
                </c:pt>
              </c:strCache>
            </c:strRef>
          </c:cat>
          <c:val>
            <c:numRef>
              <c:f>Planilha1!$D$5:$D$9</c:f>
              <c:numCache>
                <c:formatCode>0.0,,\ "M"</c:formatCode>
                <c:ptCount val="5"/>
                <c:pt idx="0">
                  <c:v>17198470</c:v>
                </c:pt>
                <c:pt idx="1">
                  <c:v>59000000</c:v>
                </c:pt>
                <c:pt idx="2">
                  <c:v>332787000</c:v>
                </c:pt>
                <c:pt idx="3">
                  <c:v>30799858</c:v>
                </c:pt>
                <c:pt idx="4">
                  <c:v>24858815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B5-48A8-AA5E-FACB9D7D2DF2}"/>
            </c:ext>
          </c:extLst>
        </c:ser>
        <c:ser>
          <c:idx val="1"/>
          <c:order val="1"/>
          <c:tx>
            <c:strRef>
              <c:f>Planilha1!$E$4</c:f>
              <c:strCache>
                <c:ptCount val="1"/>
                <c:pt idx="0">
                  <c:v>LUCRO ANTES IMPOSTOS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Planilha1!$C$5:$C$9</c:f>
              <c:strCache>
                <c:ptCount val="5"/>
                <c:pt idx="0">
                  <c:v>PTC BRASIL</c:v>
                </c:pt>
                <c:pt idx="1">
                  <c:v>PARISOTTI ENGENHARIA</c:v>
                </c:pt>
                <c:pt idx="2">
                  <c:v>MPE ENGENHARIA</c:v>
                </c:pt>
                <c:pt idx="3">
                  <c:v>MEI ENGENHARIA</c:v>
                </c:pt>
                <c:pt idx="4">
                  <c:v>CONIN CONSTRUÇÃO</c:v>
                </c:pt>
              </c:strCache>
            </c:strRef>
          </c:cat>
          <c:val>
            <c:numRef>
              <c:f>Planilha1!$E$5:$E$9</c:f>
              <c:numCache>
                <c:formatCode>0.0,,"M"</c:formatCode>
                <c:ptCount val="5"/>
                <c:pt idx="0">
                  <c:v>2579771</c:v>
                </c:pt>
                <c:pt idx="1">
                  <c:v>5900000</c:v>
                </c:pt>
                <c:pt idx="2">
                  <c:v>38196000</c:v>
                </c:pt>
                <c:pt idx="3">
                  <c:v>6615692</c:v>
                </c:pt>
                <c:pt idx="4">
                  <c:v>6945528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B5-48A8-AA5E-FACB9D7D2D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2733712"/>
        <c:axId val="902736008"/>
      </c:barChart>
      <c:catAx>
        <c:axId val="902733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902736008"/>
        <c:crosses val="autoZero"/>
        <c:auto val="1"/>
        <c:lblAlgn val="ctr"/>
        <c:lblOffset val="100"/>
        <c:noMultiLvlLbl val="0"/>
      </c:catAx>
      <c:valAx>
        <c:axId val="902736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,,\ &quot;M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90273371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tx1"/>
    </a:solidFill>
    <a:ln w="19050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7ac3c6b0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7ac3c6b0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7ac3c6b0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7ac3c6b0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819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cd5d4693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cd5d4693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cd5d469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cd5d469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cd5d469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cd5d469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6428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cd5d469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cd5d469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1887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cd5d469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cd5d469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188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cd5d469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cd5d469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397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cd5d469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cd5d469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7724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cd5d469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cd5d469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3294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6cd5d469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6cd5d469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1468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517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cd5d4693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cd5d4693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7363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cd5d4693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cd5d4693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897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722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3865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92063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00466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65690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cd5d4693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cd5d4693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92392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123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14918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cd5d4693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cd5d4693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47932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0097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0415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06689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d1c55ff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d1c55ff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61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4700" y="-32925"/>
            <a:ext cx="9168600" cy="5176500"/>
          </a:xfrm>
          <a:prstGeom prst="rect">
            <a:avLst/>
          </a:prstGeom>
          <a:solidFill>
            <a:srgbClr val="000000">
              <a:alpha val="156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0400" y="2730038"/>
            <a:ext cx="7003200" cy="9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 b="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491150" y="3573350"/>
            <a:ext cx="6161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214550" y="1292375"/>
            <a:ext cx="28080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214550" y="2101825"/>
            <a:ext cx="2808000" cy="17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00000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5100750" y="1292375"/>
            <a:ext cx="28080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5100750" y="2101825"/>
            <a:ext cx="2808000" cy="17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SECTION_TITLE_AND_DESCRIPTION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body" idx="1"/>
          </p:nvPr>
        </p:nvSpPr>
        <p:spPr>
          <a:xfrm>
            <a:off x="722325" y="1137575"/>
            <a:ext cx="7281300" cy="29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2132100" y="367600"/>
            <a:ext cx="48798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000"/>
              <a:buFont typeface="Montserrat ExtraLight"/>
              <a:buNone/>
              <a:defRPr sz="2000" b="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1">
    <p:bg>
      <p:bgPr>
        <a:solidFill>
          <a:srgbClr val="00000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ctrTitle"/>
          </p:nvPr>
        </p:nvSpPr>
        <p:spPr>
          <a:xfrm>
            <a:off x="3003350" y="717380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ubTitle" idx="1"/>
          </p:nvPr>
        </p:nvSpPr>
        <p:spPr>
          <a:xfrm>
            <a:off x="5267075" y="500219"/>
            <a:ext cx="2454600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title" idx="2" hasCustomPrompt="1"/>
          </p:nvPr>
        </p:nvSpPr>
        <p:spPr>
          <a:xfrm>
            <a:off x="965111" y="690493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 b="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4"/>
          <p:cNvSpPr txBox="1">
            <a:spLocks noGrp="1"/>
          </p:cNvSpPr>
          <p:nvPr>
            <p:ph type="ctrTitle" idx="3"/>
          </p:nvPr>
        </p:nvSpPr>
        <p:spPr>
          <a:xfrm>
            <a:off x="3003350" y="1747805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4"/>
          </p:nvPr>
        </p:nvSpPr>
        <p:spPr>
          <a:xfrm>
            <a:off x="5267075" y="1521683"/>
            <a:ext cx="2454600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5" hasCustomPrompt="1"/>
          </p:nvPr>
        </p:nvSpPr>
        <p:spPr>
          <a:xfrm>
            <a:off x="965111" y="170299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 b="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4"/>
          <p:cNvSpPr txBox="1">
            <a:spLocks noGrp="1"/>
          </p:cNvSpPr>
          <p:nvPr>
            <p:ph type="ctrTitle" idx="6"/>
          </p:nvPr>
        </p:nvSpPr>
        <p:spPr>
          <a:xfrm>
            <a:off x="3003350" y="2778230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7"/>
          </p:nvPr>
        </p:nvSpPr>
        <p:spPr>
          <a:xfrm>
            <a:off x="5267075" y="2543147"/>
            <a:ext cx="2454600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 idx="8" hasCustomPrompt="1"/>
          </p:nvPr>
        </p:nvSpPr>
        <p:spPr>
          <a:xfrm>
            <a:off x="965111" y="2733421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 b="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ctrTitle" idx="9"/>
          </p:nvPr>
        </p:nvSpPr>
        <p:spPr>
          <a:xfrm>
            <a:off x="3003350" y="3808655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3"/>
          </p:nvPr>
        </p:nvSpPr>
        <p:spPr>
          <a:xfrm>
            <a:off x="5267075" y="3582533"/>
            <a:ext cx="2454600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 idx="14" hasCustomPrompt="1"/>
          </p:nvPr>
        </p:nvSpPr>
        <p:spPr>
          <a:xfrm>
            <a:off x="965111" y="376384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 b="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4800"/>
              <a:buFont typeface="Montserrat Thin"/>
              <a:buNone/>
              <a:defRPr sz="4800">
                <a:solidFill>
                  <a:srgbClr val="D5B96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9pPr>
          </a:lstStyle>
          <a:p>
            <a:r>
              <a:t>xx%</a:t>
            </a:r>
          </a:p>
        </p:txBody>
      </p:sp>
      <p:cxnSp>
        <p:nvCxnSpPr>
          <p:cNvPr id="64" name="Google Shape;64;p14"/>
          <p:cNvCxnSpPr/>
          <p:nvPr/>
        </p:nvCxnSpPr>
        <p:spPr>
          <a:xfrm>
            <a:off x="2740450" y="720150"/>
            <a:ext cx="0" cy="3703200"/>
          </a:xfrm>
          <a:prstGeom prst="straightConnector1">
            <a:avLst/>
          </a:prstGeom>
          <a:noFill/>
          <a:ln w="9525" cap="flat" cmpd="sng">
            <a:solidFill>
              <a:srgbClr val="D5B96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" name="Google Shape;65;p14"/>
          <p:cNvCxnSpPr/>
          <p:nvPr/>
        </p:nvCxnSpPr>
        <p:spPr>
          <a:xfrm>
            <a:off x="5011807" y="720150"/>
            <a:ext cx="0" cy="3703200"/>
          </a:xfrm>
          <a:prstGeom prst="straightConnector1">
            <a:avLst/>
          </a:prstGeom>
          <a:noFill/>
          <a:ln w="9525" cap="flat" cmpd="sng">
            <a:solidFill>
              <a:srgbClr val="D5B96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TITLE_AND_BODY_1">
    <p:bg>
      <p:bgPr>
        <a:solidFill>
          <a:schemeClr val="dk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68000" y="367600"/>
            <a:ext cx="28080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000"/>
              <a:buFont typeface="Montserrat ExtraLight"/>
              <a:buNone/>
              <a:defRPr sz="2000" b="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2"/>
          </p:nvPr>
        </p:nvSpPr>
        <p:spPr>
          <a:xfrm>
            <a:off x="578975" y="2150075"/>
            <a:ext cx="1858200" cy="56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78975" y="2773377"/>
            <a:ext cx="1858200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ctrTitle" idx="3"/>
          </p:nvPr>
        </p:nvSpPr>
        <p:spPr>
          <a:xfrm>
            <a:off x="6706825" y="2150075"/>
            <a:ext cx="1858200" cy="56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4"/>
          </p:nvPr>
        </p:nvSpPr>
        <p:spPr>
          <a:xfrm>
            <a:off x="6706825" y="2773377"/>
            <a:ext cx="1858200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SECTION_TITLE_AND_DESCRIPTION_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  <a:defRPr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59" r:id="rId5"/>
    <p:sldLayoutId id="2147483660" r:id="rId6"/>
    <p:sldLayoutId id="2147483661" r:id="rId7"/>
    <p:sldLayoutId id="2147483674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jpe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11" Type="http://schemas.openxmlformats.org/officeDocument/2006/relationships/image" Target="../media/image2.png"/><Relationship Id="rId5" Type="http://schemas.openxmlformats.org/officeDocument/2006/relationships/image" Target="../media/image12.jpeg"/><Relationship Id="rId10" Type="http://schemas.openxmlformats.org/officeDocument/2006/relationships/image" Target="../media/image3.emf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3.emf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fif"/><Relationship Id="rId5" Type="http://schemas.openxmlformats.org/officeDocument/2006/relationships/image" Target="../media/image22.jfif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f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tmp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tmp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emf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tmp"/><Relationship Id="rId2" Type="http://schemas.openxmlformats.org/officeDocument/2006/relationships/image" Target="../media/image58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60.tmp"/><Relationship Id="rId7" Type="http://schemas.openxmlformats.org/officeDocument/2006/relationships/image" Target="../media/image64.tmp"/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tmp"/><Relationship Id="rId5" Type="http://schemas.openxmlformats.org/officeDocument/2006/relationships/image" Target="../media/image62.tmp"/><Relationship Id="rId4" Type="http://schemas.openxmlformats.org/officeDocument/2006/relationships/image" Target="../media/image61.tmp"/><Relationship Id="rId9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tmp"/><Relationship Id="rId2" Type="http://schemas.openxmlformats.org/officeDocument/2006/relationships/image" Target="../media/image65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60.tmp"/><Relationship Id="rId7" Type="http://schemas.openxmlformats.org/officeDocument/2006/relationships/image" Target="../media/image66.tmp"/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tmp"/><Relationship Id="rId5" Type="http://schemas.openxmlformats.org/officeDocument/2006/relationships/image" Target="../media/image62.tmp"/><Relationship Id="rId4" Type="http://schemas.openxmlformats.org/officeDocument/2006/relationships/image" Target="../media/image61.tmp"/><Relationship Id="rId9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3.emf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11" Type="http://schemas.openxmlformats.org/officeDocument/2006/relationships/image" Target="../media/image83.png"/><Relationship Id="rId5" Type="http://schemas.openxmlformats.org/officeDocument/2006/relationships/image" Target="../media/image79.png"/><Relationship Id="rId10" Type="http://schemas.openxmlformats.org/officeDocument/2006/relationships/image" Target="../media/image82.png"/><Relationship Id="rId4" Type="http://schemas.openxmlformats.org/officeDocument/2006/relationships/image" Target="../media/image2.png"/><Relationship Id="rId9" Type="http://schemas.openxmlformats.org/officeDocument/2006/relationships/image" Target="../media/image81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2.png"/><Relationship Id="rId4" Type="http://schemas.openxmlformats.org/officeDocument/2006/relationships/image" Target="../media/image3.emf"/><Relationship Id="rId9" Type="http://schemas.openxmlformats.org/officeDocument/2006/relationships/image" Target="../media/image88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>
            <a:spLocks noGrp="1"/>
          </p:cNvSpPr>
          <p:nvPr>
            <p:ph type="ctrTitle"/>
          </p:nvPr>
        </p:nvSpPr>
        <p:spPr>
          <a:xfrm>
            <a:off x="1070400" y="2730038"/>
            <a:ext cx="7003200" cy="9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Empresa Brasileira de Pneus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4B4B01-7015-44F4-8ADC-F631698E8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290" y="1905495"/>
            <a:ext cx="1422306" cy="1015933"/>
          </a:xfrm>
          <a:prstGeom prst="rect">
            <a:avLst/>
          </a:prstGeom>
        </p:spPr>
      </p:pic>
      <p:sp>
        <p:nvSpPr>
          <p:cNvPr id="7" name="Subtítulo 6">
            <a:extLst>
              <a:ext uri="{FF2B5EF4-FFF2-40B4-BE49-F238E27FC236}">
                <a16:creationId xmlns:a16="http://schemas.microsoft.com/office/drawing/2014/main" id="{FFA6C61F-28C0-464F-AA54-F8CDA4ABA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759" y="3607172"/>
            <a:ext cx="7624482" cy="792600"/>
          </a:xfrm>
        </p:spPr>
        <p:txBody>
          <a:bodyPr/>
          <a:lstStyle/>
          <a:p>
            <a:r>
              <a:rPr lang="pt-BR" dirty="0"/>
              <a:t>SOLUÇÕES EM MOBILIDADE SEGURA, EFICIENTE E SUSTENTÁVEL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E73379-A7BF-4C1B-97A8-03B3F4D02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578224" y="149259"/>
            <a:ext cx="8189258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SHIFT – MBA EM GESTÃO DE COMPRAS</a:t>
            </a:r>
            <a:endParaRPr sz="2400" dirty="0"/>
          </a:p>
        </p:txBody>
      </p:sp>
      <p:sp>
        <p:nvSpPr>
          <p:cNvPr id="176" name="Google Shape;176;p32"/>
          <p:cNvSpPr txBox="1"/>
          <p:nvPr/>
        </p:nvSpPr>
        <p:spPr>
          <a:xfrm>
            <a:off x="1832698" y="571005"/>
            <a:ext cx="5478600" cy="420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GRUPO CASOMA</a:t>
            </a:r>
            <a:endParaRPr sz="1800" dirty="0">
              <a:solidFill>
                <a:schemeClr val="accent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7DEAF74-621D-45E9-AB20-1B31B715D143}"/>
              </a:ext>
            </a:extLst>
          </p:cNvPr>
          <p:cNvGrpSpPr/>
          <p:nvPr/>
        </p:nvGrpSpPr>
        <p:grpSpPr>
          <a:xfrm>
            <a:off x="934711" y="1424594"/>
            <a:ext cx="7922353" cy="2431893"/>
            <a:chOff x="934711" y="1424594"/>
            <a:chExt cx="7922353" cy="2431893"/>
          </a:xfrm>
        </p:grpSpPr>
        <p:pic>
          <p:nvPicPr>
            <p:cNvPr id="6" name="Imagem 5" descr="Mulher com óculos de grau&#10;&#10;Descrição gerada automaticamente">
              <a:extLst>
                <a:ext uri="{FF2B5EF4-FFF2-40B4-BE49-F238E27FC236}">
                  <a16:creationId xmlns:a16="http://schemas.microsoft.com/office/drawing/2014/main" id="{D5EADC0B-9EAD-46EC-89A5-F4B891346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671" y="1446590"/>
              <a:ext cx="926310" cy="926310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7" name="Imagem 6" descr="Homem de barba sorrindo&#10;&#10;Descrição gerada automaticamente">
              <a:extLst>
                <a:ext uri="{FF2B5EF4-FFF2-40B4-BE49-F238E27FC236}">
                  <a16:creationId xmlns:a16="http://schemas.microsoft.com/office/drawing/2014/main" id="{FD21DF09-CFFF-4B00-B4EF-D67F06E1A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4711" y="2930177"/>
              <a:ext cx="926310" cy="926310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8" name="Imagem 7" descr="Homem de camisa preta sorrindo&#10;&#10;Descrição gerada automaticamente">
              <a:extLst>
                <a:ext uri="{FF2B5EF4-FFF2-40B4-BE49-F238E27FC236}">
                  <a16:creationId xmlns:a16="http://schemas.microsoft.com/office/drawing/2014/main" id="{C6B29E31-C69D-4754-883C-9B8A94207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6765" y="1424594"/>
              <a:ext cx="1033410" cy="948306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9" name="Imagem 8" descr="Rosto de mulher sorrindo&#10;&#10;Descrição gerada automaticamente">
              <a:extLst>
                <a:ext uri="{FF2B5EF4-FFF2-40B4-BE49-F238E27FC236}">
                  <a16:creationId xmlns:a16="http://schemas.microsoft.com/office/drawing/2014/main" id="{E2EA147D-018E-4506-878E-B062E19F6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6765" y="2923010"/>
              <a:ext cx="932828" cy="932828"/>
            </a:xfrm>
            <a:prstGeom prst="round2DiagRect">
              <a:avLst>
                <a:gd name="adj1" fmla="val 16667"/>
                <a:gd name="adj2" fmla="val 0"/>
              </a:avLst>
            </a:prstGeom>
            <a:ln w="88900" cap="sq">
              <a:solidFill>
                <a:srgbClr val="FFFFFF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0" name="Google Shape;198;p34">
              <a:extLst>
                <a:ext uri="{FF2B5EF4-FFF2-40B4-BE49-F238E27FC236}">
                  <a16:creationId xmlns:a16="http://schemas.microsoft.com/office/drawing/2014/main" id="{1769F549-8FCF-4AA7-800A-38B6252D34D2}"/>
                </a:ext>
              </a:extLst>
            </p:cNvPr>
            <p:cNvSpPr txBox="1">
              <a:spLocks/>
            </p:cNvSpPr>
            <p:nvPr/>
          </p:nvSpPr>
          <p:spPr>
            <a:xfrm>
              <a:off x="1976052" y="1573831"/>
              <a:ext cx="2696801" cy="6718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>
                <a:spcAft>
                  <a:spcPts val="1600"/>
                </a:spcAft>
                <a:buFont typeface="Montserrat"/>
                <a:buNone/>
              </a:pPr>
              <a:r>
                <a:rPr lang="en-US" sz="1100" i="1" dirty="0"/>
                <a:t>Gloria Cristina de Almeida Cardoso</a:t>
              </a:r>
              <a:br>
                <a:rPr lang="en-US" sz="1100" i="1" dirty="0"/>
              </a:br>
              <a:r>
                <a:rPr lang="en-US" sz="1100" i="1" dirty="0"/>
                <a:t>Buyer</a:t>
              </a:r>
              <a:br>
                <a:rPr lang="en-US" sz="1100" i="1" dirty="0"/>
              </a:br>
              <a:endParaRPr lang="en-US" sz="1100" i="1" dirty="0"/>
            </a:p>
          </p:txBody>
        </p:sp>
        <p:sp>
          <p:nvSpPr>
            <p:cNvPr id="11" name="Google Shape;198;p34">
              <a:extLst>
                <a:ext uri="{FF2B5EF4-FFF2-40B4-BE49-F238E27FC236}">
                  <a16:creationId xmlns:a16="http://schemas.microsoft.com/office/drawing/2014/main" id="{05C3F0AF-17C1-467F-9647-8EBA363F1D4B}"/>
                </a:ext>
              </a:extLst>
            </p:cNvPr>
            <p:cNvSpPr txBox="1">
              <a:spLocks/>
            </p:cNvSpPr>
            <p:nvPr/>
          </p:nvSpPr>
          <p:spPr>
            <a:xfrm>
              <a:off x="2049293" y="2983343"/>
              <a:ext cx="2696801" cy="6718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>
                <a:spcAft>
                  <a:spcPts val="1600"/>
                </a:spcAft>
                <a:buFont typeface="Montserrat"/>
                <a:buNone/>
              </a:pPr>
              <a:r>
                <a:rPr lang="en-US" sz="1100" i="1" dirty="0"/>
                <a:t>Jean Rafael Lima Somogyi</a:t>
              </a:r>
              <a:br>
                <a:rPr lang="en-US" sz="1100" i="1" dirty="0"/>
              </a:br>
              <a:r>
                <a:rPr lang="en-US" sz="1100" i="1" dirty="0"/>
                <a:t>Buyer</a:t>
              </a:r>
              <a:br>
                <a:rPr lang="en-US" sz="1100" i="1" dirty="0"/>
              </a:br>
              <a:endParaRPr lang="en-US" sz="1100" i="1" dirty="0"/>
            </a:p>
          </p:txBody>
        </p:sp>
        <p:sp>
          <p:nvSpPr>
            <p:cNvPr id="12" name="Google Shape;198;p34">
              <a:extLst>
                <a:ext uri="{FF2B5EF4-FFF2-40B4-BE49-F238E27FC236}">
                  <a16:creationId xmlns:a16="http://schemas.microsoft.com/office/drawing/2014/main" id="{0F218895-C448-4F64-A1DF-443254527F15}"/>
                </a:ext>
              </a:extLst>
            </p:cNvPr>
            <p:cNvSpPr txBox="1">
              <a:spLocks/>
            </p:cNvSpPr>
            <p:nvPr/>
          </p:nvSpPr>
          <p:spPr>
            <a:xfrm>
              <a:off x="6160263" y="1562833"/>
              <a:ext cx="2696801" cy="6718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>
                <a:spcAft>
                  <a:spcPts val="1600"/>
                </a:spcAft>
                <a:buFont typeface="Montserrat"/>
                <a:buNone/>
              </a:pPr>
              <a:r>
                <a:rPr lang="en-US" sz="1100" i="1" dirty="0"/>
                <a:t>Rafael Carvalho de Almeida</a:t>
              </a:r>
              <a:br>
                <a:rPr lang="en-US" sz="1100" i="1" dirty="0"/>
              </a:br>
              <a:r>
                <a:rPr lang="en-US" sz="1100" i="1" dirty="0"/>
                <a:t>Buyer</a:t>
              </a:r>
              <a:br>
                <a:rPr lang="en-US" sz="1100" i="1" dirty="0"/>
              </a:br>
              <a:endParaRPr lang="en-US" sz="1100" i="1" dirty="0"/>
            </a:p>
          </p:txBody>
        </p:sp>
        <p:sp>
          <p:nvSpPr>
            <p:cNvPr id="13" name="Google Shape;198;p34">
              <a:extLst>
                <a:ext uri="{FF2B5EF4-FFF2-40B4-BE49-F238E27FC236}">
                  <a16:creationId xmlns:a16="http://schemas.microsoft.com/office/drawing/2014/main" id="{D3CE5069-DB13-4B70-8103-1CB076EB173D}"/>
                </a:ext>
              </a:extLst>
            </p:cNvPr>
            <p:cNvSpPr txBox="1">
              <a:spLocks/>
            </p:cNvSpPr>
            <p:nvPr/>
          </p:nvSpPr>
          <p:spPr>
            <a:xfrm>
              <a:off x="6160263" y="2983343"/>
              <a:ext cx="2696801" cy="6718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●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Montserrat"/>
                <a:buChar char="○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200"/>
                <a:buFont typeface="Montserrat"/>
                <a:buChar char="■"/>
                <a:defRPr sz="12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>
                <a:spcAft>
                  <a:spcPts val="1600"/>
                </a:spcAft>
                <a:buFont typeface="Montserrat"/>
                <a:buNone/>
              </a:pPr>
              <a:r>
                <a:rPr lang="en-US" sz="1100" i="1" dirty="0"/>
                <a:t>Tatiane Soares Machado</a:t>
              </a:r>
              <a:br>
                <a:rPr lang="en-US" sz="1100" i="1" dirty="0"/>
              </a:br>
              <a:r>
                <a:rPr lang="en-US" sz="1100" i="1"/>
                <a:t>Purchasing Coordinator</a:t>
              </a:r>
              <a:endParaRPr lang="en-US" sz="1100" i="1" dirty="0"/>
            </a:p>
          </p:txBody>
        </p:sp>
      </p:grpSp>
      <p:sp>
        <p:nvSpPr>
          <p:cNvPr id="14" name="Google Shape;198;p34">
            <a:extLst>
              <a:ext uri="{FF2B5EF4-FFF2-40B4-BE49-F238E27FC236}">
                <a16:creationId xmlns:a16="http://schemas.microsoft.com/office/drawing/2014/main" id="{BBC7941A-1C2A-410E-88A2-D6A2C0C00F8C}"/>
              </a:ext>
            </a:extLst>
          </p:cNvPr>
          <p:cNvSpPr txBox="1">
            <a:spLocks/>
          </p:cNvSpPr>
          <p:nvPr/>
        </p:nvSpPr>
        <p:spPr>
          <a:xfrm>
            <a:off x="1247213" y="4321424"/>
            <a:ext cx="6649571" cy="42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spcAft>
                <a:spcPts val="1600"/>
              </a:spcAft>
              <a:buFont typeface="Montserrat"/>
              <a:buNone/>
            </a:pPr>
            <a:r>
              <a:rPr lang="en-US" sz="1100" i="1" dirty="0"/>
              <a:t>Orientador: Claudio Piovacari 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4D219D44-F378-4BBE-9EFE-728AF9C26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BB0C0066-C24E-40AA-9DB6-F3E07332DC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463922" y="140745"/>
            <a:ext cx="8216153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SHIFT – APRESENTAÇÃO EM 10/05/2023</a:t>
            </a:r>
            <a:endParaRPr sz="2400" dirty="0"/>
          </a:p>
        </p:txBody>
      </p:sp>
      <p:sp>
        <p:nvSpPr>
          <p:cNvPr id="10" name="Google Shape;198;p34">
            <a:extLst>
              <a:ext uri="{FF2B5EF4-FFF2-40B4-BE49-F238E27FC236}">
                <a16:creationId xmlns:a16="http://schemas.microsoft.com/office/drawing/2014/main" id="{1769F549-8FCF-4AA7-800A-38B6252D34D2}"/>
              </a:ext>
            </a:extLst>
          </p:cNvPr>
          <p:cNvSpPr txBox="1">
            <a:spLocks/>
          </p:cNvSpPr>
          <p:nvPr/>
        </p:nvSpPr>
        <p:spPr>
          <a:xfrm>
            <a:off x="1142999" y="1290918"/>
            <a:ext cx="6858000" cy="279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sz="1100" i="1" dirty="0"/>
              <a:t>1º Examinador</a:t>
            </a:r>
            <a:br>
              <a:rPr lang="en-US" sz="1100" i="1" dirty="0"/>
            </a:br>
            <a:r>
              <a:rPr lang="en-US" sz="1100" i="1" dirty="0"/>
              <a:t>Nome:_________________________________</a:t>
            </a:r>
            <a:br>
              <a:rPr lang="en-US" sz="1100" i="1" dirty="0"/>
            </a:br>
            <a:r>
              <a:rPr lang="en-US" sz="1100" i="1" dirty="0"/>
              <a:t>Assinatura: ____________________________</a:t>
            </a:r>
            <a:br>
              <a:rPr lang="en-US" sz="1100" i="1" dirty="0"/>
            </a:br>
            <a:br>
              <a:rPr lang="en-US" sz="1100" i="1" dirty="0"/>
            </a:br>
            <a:br>
              <a:rPr lang="en-US" sz="1100" i="1" dirty="0"/>
            </a:br>
            <a:br>
              <a:rPr lang="en-US" sz="1100" i="1" dirty="0"/>
            </a:br>
            <a:r>
              <a:rPr lang="en-US" sz="1100" i="1" dirty="0"/>
              <a:t>2º Examinador</a:t>
            </a:r>
            <a:br>
              <a:rPr lang="en-US" sz="1100" i="1" dirty="0"/>
            </a:br>
            <a:r>
              <a:rPr lang="en-US" sz="1100" i="1" dirty="0"/>
              <a:t>Nome:_________________________________</a:t>
            </a:r>
            <a:br>
              <a:rPr lang="en-US" sz="1100" i="1" dirty="0"/>
            </a:br>
            <a:r>
              <a:rPr lang="en-US" sz="1100" i="1" dirty="0"/>
              <a:t>Assinatura: ____________________________</a:t>
            </a:r>
            <a:br>
              <a:rPr lang="en-US" sz="1100" i="1" dirty="0"/>
            </a:br>
            <a:br>
              <a:rPr lang="en-US" sz="1100" i="1" dirty="0"/>
            </a:br>
            <a:br>
              <a:rPr lang="en-US" sz="1100" i="1" dirty="0"/>
            </a:br>
            <a:br>
              <a:rPr lang="en-US" sz="1100" i="1" dirty="0"/>
            </a:br>
            <a:r>
              <a:rPr lang="en-US" sz="1100" i="1" dirty="0"/>
              <a:t>Prof. Orientador</a:t>
            </a:r>
            <a:br>
              <a:rPr lang="en-US" sz="1100" i="1" dirty="0"/>
            </a:br>
            <a:r>
              <a:rPr lang="en-US" sz="1100" i="1" dirty="0"/>
              <a:t>Nome Claudio Piovacari</a:t>
            </a:r>
            <a:br>
              <a:rPr lang="en-US" sz="1100" i="1" dirty="0"/>
            </a:br>
            <a:r>
              <a:rPr lang="en-US" sz="1100" i="1" dirty="0"/>
              <a:t>Assinatura: ____________________________</a:t>
            </a:r>
          </a:p>
          <a:p>
            <a:pPr marL="0" indent="0">
              <a:spcAft>
                <a:spcPts val="1600"/>
              </a:spcAft>
              <a:buNone/>
            </a:pPr>
            <a:endParaRPr lang="en-US" sz="1100" i="1" dirty="0"/>
          </a:p>
          <a:p>
            <a:pPr marL="0" indent="0">
              <a:spcAft>
                <a:spcPts val="1600"/>
              </a:spcAft>
              <a:buFont typeface="Montserrat"/>
              <a:buNone/>
            </a:pPr>
            <a:endParaRPr lang="en-US" sz="1100" i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EFB114A-EA41-4234-92E6-85BD28C73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A3BBDAD-27EB-4731-8829-2EC46F380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7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566F4A8-D842-4DD4-BB91-1725E72B4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709" y="140745"/>
            <a:ext cx="8424582" cy="507900"/>
          </a:xfrm>
        </p:spPr>
        <p:txBody>
          <a:bodyPr/>
          <a:lstStyle/>
          <a:p>
            <a:r>
              <a:rPr lang="pt-BR" sz="2400" dirty="0"/>
              <a:t>CONFIDENCIALIDADE</a:t>
            </a:r>
          </a:p>
        </p:txBody>
      </p:sp>
      <p:sp>
        <p:nvSpPr>
          <p:cNvPr id="8" name="Google Shape;203;p24">
            <a:extLst>
              <a:ext uri="{FF2B5EF4-FFF2-40B4-BE49-F238E27FC236}">
                <a16:creationId xmlns:a16="http://schemas.microsoft.com/office/drawing/2014/main" id="{C97CB25C-9FD3-4FA5-8FB1-49B29BA7DC33}"/>
              </a:ext>
            </a:extLst>
          </p:cNvPr>
          <p:cNvSpPr txBox="1">
            <a:spLocks/>
          </p:cNvSpPr>
          <p:nvPr/>
        </p:nvSpPr>
        <p:spPr>
          <a:xfrm>
            <a:off x="2870947" y="1949824"/>
            <a:ext cx="4919507" cy="138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buSzPts val="2208"/>
            </a:pPr>
            <a:r>
              <a:rPr lang="pt-BR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Arial Nova Cond Light" panose="020B0306020202020204" pitchFamily="34" charset="0"/>
              </a:rPr>
              <a:t>As informações contidas neste projeto são de caráter confidencial, sendo vedada sua reprodução, divulgação ou transmissão de todo ou em parte sem autorização expressa dos autores.</a:t>
            </a:r>
            <a:endParaRPr lang="pt-BR" sz="1200" dirty="0">
              <a:solidFill>
                <a:schemeClr val="tx2">
                  <a:lumMod val="90000"/>
                  <a:lumOff val="10000"/>
                </a:schemeClr>
              </a:solidFill>
              <a:latin typeface="Arial Nova Cond Light" panose="020B0306020202020204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Cadeado Fechado">
                <a:extLst>
                  <a:ext uri="{FF2B5EF4-FFF2-40B4-BE49-F238E27FC236}">
                    <a16:creationId xmlns:a16="http://schemas.microsoft.com/office/drawing/2014/main" id="{B4508AEF-9AD6-411C-AE99-D55165669ED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6796323"/>
                  </p:ext>
                </p:extLst>
              </p:nvPr>
            </p:nvGraphicFramePr>
            <p:xfrm>
              <a:off x="2043424" y="2246834"/>
              <a:ext cx="548979" cy="79775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48979" cy="797750"/>
                    </a:xfrm>
                    <a:prstGeom prst="rect">
                      <a:avLst/>
                    </a:prstGeom>
                  </am3d:spPr>
                  <am3d:camera>
                    <am3d:pos x="0" y="0" z="5766207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6666683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29047" ay="1229281" az="446954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9275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Cadeado Fechado">
                <a:extLst>
                  <a:ext uri="{FF2B5EF4-FFF2-40B4-BE49-F238E27FC236}">
                    <a16:creationId xmlns:a16="http://schemas.microsoft.com/office/drawing/2014/main" id="{B4508AEF-9AD6-411C-AE99-D55165669E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3424" y="2246834"/>
                <a:ext cx="548979" cy="79775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DBB5B05C-DBDD-4492-B4ED-6B1179B33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B4AA462-ADE7-4157-B5BE-D0717A8F4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7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 idx="2"/>
          </p:nvPr>
        </p:nvSpPr>
        <p:spPr>
          <a:xfrm>
            <a:off x="875057" y="753100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01</a:t>
            </a:r>
            <a:endParaRPr b="1" dirty="0"/>
          </a:p>
        </p:txBody>
      </p:sp>
      <p:sp>
        <p:nvSpPr>
          <p:cNvPr id="182" name="Google Shape;182;p33"/>
          <p:cNvSpPr txBox="1">
            <a:spLocks noGrp="1"/>
          </p:cNvSpPr>
          <p:nvPr>
            <p:ph type="ctrTitle"/>
          </p:nvPr>
        </p:nvSpPr>
        <p:spPr>
          <a:xfrm>
            <a:off x="2952527" y="708419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Empresa</a:t>
            </a:r>
            <a:endParaRPr dirty="0"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5116110" y="448520"/>
            <a:ext cx="3253470" cy="9945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Overview sobre o negócio da empresa e seus objetivos </a:t>
            </a:r>
            <a:endParaRPr b="1" dirty="0"/>
          </a:p>
        </p:txBody>
      </p:sp>
      <p:sp>
        <p:nvSpPr>
          <p:cNvPr id="184" name="Google Shape;184;p33"/>
          <p:cNvSpPr txBox="1">
            <a:spLocks noGrp="1"/>
          </p:cNvSpPr>
          <p:nvPr>
            <p:ph type="ctrTitle" idx="3"/>
          </p:nvPr>
        </p:nvSpPr>
        <p:spPr>
          <a:xfrm>
            <a:off x="2929077" y="1626624"/>
            <a:ext cx="2603146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Sobre o Projeto </a:t>
            </a:r>
            <a:endParaRPr sz="1400" b="0" dirty="0"/>
          </a:p>
        </p:txBody>
      </p:sp>
      <p:sp>
        <p:nvSpPr>
          <p:cNvPr id="185" name="Google Shape;185;p33"/>
          <p:cNvSpPr txBox="1">
            <a:spLocks noGrp="1"/>
          </p:cNvSpPr>
          <p:nvPr>
            <p:ph type="subTitle" idx="4"/>
          </p:nvPr>
        </p:nvSpPr>
        <p:spPr>
          <a:xfrm>
            <a:off x="5126820" y="1513554"/>
            <a:ext cx="3146518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1800"/>
            </a:pPr>
            <a:r>
              <a:rPr lang="en" dirty="0"/>
              <a:t>Proposta do Projeto e análise da categoria e subcategorias </a:t>
            </a:r>
            <a:endParaRPr dirty="0"/>
          </a:p>
        </p:txBody>
      </p:sp>
      <p:sp>
        <p:nvSpPr>
          <p:cNvPr id="186" name="Google Shape;186;p33"/>
          <p:cNvSpPr txBox="1">
            <a:spLocks noGrp="1"/>
          </p:cNvSpPr>
          <p:nvPr>
            <p:ph type="title" idx="5"/>
          </p:nvPr>
        </p:nvSpPr>
        <p:spPr>
          <a:xfrm>
            <a:off x="965111" y="170299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7" name="Google Shape;187;p33"/>
          <p:cNvSpPr txBox="1">
            <a:spLocks noGrp="1"/>
          </p:cNvSpPr>
          <p:nvPr>
            <p:ph type="ctrTitle" idx="6"/>
          </p:nvPr>
        </p:nvSpPr>
        <p:spPr>
          <a:xfrm>
            <a:off x="3003350" y="2553574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A estratégia</a:t>
            </a:r>
            <a:endParaRPr sz="1400" b="0" dirty="0"/>
          </a:p>
        </p:txBody>
      </p:sp>
      <p:sp>
        <p:nvSpPr>
          <p:cNvPr id="188" name="Google Shape;188;p33"/>
          <p:cNvSpPr txBox="1">
            <a:spLocks noGrp="1"/>
          </p:cNvSpPr>
          <p:nvPr>
            <p:ph type="subTitle" idx="7"/>
          </p:nvPr>
        </p:nvSpPr>
        <p:spPr>
          <a:xfrm>
            <a:off x="5159280" y="2472983"/>
            <a:ext cx="3146519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1800"/>
            </a:pPr>
            <a:r>
              <a:rPr lang="en" dirty="0"/>
              <a:t>Desenvolvimento do Estrategic Sourcing</a:t>
            </a:r>
            <a:endParaRPr dirty="0"/>
          </a:p>
        </p:txBody>
      </p:sp>
      <p:sp>
        <p:nvSpPr>
          <p:cNvPr id="189" name="Google Shape;189;p33"/>
          <p:cNvSpPr txBox="1">
            <a:spLocks noGrp="1"/>
          </p:cNvSpPr>
          <p:nvPr>
            <p:ph type="title" idx="8"/>
          </p:nvPr>
        </p:nvSpPr>
        <p:spPr>
          <a:xfrm>
            <a:off x="965111" y="2733421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0" name="Google Shape;190;p33"/>
          <p:cNvSpPr txBox="1">
            <a:spLocks noGrp="1"/>
          </p:cNvSpPr>
          <p:nvPr>
            <p:ph type="ctrTitle" idx="9"/>
          </p:nvPr>
        </p:nvSpPr>
        <p:spPr>
          <a:xfrm>
            <a:off x="3003350" y="3686633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Conclusão	</a:t>
            </a:r>
            <a:endParaRPr sz="1400" b="0"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subTitle" idx="13"/>
          </p:nvPr>
        </p:nvSpPr>
        <p:spPr>
          <a:xfrm>
            <a:off x="5214852" y="3570781"/>
            <a:ext cx="3253469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Benefícios, recomendações e proposta de solução</a:t>
            </a:r>
            <a:endParaRPr dirty="0"/>
          </a:p>
        </p:txBody>
      </p:sp>
      <p:sp>
        <p:nvSpPr>
          <p:cNvPr id="192" name="Google Shape;192;p33"/>
          <p:cNvSpPr txBox="1">
            <a:spLocks noGrp="1"/>
          </p:cNvSpPr>
          <p:nvPr>
            <p:ph type="title" idx="14"/>
          </p:nvPr>
        </p:nvSpPr>
        <p:spPr>
          <a:xfrm>
            <a:off x="965111" y="376384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179FF1A-13C2-4229-A687-82556727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C88D6CE-0A51-4C93-8E0A-B13F9A9BE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3168000" y="140745"/>
            <a:ext cx="28080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EMPRESA</a:t>
            </a:r>
            <a:endParaRPr dirty="0"/>
          </a:p>
        </p:txBody>
      </p:sp>
      <p:sp>
        <p:nvSpPr>
          <p:cNvPr id="215" name="Google Shape;215;p36"/>
          <p:cNvSpPr txBox="1">
            <a:spLocks noGrp="1"/>
          </p:cNvSpPr>
          <p:nvPr>
            <p:ph type="body" idx="1"/>
          </p:nvPr>
        </p:nvSpPr>
        <p:spPr>
          <a:xfrm>
            <a:off x="442579" y="1504006"/>
            <a:ext cx="6389274" cy="2833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/>
              <a:t>	Muito além da fabricação de pneus, a EBP desenvolve serviços que aumentam a performance do transporte, enquanto aplica as melhores tecnologias e premissas de sustentabilidade no mercado em que atua, desde o século XIX.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2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/>
              <a:t>	Seu DNA foi construído a partir do desejo de inovação, segurança e eficiência, tornando-se pioneira na idéia do “amanhã sustentável”.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2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/>
              <a:t>	O comprometimento com o desenvolvimento rentável e sustentável para a empresa, sociedade e o planeta, são os pilares que mantém a EBP como referência e líder mundial no setor.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200" dirty="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sz="1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C02CA6E-D7AA-490A-9465-2399AAC19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348" y="2063783"/>
            <a:ext cx="1422306" cy="101593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07DBAFC-D209-410F-9066-BAFA92958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EBDA1DA-5B3E-4C0A-819D-90A5963D0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464784" y="136710"/>
            <a:ext cx="8236324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TIMELINE</a:t>
            </a:r>
            <a:endParaRPr dirty="0"/>
          </a:p>
        </p:txBody>
      </p:sp>
      <p:pic>
        <p:nvPicPr>
          <p:cNvPr id="102" name="Imagem 101">
            <a:extLst>
              <a:ext uri="{FF2B5EF4-FFF2-40B4-BE49-F238E27FC236}">
                <a16:creationId xmlns:a16="http://schemas.microsoft.com/office/drawing/2014/main" id="{04A78494-5760-4027-A9E8-7C0736045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03" name="Imagem 102">
            <a:extLst>
              <a:ext uri="{FF2B5EF4-FFF2-40B4-BE49-F238E27FC236}">
                <a16:creationId xmlns:a16="http://schemas.microsoft.com/office/drawing/2014/main" id="{C537682A-CC53-418B-BEC4-407F95BA6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0BC74586-7791-492B-B202-F6B0FCC54604}"/>
              </a:ext>
            </a:extLst>
          </p:cNvPr>
          <p:cNvGrpSpPr/>
          <p:nvPr/>
        </p:nvGrpSpPr>
        <p:grpSpPr>
          <a:xfrm>
            <a:off x="1032884" y="1137604"/>
            <a:ext cx="7078232" cy="3103617"/>
            <a:chOff x="873056" y="1225362"/>
            <a:chExt cx="7078232" cy="3103617"/>
          </a:xfrm>
        </p:grpSpPr>
        <p:cxnSp>
          <p:nvCxnSpPr>
            <p:cNvPr id="3" name="Conector reto 2">
              <a:extLst>
                <a:ext uri="{FF2B5EF4-FFF2-40B4-BE49-F238E27FC236}">
                  <a16:creationId xmlns:a16="http://schemas.microsoft.com/office/drawing/2014/main" id="{E5E04196-4475-4A5D-B6D1-47FC8B0D26C8}"/>
                </a:ext>
              </a:extLst>
            </p:cNvPr>
            <p:cNvCxnSpPr/>
            <p:nvPr/>
          </p:nvCxnSpPr>
          <p:spPr>
            <a:xfrm flipV="1">
              <a:off x="1753820" y="2709221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upo 42">
              <a:extLst>
                <a:ext uri="{FF2B5EF4-FFF2-40B4-BE49-F238E27FC236}">
                  <a16:creationId xmlns:a16="http://schemas.microsoft.com/office/drawing/2014/main" id="{BBCE2ACC-3C16-40B5-8DF6-30B99119660E}"/>
                </a:ext>
              </a:extLst>
            </p:cNvPr>
            <p:cNvGrpSpPr/>
            <p:nvPr/>
          </p:nvGrpSpPr>
          <p:grpSpPr>
            <a:xfrm>
              <a:off x="1475214" y="2580633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DB407691-9E50-470A-82DF-306FD3F7E15B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1D710874-F491-4D6F-996F-F3DE69E836FC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49">
              <a:extLst>
                <a:ext uri="{FF2B5EF4-FFF2-40B4-BE49-F238E27FC236}">
                  <a16:creationId xmlns:a16="http://schemas.microsoft.com/office/drawing/2014/main" id="{00AD938C-4773-4218-A6F2-95BF6128A602}"/>
                </a:ext>
              </a:extLst>
            </p:cNvPr>
            <p:cNvGrpSpPr/>
            <p:nvPr/>
          </p:nvGrpSpPr>
          <p:grpSpPr>
            <a:xfrm>
              <a:off x="2039571" y="2573490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769C6F1C-EB2E-4D01-A5DA-C5DA3E19A843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3CE6A68A-2D98-42F1-A35B-E98C4DD42690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81">
              <a:extLst>
                <a:ext uri="{FF2B5EF4-FFF2-40B4-BE49-F238E27FC236}">
                  <a16:creationId xmlns:a16="http://schemas.microsoft.com/office/drawing/2014/main" id="{A1201C94-1C0E-4B69-9EB5-0345FFA471FD}"/>
                </a:ext>
              </a:extLst>
            </p:cNvPr>
            <p:cNvGrpSpPr/>
            <p:nvPr/>
          </p:nvGrpSpPr>
          <p:grpSpPr>
            <a:xfrm>
              <a:off x="1242874" y="1688694"/>
              <a:ext cx="733787" cy="738553"/>
              <a:chOff x="680814" y="1601571"/>
              <a:chExt cx="978382" cy="984737"/>
            </a:xfrm>
          </p:grpSpPr>
          <p:sp>
            <p:nvSpPr>
              <p:cNvPr id="11" name="Lágrima 10">
                <a:extLst>
                  <a:ext uri="{FF2B5EF4-FFF2-40B4-BE49-F238E27FC236}">
                    <a16:creationId xmlns:a16="http://schemas.microsoft.com/office/drawing/2014/main" id="{D7B6C453-B22C-44AA-9233-5CE7A6F82B78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7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83F1315E-53D4-434A-8A59-285A1B820EDD}"/>
                  </a:ext>
                </a:extLst>
              </p:cNvPr>
              <p:cNvSpPr/>
              <p:nvPr/>
            </p:nvSpPr>
            <p:spPr>
              <a:xfrm>
                <a:off x="781050" y="1714499"/>
                <a:ext cx="762000" cy="7905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82">
              <a:extLst>
                <a:ext uri="{FF2B5EF4-FFF2-40B4-BE49-F238E27FC236}">
                  <a16:creationId xmlns:a16="http://schemas.microsoft.com/office/drawing/2014/main" id="{E1046AD0-8B20-4EB9-8C28-96F338641B0E}"/>
                </a:ext>
              </a:extLst>
            </p:cNvPr>
            <p:cNvGrpSpPr/>
            <p:nvPr/>
          </p:nvGrpSpPr>
          <p:grpSpPr>
            <a:xfrm rot="10800000">
              <a:off x="1793034" y="3010286"/>
              <a:ext cx="733787" cy="738553"/>
              <a:chOff x="680814" y="1601571"/>
              <a:chExt cx="978382" cy="984737"/>
            </a:xfrm>
          </p:grpSpPr>
          <p:sp>
            <p:nvSpPr>
              <p:cNvPr id="14" name="Lágrima 13">
                <a:extLst>
                  <a:ext uri="{FF2B5EF4-FFF2-40B4-BE49-F238E27FC236}">
                    <a16:creationId xmlns:a16="http://schemas.microsoft.com/office/drawing/2014/main" id="{20B3F2F4-8378-4FC0-B64F-923D65CCDF3D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7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Elipse 14">
                <a:extLst>
                  <a:ext uri="{FF2B5EF4-FFF2-40B4-BE49-F238E27FC236}">
                    <a16:creationId xmlns:a16="http://schemas.microsoft.com/office/drawing/2014/main" id="{6CAFACC7-C80C-46DF-831E-531AB17A4F00}"/>
                  </a:ext>
                </a:extLst>
              </p:cNvPr>
              <p:cNvSpPr/>
              <p:nvPr/>
            </p:nvSpPr>
            <p:spPr>
              <a:xfrm>
                <a:off x="781050" y="1714499"/>
                <a:ext cx="762000" cy="79057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Grupo 85">
              <a:extLst>
                <a:ext uri="{FF2B5EF4-FFF2-40B4-BE49-F238E27FC236}">
                  <a16:creationId xmlns:a16="http://schemas.microsoft.com/office/drawing/2014/main" id="{0CE40758-423F-454E-9876-53C805413458}"/>
                </a:ext>
              </a:extLst>
            </p:cNvPr>
            <p:cNvGrpSpPr/>
            <p:nvPr/>
          </p:nvGrpSpPr>
          <p:grpSpPr>
            <a:xfrm>
              <a:off x="2407306" y="1695837"/>
              <a:ext cx="733787" cy="738553"/>
              <a:chOff x="680814" y="1601571"/>
              <a:chExt cx="978382" cy="984737"/>
            </a:xfrm>
          </p:grpSpPr>
          <p:sp>
            <p:nvSpPr>
              <p:cNvPr id="17" name="Lágrima 16">
                <a:extLst>
                  <a:ext uri="{FF2B5EF4-FFF2-40B4-BE49-F238E27FC236}">
                    <a16:creationId xmlns:a16="http://schemas.microsoft.com/office/drawing/2014/main" id="{B6AA80F9-00C3-47AB-9D6F-6B9EE619CA56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7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Elipse 17">
                <a:extLst>
                  <a:ext uri="{FF2B5EF4-FFF2-40B4-BE49-F238E27FC236}">
                    <a16:creationId xmlns:a16="http://schemas.microsoft.com/office/drawing/2014/main" id="{9237C965-D071-41FA-B2FF-333F7BBBE7F0}"/>
                  </a:ext>
                </a:extLst>
              </p:cNvPr>
              <p:cNvSpPr/>
              <p:nvPr/>
            </p:nvSpPr>
            <p:spPr>
              <a:xfrm>
                <a:off x="781050" y="1714499"/>
                <a:ext cx="762000" cy="79057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upo 88">
              <a:extLst>
                <a:ext uri="{FF2B5EF4-FFF2-40B4-BE49-F238E27FC236}">
                  <a16:creationId xmlns:a16="http://schemas.microsoft.com/office/drawing/2014/main" id="{906ED7A5-BAEC-47EB-8324-41080651F517}"/>
                </a:ext>
              </a:extLst>
            </p:cNvPr>
            <p:cNvGrpSpPr/>
            <p:nvPr/>
          </p:nvGrpSpPr>
          <p:grpSpPr>
            <a:xfrm rot="10800000">
              <a:off x="2931173" y="3004584"/>
              <a:ext cx="733787" cy="738553"/>
              <a:chOff x="680814" y="1601571"/>
              <a:chExt cx="978382" cy="984738"/>
            </a:xfrm>
          </p:grpSpPr>
          <p:sp>
            <p:nvSpPr>
              <p:cNvPr id="20" name="Lágrima 19">
                <a:extLst>
                  <a:ext uri="{FF2B5EF4-FFF2-40B4-BE49-F238E27FC236}">
                    <a16:creationId xmlns:a16="http://schemas.microsoft.com/office/drawing/2014/main" id="{69AC4E2D-E207-42F6-87DA-F8768CA17C6D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8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DC41168A-DA89-41E5-9689-B93C684077F5}"/>
                  </a:ext>
                </a:extLst>
              </p:cNvPr>
              <p:cNvSpPr/>
              <p:nvPr/>
            </p:nvSpPr>
            <p:spPr>
              <a:xfrm>
                <a:off x="781050" y="1714498"/>
                <a:ext cx="761999" cy="79057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Grupo 94">
              <a:extLst>
                <a:ext uri="{FF2B5EF4-FFF2-40B4-BE49-F238E27FC236}">
                  <a16:creationId xmlns:a16="http://schemas.microsoft.com/office/drawing/2014/main" id="{9606B073-2C94-4072-9CD5-0B68F61E0C9F}"/>
                </a:ext>
              </a:extLst>
            </p:cNvPr>
            <p:cNvGrpSpPr/>
            <p:nvPr/>
          </p:nvGrpSpPr>
          <p:grpSpPr>
            <a:xfrm rot="10800000">
              <a:off x="4056225" y="3029433"/>
              <a:ext cx="733787" cy="738553"/>
              <a:chOff x="680814" y="1601571"/>
              <a:chExt cx="978382" cy="984737"/>
            </a:xfrm>
          </p:grpSpPr>
          <p:sp>
            <p:nvSpPr>
              <p:cNvPr id="26" name="Lágrima 25">
                <a:extLst>
                  <a:ext uri="{FF2B5EF4-FFF2-40B4-BE49-F238E27FC236}">
                    <a16:creationId xmlns:a16="http://schemas.microsoft.com/office/drawing/2014/main" id="{52F27651-CF64-40BF-84EE-89E102A735BA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7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EC67190E-3DC9-493C-AE95-C8C77740B446}"/>
                  </a:ext>
                </a:extLst>
              </p:cNvPr>
              <p:cNvSpPr/>
              <p:nvPr/>
            </p:nvSpPr>
            <p:spPr>
              <a:xfrm>
                <a:off x="781050" y="1714499"/>
                <a:ext cx="762000" cy="79057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8" name="Grupo 100">
              <a:extLst>
                <a:ext uri="{FF2B5EF4-FFF2-40B4-BE49-F238E27FC236}">
                  <a16:creationId xmlns:a16="http://schemas.microsoft.com/office/drawing/2014/main" id="{C0533F74-B8DD-44A3-BE06-C65D28E621AA}"/>
                </a:ext>
              </a:extLst>
            </p:cNvPr>
            <p:cNvGrpSpPr/>
            <p:nvPr/>
          </p:nvGrpSpPr>
          <p:grpSpPr>
            <a:xfrm rot="10800000">
              <a:off x="5200330" y="3010285"/>
              <a:ext cx="733787" cy="738553"/>
              <a:chOff x="680814" y="1601571"/>
              <a:chExt cx="978382" cy="984737"/>
            </a:xfrm>
          </p:grpSpPr>
          <p:sp>
            <p:nvSpPr>
              <p:cNvPr id="29" name="Lágrima 28">
                <a:extLst>
                  <a:ext uri="{FF2B5EF4-FFF2-40B4-BE49-F238E27FC236}">
                    <a16:creationId xmlns:a16="http://schemas.microsoft.com/office/drawing/2014/main" id="{BDBBF62F-9ED0-44BA-8339-30EA537C5B91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7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D0D4FB39-1CFE-4F3E-A01E-E82175CED120}"/>
                  </a:ext>
                </a:extLst>
              </p:cNvPr>
              <p:cNvSpPr/>
              <p:nvPr/>
            </p:nvSpPr>
            <p:spPr>
              <a:xfrm>
                <a:off x="781050" y="1714499"/>
                <a:ext cx="762000" cy="79057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482646A2-1A7A-420B-ACEE-E4C2942B247A}"/>
                </a:ext>
              </a:extLst>
            </p:cNvPr>
            <p:cNvSpPr txBox="1"/>
            <p:nvPr/>
          </p:nvSpPr>
          <p:spPr>
            <a:xfrm>
              <a:off x="1288919" y="1943324"/>
              <a:ext cx="63000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SEC XIX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34045DD3-2289-4998-96D8-0D838AC67D58}"/>
                </a:ext>
              </a:extLst>
            </p:cNvPr>
            <p:cNvSpPr txBox="1"/>
            <p:nvPr/>
          </p:nvSpPr>
          <p:spPr>
            <a:xfrm>
              <a:off x="873056" y="1305598"/>
              <a:ext cx="142283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Concepção de Indústria com a fabricação de pastilhas de freio</a:t>
              </a:r>
            </a:p>
            <a:p>
              <a:endParaRPr lang="pt-BR" dirty="0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FD5D3E98-1FAC-4BD9-A3FC-977497361285}"/>
                </a:ext>
              </a:extLst>
            </p:cNvPr>
            <p:cNvSpPr txBox="1"/>
            <p:nvPr/>
          </p:nvSpPr>
          <p:spPr>
            <a:xfrm>
              <a:off x="1878983" y="3220190"/>
              <a:ext cx="5500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1891 1895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8B7D161-57D8-4262-8596-3983A320BC88}"/>
                </a:ext>
              </a:extLst>
            </p:cNvPr>
            <p:cNvSpPr txBox="1"/>
            <p:nvPr/>
          </p:nvSpPr>
          <p:spPr>
            <a:xfrm>
              <a:off x="1529636" y="3693071"/>
              <a:ext cx="1278733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Desenvolvido o primeiro pneu desmontável do mundo.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8873DF1F-7F0F-46D3-8602-D8476F8E59D0}"/>
                </a:ext>
              </a:extLst>
            </p:cNvPr>
            <p:cNvSpPr txBox="1"/>
            <p:nvPr/>
          </p:nvSpPr>
          <p:spPr>
            <a:xfrm>
              <a:off x="2486612" y="1886739"/>
              <a:ext cx="5500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algn="ctr">
                <a:defRPr sz="800" b="1"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1898 1900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759B5A71-1A05-4E4A-AB3E-25A5270F0A47}"/>
                </a:ext>
              </a:extLst>
            </p:cNvPr>
            <p:cNvSpPr txBox="1"/>
            <p:nvPr/>
          </p:nvSpPr>
          <p:spPr>
            <a:xfrm>
              <a:off x="2194613" y="1420632"/>
              <a:ext cx="11838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algn="ctr">
                <a:defRPr sz="700" b="1">
                  <a:solidFill>
                    <a:schemeClr val="tx1"/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>
                  <a:solidFill>
                    <a:schemeClr val="accent4">
                      <a:lumMod val="50000"/>
                    </a:schemeClr>
                  </a:solidFill>
                </a:rPr>
                <a:t>Criação do primeiro símbolo da marca</a:t>
              </a:r>
            </a:p>
          </p:txBody>
        </p:sp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id="{D293EA08-1A3F-40EC-8A57-3F57736FF7E0}"/>
                </a:ext>
              </a:extLst>
            </p:cNvPr>
            <p:cNvCxnSpPr/>
            <p:nvPr/>
          </p:nvCxnSpPr>
          <p:spPr>
            <a:xfrm flipV="1">
              <a:off x="2911108" y="2716365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upo 121">
              <a:extLst>
                <a:ext uri="{FF2B5EF4-FFF2-40B4-BE49-F238E27FC236}">
                  <a16:creationId xmlns:a16="http://schemas.microsoft.com/office/drawing/2014/main" id="{E3FC7EDC-500F-40DB-9C20-2F33EDDDADB2}"/>
                </a:ext>
              </a:extLst>
            </p:cNvPr>
            <p:cNvGrpSpPr/>
            <p:nvPr/>
          </p:nvGrpSpPr>
          <p:grpSpPr>
            <a:xfrm>
              <a:off x="2618776" y="2588580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8F9FAA1E-DC22-4550-9B85-D971DC2344E9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Elipse 39">
                <a:extLst>
                  <a:ext uri="{FF2B5EF4-FFF2-40B4-BE49-F238E27FC236}">
                    <a16:creationId xmlns:a16="http://schemas.microsoft.com/office/drawing/2014/main" id="{6071624C-9C93-4418-8ACE-63B33F87712D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" name="Grupo 124">
              <a:extLst>
                <a:ext uri="{FF2B5EF4-FFF2-40B4-BE49-F238E27FC236}">
                  <a16:creationId xmlns:a16="http://schemas.microsoft.com/office/drawing/2014/main" id="{9E86912D-68BF-43CB-B5B7-9EBEC7C618B8}"/>
                </a:ext>
              </a:extLst>
            </p:cNvPr>
            <p:cNvGrpSpPr/>
            <p:nvPr/>
          </p:nvGrpSpPr>
          <p:grpSpPr>
            <a:xfrm>
              <a:off x="3190247" y="2563124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F463FB1A-2EBD-4F51-B6A6-0D4EF0F92B21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Elipse 42">
                <a:extLst>
                  <a:ext uri="{FF2B5EF4-FFF2-40B4-BE49-F238E27FC236}">
                    <a16:creationId xmlns:a16="http://schemas.microsoft.com/office/drawing/2014/main" id="{FBBAF6BB-CF6E-4390-828C-FBF325265DE5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4" name="Conector reto 43">
              <a:extLst>
                <a:ext uri="{FF2B5EF4-FFF2-40B4-BE49-F238E27FC236}">
                  <a16:creationId xmlns:a16="http://schemas.microsoft.com/office/drawing/2014/main" id="{43BD044B-A3EE-4825-89F7-C99F1BE443AF}"/>
                </a:ext>
              </a:extLst>
            </p:cNvPr>
            <p:cNvCxnSpPr/>
            <p:nvPr/>
          </p:nvCxnSpPr>
          <p:spPr>
            <a:xfrm flipV="1">
              <a:off x="2339608" y="2709221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id="{5060B865-FAE1-468F-8E05-EA2728FBCD86}"/>
                </a:ext>
              </a:extLst>
            </p:cNvPr>
            <p:cNvCxnSpPr/>
            <p:nvPr/>
          </p:nvCxnSpPr>
          <p:spPr>
            <a:xfrm flipV="1">
              <a:off x="4023551" y="2698516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upo 129">
              <a:extLst>
                <a:ext uri="{FF2B5EF4-FFF2-40B4-BE49-F238E27FC236}">
                  <a16:creationId xmlns:a16="http://schemas.microsoft.com/office/drawing/2014/main" id="{2CB3ACB0-70F5-4D79-BA71-69FA60CA1416}"/>
                </a:ext>
              </a:extLst>
            </p:cNvPr>
            <p:cNvGrpSpPr/>
            <p:nvPr/>
          </p:nvGrpSpPr>
          <p:grpSpPr>
            <a:xfrm>
              <a:off x="3745243" y="2575063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47" name="Elipse 46">
                <a:extLst>
                  <a:ext uri="{FF2B5EF4-FFF2-40B4-BE49-F238E27FC236}">
                    <a16:creationId xmlns:a16="http://schemas.microsoft.com/office/drawing/2014/main" id="{B827FF75-14B0-4719-85E5-13DC33874BB6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Elipse 47">
                <a:extLst>
                  <a:ext uri="{FF2B5EF4-FFF2-40B4-BE49-F238E27FC236}">
                    <a16:creationId xmlns:a16="http://schemas.microsoft.com/office/drawing/2014/main" id="{31E210CB-DE8F-4C10-BAF2-294B3069B310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9" name="Grupo 132">
              <a:extLst>
                <a:ext uri="{FF2B5EF4-FFF2-40B4-BE49-F238E27FC236}">
                  <a16:creationId xmlns:a16="http://schemas.microsoft.com/office/drawing/2014/main" id="{90A4F2C4-1820-45A9-B16B-D6CD29ADBABD}"/>
                </a:ext>
              </a:extLst>
            </p:cNvPr>
            <p:cNvGrpSpPr/>
            <p:nvPr/>
          </p:nvGrpSpPr>
          <p:grpSpPr>
            <a:xfrm>
              <a:off x="4309154" y="2572473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50" name="Elipse 49">
                <a:extLst>
                  <a:ext uri="{FF2B5EF4-FFF2-40B4-BE49-F238E27FC236}">
                    <a16:creationId xmlns:a16="http://schemas.microsoft.com/office/drawing/2014/main" id="{58522EAF-8502-45A5-A8A6-6A2B0C118A79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Elipse 50">
                <a:extLst>
                  <a:ext uri="{FF2B5EF4-FFF2-40B4-BE49-F238E27FC236}">
                    <a16:creationId xmlns:a16="http://schemas.microsoft.com/office/drawing/2014/main" id="{83806A24-2B1C-46E4-B645-8BACF6BC615E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2" name="Conector reto 51">
              <a:extLst>
                <a:ext uri="{FF2B5EF4-FFF2-40B4-BE49-F238E27FC236}">
                  <a16:creationId xmlns:a16="http://schemas.microsoft.com/office/drawing/2014/main" id="{E44A45CB-7BAC-437C-BD93-37404D065924}"/>
                </a:ext>
              </a:extLst>
            </p:cNvPr>
            <p:cNvCxnSpPr/>
            <p:nvPr/>
          </p:nvCxnSpPr>
          <p:spPr>
            <a:xfrm flipV="1">
              <a:off x="5155086" y="2698514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upo 136">
              <a:extLst>
                <a:ext uri="{FF2B5EF4-FFF2-40B4-BE49-F238E27FC236}">
                  <a16:creationId xmlns:a16="http://schemas.microsoft.com/office/drawing/2014/main" id="{59823032-3271-432A-A003-61E9156CEE11}"/>
                </a:ext>
              </a:extLst>
            </p:cNvPr>
            <p:cNvGrpSpPr/>
            <p:nvPr/>
          </p:nvGrpSpPr>
          <p:grpSpPr>
            <a:xfrm>
              <a:off x="4878904" y="2567909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54" name="Elipse 53">
                <a:extLst>
                  <a:ext uri="{FF2B5EF4-FFF2-40B4-BE49-F238E27FC236}">
                    <a16:creationId xmlns:a16="http://schemas.microsoft.com/office/drawing/2014/main" id="{DE24DC46-6E47-41B2-8EB2-050F254EB8DC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388275F5-0FB2-4F73-B304-462E93214166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6" name="Grupo 139">
              <a:extLst>
                <a:ext uri="{FF2B5EF4-FFF2-40B4-BE49-F238E27FC236}">
                  <a16:creationId xmlns:a16="http://schemas.microsoft.com/office/drawing/2014/main" id="{C2B2EEB5-09FE-4338-9B30-7EE121A149AB}"/>
                </a:ext>
              </a:extLst>
            </p:cNvPr>
            <p:cNvGrpSpPr/>
            <p:nvPr/>
          </p:nvGrpSpPr>
          <p:grpSpPr>
            <a:xfrm>
              <a:off x="5441295" y="2560241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57" name="Elipse 56">
                <a:extLst>
                  <a:ext uri="{FF2B5EF4-FFF2-40B4-BE49-F238E27FC236}">
                    <a16:creationId xmlns:a16="http://schemas.microsoft.com/office/drawing/2014/main" id="{ECF820C1-ACD5-4D34-B75C-231AD7805438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Elipse 57">
                <a:extLst>
                  <a:ext uri="{FF2B5EF4-FFF2-40B4-BE49-F238E27FC236}">
                    <a16:creationId xmlns:a16="http://schemas.microsoft.com/office/drawing/2014/main" id="{8B8D8BF2-4081-4623-ABD8-FA702DB92384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9" name="Conector reto 58">
              <a:extLst>
                <a:ext uri="{FF2B5EF4-FFF2-40B4-BE49-F238E27FC236}">
                  <a16:creationId xmlns:a16="http://schemas.microsoft.com/office/drawing/2014/main" id="{8A143B11-93EF-46B2-A066-77BA7D22D678}"/>
                </a:ext>
              </a:extLst>
            </p:cNvPr>
            <p:cNvCxnSpPr/>
            <p:nvPr/>
          </p:nvCxnSpPr>
          <p:spPr>
            <a:xfrm flipV="1">
              <a:off x="4596046" y="2702974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>
              <a:extLst>
                <a:ext uri="{FF2B5EF4-FFF2-40B4-BE49-F238E27FC236}">
                  <a16:creationId xmlns:a16="http://schemas.microsoft.com/office/drawing/2014/main" id="{E2274E2A-D2AA-4403-AC21-ED82905E5BD9}"/>
                </a:ext>
              </a:extLst>
            </p:cNvPr>
            <p:cNvCxnSpPr/>
            <p:nvPr/>
          </p:nvCxnSpPr>
          <p:spPr>
            <a:xfrm flipV="1">
              <a:off x="6279068" y="2707385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upo 144">
              <a:extLst>
                <a:ext uri="{FF2B5EF4-FFF2-40B4-BE49-F238E27FC236}">
                  <a16:creationId xmlns:a16="http://schemas.microsoft.com/office/drawing/2014/main" id="{A736CD62-8B52-4AD5-A0C7-9434AFA6E10D}"/>
                </a:ext>
              </a:extLst>
            </p:cNvPr>
            <p:cNvGrpSpPr/>
            <p:nvPr/>
          </p:nvGrpSpPr>
          <p:grpSpPr>
            <a:xfrm>
              <a:off x="6012795" y="2573490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62" name="Elipse 61">
                <a:extLst>
                  <a:ext uri="{FF2B5EF4-FFF2-40B4-BE49-F238E27FC236}">
                    <a16:creationId xmlns:a16="http://schemas.microsoft.com/office/drawing/2014/main" id="{11D890D1-BBE8-4E78-9CE9-D12DB9CAD0C2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Elipse 62">
                <a:extLst>
                  <a:ext uri="{FF2B5EF4-FFF2-40B4-BE49-F238E27FC236}">
                    <a16:creationId xmlns:a16="http://schemas.microsoft.com/office/drawing/2014/main" id="{592936B1-EF03-4FF7-BC1C-6F07A08B4AE6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4" name="Grupo 151">
              <a:extLst>
                <a:ext uri="{FF2B5EF4-FFF2-40B4-BE49-F238E27FC236}">
                  <a16:creationId xmlns:a16="http://schemas.microsoft.com/office/drawing/2014/main" id="{F43302E1-1BC4-4805-9EA0-41DB970AEA73}"/>
                </a:ext>
              </a:extLst>
            </p:cNvPr>
            <p:cNvGrpSpPr/>
            <p:nvPr/>
          </p:nvGrpSpPr>
          <p:grpSpPr>
            <a:xfrm>
              <a:off x="6565386" y="2576259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65" name="Elipse 64">
                <a:extLst>
                  <a:ext uri="{FF2B5EF4-FFF2-40B4-BE49-F238E27FC236}">
                    <a16:creationId xmlns:a16="http://schemas.microsoft.com/office/drawing/2014/main" id="{F55DD19E-C8D0-4817-85B5-AC9433BC21C0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Elipse 65">
                <a:extLst>
                  <a:ext uri="{FF2B5EF4-FFF2-40B4-BE49-F238E27FC236}">
                    <a16:creationId xmlns:a16="http://schemas.microsoft.com/office/drawing/2014/main" id="{CEB21450-BFCD-456F-B2E9-6E968041E669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7" name="Conector reto 66">
              <a:extLst>
                <a:ext uri="{FF2B5EF4-FFF2-40B4-BE49-F238E27FC236}">
                  <a16:creationId xmlns:a16="http://schemas.microsoft.com/office/drawing/2014/main" id="{58060040-4CAF-4167-AF58-2EEDA799B6BB}"/>
                </a:ext>
              </a:extLst>
            </p:cNvPr>
            <p:cNvCxnSpPr/>
            <p:nvPr/>
          </p:nvCxnSpPr>
          <p:spPr>
            <a:xfrm flipV="1">
              <a:off x="5734189" y="2694265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upo 165">
              <a:extLst>
                <a:ext uri="{FF2B5EF4-FFF2-40B4-BE49-F238E27FC236}">
                  <a16:creationId xmlns:a16="http://schemas.microsoft.com/office/drawing/2014/main" id="{40B3A881-0A43-4DFC-8883-1292949DE168}"/>
                </a:ext>
              </a:extLst>
            </p:cNvPr>
            <p:cNvGrpSpPr/>
            <p:nvPr/>
          </p:nvGrpSpPr>
          <p:grpSpPr>
            <a:xfrm>
              <a:off x="7086565" y="2567909"/>
              <a:ext cx="264319" cy="264319"/>
              <a:chOff x="952500" y="2400300"/>
              <a:chExt cx="1238250" cy="1238250"/>
            </a:xfrm>
            <a:solidFill>
              <a:schemeClr val="accent4">
                <a:lumMod val="50000"/>
              </a:schemeClr>
            </a:solidFill>
          </p:grpSpPr>
          <p:sp>
            <p:nvSpPr>
              <p:cNvPr id="69" name="Elipse 68">
                <a:extLst>
                  <a:ext uri="{FF2B5EF4-FFF2-40B4-BE49-F238E27FC236}">
                    <a16:creationId xmlns:a16="http://schemas.microsoft.com/office/drawing/2014/main" id="{08A8D8CF-E663-4B42-8191-FA140C9C9662}"/>
                  </a:ext>
                </a:extLst>
              </p:cNvPr>
              <p:cNvSpPr/>
              <p:nvPr/>
            </p:nvSpPr>
            <p:spPr>
              <a:xfrm>
                <a:off x="952500" y="2400300"/>
                <a:ext cx="1238250" cy="12382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Elipse 69">
                <a:extLst>
                  <a:ext uri="{FF2B5EF4-FFF2-40B4-BE49-F238E27FC236}">
                    <a16:creationId xmlns:a16="http://schemas.microsoft.com/office/drawing/2014/main" id="{757CAD9B-6389-43A0-AB5A-D203C81FE431}"/>
                  </a:ext>
                </a:extLst>
              </p:cNvPr>
              <p:cNvSpPr/>
              <p:nvPr/>
            </p:nvSpPr>
            <p:spPr>
              <a:xfrm>
                <a:off x="1142999" y="2609850"/>
                <a:ext cx="847725" cy="80962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1" name="Conector reto 70">
              <a:extLst>
                <a:ext uri="{FF2B5EF4-FFF2-40B4-BE49-F238E27FC236}">
                  <a16:creationId xmlns:a16="http://schemas.microsoft.com/office/drawing/2014/main" id="{A0A3A2A5-0EFD-409C-BFDE-C6215B3C1BFC}"/>
                </a:ext>
              </a:extLst>
            </p:cNvPr>
            <p:cNvCxnSpPr/>
            <p:nvPr/>
          </p:nvCxnSpPr>
          <p:spPr>
            <a:xfrm flipV="1">
              <a:off x="3472590" y="2703418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to 71">
              <a:extLst>
                <a:ext uri="{FF2B5EF4-FFF2-40B4-BE49-F238E27FC236}">
                  <a16:creationId xmlns:a16="http://schemas.microsoft.com/office/drawing/2014/main" id="{717856F9-D4FC-47FE-ABCC-E41C5FF72817}"/>
                </a:ext>
              </a:extLst>
            </p:cNvPr>
            <p:cNvCxnSpPr/>
            <p:nvPr/>
          </p:nvCxnSpPr>
          <p:spPr>
            <a:xfrm flipV="1">
              <a:off x="6839698" y="2707651"/>
              <a:ext cx="257175" cy="2"/>
            </a:xfrm>
            <a:prstGeom prst="line">
              <a:avLst/>
            </a:prstGeom>
            <a:ln w="31750" cap="sq">
              <a:noFill/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upo 179">
              <a:extLst>
                <a:ext uri="{FF2B5EF4-FFF2-40B4-BE49-F238E27FC236}">
                  <a16:creationId xmlns:a16="http://schemas.microsoft.com/office/drawing/2014/main" id="{AB642428-9E55-430F-BDCD-AE3A095C9677}"/>
                </a:ext>
              </a:extLst>
            </p:cNvPr>
            <p:cNvGrpSpPr/>
            <p:nvPr/>
          </p:nvGrpSpPr>
          <p:grpSpPr>
            <a:xfrm>
              <a:off x="4646305" y="1659752"/>
              <a:ext cx="733787" cy="738553"/>
              <a:chOff x="680814" y="1601571"/>
              <a:chExt cx="978382" cy="984737"/>
            </a:xfrm>
          </p:grpSpPr>
          <p:sp>
            <p:nvSpPr>
              <p:cNvPr id="74" name="Lágrima 73">
                <a:extLst>
                  <a:ext uri="{FF2B5EF4-FFF2-40B4-BE49-F238E27FC236}">
                    <a16:creationId xmlns:a16="http://schemas.microsoft.com/office/drawing/2014/main" id="{A1A528F5-1889-47F7-A2CB-9A106310FC65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7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Elipse 74">
                <a:extLst>
                  <a:ext uri="{FF2B5EF4-FFF2-40B4-BE49-F238E27FC236}">
                    <a16:creationId xmlns:a16="http://schemas.microsoft.com/office/drawing/2014/main" id="{BF832C61-D6FE-4E69-A35E-6FE52F535CAE}"/>
                  </a:ext>
                </a:extLst>
              </p:cNvPr>
              <p:cNvSpPr/>
              <p:nvPr/>
            </p:nvSpPr>
            <p:spPr>
              <a:xfrm>
                <a:off x="781050" y="1714499"/>
                <a:ext cx="762000" cy="790575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id="{6BA01F1C-06A1-450D-AAA6-A002DA8CC76E}"/>
                </a:ext>
              </a:extLst>
            </p:cNvPr>
            <p:cNvSpPr txBox="1"/>
            <p:nvPr/>
          </p:nvSpPr>
          <p:spPr>
            <a:xfrm>
              <a:off x="2822507" y="3706428"/>
              <a:ext cx="985838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Fabricação de pneus para motocicletas.</a:t>
              </a:r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F65ADC0A-1A65-42FF-8062-5525BC083F0B}"/>
                </a:ext>
              </a:extLst>
            </p:cNvPr>
            <p:cNvSpPr txBox="1"/>
            <p:nvPr/>
          </p:nvSpPr>
          <p:spPr>
            <a:xfrm>
              <a:off x="3028997" y="3213717"/>
              <a:ext cx="5500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algn="ctr">
                <a:defRPr sz="800" b="1"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1903 1910</a:t>
              </a:r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B1CF9F7B-2F9A-4947-B0CB-C93B6672EAB9}"/>
                </a:ext>
              </a:extLst>
            </p:cNvPr>
            <p:cNvSpPr txBox="1"/>
            <p:nvPr/>
          </p:nvSpPr>
          <p:spPr>
            <a:xfrm>
              <a:off x="3657629" y="1939986"/>
              <a:ext cx="55006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800" b="1"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1913</a:t>
              </a:r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2314D476-5862-44B8-9C78-6890A6CA101D}"/>
                </a:ext>
              </a:extLst>
            </p:cNvPr>
            <p:cNvSpPr txBox="1"/>
            <p:nvPr/>
          </p:nvSpPr>
          <p:spPr>
            <a:xfrm>
              <a:off x="3345699" y="1386719"/>
              <a:ext cx="11215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Chegada à América Latina</a:t>
              </a:r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id="{EE3B4FF4-C160-4640-9149-DE487A72ABBB}"/>
                </a:ext>
              </a:extLst>
            </p:cNvPr>
            <p:cNvSpPr txBox="1"/>
            <p:nvPr/>
          </p:nvSpPr>
          <p:spPr>
            <a:xfrm>
              <a:off x="4154050" y="3224154"/>
              <a:ext cx="5500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800" b="1"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1914 1926</a:t>
              </a:r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id="{F60C0A33-A337-4A34-9137-D7E3AEEBB71A}"/>
                </a:ext>
              </a:extLst>
            </p:cNvPr>
            <p:cNvSpPr txBox="1"/>
            <p:nvPr/>
          </p:nvSpPr>
          <p:spPr>
            <a:xfrm>
              <a:off x="3803595" y="3745409"/>
              <a:ext cx="1314450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Criação do 1º pneu de borracha negra e com sulcos.</a:t>
              </a:r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22A2F779-4CD4-42F7-A497-CA0C9805166A}"/>
                </a:ext>
              </a:extLst>
            </p:cNvPr>
            <p:cNvSpPr txBox="1"/>
            <p:nvPr/>
          </p:nvSpPr>
          <p:spPr>
            <a:xfrm>
              <a:off x="4742913" y="1928101"/>
              <a:ext cx="55006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1927</a:t>
              </a:r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id="{8CABAEEB-6281-4DEE-81D9-F563A22EDF06}"/>
                </a:ext>
              </a:extLst>
            </p:cNvPr>
            <p:cNvSpPr txBox="1"/>
            <p:nvPr/>
          </p:nvSpPr>
          <p:spPr>
            <a:xfrm>
              <a:off x="4571583" y="1369952"/>
              <a:ext cx="100726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Chegada no Brasil 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0F469377-4E37-44E0-9474-660B0444927E}"/>
                </a:ext>
              </a:extLst>
            </p:cNvPr>
            <p:cNvSpPr txBox="1"/>
            <p:nvPr/>
          </p:nvSpPr>
          <p:spPr>
            <a:xfrm>
              <a:off x="5292982" y="3220190"/>
              <a:ext cx="5500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800" b="1"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1928 1980</a:t>
              </a:r>
            </a:p>
          </p:txBody>
        </p:sp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962FEC98-CEE9-4E99-A21D-B9014EE059A2}"/>
                </a:ext>
              </a:extLst>
            </p:cNvPr>
            <p:cNvSpPr txBox="1"/>
            <p:nvPr/>
          </p:nvSpPr>
          <p:spPr>
            <a:xfrm>
              <a:off x="5042897" y="3698037"/>
              <a:ext cx="1222933" cy="6309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Criação do primeiro pneu a unir borracha a fio de aço e com câmara de ar embutida.</a:t>
              </a:r>
            </a:p>
          </p:txBody>
        </p:sp>
        <p:grpSp>
          <p:nvGrpSpPr>
            <p:cNvPr id="86" name="Grupo 215">
              <a:extLst>
                <a:ext uri="{FF2B5EF4-FFF2-40B4-BE49-F238E27FC236}">
                  <a16:creationId xmlns:a16="http://schemas.microsoft.com/office/drawing/2014/main" id="{54F2E9A1-790E-4DA4-85F8-CFF93D56D7A6}"/>
                </a:ext>
              </a:extLst>
            </p:cNvPr>
            <p:cNvGrpSpPr/>
            <p:nvPr/>
          </p:nvGrpSpPr>
          <p:grpSpPr>
            <a:xfrm>
              <a:off x="5785019" y="1670376"/>
              <a:ext cx="733787" cy="738553"/>
              <a:chOff x="680814" y="1601571"/>
              <a:chExt cx="978382" cy="984737"/>
            </a:xfrm>
          </p:grpSpPr>
          <p:sp>
            <p:nvSpPr>
              <p:cNvPr id="87" name="Lágrima 86">
                <a:extLst>
                  <a:ext uri="{FF2B5EF4-FFF2-40B4-BE49-F238E27FC236}">
                    <a16:creationId xmlns:a16="http://schemas.microsoft.com/office/drawing/2014/main" id="{35CF9484-FF9D-483C-9B41-8D7E3DF42C37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7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Elipse 87">
                <a:extLst>
                  <a:ext uri="{FF2B5EF4-FFF2-40B4-BE49-F238E27FC236}">
                    <a16:creationId xmlns:a16="http://schemas.microsoft.com/office/drawing/2014/main" id="{D88F35C0-CEC1-431A-9114-864F2A0D1FE3}"/>
                  </a:ext>
                </a:extLst>
              </p:cNvPr>
              <p:cNvSpPr/>
              <p:nvPr/>
            </p:nvSpPr>
            <p:spPr>
              <a:xfrm>
                <a:off x="781050" y="1714499"/>
                <a:ext cx="762000" cy="790575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id="{478A082B-B67F-40C8-B79D-9CF37049C41E}"/>
                </a:ext>
              </a:extLst>
            </p:cNvPr>
            <p:cNvSpPr txBox="1"/>
            <p:nvPr/>
          </p:nvSpPr>
          <p:spPr>
            <a:xfrm>
              <a:off x="5873817" y="1946877"/>
              <a:ext cx="55006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8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1981</a:t>
              </a:r>
            </a:p>
          </p:txBody>
        </p:sp>
        <p:sp>
          <p:nvSpPr>
            <p:cNvPr id="90" name="CaixaDeTexto 89">
              <a:extLst>
                <a:ext uri="{FF2B5EF4-FFF2-40B4-BE49-F238E27FC236}">
                  <a16:creationId xmlns:a16="http://schemas.microsoft.com/office/drawing/2014/main" id="{C229B887-5A5B-4B1F-8D37-38FE36B7CBC4}"/>
                </a:ext>
              </a:extLst>
            </p:cNvPr>
            <p:cNvSpPr txBox="1"/>
            <p:nvPr/>
          </p:nvSpPr>
          <p:spPr>
            <a:xfrm>
              <a:off x="5631699" y="1361610"/>
              <a:ext cx="10940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Construção da 1º fábrica no Brasil </a:t>
              </a:r>
            </a:p>
          </p:txBody>
        </p:sp>
        <p:grpSp>
          <p:nvGrpSpPr>
            <p:cNvPr id="91" name="Grupo 220">
              <a:extLst>
                <a:ext uri="{FF2B5EF4-FFF2-40B4-BE49-F238E27FC236}">
                  <a16:creationId xmlns:a16="http://schemas.microsoft.com/office/drawing/2014/main" id="{F6972F9D-B785-42E7-8A99-C1D3A45E57A4}"/>
                </a:ext>
              </a:extLst>
            </p:cNvPr>
            <p:cNvGrpSpPr/>
            <p:nvPr/>
          </p:nvGrpSpPr>
          <p:grpSpPr>
            <a:xfrm rot="10800000">
              <a:off x="6327867" y="3029432"/>
              <a:ext cx="733787" cy="738553"/>
              <a:chOff x="680814" y="1601571"/>
              <a:chExt cx="978382" cy="984737"/>
            </a:xfrm>
          </p:grpSpPr>
          <p:sp>
            <p:nvSpPr>
              <p:cNvPr id="92" name="Lágrima 91">
                <a:extLst>
                  <a:ext uri="{FF2B5EF4-FFF2-40B4-BE49-F238E27FC236}">
                    <a16:creationId xmlns:a16="http://schemas.microsoft.com/office/drawing/2014/main" id="{E28256D9-6BB4-46E7-91F7-424ADE242631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7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Elipse 92">
                <a:extLst>
                  <a:ext uri="{FF2B5EF4-FFF2-40B4-BE49-F238E27FC236}">
                    <a16:creationId xmlns:a16="http://schemas.microsoft.com/office/drawing/2014/main" id="{BCD40D62-C197-414A-BB29-535935D9298D}"/>
                  </a:ext>
                </a:extLst>
              </p:cNvPr>
              <p:cNvSpPr/>
              <p:nvPr/>
            </p:nvSpPr>
            <p:spPr>
              <a:xfrm>
                <a:off x="781050" y="1714499"/>
                <a:ext cx="762000" cy="79057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7074AF60-0BDD-443B-9872-4AE5F915E130}"/>
                </a:ext>
              </a:extLst>
            </p:cNvPr>
            <p:cNvSpPr txBox="1"/>
            <p:nvPr/>
          </p:nvSpPr>
          <p:spPr>
            <a:xfrm>
              <a:off x="6436408" y="3210284"/>
              <a:ext cx="5500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800" b="1"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2000 2006</a:t>
              </a:r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id="{2DC60626-DBD2-407A-A904-F1DEBA2150F3}"/>
                </a:ext>
              </a:extLst>
            </p:cNvPr>
            <p:cNvSpPr txBox="1"/>
            <p:nvPr/>
          </p:nvSpPr>
          <p:spPr>
            <a:xfrm>
              <a:off x="6240650" y="3690794"/>
              <a:ext cx="1185411" cy="6309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Desenvolvimento do maior pneu de terraplanagem e mineração e o 1º agrícola.</a:t>
              </a:r>
            </a:p>
          </p:txBody>
        </p:sp>
        <p:grpSp>
          <p:nvGrpSpPr>
            <p:cNvPr id="96" name="Grupo 232">
              <a:extLst>
                <a:ext uri="{FF2B5EF4-FFF2-40B4-BE49-F238E27FC236}">
                  <a16:creationId xmlns:a16="http://schemas.microsoft.com/office/drawing/2014/main" id="{9E4F9C49-C42A-4593-AC2D-CCB523D9A1F7}"/>
                </a:ext>
              </a:extLst>
            </p:cNvPr>
            <p:cNvGrpSpPr/>
            <p:nvPr/>
          </p:nvGrpSpPr>
          <p:grpSpPr>
            <a:xfrm>
              <a:off x="6856443" y="1657644"/>
              <a:ext cx="733787" cy="738553"/>
              <a:chOff x="680814" y="1601571"/>
              <a:chExt cx="978382" cy="984737"/>
            </a:xfrm>
          </p:grpSpPr>
          <p:sp>
            <p:nvSpPr>
              <p:cNvPr id="97" name="Lágrima 96">
                <a:extLst>
                  <a:ext uri="{FF2B5EF4-FFF2-40B4-BE49-F238E27FC236}">
                    <a16:creationId xmlns:a16="http://schemas.microsoft.com/office/drawing/2014/main" id="{86967588-16C9-43B1-A2B8-9E65E785175D}"/>
                  </a:ext>
                </a:extLst>
              </p:cNvPr>
              <p:cNvSpPr/>
              <p:nvPr/>
            </p:nvSpPr>
            <p:spPr>
              <a:xfrm rot="8213271">
                <a:off x="680814" y="1601571"/>
                <a:ext cx="978382" cy="984737"/>
              </a:xfrm>
              <a:prstGeom prst="teardrop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Elipse 97">
                <a:extLst>
                  <a:ext uri="{FF2B5EF4-FFF2-40B4-BE49-F238E27FC236}">
                    <a16:creationId xmlns:a16="http://schemas.microsoft.com/office/drawing/2014/main" id="{8735451A-ADBC-4A38-AA2A-8F9088A2C139}"/>
                  </a:ext>
                </a:extLst>
              </p:cNvPr>
              <p:cNvSpPr/>
              <p:nvPr/>
            </p:nvSpPr>
            <p:spPr>
              <a:xfrm>
                <a:off x="781050" y="1714499"/>
                <a:ext cx="762000" cy="790575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9" name="CaixaDeTexto 98">
              <a:extLst>
                <a:ext uri="{FF2B5EF4-FFF2-40B4-BE49-F238E27FC236}">
                  <a16:creationId xmlns:a16="http://schemas.microsoft.com/office/drawing/2014/main" id="{63F84C2F-1D69-41FD-841F-79C34C8AD2ED}"/>
                </a:ext>
              </a:extLst>
            </p:cNvPr>
            <p:cNvSpPr txBox="1"/>
            <p:nvPr/>
          </p:nvSpPr>
          <p:spPr>
            <a:xfrm>
              <a:off x="6953051" y="1850822"/>
              <a:ext cx="55006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algn="ctr">
                <a:defRPr sz="800" b="1"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2008 2020</a:t>
              </a:r>
            </a:p>
          </p:txBody>
        </p:sp>
        <p:sp>
          <p:nvSpPr>
            <p:cNvPr id="100" name="CaixaDeTexto 99">
              <a:extLst>
                <a:ext uri="{FF2B5EF4-FFF2-40B4-BE49-F238E27FC236}">
                  <a16:creationId xmlns:a16="http://schemas.microsoft.com/office/drawing/2014/main" id="{6038BE54-3950-4505-9AEA-010929625341}"/>
                </a:ext>
              </a:extLst>
            </p:cNvPr>
            <p:cNvSpPr txBox="1"/>
            <p:nvPr/>
          </p:nvSpPr>
          <p:spPr>
            <a:xfrm>
              <a:off x="6685823" y="1225362"/>
              <a:ext cx="126546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700" b="1">
                  <a:solidFill>
                    <a:schemeClr val="accent4">
                      <a:lumMod val="50000"/>
                    </a:schemeClr>
                  </a:solidFill>
                  <a:latin typeface="Montserrat" panose="00000500000000000000" pitchFamily="2" charset="0"/>
                  <a:cs typeface="Calibri Light" panose="020F0302020204030204" pitchFamily="34" charset="0"/>
                </a:defRPr>
              </a:lvl1pPr>
            </a:lstStyle>
            <a:p>
              <a:r>
                <a:rPr lang="pt-BR" dirty="0"/>
                <a:t>Abertura de novas fábricas e aquisição de concorrentes</a:t>
              </a:r>
            </a:p>
          </p:txBody>
        </p:sp>
        <p:sp>
          <p:nvSpPr>
            <p:cNvPr id="107" name="Lágrima 106">
              <a:extLst>
                <a:ext uri="{FF2B5EF4-FFF2-40B4-BE49-F238E27FC236}">
                  <a16:creationId xmlns:a16="http://schemas.microsoft.com/office/drawing/2014/main" id="{969A6DD9-D6F6-4905-95A3-934810A6FD76}"/>
                </a:ext>
              </a:extLst>
            </p:cNvPr>
            <p:cNvSpPr/>
            <p:nvPr/>
          </p:nvSpPr>
          <p:spPr>
            <a:xfrm rot="8213271">
              <a:off x="3530919" y="1685323"/>
              <a:ext cx="733787" cy="738553"/>
            </a:xfrm>
            <a:prstGeom prst="teardrop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50">
                <a:solidFill>
                  <a:schemeClr val="tx1"/>
                </a:solidFill>
              </a:endParaRPr>
            </a:p>
          </p:txBody>
        </p:sp>
        <p:sp>
          <p:nvSpPr>
            <p:cNvPr id="108" name="Elipse 107">
              <a:extLst>
                <a:ext uri="{FF2B5EF4-FFF2-40B4-BE49-F238E27FC236}">
                  <a16:creationId xmlns:a16="http://schemas.microsoft.com/office/drawing/2014/main" id="{0E47C1FE-C334-4213-834A-D91CA12037AE}"/>
                </a:ext>
              </a:extLst>
            </p:cNvPr>
            <p:cNvSpPr/>
            <p:nvPr/>
          </p:nvSpPr>
          <p:spPr>
            <a:xfrm>
              <a:off x="3605878" y="1749775"/>
              <a:ext cx="571500" cy="5929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50">
                <a:solidFill>
                  <a:schemeClr val="tx1"/>
                </a:solidFill>
              </a:endParaRP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420EB5A7-6FB4-4AB8-96C9-ED041F576780}"/>
                </a:ext>
              </a:extLst>
            </p:cNvPr>
            <p:cNvSpPr txBox="1"/>
            <p:nvPr/>
          </p:nvSpPr>
          <p:spPr>
            <a:xfrm>
              <a:off x="3627309" y="1928101"/>
              <a:ext cx="55006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algn="ctr">
                <a:defRPr sz="800" b="1">
                  <a:solidFill>
                    <a:schemeClr val="tx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1913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6983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393327" y="143092"/>
            <a:ext cx="8357346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PRESENÇA GLOBAL</a:t>
            </a:r>
            <a:endParaRPr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D634205-0345-46AA-A27B-36AB716946F2}"/>
              </a:ext>
            </a:extLst>
          </p:cNvPr>
          <p:cNvGrpSpPr/>
          <p:nvPr/>
        </p:nvGrpSpPr>
        <p:grpSpPr>
          <a:xfrm>
            <a:off x="475333" y="736211"/>
            <a:ext cx="8041446" cy="4035316"/>
            <a:chOff x="322933" y="742449"/>
            <a:chExt cx="8041446" cy="4035316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F003714B-F756-47A3-B748-7717318961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 amt="2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7000"/>
                      </a14:imgEffect>
                    </a14:imgLayer>
                  </a14:imgProps>
                </a:ext>
              </a:extLst>
            </a:blip>
            <a:srcRect l="4506" t="21845" r="4966" b="18272"/>
            <a:stretch/>
          </p:blipFill>
          <p:spPr>
            <a:xfrm>
              <a:off x="1864726" y="742449"/>
              <a:ext cx="6448928" cy="403531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28A26BCF-0167-4131-BCF1-067F2754C8EE}"/>
                </a:ext>
              </a:extLst>
            </p:cNvPr>
            <p:cNvGrpSpPr/>
            <p:nvPr/>
          </p:nvGrpSpPr>
          <p:grpSpPr>
            <a:xfrm>
              <a:off x="322933" y="1575133"/>
              <a:ext cx="8041446" cy="3198087"/>
              <a:chOff x="322933" y="1575133"/>
              <a:chExt cx="8041446" cy="3198087"/>
            </a:xfrm>
          </p:grpSpPr>
          <p:grpSp>
            <p:nvGrpSpPr>
              <p:cNvPr id="15" name="Agrupar 14">
                <a:extLst>
                  <a:ext uri="{FF2B5EF4-FFF2-40B4-BE49-F238E27FC236}">
                    <a16:creationId xmlns:a16="http://schemas.microsoft.com/office/drawing/2014/main" id="{23C1C3CE-F7F8-4B22-A2C2-4D13341F5309}"/>
                  </a:ext>
                </a:extLst>
              </p:cNvPr>
              <p:cNvGrpSpPr/>
              <p:nvPr/>
            </p:nvGrpSpPr>
            <p:grpSpPr>
              <a:xfrm>
                <a:off x="2867082" y="1575133"/>
                <a:ext cx="850879" cy="749428"/>
                <a:chOff x="912666" y="890337"/>
                <a:chExt cx="1038183" cy="914400"/>
              </a:xfrm>
              <a:solidFill>
                <a:schemeClr val="accent1"/>
              </a:solidFill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6E8CA6F7-1BC1-4CFD-8DB9-A5C53433283C}"/>
                    </a:ext>
                  </a:extLst>
                </p:cNvPr>
                <p:cNvSpPr/>
                <p:nvPr/>
              </p:nvSpPr>
              <p:spPr>
                <a:xfrm>
                  <a:off x="974558" y="890337"/>
                  <a:ext cx="914400" cy="914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3B81F10F-33CD-4B52-A0E9-CA8FE607DE12}"/>
                    </a:ext>
                  </a:extLst>
                </p:cNvPr>
                <p:cNvSpPr txBox="1"/>
                <p:nvPr/>
              </p:nvSpPr>
              <p:spPr>
                <a:xfrm>
                  <a:off x="912666" y="1162871"/>
                  <a:ext cx="1038183" cy="375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700" b="1">
                      <a:solidFill>
                        <a:srgbClr val="FCE500"/>
                      </a:solidFill>
                      <a:latin typeface="Michelin SemiBold" panose="02000000000000000000" pitchFamily="50" charset="0"/>
                    </a:defRPr>
                  </a:lvl1pPr>
                </a:lstStyle>
                <a:p>
                  <a:r>
                    <a:rPr lang="pt-BR" dirty="0">
                      <a:solidFill>
                        <a:schemeClr val="tx1"/>
                      </a:solidFill>
                    </a:rPr>
                    <a:t>AMÉRICA DO NORTE</a:t>
                  </a:r>
                </a:p>
              </p:txBody>
            </p:sp>
          </p:grpSp>
          <p:grpSp>
            <p:nvGrpSpPr>
              <p:cNvPr id="27" name="Agrupar 26">
                <a:extLst>
                  <a:ext uri="{FF2B5EF4-FFF2-40B4-BE49-F238E27FC236}">
                    <a16:creationId xmlns:a16="http://schemas.microsoft.com/office/drawing/2014/main" id="{56F025A2-EA1F-4446-9286-8B376A8193E6}"/>
                  </a:ext>
                </a:extLst>
              </p:cNvPr>
              <p:cNvGrpSpPr/>
              <p:nvPr/>
            </p:nvGrpSpPr>
            <p:grpSpPr>
              <a:xfrm>
                <a:off x="6099090" y="1583544"/>
                <a:ext cx="850879" cy="749428"/>
                <a:chOff x="912666" y="890337"/>
                <a:chExt cx="1038183" cy="914400"/>
              </a:xfrm>
              <a:solidFill>
                <a:schemeClr val="accent1"/>
              </a:solidFill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EF06461C-B17A-4DA0-A852-6DF46CB38A8A}"/>
                    </a:ext>
                  </a:extLst>
                </p:cNvPr>
                <p:cNvSpPr/>
                <p:nvPr/>
              </p:nvSpPr>
              <p:spPr>
                <a:xfrm>
                  <a:off x="974558" y="890337"/>
                  <a:ext cx="914400" cy="914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29" name="CaixaDeTexto 28">
                  <a:extLst>
                    <a:ext uri="{FF2B5EF4-FFF2-40B4-BE49-F238E27FC236}">
                      <a16:creationId xmlns:a16="http://schemas.microsoft.com/office/drawing/2014/main" id="{90CFF977-4EDD-4D3C-9C8D-DA217A9A39F5}"/>
                    </a:ext>
                  </a:extLst>
                </p:cNvPr>
                <p:cNvSpPr txBox="1"/>
                <p:nvPr/>
              </p:nvSpPr>
              <p:spPr>
                <a:xfrm>
                  <a:off x="912666" y="1225490"/>
                  <a:ext cx="1038183" cy="2440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700" b="1">
                      <a:solidFill>
                        <a:srgbClr val="FCE500"/>
                      </a:solidFill>
                      <a:latin typeface="Michelin SemiBold" panose="02000000000000000000" pitchFamily="50" charset="0"/>
                    </a:defRPr>
                  </a:lvl1pPr>
                </a:lstStyle>
                <a:p>
                  <a:r>
                    <a:rPr lang="pt-BR" dirty="0">
                      <a:solidFill>
                        <a:schemeClr val="tx1"/>
                      </a:solidFill>
                    </a:rPr>
                    <a:t>EUROPA</a:t>
                  </a:r>
                </a:p>
              </p:txBody>
            </p:sp>
          </p:grpSp>
          <p:grpSp>
            <p:nvGrpSpPr>
              <p:cNvPr id="33" name="Agrupar 32">
                <a:extLst>
                  <a:ext uri="{FF2B5EF4-FFF2-40B4-BE49-F238E27FC236}">
                    <a16:creationId xmlns:a16="http://schemas.microsoft.com/office/drawing/2014/main" id="{34125904-E25C-4537-97EC-50EE3AE71C9D}"/>
                  </a:ext>
                </a:extLst>
              </p:cNvPr>
              <p:cNvGrpSpPr/>
              <p:nvPr/>
            </p:nvGrpSpPr>
            <p:grpSpPr>
              <a:xfrm>
                <a:off x="3236441" y="3363887"/>
                <a:ext cx="850879" cy="749428"/>
                <a:chOff x="912666" y="890337"/>
                <a:chExt cx="1038183" cy="914400"/>
              </a:xfrm>
              <a:solidFill>
                <a:schemeClr val="accent1"/>
              </a:solidFill>
            </p:grpSpPr>
            <p:sp>
              <p:nvSpPr>
                <p:cNvPr id="42" name="Elipse 41">
                  <a:extLst>
                    <a:ext uri="{FF2B5EF4-FFF2-40B4-BE49-F238E27FC236}">
                      <a16:creationId xmlns:a16="http://schemas.microsoft.com/office/drawing/2014/main" id="{D21EF717-2A45-4A8F-A0F1-53B4705EE294}"/>
                    </a:ext>
                  </a:extLst>
                </p:cNvPr>
                <p:cNvSpPr/>
                <p:nvPr/>
              </p:nvSpPr>
              <p:spPr>
                <a:xfrm>
                  <a:off x="974558" y="890337"/>
                  <a:ext cx="914400" cy="914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43" name="CaixaDeTexto 42">
                  <a:extLst>
                    <a:ext uri="{FF2B5EF4-FFF2-40B4-BE49-F238E27FC236}">
                      <a16:creationId xmlns:a16="http://schemas.microsoft.com/office/drawing/2014/main" id="{6C0742B1-BF74-4CE7-9239-B4465D5F70FD}"/>
                    </a:ext>
                  </a:extLst>
                </p:cNvPr>
                <p:cNvSpPr txBox="1"/>
                <p:nvPr/>
              </p:nvSpPr>
              <p:spPr>
                <a:xfrm>
                  <a:off x="912666" y="1162871"/>
                  <a:ext cx="1038183" cy="3755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700" b="1">
                      <a:solidFill>
                        <a:srgbClr val="FCE500"/>
                      </a:solidFill>
                      <a:latin typeface="Michelin SemiBold" panose="02000000000000000000" pitchFamily="50" charset="0"/>
                    </a:defRPr>
                  </a:lvl1pPr>
                </a:lstStyle>
                <a:p>
                  <a:r>
                    <a:rPr lang="pt-BR" dirty="0">
                      <a:solidFill>
                        <a:schemeClr val="tx1"/>
                      </a:solidFill>
                    </a:rPr>
                    <a:t>AMÉRICA </a:t>
                  </a:r>
                  <a:br>
                    <a:rPr lang="pt-BR" dirty="0">
                      <a:solidFill>
                        <a:schemeClr val="tx1"/>
                      </a:solidFill>
                    </a:rPr>
                  </a:br>
                  <a:r>
                    <a:rPr lang="pt-BR" dirty="0">
                      <a:solidFill>
                        <a:schemeClr val="tx1"/>
                      </a:solidFill>
                    </a:rPr>
                    <a:t>DO SUL</a:t>
                  </a:r>
                </a:p>
              </p:txBody>
            </p:sp>
          </p:grpSp>
          <p:grpSp>
            <p:nvGrpSpPr>
              <p:cNvPr id="44" name="Agrupar 43">
                <a:extLst>
                  <a:ext uri="{FF2B5EF4-FFF2-40B4-BE49-F238E27FC236}">
                    <a16:creationId xmlns:a16="http://schemas.microsoft.com/office/drawing/2014/main" id="{B5677207-1BEB-4829-AF5D-BAB934757479}"/>
                  </a:ext>
                </a:extLst>
              </p:cNvPr>
              <p:cNvGrpSpPr/>
              <p:nvPr/>
            </p:nvGrpSpPr>
            <p:grpSpPr>
              <a:xfrm>
                <a:off x="4928845" y="2844459"/>
                <a:ext cx="850879" cy="749428"/>
                <a:chOff x="912666" y="890337"/>
                <a:chExt cx="1038183" cy="914400"/>
              </a:xfrm>
              <a:solidFill>
                <a:schemeClr val="accent1"/>
              </a:solidFill>
            </p:grpSpPr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BB41CF7B-38C1-47F0-A8A6-83BC3EF3AA69}"/>
                    </a:ext>
                  </a:extLst>
                </p:cNvPr>
                <p:cNvSpPr/>
                <p:nvPr/>
              </p:nvSpPr>
              <p:spPr>
                <a:xfrm>
                  <a:off x="974558" y="890337"/>
                  <a:ext cx="914400" cy="914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6CED4382-D78E-48F0-B2CF-F28FEAE7CD3E}"/>
                    </a:ext>
                  </a:extLst>
                </p:cNvPr>
                <p:cNvSpPr txBox="1"/>
                <p:nvPr/>
              </p:nvSpPr>
              <p:spPr>
                <a:xfrm>
                  <a:off x="912666" y="1225490"/>
                  <a:ext cx="1038183" cy="2440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700" b="1">
                      <a:solidFill>
                        <a:srgbClr val="FCE500"/>
                      </a:solidFill>
                      <a:latin typeface="Michelin SemiBold" panose="02000000000000000000" pitchFamily="50" charset="0"/>
                    </a:defRPr>
                  </a:lvl1pPr>
                </a:lstStyle>
                <a:p>
                  <a:r>
                    <a:rPr lang="pt-BR" dirty="0">
                      <a:solidFill>
                        <a:schemeClr val="tx1"/>
                      </a:solidFill>
                    </a:rPr>
                    <a:t>ÁFRICA</a:t>
                  </a:r>
                </a:p>
              </p:txBody>
            </p:sp>
          </p:grpSp>
          <p:grpSp>
            <p:nvGrpSpPr>
              <p:cNvPr id="47" name="Agrupar 46">
                <a:extLst>
                  <a:ext uri="{FF2B5EF4-FFF2-40B4-BE49-F238E27FC236}">
                    <a16:creationId xmlns:a16="http://schemas.microsoft.com/office/drawing/2014/main" id="{60078510-1F67-4EFB-A90B-23188DAA22D9}"/>
                  </a:ext>
                </a:extLst>
              </p:cNvPr>
              <p:cNvGrpSpPr/>
              <p:nvPr/>
            </p:nvGrpSpPr>
            <p:grpSpPr>
              <a:xfrm>
                <a:off x="7513500" y="3012547"/>
                <a:ext cx="850879" cy="749428"/>
                <a:chOff x="912666" y="890337"/>
                <a:chExt cx="1038183" cy="914400"/>
              </a:xfrm>
              <a:solidFill>
                <a:schemeClr val="accent1"/>
              </a:solidFill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F8629846-05C4-41E2-8C30-BA44CD8852A5}"/>
                    </a:ext>
                  </a:extLst>
                </p:cNvPr>
                <p:cNvSpPr/>
                <p:nvPr/>
              </p:nvSpPr>
              <p:spPr>
                <a:xfrm>
                  <a:off x="974558" y="890337"/>
                  <a:ext cx="914400" cy="914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49" name="CaixaDeTexto 48">
                  <a:extLst>
                    <a:ext uri="{FF2B5EF4-FFF2-40B4-BE49-F238E27FC236}">
                      <a16:creationId xmlns:a16="http://schemas.microsoft.com/office/drawing/2014/main" id="{FFA4DCAD-BDC0-4A67-98BC-CFDFAE54A199}"/>
                    </a:ext>
                  </a:extLst>
                </p:cNvPr>
                <p:cNvSpPr txBox="1"/>
                <p:nvPr/>
              </p:nvSpPr>
              <p:spPr>
                <a:xfrm>
                  <a:off x="912666" y="1225490"/>
                  <a:ext cx="1038183" cy="2440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700" b="1">
                      <a:solidFill>
                        <a:srgbClr val="FCE500"/>
                      </a:solidFill>
                      <a:latin typeface="Michelin SemiBold" panose="02000000000000000000" pitchFamily="50" charset="0"/>
                    </a:defRPr>
                  </a:lvl1pPr>
                </a:lstStyle>
                <a:p>
                  <a:r>
                    <a:rPr lang="pt-BR" dirty="0">
                      <a:solidFill>
                        <a:schemeClr val="tx1"/>
                      </a:solidFill>
                    </a:rPr>
                    <a:t>ÁSIA</a:t>
                  </a:r>
                </a:p>
              </p:txBody>
            </p:sp>
          </p:grpSp>
          <p:sp>
            <p:nvSpPr>
              <p:cNvPr id="50" name="Google Shape;215;p36">
                <a:extLst>
                  <a:ext uri="{FF2B5EF4-FFF2-40B4-BE49-F238E27FC236}">
                    <a16:creationId xmlns:a16="http://schemas.microsoft.com/office/drawing/2014/main" id="{96FA5775-A6D8-41C7-B661-2FF2AC3267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933" y="3587252"/>
                <a:ext cx="2744117" cy="1185968"/>
              </a:xfrm>
              <a:prstGeom prst="rect">
                <a:avLst/>
              </a:prstGeom>
              <a:noFill/>
              <a:ln w="22225" cap="rnd">
                <a:solidFill>
                  <a:schemeClr val="accent3">
                    <a:lumMod val="40000"/>
                    <a:lumOff val="60000"/>
                  </a:schemeClr>
                </a:solidFill>
                <a:round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L="914400" marR="0" lvl="1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L="1371600" marR="0" lvl="2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L="1828800" marR="0" lvl="3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L="2286000" marR="0" lvl="4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L="2743200" marR="0" lvl="5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L="3200400" marR="0" lvl="6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L="3657600" marR="0" lvl="7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L="4114800" marR="0" lvl="8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marL="0" indent="0" algn="ctr">
                  <a:buClr>
                    <a:schemeClr val="accent4">
                      <a:lumMod val="50000"/>
                    </a:schemeClr>
                  </a:buClr>
                  <a:buSzPts val="1100"/>
                  <a:buNone/>
                </a:pPr>
                <a:r>
                  <a:rPr lang="pt-BR" sz="800" dirty="0"/>
                  <a:t>BRASIL</a:t>
                </a:r>
                <a:br>
                  <a:rPr lang="pt-BR" sz="800" dirty="0"/>
                </a:br>
                <a:endParaRPr lang="pt-BR" sz="800" dirty="0"/>
              </a:p>
              <a:p>
                <a:pPr marL="285750" indent="-285750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800" dirty="0"/>
                  <a:t>01   Centro P&amp;D</a:t>
                </a:r>
              </a:p>
              <a:p>
                <a:pPr marL="285750" indent="-285750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800" dirty="0"/>
                  <a:t>06  Fábricas</a:t>
                </a:r>
              </a:p>
              <a:p>
                <a:pPr marL="285750" indent="-285750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800" dirty="0"/>
                  <a:t>02  Hub de Borracha - Sintética/Natural</a:t>
                </a:r>
              </a:p>
              <a:p>
                <a:pPr marL="285750" indent="-285750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endParaRPr lang="pt-BR" sz="800" dirty="0"/>
              </a:p>
              <a:p>
                <a:pPr marL="171450" indent="-171450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v"/>
                </a:pPr>
                <a:r>
                  <a:rPr lang="pt-BR" sz="800" dirty="0"/>
                  <a:t> Aproximadamente 10.000 colaboradores</a:t>
                </a:r>
              </a:p>
              <a:p>
                <a:pPr marL="171450" indent="-171450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v"/>
                </a:pPr>
                <a:r>
                  <a:rPr lang="pt-BR" sz="800" dirty="0"/>
                  <a:t> 1.600 Revendas</a:t>
                </a:r>
              </a:p>
            </p:txBody>
          </p:sp>
        </p:grpSp>
      </p:grpSp>
      <p:pic>
        <p:nvPicPr>
          <p:cNvPr id="22" name="Imagem 21">
            <a:extLst>
              <a:ext uri="{FF2B5EF4-FFF2-40B4-BE49-F238E27FC236}">
                <a16:creationId xmlns:a16="http://schemas.microsoft.com/office/drawing/2014/main" id="{B180A00C-1DF0-4BDB-AF11-DDF2E63AE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7607998-EA6A-4C13-9FBA-E48F546D3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2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357930" y="138052"/>
            <a:ext cx="8357346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PRESENÇA E GESTÃO - AMÉRICA DO SUL</a:t>
            </a:r>
            <a:endParaRPr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F01B12A-2C3A-4D35-92DE-3FD35A97564C}"/>
              </a:ext>
            </a:extLst>
          </p:cNvPr>
          <p:cNvGrpSpPr/>
          <p:nvPr/>
        </p:nvGrpSpPr>
        <p:grpSpPr>
          <a:xfrm>
            <a:off x="1327095" y="611842"/>
            <a:ext cx="6489809" cy="4180273"/>
            <a:chOff x="972458" y="649540"/>
            <a:chExt cx="6489809" cy="4180273"/>
          </a:xfrm>
        </p:grpSpPr>
        <p:pic>
          <p:nvPicPr>
            <p:cNvPr id="168" name="Imagem 167">
              <a:extLst>
                <a:ext uri="{FF2B5EF4-FFF2-40B4-BE49-F238E27FC236}">
                  <a16:creationId xmlns:a16="http://schemas.microsoft.com/office/drawing/2014/main" id="{D7BD2554-D5B5-4042-94F9-98FE7A6B4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7010" y="649540"/>
              <a:ext cx="2561036" cy="4180273"/>
            </a:xfrm>
            <a:prstGeom prst="rect">
              <a:avLst/>
            </a:prstGeom>
          </p:spPr>
        </p:pic>
        <p:grpSp>
          <p:nvGrpSpPr>
            <p:cNvPr id="3" name="Agrupar 2">
              <a:extLst>
                <a:ext uri="{FF2B5EF4-FFF2-40B4-BE49-F238E27FC236}">
                  <a16:creationId xmlns:a16="http://schemas.microsoft.com/office/drawing/2014/main" id="{872B1075-5A13-43F0-99CD-951C3CE26829}"/>
                </a:ext>
              </a:extLst>
            </p:cNvPr>
            <p:cNvGrpSpPr/>
            <p:nvPr/>
          </p:nvGrpSpPr>
          <p:grpSpPr>
            <a:xfrm>
              <a:off x="972458" y="1122562"/>
              <a:ext cx="6489809" cy="3302099"/>
              <a:chOff x="972458" y="1122562"/>
              <a:chExt cx="6489809" cy="3302099"/>
            </a:xfrm>
          </p:grpSpPr>
          <p:sp>
            <p:nvSpPr>
              <p:cNvPr id="173" name="Line 30">
                <a:extLst>
                  <a:ext uri="{FF2B5EF4-FFF2-40B4-BE49-F238E27FC236}">
                    <a16:creationId xmlns:a16="http://schemas.microsoft.com/office/drawing/2014/main" id="{D1E5966B-118A-4E5C-9436-73F28F2B54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01230" y="2605631"/>
                <a:ext cx="1159171" cy="453637"/>
              </a:xfrm>
              <a:prstGeom prst="line">
                <a:avLst/>
              </a:prstGeom>
              <a:noFill/>
              <a:ln w="12700">
                <a:solidFill>
                  <a:srgbClr val="FF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20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" name="Text Box 5">
                <a:extLst>
                  <a:ext uri="{FF2B5EF4-FFF2-40B4-BE49-F238E27FC236}">
                    <a16:creationId xmlns:a16="http://schemas.microsoft.com/office/drawing/2014/main" id="{B0B5EBC2-667A-4E52-AF00-BB6DACBF7B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2113" y="3269646"/>
                <a:ext cx="60631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eaLnBrk="0" hangingPunct="0">
                  <a:defRPr sz="600">
                    <a:solidFill>
                      <a:schemeClr val="bg1"/>
                    </a:solidFill>
                    <a:latin typeface="Michelin Unit Text Light" panose="02000000000000000000" pitchFamily="50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dirty="0"/>
                  <a:t>Argentina </a:t>
                </a:r>
              </a:p>
            </p:txBody>
          </p:sp>
          <p:pic>
            <p:nvPicPr>
              <p:cNvPr id="175" name="Picture 6" descr="argentina">
                <a:extLst>
                  <a:ext uri="{FF2B5EF4-FFF2-40B4-BE49-F238E27FC236}">
                    <a16:creationId xmlns:a16="http://schemas.microsoft.com/office/drawing/2014/main" id="{27AA7B73-946C-4A8C-8304-3598F9C8F4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9207" y="3141332"/>
                <a:ext cx="277906" cy="1638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6" name="Text Box 7">
                <a:extLst>
                  <a:ext uri="{FF2B5EF4-FFF2-40B4-BE49-F238E27FC236}">
                    <a16:creationId xmlns:a16="http://schemas.microsoft.com/office/drawing/2014/main" id="{DE0EEE02-2B6A-4011-A519-2685D328A3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1146" y="3834291"/>
                <a:ext cx="383438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eaLnBrk="0" hangingPunct="0">
                  <a:defRPr sz="600">
                    <a:solidFill>
                      <a:schemeClr val="bg1"/>
                    </a:solidFill>
                    <a:latin typeface="Michelin Unit Text Light" panose="02000000000000000000" pitchFamily="50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Chile </a:t>
                </a:r>
              </a:p>
            </p:txBody>
          </p:sp>
          <p:pic>
            <p:nvPicPr>
              <p:cNvPr id="177" name="Picture 8" descr="chile">
                <a:extLst>
                  <a:ext uri="{FF2B5EF4-FFF2-40B4-BE49-F238E27FC236}">
                    <a16:creationId xmlns:a16="http://schemas.microsoft.com/office/drawing/2014/main" id="{210E065C-80D0-4C01-B592-478EDDD7EB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16949" y="3728646"/>
                <a:ext cx="268364" cy="1539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78" name="Text Box 9">
                <a:extLst>
                  <a:ext uri="{FF2B5EF4-FFF2-40B4-BE49-F238E27FC236}">
                    <a16:creationId xmlns:a16="http://schemas.microsoft.com/office/drawing/2014/main" id="{341C3372-5FB7-4232-A69D-F9061BA4C9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78679" y="2378348"/>
                <a:ext cx="369012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eaLnBrk="0" hangingPunct="0">
                  <a:defRPr sz="600">
                    <a:solidFill>
                      <a:schemeClr val="bg1"/>
                    </a:solidFill>
                    <a:latin typeface="Michelin Unit Text Light" panose="02000000000000000000" pitchFamily="50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Peru </a:t>
                </a:r>
              </a:p>
            </p:txBody>
          </p:sp>
          <p:pic>
            <p:nvPicPr>
              <p:cNvPr id="179" name="Picture 10" descr="peru">
                <a:extLst>
                  <a:ext uri="{FF2B5EF4-FFF2-40B4-BE49-F238E27FC236}">
                    <a16:creationId xmlns:a16="http://schemas.microsoft.com/office/drawing/2014/main" id="{83C727EF-85D2-462E-9F82-320C68C1E0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90473" y="2248155"/>
                <a:ext cx="280673" cy="1709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0" name="Text Box 13">
                <a:extLst>
                  <a:ext uri="{FF2B5EF4-FFF2-40B4-BE49-F238E27FC236}">
                    <a16:creationId xmlns:a16="http://schemas.microsoft.com/office/drawing/2014/main" id="{D5986D9D-9CBA-4A2D-96D9-C2AE7E9075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5010" y="1468817"/>
                <a:ext cx="678778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600" dirty="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Venezuela</a:t>
                </a:r>
                <a:endParaRPr lang="en-US" sz="5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pic>
            <p:nvPicPr>
              <p:cNvPr id="181" name="Picture 14" descr="venezuela">
                <a:extLst>
                  <a:ext uri="{FF2B5EF4-FFF2-40B4-BE49-F238E27FC236}">
                    <a16:creationId xmlns:a16="http://schemas.microsoft.com/office/drawing/2014/main" id="{F855C098-3373-4DDD-B689-97097EBFB0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50512" y="1353568"/>
                <a:ext cx="260207" cy="1607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2" name="Text Box 15">
                <a:extLst>
                  <a:ext uri="{FF2B5EF4-FFF2-40B4-BE49-F238E27FC236}">
                    <a16:creationId xmlns:a16="http://schemas.microsoft.com/office/drawing/2014/main" id="{6EA7B5AD-F86B-4C7D-940D-DCAAE70535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3595" y="1752596"/>
                <a:ext cx="596769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25400" dist="254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eaLnBrk="0" hangingPunct="0">
                  <a:defRPr sz="600">
                    <a:solidFill>
                      <a:schemeClr val="bg1"/>
                    </a:solidFill>
                    <a:latin typeface="Michelin Unit Text Light" panose="02000000000000000000" pitchFamily="50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Colômbia </a:t>
                </a:r>
              </a:p>
            </p:txBody>
          </p:sp>
          <p:sp>
            <p:nvSpPr>
              <p:cNvPr id="183" name="Line 30">
                <a:extLst>
                  <a:ext uri="{FF2B5EF4-FFF2-40B4-BE49-F238E27FC236}">
                    <a16:creationId xmlns:a16="http://schemas.microsoft.com/office/drawing/2014/main" id="{40F557CD-8D23-4459-806D-5FF0F3CFA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34654" y="3850239"/>
                <a:ext cx="1002216" cy="65056"/>
              </a:xfrm>
              <a:prstGeom prst="line">
                <a:avLst/>
              </a:prstGeom>
              <a:noFill/>
              <a:ln w="12700">
                <a:solidFill>
                  <a:srgbClr val="00FF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20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pic>
            <p:nvPicPr>
              <p:cNvPr id="184" name="Picture 16" descr="colombia">
                <a:extLst>
                  <a:ext uri="{FF2B5EF4-FFF2-40B4-BE49-F238E27FC236}">
                    <a16:creationId xmlns:a16="http://schemas.microsoft.com/office/drawing/2014/main" id="{5111D328-6A69-49C8-B8B2-791A265C2D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52787" y="1620666"/>
                <a:ext cx="280930" cy="1664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5" name="Line 12">
                <a:extLst>
                  <a:ext uri="{FF2B5EF4-FFF2-40B4-BE49-F238E27FC236}">
                    <a16:creationId xmlns:a16="http://schemas.microsoft.com/office/drawing/2014/main" id="{2DD51E57-8729-4CD8-8577-F4FA1156D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44211" y="1478694"/>
                <a:ext cx="725510" cy="260635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pt-BR" sz="120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7" name="Line 7">
                <a:extLst>
                  <a:ext uri="{FF2B5EF4-FFF2-40B4-BE49-F238E27FC236}">
                    <a16:creationId xmlns:a16="http://schemas.microsoft.com/office/drawing/2014/main" id="{0C9366EE-4A4A-4339-9A2C-E63E034EF4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8867" y="1396273"/>
                <a:ext cx="1382245" cy="224393"/>
              </a:xfrm>
              <a:prstGeom prst="line">
                <a:avLst/>
              </a:prstGeom>
              <a:noFill/>
              <a:ln w="12700">
                <a:solidFill>
                  <a:srgbClr val="33CC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endParaRPr lang="pt-BR" sz="120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191" name="Agrupar 190">
                <a:extLst>
                  <a:ext uri="{FF2B5EF4-FFF2-40B4-BE49-F238E27FC236}">
                    <a16:creationId xmlns:a16="http://schemas.microsoft.com/office/drawing/2014/main" id="{6A17F52E-45DA-414F-A37F-0F4D037A42FC}"/>
                  </a:ext>
                </a:extLst>
              </p:cNvPr>
              <p:cNvGrpSpPr/>
              <p:nvPr/>
            </p:nvGrpSpPr>
            <p:grpSpPr>
              <a:xfrm>
                <a:off x="4587331" y="2388416"/>
                <a:ext cx="428862" cy="347897"/>
                <a:chOff x="4030617" y="1461925"/>
                <a:chExt cx="467336" cy="408479"/>
              </a:xfrm>
            </p:grpSpPr>
            <p:pic>
              <p:nvPicPr>
                <p:cNvPr id="192" name="Picture 2" descr="https://upload.wikimedia.org/wikipedia/commons/thumb/0/05/Flag_of_Brazil.svg/2000px-Flag_of_Brazil.svg.png">
                  <a:extLst>
                    <a:ext uri="{FF2B5EF4-FFF2-40B4-BE49-F238E27FC236}">
                      <a16:creationId xmlns:a16="http://schemas.microsoft.com/office/drawing/2014/main" id="{7C4B70D1-17EF-4AA4-B444-21D80754357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30617" y="1461925"/>
                  <a:ext cx="359821" cy="225667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3" name="Text Box 13">
                  <a:extLst>
                    <a:ext uri="{FF2B5EF4-FFF2-40B4-BE49-F238E27FC236}">
                      <a16:creationId xmlns:a16="http://schemas.microsoft.com/office/drawing/2014/main" id="{916D6B56-5BDF-47E0-B4EF-A718BF1510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48674" y="1653581"/>
                  <a:ext cx="449279" cy="21682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>
                  <a:spAutoFit/>
                </a:bodyPr>
                <a:lstStyle>
                  <a:defPPr>
                    <a:defRPr lang="fr-FR"/>
                  </a:defPPr>
                  <a:lvl1pPr eaLnBrk="0" hangingPunct="0">
                    <a:defRPr sz="700" b="1">
                      <a:solidFill>
                        <a:srgbClr val="FF6600"/>
                      </a:solidFill>
                      <a:latin typeface="Arial Black" panose="020B0A04020102020204" pitchFamily="34" charset="0"/>
                    </a:defRPr>
                  </a:lvl1pPr>
                </a:lstStyle>
                <a:p>
                  <a:r>
                    <a:rPr lang="en-US" sz="600" dirty="0">
                      <a:solidFill>
                        <a:srgbClr val="F5F5F5"/>
                      </a:solidFill>
                      <a:latin typeface="Open Sans" panose="020B0606030504020204" pitchFamily="34" charset="0"/>
                      <a:ea typeface="Open Sans" panose="020B0606030504020204" pitchFamily="34" charset="0"/>
                      <a:cs typeface="Open Sans" panose="020B0606030504020204" pitchFamily="34" charset="0"/>
                    </a:rPr>
                    <a:t>Brasil</a:t>
                  </a:r>
                </a:p>
              </p:txBody>
            </p:sp>
          </p:grpSp>
          <p:sp>
            <p:nvSpPr>
              <p:cNvPr id="206" name="Line 30">
                <a:extLst>
                  <a:ext uri="{FF2B5EF4-FFF2-40B4-BE49-F238E27FC236}">
                    <a16:creationId xmlns:a16="http://schemas.microsoft.com/office/drawing/2014/main" id="{F6B7FB47-0974-4FD7-8521-5D71805331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95957" y="2956232"/>
                <a:ext cx="1865634" cy="295117"/>
              </a:xfrm>
              <a:prstGeom prst="line">
                <a:avLst/>
              </a:prstGeom>
              <a:noFill/>
              <a:ln w="12700">
                <a:solidFill>
                  <a:srgbClr val="FF66FF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100" b="1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31" name="Oval 33">
                <a:extLst>
                  <a:ext uri="{FF2B5EF4-FFF2-40B4-BE49-F238E27FC236}">
                    <a16:creationId xmlns:a16="http://schemas.microsoft.com/office/drawing/2014/main" id="{88576386-F6DB-46E2-986B-EF51661373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5792" y="1350804"/>
                <a:ext cx="72348" cy="65055"/>
              </a:xfrm>
              <a:prstGeom prst="ellipse">
                <a:avLst/>
              </a:prstGeom>
              <a:solidFill>
                <a:srgbClr val="33CCF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pt-BR" sz="1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32" name="Oval 33">
                <a:extLst>
                  <a:ext uri="{FF2B5EF4-FFF2-40B4-BE49-F238E27FC236}">
                    <a16:creationId xmlns:a16="http://schemas.microsoft.com/office/drawing/2014/main" id="{31984129-B371-4859-BC1A-C20F9F3C3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8709" y="3218957"/>
                <a:ext cx="72348" cy="65055"/>
              </a:xfrm>
              <a:prstGeom prst="ellipse">
                <a:avLst/>
              </a:prstGeom>
              <a:solidFill>
                <a:srgbClr val="FF66FF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pt-BR" sz="1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42" name="Oval 33">
                <a:extLst>
                  <a:ext uri="{FF2B5EF4-FFF2-40B4-BE49-F238E27FC236}">
                    <a16:creationId xmlns:a16="http://schemas.microsoft.com/office/drawing/2014/main" id="{7ACFB825-1715-4431-AA75-A2577E010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3044" y="2458539"/>
                <a:ext cx="72348" cy="65055"/>
              </a:xfrm>
              <a:prstGeom prst="ellipse">
                <a:avLst/>
              </a:prstGeom>
              <a:solidFill>
                <a:srgbClr val="FFAC33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pt-BR" sz="1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43" name="Line 30">
                <a:extLst>
                  <a:ext uri="{FF2B5EF4-FFF2-40B4-BE49-F238E27FC236}">
                    <a16:creationId xmlns:a16="http://schemas.microsoft.com/office/drawing/2014/main" id="{BC170C47-F3E1-42F9-8C81-AB0F637C8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2221" y="2239773"/>
                <a:ext cx="1016265" cy="241284"/>
              </a:xfrm>
              <a:prstGeom prst="line">
                <a:avLst/>
              </a:prstGeom>
              <a:noFill/>
              <a:ln w="12700">
                <a:solidFill>
                  <a:srgbClr val="FFAC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1200" dirty="0">
                  <a:solidFill>
                    <a:srgbClr val="FFFF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2" name="Oval 33">
                <a:extLst>
                  <a:ext uri="{FF2B5EF4-FFF2-40B4-BE49-F238E27FC236}">
                    <a16:creationId xmlns:a16="http://schemas.microsoft.com/office/drawing/2014/main" id="{F9D62D2A-073C-48B2-BC86-BCB2421FE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4972" y="3810577"/>
                <a:ext cx="72348" cy="65055"/>
              </a:xfrm>
              <a:prstGeom prst="ellipse">
                <a:avLst/>
              </a:prstGeom>
              <a:solidFill>
                <a:srgbClr val="00FF00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pt-BR" sz="1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3" name="Oval 33">
                <a:extLst>
                  <a:ext uri="{FF2B5EF4-FFF2-40B4-BE49-F238E27FC236}">
                    <a16:creationId xmlns:a16="http://schemas.microsoft.com/office/drawing/2014/main" id="{42CBD05A-4C30-4CE8-AB8F-8740FC473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0439" y="1690057"/>
                <a:ext cx="72348" cy="65055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pt-BR" sz="1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5" name="Google Shape;215;p36">
                <a:extLst>
                  <a:ext uri="{FF2B5EF4-FFF2-40B4-BE49-F238E27FC236}">
                    <a16:creationId xmlns:a16="http://schemas.microsoft.com/office/drawing/2014/main" id="{050321FB-4F2A-4528-93EB-A8CB2343BD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68994" y="2761220"/>
                <a:ext cx="1493273" cy="811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L="914400" marR="0" lvl="1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L="1371600" marR="0" lvl="2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L="1828800" marR="0" lvl="3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L="2286000" marR="0" lvl="4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L="2743200" marR="0" lvl="5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L="3200400" marR="0" lvl="6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L="3657600" marR="0" lvl="7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L="4114800" marR="0" lvl="8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marL="0" indent="0" algn="just"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pt-BR" sz="1050" dirty="0"/>
                  <a:t>	</a:t>
                </a:r>
              </a:p>
              <a:p>
                <a:pPr marL="285750" indent="-285750" algn="just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1050" dirty="0"/>
                  <a:t>06 Fábricas</a:t>
                </a:r>
              </a:p>
              <a:p>
                <a:pPr marL="285750" indent="-285750" algn="just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1050" dirty="0"/>
                  <a:t>01  P&amp;D</a:t>
                </a:r>
              </a:p>
              <a:p>
                <a:pPr marL="0" indent="0" algn="just"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pt-BR" sz="1050" dirty="0"/>
              </a:p>
            </p:txBody>
          </p:sp>
          <p:sp>
            <p:nvSpPr>
              <p:cNvPr id="256" name="Google Shape;215;p36">
                <a:extLst>
                  <a:ext uri="{FF2B5EF4-FFF2-40B4-BE49-F238E27FC236}">
                    <a16:creationId xmlns:a16="http://schemas.microsoft.com/office/drawing/2014/main" id="{5F585B6D-06BF-403D-BF2B-A889E5D32D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2458" y="2528185"/>
                <a:ext cx="1373763" cy="811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L="914400" marR="0" lvl="1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L="1371600" marR="0" lvl="2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L="1828800" marR="0" lvl="3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L="2286000" marR="0" lvl="4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L="2743200" marR="0" lvl="5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L="3200400" marR="0" lvl="6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L="3657600" marR="0" lvl="7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L="4114800" marR="0" lvl="8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marL="0" indent="0" algn="just"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pt-BR" sz="1050" dirty="0"/>
                  <a:t>	</a:t>
                </a:r>
              </a:p>
              <a:p>
                <a:pPr marL="285750" indent="-285750" algn="just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1050" dirty="0"/>
                  <a:t>04 Fábricas</a:t>
                </a:r>
              </a:p>
              <a:p>
                <a:pPr marL="285750" indent="-285750" algn="just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1050" dirty="0"/>
                  <a:t>01  P&amp;D</a:t>
                </a:r>
              </a:p>
              <a:p>
                <a:pPr marL="0" indent="0" algn="just"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pt-BR" sz="1050" dirty="0"/>
              </a:p>
            </p:txBody>
          </p:sp>
          <p:sp>
            <p:nvSpPr>
              <p:cNvPr id="257" name="Google Shape;215;p36">
                <a:extLst>
                  <a:ext uri="{FF2B5EF4-FFF2-40B4-BE49-F238E27FC236}">
                    <a16:creationId xmlns:a16="http://schemas.microsoft.com/office/drawing/2014/main" id="{CE7F85DF-CEE8-4780-B0DF-112D548AE6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70410" y="3613252"/>
                <a:ext cx="1373763" cy="811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L="914400" marR="0" lvl="1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L="1371600" marR="0" lvl="2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L="1828800" marR="0" lvl="3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L="2286000" marR="0" lvl="4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L="2743200" marR="0" lvl="5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L="3200400" marR="0" lvl="6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L="3657600" marR="0" lvl="7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L="4114800" marR="0" lvl="8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marL="0" indent="0" algn="just"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pt-BR" sz="1050" dirty="0"/>
                  <a:t>	</a:t>
                </a:r>
              </a:p>
              <a:p>
                <a:pPr marL="285750" indent="-285750" algn="just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1050" dirty="0"/>
                  <a:t>02 Fábricas</a:t>
                </a:r>
              </a:p>
            </p:txBody>
          </p:sp>
          <p:sp>
            <p:nvSpPr>
              <p:cNvPr id="258" name="Google Shape;215;p36">
                <a:extLst>
                  <a:ext uri="{FF2B5EF4-FFF2-40B4-BE49-F238E27FC236}">
                    <a16:creationId xmlns:a16="http://schemas.microsoft.com/office/drawing/2014/main" id="{D5A1A87D-1D21-4E93-96FE-BE0CA59EB9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0891" y="1860097"/>
                <a:ext cx="1373763" cy="811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L="914400" marR="0" lvl="1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L="1371600" marR="0" lvl="2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L="1828800" marR="0" lvl="3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L="2286000" marR="0" lvl="4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L="2743200" marR="0" lvl="5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L="3200400" marR="0" lvl="6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L="3657600" marR="0" lvl="7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L="4114800" marR="0" lvl="8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marL="0" indent="0" algn="just"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pt-BR" sz="1050" dirty="0"/>
                  <a:t>	</a:t>
                </a:r>
              </a:p>
              <a:p>
                <a:pPr marL="285750" indent="-285750" algn="just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1050" dirty="0"/>
                  <a:t>01  Fábrica</a:t>
                </a:r>
              </a:p>
            </p:txBody>
          </p:sp>
          <p:sp>
            <p:nvSpPr>
              <p:cNvPr id="259" name="Google Shape;215;p36">
                <a:extLst>
                  <a:ext uri="{FF2B5EF4-FFF2-40B4-BE49-F238E27FC236}">
                    <a16:creationId xmlns:a16="http://schemas.microsoft.com/office/drawing/2014/main" id="{10484771-5819-4D0D-8EA5-5C219E1FE3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49828" y="1316879"/>
                <a:ext cx="1373763" cy="811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L="914400" marR="0" lvl="1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L="1371600" marR="0" lvl="2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L="1828800" marR="0" lvl="3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L="2286000" marR="0" lvl="4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L="2743200" marR="0" lvl="5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L="3200400" marR="0" lvl="6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L="3657600" marR="0" lvl="7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L="4114800" marR="0" lvl="8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marL="0" indent="0" algn="just"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pt-BR" sz="1050" dirty="0"/>
                  <a:t>	</a:t>
                </a:r>
              </a:p>
              <a:p>
                <a:pPr marL="285750" indent="-285750" algn="just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1050" dirty="0"/>
                  <a:t>01 Fábrica</a:t>
                </a:r>
              </a:p>
            </p:txBody>
          </p:sp>
          <p:sp>
            <p:nvSpPr>
              <p:cNvPr id="260" name="Google Shape;215;p36">
                <a:extLst>
                  <a:ext uri="{FF2B5EF4-FFF2-40B4-BE49-F238E27FC236}">
                    <a16:creationId xmlns:a16="http://schemas.microsoft.com/office/drawing/2014/main" id="{71D87844-860E-4D37-8BAB-832C185473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2455" y="1122562"/>
                <a:ext cx="1373763" cy="811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175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1pPr>
                <a:lvl2pPr marL="914400" marR="0" lvl="1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2pPr>
                <a:lvl3pPr marL="1371600" marR="0" lvl="2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3pPr>
                <a:lvl4pPr marL="1828800" marR="0" lvl="3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4pPr>
                <a:lvl5pPr marL="2286000" marR="0" lvl="4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5pPr>
                <a:lvl6pPr marL="2743200" marR="0" lvl="5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6pPr>
                <a:lvl7pPr marL="3200400" marR="0" lvl="6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●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7pPr>
                <a:lvl8pPr marL="3657600" marR="0" lvl="7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Montserrat"/>
                  <a:buChar char="○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8pPr>
                <a:lvl9pPr marL="4114800" marR="0" lvl="8" indent="-317500" algn="l" rtl="0">
                  <a:lnSpc>
                    <a:spcPct val="100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1"/>
                  </a:buClr>
                  <a:buSzPts val="1400"/>
                  <a:buFont typeface="Montserrat"/>
                  <a:buChar char="■"/>
                  <a:defRPr sz="1400" b="0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defRPr>
                </a:lvl9pPr>
              </a:lstStyle>
              <a:p>
                <a:pPr marL="0" indent="0" algn="just"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pt-BR" sz="1050" dirty="0"/>
                  <a:t>	</a:t>
                </a:r>
              </a:p>
              <a:p>
                <a:pPr marL="285750" indent="-285750" algn="just">
                  <a:buClr>
                    <a:schemeClr val="accent4">
                      <a:lumMod val="50000"/>
                    </a:schemeClr>
                  </a:buClr>
                  <a:buSzPts val="1100"/>
                  <a:buFont typeface="Wingdings" panose="05000000000000000000" pitchFamily="2" charset="2"/>
                  <a:buChar char="q"/>
                </a:pPr>
                <a:r>
                  <a:rPr lang="pt-BR" sz="1050" dirty="0"/>
                  <a:t>02  Fábricas</a:t>
                </a:r>
              </a:p>
            </p:txBody>
          </p:sp>
        </p:grpSp>
      </p:grpSp>
      <p:pic>
        <p:nvPicPr>
          <p:cNvPr id="35" name="Imagem 34">
            <a:extLst>
              <a:ext uri="{FF2B5EF4-FFF2-40B4-BE49-F238E27FC236}">
                <a16:creationId xmlns:a16="http://schemas.microsoft.com/office/drawing/2014/main" id="{31B09AFD-10F3-4BDF-9DC2-F5A95D2699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A417E3CD-BB95-4E5A-801A-62D0CE6008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09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689161" y="149324"/>
            <a:ext cx="7765677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MARKET SHARE GLOBAL</a:t>
            </a:r>
            <a:endParaRPr dirty="0"/>
          </a:p>
        </p:txBody>
      </p:sp>
      <p:sp>
        <p:nvSpPr>
          <p:cNvPr id="215" name="Google Shape;215;p36"/>
          <p:cNvSpPr txBox="1">
            <a:spLocks noGrp="1"/>
          </p:cNvSpPr>
          <p:nvPr>
            <p:ph type="body" idx="1"/>
          </p:nvPr>
        </p:nvSpPr>
        <p:spPr>
          <a:xfrm>
            <a:off x="506666" y="885338"/>
            <a:ext cx="8130668" cy="3109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	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dirty="0"/>
              <a:t>Presença em 170 países.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dirty="0"/>
              <a:t>Faturamento de aproximadamente BRL 115B.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dirty="0">
              <a:solidFill>
                <a:schemeClr val="bg1"/>
              </a:solidFill>
              <a:latin typeface="Open Sans"/>
              <a:cs typeface="Arial"/>
              <a:sym typeface="Arial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F308D11-727E-491A-B2B7-6F0E7A4CEE87}"/>
              </a:ext>
            </a:extLst>
          </p:cNvPr>
          <p:cNvSpPr/>
          <p:nvPr/>
        </p:nvSpPr>
        <p:spPr>
          <a:xfrm>
            <a:off x="6218997" y="2344699"/>
            <a:ext cx="1280636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050" b="1" dirty="0">
                <a:solidFill>
                  <a:srgbClr val="FCE500"/>
                </a:solidFill>
                <a:latin typeface="Open Sans"/>
              </a:rPr>
              <a:t>Produção</a:t>
            </a:r>
          </a:p>
          <a:p>
            <a:pPr algn="ctr"/>
            <a:r>
              <a:rPr lang="pt-BR" sz="1050" dirty="0">
                <a:solidFill>
                  <a:schemeClr val="bg1"/>
                </a:solidFill>
                <a:latin typeface="Open Sans"/>
              </a:rPr>
              <a:t>117 F</a:t>
            </a:r>
            <a:r>
              <a:rPr lang="pt-BR" sz="1050" dirty="0">
                <a:solidFill>
                  <a:srgbClr val="FFFFFF"/>
                </a:solidFill>
                <a:latin typeface="Open Sans"/>
              </a:rPr>
              <a:t>ábricas</a:t>
            </a:r>
          </a:p>
          <a:p>
            <a:pPr algn="ctr"/>
            <a:r>
              <a:rPr lang="pt-BR" sz="1050" dirty="0">
                <a:solidFill>
                  <a:srgbClr val="FFFFFF"/>
                </a:solidFill>
                <a:latin typeface="Open Sans"/>
              </a:rPr>
              <a:t>em </a:t>
            </a:r>
            <a:r>
              <a:rPr lang="pt-BR" sz="1050" b="1" dirty="0">
                <a:solidFill>
                  <a:srgbClr val="FFFFFF"/>
                </a:solidFill>
                <a:latin typeface="Open Sans"/>
              </a:rPr>
              <a:t>26 países</a:t>
            </a:r>
            <a:endParaRPr lang="pt-BR" sz="1050" dirty="0">
              <a:latin typeface="Open Sans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6DDA286-3D6D-4E11-8D23-91C969380E8D}"/>
              </a:ext>
            </a:extLst>
          </p:cNvPr>
          <p:cNvSpPr txBox="1"/>
          <p:nvPr/>
        </p:nvSpPr>
        <p:spPr>
          <a:xfrm>
            <a:off x="6059559" y="3522740"/>
            <a:ext cx="172542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rgbClr val="FCE500"/>
                </a:solidFill>
                <a:latin typeface="Open Sans"/>
              </a:rPr>
              <a:t>Revendas</a:t>
            </a:r>
          </a:p>
          <a:p>
            <a:pPr algn="ctr"/>
            <a:r>
              <a:rPr lang="pt-BR" sz="1050" dirty="0">
                <a:solidFill>
                  <a:schemeClr val="bg1"/>
                </a:solidFill>
                <a:latin typeface="Open Sans"/>
              </a:rPr>
              <a:t>7.000 Franqueados</a:t>
            </a:r>
          </a:p>
          <a:p>
            <a:pPr algn="ctr"/>
            <a:r>
              <a:rPr lang="pt-BR" sz="1050" dirty="0">
                <a:solidFill>
                  <a:schemeClr val="bg1"/>
                </a:solidFill>
                <a:latin typeface="Open Sans"/>
              </a:rPr>
              <a:t>em </a:t>
            </a:r>
            <a:r>
              <a:rPr lang="pt-BR" sz="1050" b="1" dirty="0">
                <a:solidFill>
                  <a:schemeClr val="bg1"/>
                </a:solidFill>
                <a:latin typeface="Open Sans"/>
              </a:rPr>
              <a:t>30 países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5F66021-F959-4A74-94C3-C7C38774696F}"/>
              </a:ext>
            </a:extLst>
          </p:cNvPr>
          <p:cNvGrpSpPr/>
          <p:nvPr/>
        </p:nvGrpSpPr>
        <p:grpSpPr>
          <a:xfrm>
            <a:off x="1095255" y="1970548"/>
            <a:ext cx="3476745" cy="2287614"/>
            <a:chOff x="632150" y="1993026"/>
            <a:chExt cx="3476745" cy="2287614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AAB27506-C686-463C-AA65-2B9E152B23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25443" t="16311" r="24535" b="12621"/>
            <a:stretch/>
          </p:blipFill>
          <p:spPr>
            <a:xfrm rot="10800000">
              <a:off x="1524203" y="2429057"/>
              <a:ext cx="1754448" cy="1664056"/>
            </a:xfrm>
            <a:prstGeom prst="rect">
              <a:avLst/>
            </a:prstGeom>
          </p:spPr>
        </p:pic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A9D4C392-B872-4F6D-9CAA-A25BCB26BE9A}"/>
                </a:ext>
              </a:extLst>
            </p:cNvPr>
            <p:cNvSpPr/>
            <p:nvPr/>
          </p:nvSpPr>
          <p:spPr>
            <a:xfrm>
              <a:off x="632150" y="3234154"/>
              <a:ext cx="1280636" cy="6309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b="1" dirty="0">
                  <a:solidFill>
                    <a:srgbClr val="FCE500"/>
                  </a:solidFill>
                  <a:latin typeface="Open Sans"/>
                </a:rPr>
                <a:t>35%</a:t>
              </a:r>
            </a:p>
            <a:p>
              <a:pPr algn="ctr"/>
              <a:r>
                <a:rPr lang="pt-BR" sz="1050" dirty="0">
                  <a:solidFill>
                    <a:schemeClr val="bg1"/>
                  </a:solidFill>
                  <a:latin typeface="Open Sans"/>
                </a:rPr>
                <a:t>América do Norte*</a:t>
              </a:r>
            </a:p>
          </p:txBody>
        </p:sp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BAA8A85-286A-4C21-B357-91D443A041BB}"/>
                </a:ext>
              </a:extLst>
            </p:cNvPr>
            <p:cNvSpPr/>
            <p:nvPr/>
          </p:nvSpPr>
          <p:spPr>
            <a:xfrm>
              <a:off x="2664910" y="2517410"/>
              <a:ext cx="1443985" cy="4693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400" b="1" dirty="0">
                  <a:solidFill>
                    <a:srgbClr val="FCE500"/>
                  </a:solidFill>
                  <a:latin typeface="Open Sans"/>
                </a:rPr>
                <a:t>37%</a:t>
              </a:r>
            </a:p>
            <a:p>
              <a:pPr algn="ctr"/>
              <a:r>
                <a:rPr lang="pt-BR" sz="1050" dirty="0">
                  <a:solidFill>
                    <a:schemeClr val="bg1"/>
                  </a:solidFill>
                  <a:latin typeface="Open Sans"/>
                </a:rPr>
                <a:t>Europa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130D676C-130B-48D2-AA09-7BB37FADD2F3}"/>
                </a:ext>
              </a:extLst>
            </p:cNvPr>
            <p:cNvSpPr/>
            <p:nvPr/>
          </p:nvSpPr>
          <p:spPr>
            <a:xfrm>
              <a:off x="2517898" y="3811281"/>
              <a:ext cx="1280636" cy="4693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400" b="1" dirty="0">
                  <a:solidFill>
                    <a:srgbClr val="FCE500"/>
                  </a:solidFill>
                  <a:latin typeface="Open Sans"/>
                </a:rPr>
                <a:t>28%</a:t>
              </a:r>
            </a:p>
            <a:p>
              <a:pPr algn="ctr"/>
              <a:r>
                <a:rPr lang="pt-BR" sz="1050" dirty="0">
                  <a:solidFill>
                    <a:schemeClr val="bg1"/>
                  </a:solidFill>
                  <a:latin typeface="Open Sans"/>
                </a:rPr>
                <a:t>Demais regiões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71F17F46-4A55-4184-B9B7-B52214E1D1A8}"/>
                </a:ext>
              </a:extLst>
            </p:cNvPr>
            <p:cNvSpPr/>
            <p:nvPr/>
          </p:nvSpPr>
          <p:spPr>
            <a:xfrm>
              <a:off x="1368306" y="1993026"/>
              <a:ext cx="201859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200" b="1" dirty="0">
                  <a:solidFill>
                    <a:srgbClr val="FCE500"/>
                  </a:solidFill>
                  <a:latin typeface="Michelin Black" panose="02000000000000000000" pitchFamily="50" charset="0"/>
                </a:rPr>
                <a:t>VENDAS</a:t>
              </a:r>
            </a:p>
          </p:txBody>
        </p:sp>
      </p:grpSp>
      <p:pic>
        <p:nvPicPr>
          <p:cNvPr id="14" name="Imagem 13">
            <a:extLst>
              <a:ext uri="{FF2B5EF4-FFF2-40B4-BE49-F238E27FC236}">
                <a16:creationId xmlns:a16="http://schemas.microsoft.com/office/drawing/2014/main" id="{B435ED0D-CE4A-4339-9B8C-F8F3D7B47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CA803B4-387F-40F0-8CA9-FA4C96C95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7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>
            <a:spLocks noGrp="1"/>
          </p:cNvSpPr>
          <p:nvPr>
            <p:ph type="body" idx="1"/>
          </p:nvPr>
        </p:nvSpPr>
        <p:spPr>
          <a:xfrm>
            <a:off x="403245" y="1917904"/>
            <a:ext cx="8265140" cy="1457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lnSpc>
                <a:spcPct val="150000"/>
              </a:lnSpc>
              <a:spcBef>
                <a:spcPts val="600"/>
              </a:spcBef>
              <a:buNone/>
            </a:pP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Sendo uma empresa </a:t>
            </a:r>
            <a:r>
              <a:rPr lang="pt-BR" sz="1200" b="1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reconhecida pela excelência no seu serviço ao Cliente, </a:t>
            </a: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com </a:t>
            </a:r>
            <a:r>
              <a:rPr lang="pt-BR" sz="1200" b="1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pessoas empoderadas </a:t>
            </a: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 engajadas, que colocam o </a:t>
            </a:r>
            <a:r>
              <a:rPr lang="pt-BR" sz="1200" b="1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Cliente no centro </a:t>
            </a: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de cada decisão, geram </a:t>
            </a:r>
            <a:r>
              <a:rPr lang="pt-BR" sz="1200" b="1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resultados sustentáveis</a:t>
            </a: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, cultivam uma </a:t>
            </a:r>
            <a:r>
              <a:rPr lang="pt-BR" sz="1200" b="1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relação de confiança</a:t>
            </a: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e oferecem uma </a:t>
            </a:r>
            <a:r>
              <a:rPr lang="pt-BR" sz="1200" b="1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rica experiência para todos</a:t>
            </a: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lang="pt-BR" sz="1200" dirty="0">
              <a:latin typeface="Montserrat" panose="00000500000000000000" pitchFamily="2" charset="0"/>
            </a:endParaRPr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latin typeface="Montserrat" panose="00000500000000000000" pitchFamily="2" charset="0"/>
            </a:endParaRPr>
          </a:p>
        </p:txBody>
      </p:sp>
      <p:sp>
        <p:nvSpPr>
          <p:cNvPr id="5" name="Google Shape;214;p36">
            <a:extLst>
              <a:ext uri="{FF2B5EF4-FFF2-40B4-BE49-F238E27FC236}">
                <a16:creationId xmlns:a16="http://schemas.microsoft.com/office/drawing/2014/main" id="{1D64C4C4-B1A6-4B0C-AB1E-38D3B9F3D012}"/>
              </a:ext>
            </a:extLst>
          </p:cNvPr>
          <p:cNvSpPr txBox="1">
            <a:spLocks/>
          </p:cNvSpPr>
          <p:nvPr/>
        </p:nvSpPr>
        <p:spPr>
          <a:xfrm>
            <a:off x="3131815" y="142572"/>
            <a:ext cx="280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pPr algn="ctr"/>
            <a:r>
              <a:rPr lang="pt-BR" dirty="0"/>
              <a:t>MISSÃO </a:t>
            </a:r>
          </a:p>
        </p:txBody>
      </p:sp>
      <p:sp>
        <p:nvSpPr>
          <p:cNvPr id="6" name="Google Shape;215;p36">
            <a:extLst>
              <a:ext uri="{FF2B5EF4-FFF2-40B4-BE49-F238E27FC236}">
                <a16:creationId xmlns:a16="http://schemas.microsoft.com/office/drawing/2014/main" id="{8B67085F-ADA1-4C3F-A9B6-84DB35F74D18}"/>
              </a:ext>
            </a:extLst>
          </p:cNvPr>
          <p:cNvSpPr txBox="1">
            <a:spLocks/>
          </p:cNvSpPr>
          <p:nvPr/>
        </p:nvSpPr>
        <p:spPr>
          <a:xfrm>
            <a:off x="403245" y="719010"/>
            <a:ext cx="8265140" cy="434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 algn="ctr">
              <a:buNone/>
            </a:pPr>
            <a:r>
              <a:rPr lang="pt-BR" sz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Oferecer a todos a melhor maneira de </a:t>
            </a:r>
            <a:r>
              <a:rPr lang="pt-BR" sz="1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ir mais longe. </a:t>
            </a:r>
          </a:p>
          <a:p>
            <a:pPr marL="0" indent="0" algn="ctr">
              <a:spcBef>
                <a:spcPts val="1600"/>
              </a:spcBef>
              <a:spcAft>
                <a:spcPts val="1600"/>
              </a:spcAft>
              <a:buFont typeface="Montserrat"/>
              <a:buNone/>
            </a:pPr>
            <a:endParaRPr lang="pt-BR" sz="1200" dirty="0">
              <a:latin typeface="Montserrat" panose="00000500000000000000" pitchFamily="2" charset="0"/>
            </a:endParaRPr>
          </a:p>
          <a:p>
            <a:pPr marL="0" indent="0" algn="ctr">
              <a:spcBef>
                <a:spcPts val="1600"/>
              </a:spcBef>
              <a:spcAft>
                <a:spcPts val="1600"/>
              </a:spcAft>
              <a:buFont typeface="Montserrat"/>
              <a:buNone/>
            </a:pPr>
            <a:endParaRPr lang="pt-BR" sz="1200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A0C948F-38B9-4872-939A-040C640D6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1237144-D91A-411A-861A-4B7BC4561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3168000" y="1594732"/>
            <a:ext cx="280800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VISÃO</a:t>
            </a:r>
            <a:endParaRPr dirty="0"/>
          </a:p>
        </p:txBody>
      </p:sp>
      <p:sp>
        <p:nvSpPr>
          <p:cNvPr id="10" name="Google Shape;214;p36">
            <a:extLst>
              <a:ext uri="{FF2B5EF4-FFF2-40B4-BE49-F238E27FC236}">
                <a16:creationId xmlns:a16="http://schemas.microsoft.com/office/drawing/2014/main" id="{4E21CB75-6A37-4C9B-B3BB-4481E9D7C14D}"/>
              </a:ext>
            </a:extLst>
          </p:cNvPr>
          <p:cNvSpPr txBox="1">
            <a:spLocks/>
          </p:cNvSpPr>
          <p:nvPr/>
        </p:nvSpPr>
        <p:spPr>
          <a:xfrm>
            <a:off x="3168000" y="3527352"/>
            <a:ext cx="280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pPr algn="ctr"/>
            <a:r>
              <a:rPr lang="pt-BR" dirty="0"/>
              <a:t>VALORES</a:t>
            </a:r>
          </a:p>
        </p:txBody>
      </p:sp>
      <p:sp>
        <p:nvSpPr>
          <p:cNvPr id="11" name="Google Shape;215;p36">
            <a:extLst>
              <a:ext uri="{FF2B5EF4-FFF2-40B4-BE49-F238E27FC236}">
                <a16:creationId xmlns:a16="http://schemas.microsoft.com/office/drawing/2014/main" id="{B4655117-EA21-41BF-A9FA-AB6E3BD2F17F}"/>
              </a:ext>
            </a:extLst>
          </p:cNvPr>
          <p:cNvSpPr txBox="1">
            <a:spLocks/>
          </p:cNvSpPr>
          <p:nvPr/>
        </p:nvSpPr>
        <p:spPr>
          <a:xfrm>
            <a:off x="587375" y="4010200"/>
            <a:ext cx="796925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39700" indent="0" algn="ctr">
              <a:buNone/>
            </a:pP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Respeito aos Fatos, aos Clientes, aos Acionistas, ao Meio Ambiente e às Pessoas.</a:t>
            </a:r>
          </a:p>
          <a:p>
            <a:pPr marL="0" indent="0" algn="ctr">
              <a:spcBef>
                <a:spcPts val="1600"/>
              </a:spcBef>
              <a:spcAft>
                <a:spcPts val="1600"/>
              </a:spcAft>
              <a:buFont typeface="Montserrat"/>
              <a:buNone/>
            </a:pPr>
            <a:endParaRPr lang="pt-BR" sz="1200" dirty="0">
              <a:solidFill>
                <a:schemeClr val="bg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spcBef>
                <a:spcPts val="1600"/>
              </a:spcBef>
              <a:spcAft>
                <a:spcPts val="1600"/>
              </a:spcAft>
              <a:buFont typeface="Montserrat"/>
              <a:buNone/>
            </a:pPr>
            <a:endParaRPr lang="pt-BR" sz="1200" dirty="0"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32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1452103" y="140745"/>
            <a:ext cx="6624341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OBJETIVOS ESTRATÉGICOS</a:t>
            </a:r>
            <a:endParaRPr dirty="0"/>
          </a:p>
        </p:txBody>
      </p:sp>
      <p:sp>
        <p:nvSpPr>
          <p:cNvPr id="215" name="Google Shape;215;p36"/>
          <p:cNvSpPr txBox="1">
            <a:spLocks noGrp="1"/>
          </p:cNvSpPr>
          <p:nvPr>
            <p:ph type="body" idx="1"/>
          </p:nvPr>
        </p:nvSpPr>
        <p:spPr>
          <a:xfrm>
            <a:off x="908806" y="911039"/>
            <a:ext cx="7326388" cy="35567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200" dirty="0"/>
              <a:t>Definidos 04 pilares, de foco em crescimento, para os próximos anos:</a:t>
            </a:r>
            <a:br>
              <a:rPr lang="pt-BR" sz="1200" dirty="0"/>
            </a:br>
            <a:endParaRPr lang="pt-BR" sz="120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200" b="1" dirty="0"/>
              <a:t>Pneus</a:t>
            </a:r>
            <a:r>
              <a:rPr lang="pt-BR" sz="1200" dirty="0"/>
              <a:t> – Líder mundial em pneus, entrega performance de longa duração, alinhado a mobilidade sustentável. Tem por objetivo alavancar a sinergia junto a influenciadores digitais, concessionárias de varejo e revendedores atacadistas. Mostrando design, melhor serviço de instalação, manutenção e auditorias.</a:t>
            </a:r>
            <a:br>
              <a:rPr lang="pt-BR" sz="1200" dirty="0"/>
            </a:br>
            <a:endParaRPr lang="pt-BR" sz="1200" dirty="0"/>
          </a:p>
          <a:p>
            <a:pPr marL="285750" indent="-285750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endParaRPr lang="pt-BR" sz="120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200" b="1" dirty="0"/>
              <a:t>Experiências</a:t>
            </a:r>
            <a:r>
              <a:rPr lang="pt-BR" sz="1200" dirty="0"/>
              <a:t> – Entrega soluções cuidadosas de hospitalidade com guias, mapas e serviços digitais. Sendo o objetivo fazer reconhecer, de imediato, a visibilidade da marca, aprimorar experiências além do produto pneu, realizando parcerias com líderes de plataformas diversificadas.</a:t>
            </a:r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endParaRPr lang="pt-BR" sz="12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F8EF46-8DD4-4DE2-864A-6CC5398C7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9628C3B-3C74-4BD9-B986-A6A7901B7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14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1415091" y="140745"/>
            <a:ext cx="6624341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OBJETIVOS ESTRATÉGICOS</a:t>
            </a:r>
            <a:endParaRPr dirty="0"/>
          </a:p>
        </p:txBody>
      </p:sp>
      <p:sp>
        <p:nvSpPr>
          <p:cNvPr id="215" name="Google Shape;215;p36"/>
          <p:cNvSpPr txBox="1">
            <a:spLocks noGrp="1"/>
          </p:cNvSpPr>
          <p:nvPr>
            <p:ph type="body" idx="1"/>
          </p:nvPr>
        </p:nvSpPr>
        <p:spPr>
          <a:xfrm>
            <a:off x="926767" y="1137031"/>
            <a:ext cx="7290465" cy="3449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endParaRPr lang="pt-BR" sz="120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200" b="1" dirty="0"/>
              <a:t>Serviços e Soluções </a:t>
            </a:r>
            <a:r>
              <a:rPr lang="pt-BR" sz="1200" dirty="0"/>
              <a:t>– Com o frequente investimento em tecnologia e busca de melhor desempenho, reformula e simplifica processos de manutenção, aumentando o tempo de utilização dos produtos e o nível de segurança, reduzindo custos e o impacto ambiental. O investimento em melhoria contínua vem apoiar as operações dos clientes com busca de emissão zero de carbono com o desenvolvimento de plataformas digitais de gestão de frota. </a:t>
            </a:r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endParaRPr lang="pt-BR" sz="120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endParaRPr lang="pt-BR" sz="120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200" b="1" dirty="0"/>
              <a:t>Materiais de Alta Tecnologia </a:t>
            </a:r>
            <a:r>
              <a:rPr lang="pt-BR" sz="1200" dirty="0"/>
              <a:t>– Aprimoramento dos programas de P&amp;D com inovação de materiais reciclados, biológicos e soluções de missão zero. O principal objetivo é desenvolver soluções de alta durabilidade, desempenho e custo reduzido.</a:t>
            </a:r>
            <a:endParaRPr sz="1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103F9E-998D-481D-A95B-F384ED336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828BD98-ED93-46B3-8F7A-1A582BAD0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78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493503" y="140745"/>
            <a:ext cx="8047246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ORGANOGRAMA</a:t>
            </a:r>
            <a:endParaRPr sz="2400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BAE00408-62D1-42E8-98F4-275CDAFA4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BD7BED20-20E7-409F-B2D4-9AAB4504F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2D6F64F6-1E07-4189-AC47-DB3E89275CF9}"/>
              </a:ext>
            </a:extLst>
          </p:cNvPr>
          <p:cNvGrpSpPr/>
          <p:nvPr/>
        </p:nvGrpSpPr>
        <p:grpSpPr>
          <a:xfrm>
            <a:off x="493502" y="1011349"/>
            <a:ext cx="8156995" cy="3356126"/>
            <a:chOff x="418492" y="897103"/>
            <a:chExt cx="8156995" cy="3356126"/>
          </a:xfrm>
        </p:grpSpPr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CBA31336-3BDE-49A5-9611-BA72FA4D02D3}"/>
                </a:ext>
              </a:extLst>
            </p:cNvPr>
            <p:cNvCxnSpPr>
              <a:cxnSpLocks/>
            </p:cNvCxnSpPr>
            <p:nvPr/>
          </p:nvCxnSpPr>
          <p:spPr>
            <a:xfrm>
              <a:off x="1147621" y="3451612"/>
              <a:ext cx="0" cy="2531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8DF14F6A-B9C4-4A6D-B614-E41E6E937A34}"/>
                </a:ext>
              </a:extLst>
            </p:cNvPr>
            <p:cNvCxnSpPr>
              <a:cxnSpLocks/>
            </p:cNvCxnSpPr>
            <p:nvPr/>
          </p:nvCxnSpPr>
          <p:spPr>
            <a:xfrm>
              <a:off x="4494572" y="1319026"/>
              <a:ext cx="1113" cy="404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ector reto 236">
              <a:extLst>
                <a:ext uri="{FF2B5EF4-FFF2-40B4-BE49-F238E27FC236}">
                  <a16:creationId xmlns:a16="http://schemas.microsoft.com/office/drawing/2014/main" id="{570F9DA5-8D90-4A54-96E6-59AC4FD39775}"/>
                </a:ext>
              </a:extLst>
            </p:cNvPr>
            <p:cNvCxnSpPr>
              <a:cxnSpLocks/>
            </p:cNvCxnSpPr>
            <p:nvPr/>
          </p:nvCxnSpPr>
          <p:spPr>
            <a:xfrm>
              <a:off x="1147621" y="3451612"/>
              <a:ext cx="6698738" cy="37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4D017FE4-DE92-46AC-A636-97BBB53E56CF}"/>
                </a:ext>
              </a:extLst>
            </p:cNvPr>
            <p:cNvCxnSpPr>
              <a:cxnSpLocks/>
            </p:cNvCxnSpPr>
            <p:nvPr/>
          </p:nvCxnSpPr>
          <p:spPr>
            <a:xfrm>
              <a:off x="3161914" y="3451612"/>
              <a:ext cx="0" cy="2531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72623DD1-D211-4CB6-875F-DD6C4A5C1154}"/>
                </a:ext>
              </a:extLst>
            </p:cNvPr>
            <p:cNvCxnSpPr>
              <a:cxnSpLocks/>
            </p:cNvCxnSpPr>
            <p:nvPr/>
          </p:nvCxnSpPr>
          <p:spPr>
            <a:xfrm>
              <a:off x="5504135" y="3464596"/>
              <a:ext cx="0" cy="2531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7AE41361-2AAF-4E77-A3B4-B11EDF6B2A31}"/>
                </a:ext>
              </a:extLst>
            </p:cNvPr>
            <p:cNvCxnSpPr>
              <a:cxnSpLocks/>
            </p:cNvCxnSpPr>
            <p:nvPr/>
          </p:nvCxnSpPr>
          <p:spPr>
            <a:xfrm>
              <a:off x="7846359" y="3451612"/>
              <a:ext cx="0" cy="2531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2CC172AE-3149-43E5-8B37-194B23EB4557}"/>
                </a:ext>
              </a:extLst>
            </p:cNvPr>
            <p:cNvCxnSpPr>
              <a:cxnSpLocks/>
            </p:cNvCxnSpPr>
            <p:nvPr/>
          </p:nvCxnSpPr>
          <p:spPr>
            <a:xfrm>
              <a:off x="4491230" y="2206709"/>
              <a:ext cx="1113" cy="404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>
              <a:extLst>
                <a:ext uri="{FF2B5EF4-FFF2-40B4-BE49-F238E27FC236}">
                  <a16:creationId xmlns:a16="http://schemas.microsoft.com/office/drawing/2014/main" id="{4AFA8646-DECD-4A27-BF48-9F28C3494183}"/>
                </a:ext>
              </a:extLst>
            </p:cNvPr>
            <p:cNvCxnSpPr>
              <a:cxnSpLocks/>
            </p:cNvCxnSpPr>
            <p:nvPr/>
          </p:nvCxnSpPr>
          <p:spPr>
            <a:xfrm>
              <a:off x="4491231" y="3105373"/>
              <a:ext cx="0" cy="3462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60A52D21-2B8D-4FAD-A912-09F7715DD8BA}"/>
                </a:ext>
              </a:extLst>
            </p:cNvPr>
            <p:cNvSpPr/>
            <p:nvPr/>
          </p:nvSpPr>
          <p:spPr>
            <a:xfrm>
              <a:off x="3767672" y="897103"/>
              <a:ext cx="1452687" cy="50790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Presidência América do Sul</a:t>
              </a:r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023E0B43-5B5B-4926-96CE-023754C54991}"/>
                </a:ext>
              </a:extLst>
            </p:cNvPr>
            <p:cNvSpPr/>
            <p:nvPr/>
          </p:nvSpPr>
          <p:spPr>
            <a:xfrm>
              <a:off x="3762102" y="1757482"/>
              <a:ext cx="1458257" cy="50790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Vice-Presidência América do Sul</a:t>
              </a:r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10BF4DCC-AF70-43F4-81FC-ED8FBD19E0D2}"/>
                </a:ext>
              </a:extLst>
            </p:cNvPr>
            <p:cNvSpPr/>
            <p:nvPr/>
          </p:nvSpPr>
          <p:spPr>
            <a:xfrm>
              <a:off x="3762102" y="2636662"/>
              <a:ext cx="1458257" cy="50790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Diretoria Compras  América do Sul</a:t>
              </a:r>
            </a:p>
          </p:txBody>
        </p:sp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2597954B-1187-4AFC-A27E-A00C3CAE9722}"/>
                </a:ext>
              </a:extLst>
            </p:cNvPr>
            <p:cNvSpPr/>
            <p:nvPr/>
          </p:nvSpPr>
          <p:spPr>
            <a:xfrm>
              <a:off x="418492" y="3717793"/>
              <a:ext cx="1458257" cy="50790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Gerência          Matéria-Prima</a:t>
              </a:r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C7176F75-4382-4001-928E-D8B29C21F2A2}"/>
                </a:ext>
              </a:extLst>
            </p:cNvPr>
            <p:cNvSpPr/>
            <p:nvPr/>
          </p:nvSpPr>
          <p:spPr>
            <a:xfrm>
              <a:off x="2432785" y="3733567"/>
              <a:ext cx="1458257" cy="50790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Gerência Serviços Não Industriais</a:t>
              </a:r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5BCABECE-B3DC-427B-87A5-95409C2B63A9}"/>
                </a:ext>
              </a:extLst>
            </p:cNvPr>
            <p:cNvSpPr/>
            <p:nvPr/>
          </p:nvSpPr>
          <p:spPr>
            <a:xfrm>
              <a:off x="7117230" y="3720836"/>
              <a:ext cx="1458257" cy="50790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Gerência Compras Operacionais</a:t>
              </a:r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E03A9EE1-A55E-44F6-B3A5-4DA6CAA6B1F6}"/>
                </a:ext>
              </a:extLst>
            </p:cNvPr>
            <p:cNvSpPr/>
            <p:nvPr/>
          </p:nvSpPr>
          <p:spPr>
            <a:xfrm>
              <a:off x="4775007" y="3745328"/>
              <a:ext cx="1458257" cy="5079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Gerência de Industriais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582016" y="134770"/>
            <a:ext cx="8175811" cy="5612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COMPRAS BRASIL</a:t>
            </a:r>
            <a:endParaRPr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C25E2BCA-BAF4-419E-8CA4-1CF135A08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D786C477-0270-4938-883B-255ED7FEEF9B}"/>
              </a:ext>
            </a:extLst>
          </p:cNvPr>
          <p:cNvGrpSpPr/>
          <p:nvPr/>
        </p:nvGrpSpPr>
        <p:grpSpPr>
          <a:xfrm>
            <a:off x="1008351" y="837718"/>
            <a:ext cx="7127297" cy="4030325"/>
            <a:chOff x="1264832" y="796573"/>
            <a:chExt cx="7158314" cy="4046560"/>
          </a:xfrm>
        </p:grpSpPr>
        <p:pic>
          <p:nvPicPr>
            <p:cNvPr id="15" name="Imagem 14" descr="Ícone&#10;&#10;Descrição gerada automaticamente">
              <a:extLst>
                <a:ext uri="{FF2B5EF4-FFF2-40B4-BE49-F238E27FC236}">
                  <a16:creationId xmlns:a16="http://schemas.microsoft.com/office/drawing/2014/main" id="{DAB46D7A-97EB-48EA-8A57-052A37151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64833" y="796573"/>
              <a:ext cx="1989901" cy="1881502"/>
            </a:xfrm>
            <a:prstGeom prst="rect">
              <a:avLst/>
            </a:prstGeom>
          </p:spPr>
        </p:pic>
        <p:pic>
          <p:nvPicPr>
            <p:cNvPr id="17" name="Imagem 16" descr="Desenho preto e branco&#10;&#10;Descrição gerada automaticamente com confiança média">
              <a:extLst>
                <a:ext uri="{FF2B5EF4-FFF2-40B4-BE49-F238E27FC236}">
                  <a16:creationId xmlns:a16="http://schemas.microsoft.com/office/drawing/2014/main" id="{27A33C0E-F4BF-4D98-B011-E91350097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24621" y="1094930"/>
              <a:ext cx="1554545" cy="1476818"/>
            </a:xfrm>
            <a:prstGeom prst="rect">
              <a:avLst/>
            </a:prstGeom>
          </p:spPr>
        </p:pic>
        <p:pic>
          <p:nvPicPr>
            <p:cNvPr id="19" name="Imagem 18" descr="Texto&#10;&#10;Descrição gerada automaticamente">
              <a:extLst>
                <a:ext uri="{FF2B5EF4-FFF2-40B4-BE49-F238E27FC236}">
                  <a16:creationId xmlns:a16="http://schemas.microsoft.com/office/drawing/2014/main" id="{6F440F54-DE57-43A1-939E-9A7102E16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27762" y="2863924"/>
              <a:ext cx="1475955" cy="1576829"/>
            </a:xfrm>
            <a:prstGeom prst="rect">
              <a:avLst/>
            </a:prstGeom>
          </p:spPr>
        </p:pic>
        <p:sp>
          <p:nvSpPr>
            <p:cNvPr id="25" name="Google Shape;215;p36">
              <a:extLst>
                <a:ext uri="{FF2B5EF4-FFF2-40B4-BE49-F238E27FC236}">
                  <a16:creationId xmlns:a16="http://schemas.microsoft.com/office/drawing/2014/main" id="{5F491575-0260-43D1-A251-02505DC98D0A}"/>
                </a:ext>
              </a:extLst>
            </p:cNvPr>
            <p:cNvSpPr txBox="1">
              <a:spLocks/>
            </p:cNvSpPr>
            <p:nvPr/>
          </p:nvSpPr>
          <p:spPr>
            <a:xfrm>
              <a:off x="1264832" y="2314899"/>
              <a:ext cx="1989901" cy="697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285750" indent="-285750" algn="just">
                <a:buClr>
                  <a:schemeClr val="accent4">
                    <a:lumMod val="50000"/>
                  </a:schemeClr>
                </a:buClr>
                <a:buSzPts val="1100"/>
                <a:buFont typeface="Wingdings" panose="05000000000000000000" pitchFamily="2" charset="2"/>
                <a:buChar char="q"/>
              </a:pPr>
              <a:endParaRPr lang="pt-BR" sz="1050" dirty="0"/>
            </a:p>
            <a:p>
              <a:pPr marL="285750" indent="-285750">
                <a:buClr>
                  <a:schemeClr val="accent4">
                    <a:lumMod val="50000"/>
                  </a:schemeClr>
                </a:buClr>
                <a:buSzPts val="1100"/>
                <a:buFont typeface="Wingdings" panose="05000000000000000000" pitchFamily="2" charset="2"/>
                <a:buChar char="q"/>
              </a:pPr>
              <a:r>
                <a:rPr lang="pt-BR" sz="1050" dirty="0"/>
                <a:t>42 COMPRADORES</a:t>
              </a:r>
              <a:br>
                <a:rPr lang="pt-BR" sz="1050" dirty="0"/>
              </a:br>
              <a:endParaRPr lang="pt-BR" sz="1050" dirty="0"/>
            </a:p>
          </p:txBody>
        </p:sp>
        <p:sp>
          <p:nvSpPr>
            <p:cNvPr id="26" name="Google Shape;215;p36">
              <a:extLst>
                <a:ext uri="{FF2B5EF4-FFF2-40B4-BE49-F238E27FC236}">
                  <a16:creationId xmlns:a16="http://schemas.microsoft.com/office/drawing/2014/main" id="{2F8374AB-D355-4D69-B519-634D80D5F701}"/>
                </a:ext>
              </a:extLst>
            </p:cNvPr>
            <p:cNvSpPr txBox="1">
              <a:spLocks/>
            </p:cNvSpPr>
            <p:nvPr/>
          </p:nvSpPr>
          <p:spPr>
            <a:xfrm>
              <a:off x="3853221" y="4145366"/>
              <a:ext cx="1989901" cy="697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285750" indent="-285750" algn="just">
                <a:buClr>
                  <a:schemeClr val="accent4">
                    <a:lumMod val="50000"/>
                  </a:schemeClr>
                </a:buClr>
                <a:buSzPts val="1100"/>
                <a:buFont typeface="Wingdings" panose="05000000000000000000" pitchFamily="2" charset="2"/>
                <a:buChar char="q"/>
              </a:pPr>
              <a:endParaRPr lang="pt-BR" sz="1050" dirty="0"/>
            </a:p>
            <a:p>
              <a:pPr marL="285750" indent="-285750">
                <a:buClr>
                  <a:schemeClr val="accent4">
                    <a:lumMod val="50000"/>
                  </a:schemeClr>
                </a:buClr>
                <a:buSzPts val="1100"/>
                <a:buFont typeface="Wingdings" panose="05000000000000000000" pitchFamily="2" charset="2"/>
                <a:buChar char="q"/>
              </a:pPr>
              <a:r>
                <a:rPr lang="pt-BR" sz="1050" dirty="0"/>
                <a:t>27 CATEGORIAS</a:t>
              </a:r>
            </a:p>
          </p:txBody>
        </p:sp>
        <p:sp>
          <p:nvSpPr>
            <p:cNvPr id="27" name="Google Shape;215;p36">
              <a:extLst>
                <a:ext uri="{FF2B5EF4-FFF2-40B4-BE49-F238E27FC236}">
                  <a16:creationId xmlns:a16="http://schemas.microsoft.com/office/drawing/2014/main" id="{9B9D94AD-FEFD-4E07-B8A2-3BD6638A7A79}"/>
                </a:ext>
              </a:extLst>
            </p:cNvPr>
            <p:cNvSpPr txBox="1">
              <a:spLocks/>
            </p:cNvSpPr>
            <p:nvPr/>
          </p:nvSpPr>
          <p:spPr>
            <a:xfrm>
              <a:off x="6065964" y="2314899"/>
              <a:ext cx="2357182" cy="697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285750" indent="-285750" algn="just">
                <a:buClr>
                  <a:schemeClr val="accent4">
                    <a:lumMod val="50000"/>
                  </a:schemeClr>
                </a:buClr>
                <a:buSzPts val="1100"/>
                <a:buFont typeface="Wingdings" panose="05000000000000000000" pitchFamily="2" charset="2"/>
                <a:buChar char="q"/>
              </a:pPr>
              <a:endParaRPr lang="pt-BR" sz="1050" dirty="0"/>
            </a:p>
            <a:p>
              <a:pPr marL="285750" indent="-285750">
                <a:buClr>
                  <a:schemeClr val="accent4">
                    <a:lumMod val="50000"/>
                  </a:schemeClr>
                </a:buClr>
                <a:buSzPts val="1100"/>
                <a:buFont typeface="Wingdings" panose="05000000000000000000" pitchFamily="2" charset="2"/>
                <a:buChar char="q"/>
              </a:pPr>
              <a:r>
                <a:rPr lang="pt-BR" sz="1050" dirty="0"/>
                <a:t>ADMINISTRAÇÃO BRL 1,3B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2481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 idx="2"/>
          </p:nvPr>
        </p:nvSpPr>
        <p:spPr>
          <a:xfrm>
            <a:off x="875057" y="753100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82" name="Google Shape;182;p33"/>
          <p:cNvSpPr txBox="1">
            <a:spLocks noGrp="1"/>
          </p:cNvSpPr>
          <p:nvPr>
            <p:ph type="ctrTitle"/>
          </p:nvPr>
        </p:nvSpPr>
        <p:spPr>
          <a:xfrm>
            <a:off x="2952527" y="708419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>
                <a:solidFill>
                  <a:schemeClr val="bg1"/>
                </a:solidFill>
              </a:rPr>
              <a:t>A Empresa</a:t>
            </a:r>
            <a:endParaRPr sz="1400" b="0" dirty="0">
              <a:solidFill>
                <a:schemeClr val="bg1"/>
              </a:solidFill>
            </a:endParaRPr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5116110" y="448520"/>
            <a:ext cx="3253470" cy="9945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 sobre o negócio da empresa e seus objetivos </a:t>
            </a:r>
            <a:endParaRPr dirty="0"/>
          </a:p>
        </p:txBody>
      </p:sp>
      <p:sp>
        <p:nvSpPr>
          <p:cNvPr id="184" name="Google Shape;184;p33"/>
          <p:cNvSpPr txBox="1">
            <a:spLocks noGrp="1"/>
          </p:cNvSpPr>
          <p:nvPr>
            <p:ph type="ctrTitle" idx="3"/>
          </p:nvPr>
        </p:nvSpPr>
        <p:spPr>
          <a:xfrm>
            <a:off x="2929077" y="1626624"/>
            <a:ext cx="2603146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Sobre o Projeto </a:t>
            </a:r>
            <a:endParaRPr dirty="0"/>
          </a:p>
        </p:txBody>
      </p:sp>
      <p:sp>
        <p:nvSpPr>
          <p:cNvPr id="185" name="Google Shape;185;p33"/>
          <p:cNvSpPr txBox="1">
            <a:spLocks noGrp="1"/>
          </p:cNvSpPr>
          <p:nvPr>
            <p:ph type="subTitle" idx="4"/>
          </p:nvPr>
        </p:nvSpPr>
        <p:spPr>
          <a:xfrm>
            <a:off x="5159280" y="1608683"/>
            <a:ext cx="3146518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1800"/>
            </a:pPr>
            <a:r>
              <a:rPr lang="en" sz="1800" b="1" dirty="0"/>
              <a:t>Proposta do Projeto e análise da categoria e subcategorias </a:t>
            </a:r>
            <a:endParaRPr sz="1800" b="1" dirty="0"/>
          </a:p>
        </p:txBody>
      </p:sp>
      <p:sp>
        <p:nvSpPr>
          <p:cNvPr id="186" name="Google Shape;186;p33"/>
          <p:cNvSpPr txBox="1">
            <a:spLocks noGrp="1"/>
          </p:cNvSpPr>
          <p:nvPr>
            <p:ph type="title" idx="5"/>
          </p:nvPr>
        </p:nvSpPr>
        <p:spPr>
          <a:xfrm>
            <a:off x="965111" y="170299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02</a:t>
            </a:r>
            <a:endParaRPr b="1" dirty="0"/>
          </a:p>
        </p:txBody>
      </p:sp>
      <p:sp>
        <p:nvSpPr>
          <p:cNvPr id="187" name="Google Shape;187;p33"/>
          <p:cNvSpPr txBox="1">
            <a:spLocks noGrp="1"/>
          </p:cNvSpPr>
          <p:nvPr>
            <p:ph type="ctrTitle" idx="6"/>
          </p:nvPr>
        </p:nvSpPr>
        <p:spPr>
          <a:xfrm>
            <a:off x="3003350" y="2553574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A estratégia</a:t>
            </a:r>
            <a:endParaRPr sz="1400" b="0" dirty="0"/>
          </a:p>
        </p:txBody>
      </p:sp>
      <p:sp>
        <p:nvSpPr>
          <p:cNvPr id="188" name="Google Shape;188;p33"/>
          <p:cNvSpPr txBox="1">
            <a:spLocks noGrp="1"/>
          </p:cNvSpPr>
          <p:nvPr>
            <p:ph type="subTitle" idx="7"/>
          </p:nvPr>
        </p:nvSpPr>
        <p:spPr>
          <a:xfrm>
            <a:off x="5159280" y="2472983"/>
            <a:ext cx="3146519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1800"/>
            </a:pPr>
            <a:r>
              <a:rPr lang="en" dirty="0"/>
              <a:t>Desenvolvimento do Estrategic Sourcing</a:t>
            </a:r>
            <a:endParaRPr dirty="0"/>
          </a:p>
        </p:txBody>
      </p:sp>
      <p:sp>
        <p:nvSpPr>
          <p:cNvPr id="189" name="Google Shape;189;p33"/>
          <p:cNvSpPr txBox="1">
            <a:spLocks noGrp="1"/>
          </p:cNvSpPr>
          <p:nvPr>
            <p:ph type="title" idx="8"/>
          </p:nvPr>
        </p:nvSpPr>
        <p:spPr>
          <a:xfrm>
            <a:off x="965111" y="2733421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0" name="Google Shape;190;p33"/>
          <p:cNvSpPr txBox="1">
            <a:spLocks noGrp="1"/>
          </p:cNvSpPr>
          <p:nvPr>
            <p:ph type="ctrTitle" idx="9"/>
          </p:nvPr>
        </p:nvSpPr>
        <p:spPr>
          <a:xfrm>
            <a:off x="3003350" y="3686633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Conclusão	</a:t>
            </a:r>
            <a:endParaRPr sz="1400" b="0"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subTitle" idx="13"/>
          </p:nvPr>
        </p:nvSpPr>
        <p:spPr>
          <a:xfrm>
            <a:off x="5214852" y="3570781"/>
            <a:ext cx="3253469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Benefícios, recomendações e proposta de solução</a:t>
            </a:r>
            <a:endParaRPr dirty="0"/>
          </a:p>
        </p:txBody>
      </p:sp>
      <p:sp>
        <p:nvSpPr>
          <p:cNvPr id="192" name="Google Shape;192;p33"/>
          <p:cNvSpPr txBox="1">
            <a:spLocks noGrp="1"/>
          </p:cNvSpPr>
          <p:nvPr>
            <p:ph type="title" idx="14"/>
          </p:nvPr>
        </p:nvSpPr>
        <p:spPr>
          <a:xfrm>
            <a:off x="965111" y="376384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179FF1A-13C2-4229-A687-82556727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C88D6CE-0A51-4C93-8E0A-B13F9A9BE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43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4009465" y="140745"/>
            <a:ext cx="4820770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SOBRE O PROJETO</a:t>
            </a:r>
            <a:endParaRPr dirty="0"/>
          </a:p>
        </p:txBody>
      </p:sp>
      <p:sp>
        <p:nvSpPr>
          <p:cNvPr id="198" name="Google Shape;198;p34"/>
          <p:cNvSpPr txBox="1">
            <a:spLocks noGrp="1"/>
          </p:cNvSpPr>
          <p:nvPr>
            <p:ph type="body" idx="1"/>
          </p:nvPr>
        </p:nvSpPr>
        <p:spPr>
          <a:xfrm>
            <a:off x="4306420" y="1758114"/>
            <a:ext cx="4417359" cy="2332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/>
              <a:t>Manter-se competitivo no Mercado é um desafio, por isso é necessário aplicar um olhar crítico em todas as áreas da Organização.</a:t>
            </a:r>
          </a:p>
          <a:p>
            <a:pPr marL="0" lvl="0" indent="0" algn="just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/>
              <a:t>Alinhados a construção e manutenção dos pilares de Inovação, Sustentabilidade e Rentabilidade, este projeto visa mostrar que as Categorias de suporte fabril são impactantes para a permanência como Líder no setor.</a:t>
            </a:r>
          </a:p>
        </p:txBody>
      </p:sp>
      <p:pic>
        <p:nvPicPr>
          <p:cNvPr id="199" name="Google Shape;199;p34"/>
          <p:cNvPicPr preferRelativeResize="0"/>
          <p:nvPr/>
        </p:nvPicPr>
        <p:blipFill rotWithShape="1">
          <a:blip r:embed="rId3">
            <a:alphaModFix/>
          </a:blip>
          <a:srcRect l="12478" r="37708"/>
          <a:stretch/>
        </p:blipFill>
        <p:spPr>
          <a:xfrm>
            <a:off x="0" y="0"/>
            <a:ext cx="3843225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FE0C01A-A0B9-4A4E-BBD1-6F912E473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D741EB8-52D9-463A-A840-A3E50F9C9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492574" y="140745"/>
            <a:ext cx="8175811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ENGENHARIA E CONSTRUÇÃO</a:t>
            </a:r>
            <a:endParaRPr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290BD5EB-299F-4A61-9DD2-11AC14A08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D62B24DC-1398-40EB-8491-82171322CEA0}"/>
              </a:ext>
            </a:extLst>
          </p:cNvPr>
          <p:cNvGrpSpPr/>
          <p:nvPr/>
        </p:nvGrpSpPr>
        <p:grpSpPr>
          <a:xfrm>
            <a:off x="727076" y="944896"/>
            <a:ext cx="7689847" cy="3489032"/>
            <a:chOff x="561118" y="894782"/>
            <a:chExt cx="7689847" cy="3489032"/>
          </a:xfrm>
        </p:grpSpPr>
        <p:pic>
          <p:nvPicPr>
            <p:cNvPr id="12" name="Imagem 11" descr="Diagrama, Desenho técnico&#10;&#10;Descrição gerada automaticamente">
              <a:extLst>
                <a:ext uri="{FF2B5EF4-FFF2-40B4-BE49-F238E27FC236}">
                  <a16:creationId xmlns:a16="http://schemas.microsoft.com/office/drawing/2014/main" id="{C70688BA-D333-4010-B267-6E791BD09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1118" y="894782"/>
              <a:ext cx="2784030" cy="1836638"/>
            </a:xfrm>
            <a:prstGeom prst="rect">
              <a:avLst/>
            </a:prstGeom>
          </p:spPr>
        </p:pic>
        <p:pic>
          <p:nvPicPr>
            <p:cNvPr id="4" name="Imagem 3" descr="Cidade vista de cima&#10;&#10;Descrição gerada automaticamente">
              <a:extLst>
                <a:ext uri="{FF2B5EF4-FFF2-40B4-BE49-F238E27FC236}">
                  <a16:creationId xmlns:a16="http://schemas.microsoft.com/office/drawing/2014/main" id="{6727F73B-706D-4B42-A96C-F02A9A365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78552" y="2536252"/>
              <a:ext cx="2756680" cy="1847562"/>
            </a:xfrm>
            <a:prstGeom prst="rect">
              <a:avLst/>
            </a:prstGeom>
          </p:spPr>
        </p:pic>
        <p:pic>
          <p:nvPicPr>
            <p:cNvPr id="8" name="Imagem 7" descr="Uma imagem contendo mesa, verde, quarto, em pé&#10;&#10;Descrição gerada automaticamente">
              <a:extLst>
                <a:ext uri="{FF2B5EF4-FFF2-40B4-BE49-F238E27FC236}">
                  <a16:creationId xmlns:a16="http://schemas.microsoft.com/office/drawing/2014/main" id="{81031816-9244-44BB-BF5B-F345BDEBA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40935" y="894782"/>
              <a:ext cx="2756680" cy="1836638"/>
            </a:xfrm>
            <a:prstGeom prst="rect">
              <a:avLst/>
            </a:prstGeom>
          </p:spPr>
        </p:pic>
        <p:pic>
          <p:nvPicPr>
            <p:cNvPr id="6" name="Imagem 5" descr="Uma imagem contendo pessoa, ao ar livre, cerca, homem&#10;&#10;Descrição gerada automaticamente">
              <a:extLst>
                <a:ext uri="{FF2B5EF4-FFF2-40B4-BE49-F238E27FC236}">
                  <a16:creationId xmlns:a16="http://schemas.microsoft.com/office/drawing/2014/main" id="{2B455812-D05C-4F7E-A858-C8771AE5E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94285" y="2541714"/>
              <a:ext cx="2756680" cy="1836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5373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484094" y="127515"/>
            <a:ext cx="8175811" cy="5612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SOBRE A CATEGORIA</a:t>
            </a:r>
            <a:endParaRPr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C25E2BCA-BAF4-419E-8CA4-1CF135A08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25" name="Google Shape;215;p36">
            <a:extLst>
              <a:ext uri="{FF2B5EF4-FFF2-40B4-BE49-F238E27FC236}">
                <a16:creationId xmlns:a16="http://schemas.microsoft.com/office/drawing/2014/main" id="{5F491575-0260-43D1-A251-02505DC98D0A}"/>
              </a:ext>
            </a:extLst>
          </p:cNvPr>
          <p:cNvSpPr txBox="1">
            <a:spLocks/>
          </p:cNvSpPr>
          <p:nvPr/>
        </p:nvSpPr>
        <p:spPr>
          <a:xfrm>
            <a:off x="835025" y="1025870"/>
            <a:ext cx="7473950" cy="345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dirty="0">
                <a:solidFill>
                  <a:schemeClr val="bg1"/>
                </a:solidFill>
              </a:rPr>
              <a:t>O Spend da EBP (BRL 1,3B) está divido em  “Naturezas”.  Trabalharemos a Natureza Capital Equipment (BRL 78M), que representa o CAPEX de novos projetos.</a:t>
            </a:r>
          </a:p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endParaRPr lang="pt-BR" dirty="0">
              <a:solidFill>
                <a:schemeClr val="bg1"/>
              </a:solidFill>
            </a:endParaRPr>
          </a:p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dirty="0">
                <a:solidFill>
                  <a:schemeClr val="bg1"/>
                </a:solidFill>
              </a:rPr>
              <a:t>Capital Equipment está divida em 33 categorias e o foco para este projeto é a Categoria Engenharia e Construção, cujo spend é de BRL </a:t>
            </a:r>
            <a:r>
              <a:rPr lang="pt-BR" dirty="0"/>
              <a:t>19 M.</a:t>
            </a:r>
            <a:endParaRPr lang="pt-BR" dirty="0">
              <a:solidFill>
                <a:schemeClr val="bg1"/>
              </a:solidFill>
            </a:endParaRPr>
          </a:p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endParaRPr lang="pt-BR" dirty="0">
              <a:solidFill>
                <a:schemeClr val="bg1"/>
              </a:solidFill>
            </a:endParaRPr>
          </a:p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dirty="0">
                <a:solidFill>
                  <a:schemeClr val="bg1"/>
                </a:solidFill>
              </a:rPr>
              <a:t>Esta categoria se divide em 3 subcategorias:  </a:t>
            </a:r>
            <a:r>
              <a:rPr lang="pt-BR" dirty="0"/>
              <a:t>Engenharia, Construção Generalista e Construção Especialista.</a:t>
            </a:r>
          </a:p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endParaRPr lang="pt-BR" dirty="0"/>
          </a:p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dirty="0"/>
              <a:t>A categoria Engenharia e Construção pode ser considerada o alicerce para as expansões estruturais da expansão da EBP. Esta categoria engloba, dentre outros investimentos, as obras necessárias para preparar o espaço físico e ambiente onde serão implementadas novas máquinas de produção para ampliação da produção ou novo segmento de fabricação da empresa.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7136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DA56E31E-38AE-442B-BB83-F9975D773415}"/>
              </a:ext>
            </a:extLst>
          </p:cNvPr>
          <p:cNvGrpSpPr/>
          <p:nvPr/>
        </p:nvGrpSpPr>
        <p:grpSpPr>
          <a:xfrm>
            <a:off x="222358" y="1339569"/>
            <a:ext cx="5223389" cy="2910174"/>
            <a:chOff x="247758" y="1523719"/>
            <a:chExt cx="5223389" cy="2910174"/>
          </a:xfrm>
        </p:grpSpPr>
        <p:pic>
          <p:nvPicPr>
            <p:cNvPr id="13" name="Imagem 12" descr="Gráfico, Gráfico de pizza&#10;&#10;Descrição gerada automaticamente">
              <a:extLst>
                <a:ext uri="{FF2B5EF4-FFF2-40B4-BE49-F238E27FC236}">
                  <a16:creationId xmlns:a16="http://schemas.microsoft.com/office/drawing/2014/main" id="{451DBC60-0195-47C8-A8D3-E04722562F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8714"/>
            <a:stretch/>
          </p:blipFill>
          <p:spPr>
            <a:xfrm>
              <a:off x="247758" y="2004221"/>
              <a:ext cx="5223389" cy="2114731"/>
            </a:xfrm>
            <a:prstGeom prst="rect">
              <a:avLst/>
            </a:prstGeom>
          </p:spPr>
        </p:pic>
        <p:sp>
          <p:nvSpPr>
            <p:cNvPr id="7" name="Google Shape;215;p36">
              <a:extLst>
                <a:ext uri="{FF2B5EF4-FFF2-40B4-BE49-F238E27FC236}">
                  <a16:creationId xmlns:a16="http://schemas.microsoft.com/office/drawing/2014/main" id="{FD83DF11-10B6-4F0E-82D7-CB304F265782}"/>
                </a:ext>
              </a:extLst>
            </p:cNvPr>
            <p:cNvSpPr txBox="1">
              <a:spLocks/>
            </p:cNvSpPr>
            <p:nvPr/>
          </p:nvSpPr>
          <p:spPr>
            <a:xfrm>
              <a:off x="1978089" y="3953391"/>
              <a:ext cx="2090377" cy="480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endParaRPr lang="pt-BR" sz="600" dirty="0"/>
            </a:p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800" dirty="0"/>
                <a:t>Spend Total da Empresa  BRL 1,3B</a:t>
              </a:r>
            </a:p>
          </p:txBody>
        </p:sp>
        <p:sp>
          <p:nvSpPr>
            <p:cNvPr id="2" name="Google Shape;215;p36">
              <a:extLst>
                <a:ext uri="{FF2B5EF4-FFF2-40B4-BE49-F238E27FC236}">
                  <a16:creationId xmlns:a16="http://schemas.microsoft.com/office/drawing/2014/main" id="{259993F4-1C1E-AC1F-557E-5C681F4A5F7A}"/>
                </a:ext>
              </a:extLst>
            </p:cNvPr>
            <p:cNvSpPr txBox="1">
              <a:spLocks/>
            </p:cNvSpPr>
            <p:nvPr/>
          </p:nvSpPr>
          <p:spPr>
            <a:xfrm>
              <a:off x="915471" y="1523719"/>
              <a:ext cx="1516229" cy="480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endParaRPr lang="pt-BR" sz="600" dirty="0"/>
            </a:p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800" dirty="0"/>
                <a:t>Capital Equipment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6EF5BA49-AF20-0983-152F-06C18E0C25AB}"/>
                </a:ext>
              </a:extLst>
            </p:cNvPr>
            <p:cNvCxnSpPr/>
            <p:nvPr/>
          </p:nvCxnSpPr>
          <p:spPr>
            <a:xfrm flipH="1" flipV="1">
              <a:off x="1904593" y="1848897"/>
              <a:ext cx="326141" cy="281354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572077" y="114076"/>
            <a:ext cx="8175811" cy="5612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SPEND CAPITAL EQUIPMENT</a:t>
            </a:r>
            <a:endParaRPr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C25E2BCA-BAF4-419E-8CA4-1CF135A08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65" name="Google Shape;215;p36">
            <a:extLst>
              <a:ext uri="{FF2B5EF4-FFF2-40B4-BE49-F238E27FC236}">
                <a16:creationId xmlns:a16="http://schemas.microsoft.com/office/drawing/2014/main" id="{40C545DA-D0CC-4B74-A730-B6BEE010BA96}"/>
              </a:ext>
            </a:extLst>
          </p:cNvPr>
          <p:cNvSpPr txBox="1">
            <a:spLocks/>
          </p:cNvSpPr>
          <p:nvPr/>
        </p:nvSpPr>
        <p:spPr>
          <a:xfrm>
            <a:off x="5198053" y="1961802"/>
            <a:ext cx="3526644" cy="1704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endParaRPr lang="pt-BR" sz="105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050" dirty="0"/>
              <a:t>Representa 6% do Spend Total da Empresa.</a:t>
            </a:r>
            <a:br>
              <a:rPr lang="pt-BR" sz="1050" dirty="0"/>
            </a:br>
            <a:br>
              <a:rPr lang="pt-BR" sz="1050" dirty="0"/>
            </a:br>
            <a:endParaRPr lang="pt-BR" sz="105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050" dirty="0"/>
              <a:t>Spend de BRL 78M.</a:t>
            </a:r>
          </a:p>
        </p:txBody>
      </p:sp>
    </p:spTree>
    <p:extLst>
      <p:ext uri="{BB962C8B-B14F-4D97-AF65-F5344CB8AC3E}">
        <p14:creationId xmlns:p14="http://schemas.microsoft.com/office/powerpoint/2010/main" val="315522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2729FC4-3879-4C59-9120-A33C446B4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8" name="Google Shape;215;p36">
            <a:extLst>
              <a:ext uri="{FF2B5EF4-FFF2-40B4-BE49-F238E27FC236}">
                <a16:creationId xmlns:a16="http://schemas.microsoft.com/office/drawing/2014/main" id="{F1C60076-E103-4732-B926-35D455591423}"/>
              </a:ext>
            </a:extLst>
          </p:cNvPr>
          <p:cNvSpPr txBox="1">
            <a:spLocks/>
          </p:cNvSpPr>
          <p:nvPr/>
        </p:nvSpPr>
        <p:spPr>
          <a:xfrm>
            <a:off x="5161031" y="2006488"/>
            <a:ext cx="3760719" cy="1061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dirty="0"/>
              <a:t>	</a:t>
            </a:r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050" dirty="0"/>
              <a:t>Representa 24% da Natureza Capital Equipment.</a:t>
            </a:r>
            <a:br>
              <a:rPr lang="pt-BR" sz="1050" dirty="0"/>
            </a:br>
            <a:br>
              <a:rPr lang="pt-BR" sz="1050" dirty="0"/>
            </a:br>
            <a:endParaRPr lang="pt-BR" sz="105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050" dirty="0"/>
              <a:t>Spend  de BRL 19M .</a:t>
            </a:r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endParaRPr lang="pt-BR" sz="1050" dirty="0"/>
          </a:p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endParaRPr lang="pt-BR" sz="1050" dirty="0"/>
          </a:p>
        </p:txBody>
      </p:sp>
      <p:sp>
        <p:nvSpPr>
          <p:cNvPr id="12" name="Google Shape;224;p37">
            <a:extLst>
              <a:ext uri="{FF2B5EF4-FFF2-40B4-BE49-F238E27FC236}">
                <a16:creationId xmlns:a16="http://schemas.microsoft.com/office/drawing/2014/main" id="{A95F37BC-9F4D-4F2A-B036-19BCA2134962}"/>
              </a:ext>
            </a:extLst>
          </p:cNvPr>
          <p:cNvSpPr txBox="1">
            <a:spLocks/>
          </p:cNvSpPr>
          <p:nvPr/>
        </p:nvSpPr>
        <p:spPr>
          <a:xfrm>
            <a:off x="484094" y="114728"/>
            <a:ext cx="8175811" cy="561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000"/>
              <a:buFont typeface="Montserrat ExtraLight"/>
              <a:buNone/>
              <a:defRPr sz="20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r>
              <a:rPr lang="pt-BR" sz="2400" dirty="0"/>
              <a:t>SPEND ENGENHARIA E CONSTRUÇÃO</a:t>
            </a:r>
            <a:endParaRPr lang="pt-BR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E9DAB4A-9143-443F-B250-9D51ABB5DCB1}"/>
              </a:ext>
            </a:extLst>
          </p:cNvPr>
          <p:cNvGrpSpPr/>
          <p:nvPr/>
        </p:nvGrpSpPr>
        <p:grpSpPr>
          <a:xfrm>
            <a:off x="510717" y="1409887"/>
            <a:ext cx="4461333" cy="2833257"/>
            <a:chOff x="110667" y="1235169"/>
            <a:chExt cx="4461333" cy="2833257"/>
          </a:xfrm>
        </p:grpSpPr>
        <p:sp>
          <p:nvSpPr>
            <p:cNvPr id="9" name="Google Shape;215;p36">
              <a:extLst>
                <a:ext uri="{FF2B5EF4-FFF2-40B4-BE49-F238E27FC236}">
                  <a16:creationId xmlns:a16="http://schemas.microsoft.com/office/drawing/2014/main" id="{033A748B-EF9C-49C2-9EA5-4BFD03D9A199}"/>
                </a:ext>
              </a:extLst>
            </p:cNvPr>
            <p:cNvSpPr txBox="1">
              <a:spLocks/>
            </p:cNvSpPr>
            <p:nvPr/>
          </p:nvSpPr>
          <p:spPr>
            <a:xfrm>
              <a:off x="1989395" y="3377911"/>
              <a:ext cx="2078234" cy="690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endParaRPr lang="pt-BR" sz="600" dirty="0"/>
            </a:p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800" dirty="0"/>
                <a:t>Spend Capital Equipment BRL 78M</a:t>
              </a:r>
            </a:p>
          </p:txBody>
        </p:sp>
        <p:pic>
          <p:nvPicPr>
            <p:cNvPr id="4" name="Imagem 3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24915C0F-1AE4-68B5-8572-A88C47498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4890" y="1862245"/>
              <a:ext cx="3477110" cy="1714739"/>
            </a:xfrm>
            <a:prstGeom prst="rect">
              <a:avLst/>
            </a:prstGeom>
          </p:spPr>
        </p:pic>
        <p:sp>
          <p:nvSpPr>
            <p:cNvPr id="5" name="Google Shape;215;p36">
              <a:extLst>
                <a:ext uri="{FF2B5EF4-FFF2-40B4-BE49-F238E27FC236}">
                  <a16:creationId xmlns:a16="http://schemas.microsoft.com/office/drawing/2014/main" id="{B015EBA5-640E-759C-45F0-DA70E8EDAAE0}"/>
                </a:ext>
              </a:extLst>
            </p:cNvPr>
            <p:cNvSpPr txBox="1">
              <a:spLocks/>
            </p:cNvSpPr>
            <p:nvPr/>
          </p:nvSpPr>
          <p:spPr>
            <a:xfrm>
              <a:off x="2406049" y="1235169"/>
              <a:ext cx="2028696" cy="480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endParaRPr lang="pt-BR" sz="600" dirty="0"/>
            </a:p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800" dirty="0"/>
                <a:t>Construção - Generalista – 5%</a:t>
              </a:r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9540EEB6-9836-C3E8-8AA3-14F4472EF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0597" y="1666756"/>
              <a:ext cx="77574" cy="39097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Google Shape;215;p36">
              <a:extLst>
                <a:ext uri="{FF2B5EF4-FFF2-40B4-BE49-F238E27FC236}">
                  <a16:creationId xmlns:a16="http://schemas.microsoft.com/office/drawing/2014/main" id="{4EFB4598-0F19-56DE-782F-092DC7638B95}"/>
                </a:ext>
              </a:extLst>
            </p:cNvPr>
            <p:cNvSpPr txBox="1">
              <a:spLocks/>
            </p:cNvSpPr>
            <p:nvPr/>
          </p:nvSpPr>
          <p:spPr>
            <a:xfrm>
              <a:off x="240099" y="1235558"/>
              <a:ext cx="2028696" cy="480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endParaRPr lang="pt-BR" sz="600" dirty="0"/>
            </a:p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800" dirty="0"/>
                <a:t>Construção - Especialista – 10%</a:t>
              </a:r>
            </a:p>
          </p:txBody>
        </p: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F7378681-795D-0A32-8F19-11336E5580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85479" y="1666756"/>
              <a:ext cx="683316" cy="44628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1864BA13-B5C1-CC63-BB99-F26A38DF8C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54447" y="2297984"/>
              <a:ext cx="540891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9" name="Google Shape;215;p36">
              <a:extLst>
                <a:ext uri="{FF2B5EF4-FFF2-40B4-BE49-F238E27FC236}">
                  <a16:creationId xmlns:a16="http://schemas.microsoft.com/office/drawing/2014/main" id="{5203C2C1-0D50-C3AC-0B10-305F1A2991E2}"/>
                </a:ext>
              </a:extLst>
            </p:cNvPr>
            <p:cNvSpPr txBox="1">
              <a:spLocks/>
            </p:cNvSpPr>
            <p:nvPr/>
          </p:nvSpPr>
          <p:spPr>
            <a:xfrm>
              <a:off x="110667" y="2072258"/>
              <a:ext cx="1064002" cy="480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endParaRPr lang="pt-BR" sz="600" dirty="0"/>
            </a:p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800" dirty="0"/>
                <a:t>Engenharia – 9%</a:t>
              </a:r>
            </a:p>
          </p:txBody>
        </p:sp>
        <p:sp>
          <p:nvSpPr>
            <p:cNvPr id="30" name="Google Shape;215;p36">
              <a:extLst>
                <a:ext uri="{FF2B5EF4-FFF2-40B4-BE49-F238E27FC236}">
                  <a16:creationId xmlns:a16="http://schemas.microsoft.com/office/drawing/2014/main" id="{604719FB-5A5F-DCE0-4B6E-74481DA9641C}"/>
                </a:ext>
              </a:extLst>
            </p:cNvPr>
            <p:cNvSpPr txBox="1">
              <a:spLocks/>
            </p:cNvSpPr>
            <p:nvPr/>
          </p:nvSpPr>
          <p:spPr>
            <a:xfrm>
              <a:off x="2470449" y="2552760"/>
              <a:ext cx="1404381" cy="480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endParaRPr lang="pt-BR" sz="600" dirty="0"/>
            </a:p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800" dirty="0"/>
                <a:t>Outras categorias – Equipment – 76%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8654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sp>
        <p:nvSpPr>
          <p:cNvPr id="9" name="Google Shape;224;p37">
            <a:extLst>
              <a:ext uri="{FF2B5EF4-FFF2-40B4-BE49-F238E27FC236}">
                <a16:creationId xmlns:a16="http://schemas.microsoft.com/office/drawing/2014/main" id="{B737D2DC-A7D2-42CE-A53A-67FC3F391421}"/>
              </a:ext>
            </a:extLst>
          </p:cNvPr>
          <p:cNvSpPr txBox="1">
            <a:spLocks/>
          </p:cNvSpPr>
          <p:nvPr/>
        </p:nvSpPr>
        <p:spPr>
          <a:xfrm>
            <a:off x="484094" y="308161"/>
            <a:ext cx="8175811" cy="60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000"/>
              <a:buFont typeface="Montserrat ExtraLight"/>
              <a:buNone/>
              <a:defRPr sz="20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r>
              <a:rPr lang="pt-BR" sz="2400" dirty="0"/>
              <a:t>EVOLUÇÃO DO SPEND </a:t>
            </a:r>
            <a:br>
              <a:rPr lang="pt-BR" sz="2400" dirty="0"/>
            </a:br>
            <a:r>
              <a:rPr lang="pt-BR" sz="2400" dirty="0"/>
              <a:t>ENGENHARIA E CONSTRUÇÃO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47AEA94-B2BC-4BB3-BFBC-E9F785FF9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EA6429A1-FDA8-4169-A5A8-A9C84885C360}"/>
              </a:ext>
            </a:extLst>
          </p:cNvPr>
          <p:cNvGrpSpPr/>
          <p:nvPr/>
        </p:nvGrpSpPr>
        <p:grpSpPr>
          <a:xfrm>
            <a:off x="389610" y="1535030"/>
            <a:ext cx="5779589" cy="2918093"/>
            <a:chOff x="319760" y="1383982"/>
            <a:chExt cx="5779589" cy="2918093"/>
          </a:xfrm>
        </p:grpSpPr>
        <p:pic>
          <p:nvPicPr>
            <p:cNvPr id="10" name="Imagem 9" descr="Gráfico, Gráfico de linhas&#10;&#10;Descrição gerada automaticamente">
              <a:extLst>
                <a:ext uri="{FF2B5EF4-FFF2-40B4-BE49-F238E27FC236}">
                  <a16:creationId xmlns:a16="http://schemas.microsoft.com/office/drawing/2014/main" id="{E7FA078E-38B2-86C9-560F-6AAFE7CE0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9760" y="1383982"/>
              <a:ext cx="5779589" cy="2211390"/>
            </a:xfrm>
            <a:prstGeom prst="rect">
              <a:avLst/>
            </a:prstGeom>
          </p:spPr>
        </p:pic>
        <p:sp>
          <p:nvSpPr>
            <p:cNvPr id="12" name="Lágrima 11">
              <a:extLst>
                <a:ext uri="{FF2B5EF4-FFF2-40B4-BE49-F238E27FC236}">
                  <a16:creationId xmlns:a16="http://schemas.microsoft.com/office/drawing/2014/main" id="{A46B5EF7-611D-4FF3-8B5C-7AE2B861EC30}"/>
                </a:ext>
              </a:extLst>
            </p:cNvPr>
            <p:cNvSpPr/>
            <p:nvPr/>
          </p:nvSpPr>
          <p:spPr>
            <a:xfrm rot="19013271">
              <a:off x="1020118" y="3563522"/>
              <a:ext cx="733787" cy="738553"/>
            </a:xfrm>
            <a:prstGeom prst="teardrop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50">
                <a:solidFill>
                  <a:schemeClr val="tx1"/>
                </a:solidFill>
              </a:endParaRP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80783969-7B9C-48C5-9C10-932B47E75BE8}"/>
                </a:ext>
              </a:extLst>
            </p:cNvPr>
            <p:cNvSpPr/>
            <p:nvPr/>
          </p:nvSpPr>
          <p:spPr>
            <a:xfrm rot="10800000">
              <a:off x="1101261" y="3629230"/>
              <a:ext cx="571500" cy="5929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50" dirty="0">
                <a:solidFill>
                  <a:schemeClr val="tx1"/>
                </a:solidFill>
              </a:endParaRPr>
            </a:p>
          </p:txBody>
        </p:sp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9B4D62FD-FC12-4A00-BB22-BD199E50E777}"/>
                </a:ext>
              </a:extLst>
            </p:cNvPr>
            <p:cNvSpPr txBox="1"/>
            <p:nvPr/>
          </p:nvSpPr>
          <p:spPr>
            <a:xfrm>
              <a:off x="1050834" y="3748132"/>
              <a:ext cx="6723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b="1" dirty="0">
                  <a:latin typeface="Montserrat" panose="00000500000000000000" pitchFamily="2" charset="0"/>
                </a:rPr>
                <a:t>Aquisição de novas empresas</a:t>
              </a:r>
            </a:p>
          </p:txBody>
        </p:sp>
        <p:sp>
          <p:nvSpPr>
            <p:cNvPr id="14" name="Lágrima 13">
              <a:extLst>
                <a:ext uri="{FF2B5EF4-FFF2-40B4-BE49-F238E27FC236}">
                  <a16:creationId xmlns:a16="http://schemas.microsoft.com/office/drawing/2014/main" id="{ED71E433-2DB1-478B-8BFA-36026DA25880}"/>
                </a:ext>
              </a:extLst>
            </p:cNvPr>
            <p:cNvSpPr/>
            <p:nvPr/>
          </p:nvSpPr>
          <p:spPr>
            <a:xfrm rot="19013271">
              <a:off x="4792903" y="3537172"/>
              <a:ext cx="733787" cy="738553"/>
            </a:xfrm>
            <a:prstGeom prst="teardrop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50">
                <a:solidFill>
                  <a:schemeClr val="tx1"/>
                </a:solidFill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9C3FC5EE-BF07-4E60-9968-076E13D246E5}"/>
                </a:ext>
              </a:extLst>
            </p:cNvPr>
            <p:cNvSpPr/>
            <p:nvPr/>
          </p:nvSpPr>
          <p:spPr>
            <a:xfrm rot="10800000">
              <a:off x="4874046" y="3595372"/>
              <a:ext cx="571500" cy="5929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50" dirty="0">
                <a:solidFill>
                  <a:schemeClr val="tx1"/>
                </a:solidFill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D899ADE7-F9E3-4C0F-B98F-8E0BA40D6750}"/>
                </a:ext>
              </a:extLst>
            </p:cNvPr>
            <p:cNvSpPr txBox="1"/>
            <p:nvPr/>
          </p:nvSpPr>
          <p:spPr>
            <a:xfrm>
              <a:off x="4823618" y="3717290"/>
              <a:ext cx="6723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algn="ctr">
                <a:defRPr sz="600">
                  <a:latin typeface="Montserrat" panose="00000500000000000000" pitchFamily="2" charset="0"/>
                </a:defRPr>
              </a:lvl1pPr>
            </a:lstStyle>
            <a:p>
              <a:r>
                <a:rPr lang="pt-BR" b="1" dirty="0"/>
                <a:t>Integração 100% de Processos </a:t>
              </a:r>
            </a:p>
          </p:txBody>
        </p:sp>
        <p:sp>
          <p:nvSpPr>
            <p:cNvPr id="17" name="Lágrima 16">
              <a:extLst>
                <a:ext uri="{FF2B5EF4-FFF2-40B4-BE49-F238E27FC236}">
                  <a16:creationId xmlns:a16="http://schemas.microsoft.com/office/drawing/2014/main" id="{505BC917-8BFC-4D35-A87C-3C850BD83FDE}"/>
                </a:ext>
              </a:extLst>
            </p:cNvPr>
            <p:cNvSpPr/>
            <p:nvPr/>
          </p:nvSpPr>
          <p:spPr>
            <a:xfrm rot="19013271">
              <a:off x="3518015" y="3537170"/>
              <a:ext cx="733787" cy="738553"/>
            </a:xfrm>
            <a:prstGeom prst="teardrop">
              <a:avLst>
                <a:gd name="adj" fmla="val 97312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50">
                <a:solidFill>
                  <a:schemeClr val="tx1"/>
                </a:solidFill>
              </a:endParaRPr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ACE048C9-4970-4273-970B-D3DED61DBE49}"/>
                </a:ext>
              </a:extLst>
            </p:cNvPr>
            <p:cNvSpPr/>
            <p:nvPr/>
          </p:nvSpPr>
          <p:spPr>
            <a:xfrm rot="10800000">
              <a:off x="3599158" y="3606622"/>
              <a:ext cx="571500" cy="5929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50" dirty="0">
                <a:solidFill>
                  <a:schemeClr val="tx1"/>
                </a:solidFill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35C7DD56-24A7-448F-ACB8-394A996027C2}"/>
                </a:ext>
              </a:extLst>
            </p:cNvPr>
            <p:cNvSpPr txBox="1"/>
            <p:nvPr/>
          </p:nvSpPr>
          <p:spPr>
            <a:xfrm>
              <a:off x="3548730" y="3682738"/>
              <a:ext cx="6723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algn="ctr">
                <a:defRPr sz="600">
                  <a:latin typeface="Montserrat" panose="00000500000000000000" pitchFamily="2" charset="0"/>
                </a:defRPr>
              </a:lvl1pPr>
            </a:lstStyle>
            <a:p>
              <a:r>
                <a:rPr lang="pt-BR" b="1" dirty="0"/>
                <a:t>Início da Integração de Processos</a:t>
              </a:r>
            </a:p>
          </p:txBody>
        </p:sp>
      </p:grpSp>
      <p:sp>
        <p:nvSpPr>
          <p:cNvPr id="27" name="Google Shape;215;p36">
            <a:extLst>
              <a:ext uri="{FF2B5EF4-FFF2-40B4-BE49-F238E27FC236}">
                <a16:creationId xmlns:a16="http://schemas.microsoft.com/office/drawing/2014/main" id="{16A7BA34-FFA1-4601-8DCB-62D311DD9001}"/>
              </a:ext>
            </a:extLst>
          </p:cNvPr>
          <p:cNvSpPr txBox="1">
            <a:spLocks/>
          </p:cNvSpPr>
          <p:nvPr/>
        </p:nvSpPr>
        <p:spPr>
          <a:xfrm>
            <a:off x="6323674" y="1672921"/>
            <a:ext cx="2585669" cy="2211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dirty="0"/>
              <a:t>O aumento do Spend no decorrer dos anos se deve basicamente a:</a:t>
            </a:r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endParaRPr lang="pt-BR" sz="105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endParaRPr lang="pt-BR" sz="105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050" dirty="0"/>
              <a:t>A aquisição de novas empresas.</a:t>
            </a:r>
          </a:p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endParaRPr lang="pt-BR" sz="105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endParaRPr lang="pt-BR" sz="1050" dirty="0"/>
          </a:p>
          <a:p>
            <a:pPr marL="285750" indent="-285750" algn="just">
              <a:buClr>
                <a:schemeClr val="accent4">
                  <a:lumMod val="50000"/>
                </a:schemeClr>
              </a:buClr>
              <a:buSzPts val="1100"/>
              <a:buFont typeface="Wingdings" panose="05000000000000000000" pitchFamily="2" charset="2"/>
              <a:buChar char="q"/>
            </a:pPr>
            <a:r>
              <a:rPr lang="pt-BR" sz="1050" dirty="0"/>
              <a:t>Aumento do portfólio de serviços.</a:t>
            </a:r>
          </a:p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br>
              <a:rPr lang="pt-BR" sz="1050" dirty="0"/>
            </a:br>
            <a:br>
              <a:rPr lang="pt-BR" sz="1050" dirty="0"/>
            </a:b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567739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551081" y="140745"/>
            <a:ext cx="8175811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ENTRAVES IDENTIFICADOS</a:t>
            </a:r>
            <a:endParaRPr sz="2400" dirty="0">
              <a:solidFill>
                <a:srgbClr val="FF0000"/>
              </a:solidFill>
            </a:endParaRPr>
          </a:p>
        </p:txBody>
      </p:sp>
      <p:sp>
        <p:nvSpPr>
          <p:cNvPr id="21" name="Google Shape;247;p39">
            <a:extLst>
              <a:ext uri="{FF2B5EF4-FFF2-40B4-BE49-F238E27FC236}">
                <a16:creationId xmlns:a16="http://schemas.microsoft.com/office/drawing/2014/main" id="{A2350B7C-4D52-4E41-B35D-399DDCF6AE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7712" y="1055718"/>
            <a:ext cx="8242551" cy="328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lnSpc>
                <a:spcPct val="150000"/>
              </a:lnSpc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Escassez de fornecedores qualificados interessados em atender a Organização.</a:t>
            </a:r>
            <a:b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pt-BR" dirty="0">
              <a:solidFill>
                <a:schemeClr val="bg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25450" indent="-285750" algn="l">
              <a:lnSpc>
                <a:spcPct val="150000"/>
              </a:lnSpc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Pulverização de fornecedores em seu banco de dados.</a:t>
            </a:r>
            <a:b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pt-BR" dirty="0">
              <a:solidFill>
                <a:schemeClr val="bg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25450" indent="-285750" algn="l">
              <a:lnSpc>
                <a:spcPct val="150000"/>
              </a:lnSpc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Ausência de planejamento interno, que impacta:</a:t>
            </a:r>
            <a:b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- na estratégia de contratação de suprimentos;</a:t>
            </a:r>
            <a:b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- na perda de investimentos provisionados no ano corrente;</a:t>
            </a:r>
            <a:b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- no cronograma da entrega do projeto do fornecedor contratado.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4DFAD5E-050A-4932-ADC4-D21E88144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81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 idx="2"/>
          </p:nvPr>
        </p:nvSpPr>
        <p:spPr>
          <a:xfrm>
            <a:off x="875057" y="753100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82" name="Google Shape;182;p33"/>
          <p:cNvSpPr txBox="1">
            <a:spLocks noGrp="1"/>
          </p:cNvSpPr>
          <p:nvPr>
            <p:ph type="ctrTitle"/>
          </p:nvPr>
        </p:nvSpPr>
        <p:spPr>
          <a:xfrm>
            <a:off x="2952527" y="708419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A Empresa</a:t>
            </a:r>
            <a:endParaRPr sz="1400" b="0" dirty="0"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5116110" y="448520"/>
            <a:ext cx="3253470" cy="9945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 sobre o negócio da empresa e seus objetivos </a:t>
            </a:r>
            <a:endParaRPr dirty="0"/>
          </a:p>
        </p:txBody>
      </p:sp>
      <p:sp>
        <p:nvSpPr>
          <p:cNvPr id="184" name="Google Shape;184;p33"/>
          <p:cNvSpPr txBox="1">
            <a:spLocks noGrp="1"/>
          </p:cNvSpPr>
          <p:nvPr>
            <p:ph type="ctrTitle" idx="3"/>
          </p:nvPr>
        </p:nvSpPr>
        <p:spPr>
          <a:xfrm>
            <a:off x="2929077" y="1626624"/>
            <a:ext cx="2603146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Sobre o Projeto </a:t>
            </a:r>
            <a:endParaRPr sz="1400" b="0" dirty="0"/>
          </a:p>
        </p:txBody>
      </p:sp>
      <p:sp>
        <p:nvSpPr>
          <p:cNvPr id="185" name="Google Shape;185;p33"/>
          <p:cNvSpPr txBox="1">
            <a:spLocks noGrp="1"/>
          </p:cNvSpPr>
          <p:nvPr>
            <p:ph type="subTitle" idx="4"/>
          </p:nvPr>
        </p:nvSpPr>
        <p:spPr>
          <a:xfrm>
            <a:off x="5126820" y="1513554"/>
            <a:ext cx="3146518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1800"/>
            </a:pPr>
            <a:r>
              <a:rPr lang="en" dirty="0"/>
              <a:t>Proposta do Projeto e análise da categoria e subcategorias </a:t>
            </a:r>
            <a:endParaRPr dirty="0"/>
          </a:p>
        </p:txBody>
      </p:sp>
      <p:sp>
        <p:nvSpPr>
          <p:cNvPr id="186" name="Google Shape;186;p33"/>
          <p:cNvSpPr txBox="1">
            <a:spLocks noGrp="1"/>
          </p:cNvSpPr>
          <p:nvPr>
            <p:ph type="title" idx="5"/>
          </p:nvPr>
        </p:nvSpPr>
        <p:spPr>
          <a:xfrm>
            <a:off x="965111" y="170299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7" name="Google Shape;187;p33"/>
          <p:cNvSpPr txBox="1">
            <a:spLocks noGrp="1"/>
          </p:cNvSpPr>
          <p:nvPr>
            <p:ph type="ctrTitle" idx="6"/>
          </p:nvPr>
        </p:nvSpPr>
        <p:spPr>
          <a:xfrm>
            <a:off x="3003350" y="2553574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estratégia</a:t>
            </a:r>
            <a:endParaRPr dirty="0"/>
          </a:p>
        </p:txBody>
      </p:sp>
      <p:sp>
        <p:nvSpPr>
          <p:cNvPr id="188" name="Google Shape;188;p33"/>
          <p:cNvSpPr txBox="1">
            <a:spLocks noGrp="1"/>
          </p:cNvSpPr>
          <p:nvPr>
            <p:ph type="subTitle" idx="7"/>
          </p:nvPr>
        </p:nvSpPr>
        <p:spPr>
          <a:xfrm>
            <a:off x="5126820" y="2460283"/>
            <a:ext cx="3146519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1800"/>
            </a:pPr>
            <a:r>
              <a:rPr lang="en" sz="1800" b="1" dirty="0"/>
              <a:t>Desenvolvimento do Estrategic Sourcing</a:t>
            </a:r>
            <a:endParaRPr sz="1800" b="1" dirty="0"/>
          </a:p>
        </p:txBody>
      </p:sp>
      <p:sp>
        <p:nvSpPr>
          <p:cNvPr id="189" name="Google Shape;189;p33"/>
          <p:cNvSpPr txBox="1">
            <a:spLocks noGrp="1"/>
          </p:cNvSpPr>
          <p:nvPr>
            <p:ph type="title" idx="8"/>
          </p:nvPr>
        </p:nvSpPr>
        <p:spPr>
          <a:xfrm>
            <a:off x="965111" y="2733421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03</a:t>
            </a:r>
            <a:endParaRPr b="1"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ctrTitle" idx="9"/>
          </p:nvPr>
        </p:nvSpPr>
        <p:spPr>
          <a:xfrm>
            <a:off x="3003350" y="3686633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Conclusão	</a:t>
            </a:r>
            <a:endParaRPr sz="1400" b="0"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subTitle" idx="13"/>
          </p:nvPr>
        </p:nvSpPr>
        <p:spPr>
          <a:xfrm>
            <a:off x="5214852" y="3570781"/>
            <a:ext cx="3253469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Benefícios, recomendações e proposta de solução</a:t>
            </a:r>
            <a:endParaRPr dirty="0"/>
          </a:p>
        </p:txBody>
      </p:sp>
      <p:sp>
        <p:nvSpPr>
          <p:cNvPr id="192" name="Google Shape;192;p33"/>
          <p:cNvSpPr txBox="1">
            <a:spLocks noGrp="1"/>
          </p:cNvSpPr>
          <p:nvPr>
            <p:ph type="title" idx="14"/>
          </p:nvPr>
        </p:nvSpPr>
        <p:spPr>
          <a:xfrm>
            <a:off x="965111" y="376384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179FF1A-13C2-4229-A687-82556727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C88D6CE-0A51-4C93-8E0A-B13F9A9BE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85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387721" y="113440"/>
            <a:ext cx="8175811" cy="5612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POR QUE STRATEGIC SOURCING?</a:t>
            </a:r>
            <a:endParaRPr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C25E2BCA-BAF4-419E-8CA4-1CF135A08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9" name="Imagem 8" descr="Interface gráfica do usuário&#10;&#10;Descrição gerada automaticamente">
            <a:extLst>
              <a:ext uri="{FF2B5EF4-FFF2-40B4-BE49-F238E27FC236}">
                <a16:creationId xmlns:a16="http://schemas.microsoft.com/office/drawing/2014/main" id="{8C6592FB-997C-416F-9072-A53533B0A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08740" y="1046138"/>
            <a:ext cx="3533775" cy="353377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1301A5B1-6AF1-44D2-8F69-344155BB1D37}"/>
              </a:ext>
            </a:extLst>
          </p:cNvPr>
          <p:cNvSpPr txBox="1"/>
          <p:nvPr/>
        </p:nvSpPr>
        <p:spPr>
          <a:xfrm>
            <a:off x="387723" y="1372829"/>
            <a:ext cx="3046662" cy="254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8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Aumento de eficiência no processos de compras</a:t>
            </a:r>
            <a:endParaRPr lang="pt-BR" sz="800" dirty="0">
              <a:solidFill>
                <a:schemeClr val="bg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3291739-AC50-4911-9FAC-76B3B77CE948}"/>
              </a:ext>
            </a:extLst>
          </p:cNvPr>
          <p:cNvSpPr txBox="1"/>
          <p:nvPr/>
        </p:nvSpPr>
        <p:spPr>
          <a:xfrm>
            <a:off x="5388951" y="3947197"/>
            <a:ext cx="2374132" cy="254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8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Maior sinergia dos projetos</a:t>
            </a:r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2DBF845-6771-4760-B112-5E4DB8466AD2}"/>
              </a:ext>
            </a:extLst>
          </p:cNvPr>
          <p:cNvSpPr txBox="1"/>
          <p:nvPr/>
        </p:nvSpPr>
        <p:spPr>
          <a:xfrm>
            <a:off x="5983814" y="2812648"/>
            <a:ext cx="1885938" cy="254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8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Aumento de Saving</a:t>
            </a:r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0D0CC57-45F1-4D6A-AAF9-493E34F64B3D}"/>
              </a:ext>
            </a:extLst>
          </p:cNvPr>
          <p:cNvSpPr txBox="1"/>
          <p:nvPr/>
        </p:nvSpPr>
        <p:spPr>
          <a:xfrm>
            <a:off x="962951" y="2366992"/>
            <a:ext cx="1885938" cy="254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8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Melhor Gestão de Contratos</a:t>
            </a:r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3A64014-4454-41CB-B0DC-F42F51784700}"/>
              </a:ext>
            </a:extLst>
          </p:cNvPr>
          <p:cNvSpPr txBox="1"/>
          <p:nvPr/>
        </p:nvSpPr>
        <p:spPr>
          <a:xfrm>
            <a:off x="5658335" y="1680702"/>
            <a:ext cx="3314056" cy="254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8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Redução de risco de performance dos fornecedores</a:t>
            </a:r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C15A2D-D332-49D5-9776-2F371120B8AD}"/>
              </a:ext>
            </a:extLst>
          </p:cNvPr>
          <p:cNvSpPr txBox="1"/>
          <p:nvPr/>
        </p:nvSpPr>
        <p:spPr>
          <a:xfrm>
            <a:off x="1815128" y="4386949"/>
            <a:ext cx="2278397" cy="254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8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Maior planejamento das demandas</a:t>
            </a:r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E49502B-F753-451F-9ACC-FB35F69D579B}"/>
              </a:ext>
            </a:extLst>
          </p:cNvPr>
          <p:cNvSpPr txBox="1"/>
          <p:nvPr/>
        </p:nvSpPr>
        <p:spPr>
          <a:xfrm>
            <a:off x="330038" y="3422135"/>
            <a:ext cx="2970179" cy="254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8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Parceria com fornecedores mais estratégicos</a:t>
            </a:r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8D8B072-EA39-4156-BB18-8531F577F8EF}"/>
              </a:ext>
            </a:extLst>
          </p:cNvPr>
          <p:cNvSpPr txBox="1"/>
          <p:nvPr/>
        </p:nvSpPr>
        <p:spPr>
          <a:xfrm>
            <a:off x="362421" y="3750431"/>
            <a:ext cx="1932353" cy="254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8EB0D90-F3F4-494F-A543-E959E6617204}"/>
              </a:ext>
            </a:extLst>
          </p:cNvPr>
          <p:cNvSpPr txBox="1"/>
          <p:nvPr/>
        </p:nvSpPr>
        <p:spPr>
          <a:xfrm>
            <a:off x="4735217" y="1046138"/>
            <a:ext cx="2873572" cy="25444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800" b="1" i="1" dirty="0">
                <a:solidFill>
                  <a:schemeClr val="bg1"/>
                </a:solidFill>
                <a:latin typeface="Montserrat" panose="00000500000000000000" pitchFamily="2" charset="0"/>
              </a:rPr>
              <a:t>Redução de compras emergenciais</a:t>
            </a:r>
            <a:endParaRPr lang="pt-BR" sz="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838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63" y="140745"/>
            <a:ext cx="8201663" cy="507900"/>
          </a:xfrm>
        </p:spPr>
        <p:txBody>
          <a:bodyPr/>
          <a:lstStyle/>
          <a:p>
            <a:r>
              <a:rPr lang="pt-BR" sz="2400" dirty="0"/>
              <a:t>ANÁLISE DE SWOT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AC3DD34C-EB2F-4F46-B92C-9EA09680E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367741B8-996E-41EA-8D75-C7BFB2677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D97453DD-81A8-425D-A050-CDCB8B05AF92}"/>
              </a:ext>
            </a:extLst>
          </p:cNvPr>
          <p:cNvGrpSpPr/>
          <p:nvPr/>
        </p:nvGrpSpPr>
        <p:grpSpPr>
          <a:xfrm>
            <a:off x="1834483" y="731534"/>
            <a:ext cx="4577733" cy="3985232"/>
            <a:chOff x="1834483" y="731534"/>
            <a:chExt cx="4577733" cy="3985232"/>
          </a:xfrm>
        </p:grpSpPr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BF22362B-2320-47DE-A86E-C8E5C020260C}"/>
                </a:ext>
              </a:extLst>
            </p:cNvPr>
            <p:cNvSpPr/>
            <p:nvPr/>
          </p:nvSpPr>
          <p:spPr>
            <a:xfrm>
              <a:off x="1834483" y="830940"/>
              <a:ext cx="65628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342892">
                <a:buClrTx/>
              </a:pPr>
              <a:r>
                <a:rPr lang="fr-FR" sz="1100" b="1" dirty="0">
                  <a:solidFill>
                    <a:sysClr val="windowText" lastClr="000000"/>
                  </a:solidFill>
                  <a:latin typeface="Michelin" panose="02000000000000000000" pitchFamily="50" charset="0"/>
                </a:rPr>
                <a:t>FORÇA</a:t>
              </a: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7B5B83D6-71A9-46AB-815B-4BDD5480942A}"/>
                </a:ext>
              </a:extLst>
            </p:cNvPr>
            <p:cNvSpPr/>
            <p:nvPr/>
          </p:nvSpPr>
          <p:spPr>
            <a:xfrm>
              <a:off x="5005833" y="820761"/>
              <a:ext cx="1034893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3428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1100" b="1" dirty="0">
                  <a:solidFill>
                    <a:sysClr val="windowText" lastClr="000000"/>
                  </a:solidFill>
                  <a:latin typeface="Michelin" panose="02000000000000000000" pitchFamily="50" charset="0"/>
                </a:rPr>
                <a:t>FRAQUEZA</a:t>
              </a:r>
            </a:p>
          </p:txBody>
        </p:sp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2FFA782B-D7E4-27AD-F63A-FAF7EF7531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9600" y="241935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51A2F0EB-B52F-A435-DBE2-459E938324C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30056" y="2571750"/>
              <a:ext cx="246743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1041A419-33F1-C2F7-BEE9-8F078269E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26984" y="731534"/>
              <a:ext cx="3985232" cy="3985232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C77FC418-AF80-4BBC-26C7-3895F3D4BC04}"/>
                </a:ext>
              </a:extLst>
            </p:cNvPr>
            <p:cNvSpPr txBox="1"/>
            <p:nvPr/>
          </p:nvSpPr>
          <p:spPr>
            <a:xfrm>
              <a:off x="2548827" y="1517022"/>
              <a:ext cx="1654641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PROJETO TURN KEY</a:t>
              </a:r>
            </a:p>
            <a:p>
              <a:endParaRPr lang="pt-BR" sz="7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r>
                <a:rPr lang="pt-BR" sz="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MARCA NO MERCADO</a:t>
              </a:r>
            </a:p>
            <a:p>
              <a:endParaRPr lang="pt-BR" sz="7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r>
                <a:rPr lang="pt-BR" sz="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VISIBILIDADE DE NEGÓCIO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16339F51-B487-BDEE-BC74-B993E0210DE6}"/>
                </a:ext>
              </a:extLst>
            </p:cNvPr>
            <p:cNvSpPr txBox="1"/>
            <p:nvPr/>
          </p:nvSpPr>
          <p:spPr>
            <a:xfrm>
              <a:off x="4572000" y="1374562"/>
              <a:ext cx="1654641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FALTA DE UM PIPELINE DE PROJETOS</a:t>
              </a:r>
            </a:p>
            <a:p>
              <a:endParaRPr lang="pt-BR" sz="7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r>
                <a:rPr lang="pt-BR" sz="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LIMITAÇÃO DE FORNECEDORES</a:t>
              </a:r>
            </a:p>
            <a:p>
              <a:endParaRPr lang="pt-BR" sz="7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r>
                <a:rPr lang="pt-BR" sz="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MUDANÇA DE ESCOPO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A38588F2-8200-0C82-8588-DE8D20920ADA}"/>
                </a:ext>
              </a:extLst>
            </p:cNvPr>
            <p:cNvSpPr txBox="1"/>
            <p:nvPr/>
          </p:nvSpPr>
          <p:spPr>
            <a:xfrm>
              <a:off x="2548827" y="3177324"/>
              <a:ext cx="1870773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SOLUÇÕES TECNOLÓGICAS E AMBIENTAIS</a:t>
              </a:r>
            </a:p>
            <a:p>
              <a:endParaRPr lang="pt-BR" sz="7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r>
                <a:rPr lang="pt-BR" sz="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ISENÇÃO DE PIS E COFINS EM OBRAS DE INFRAESTRUTURA</a:t>
              </a:r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9CC8F90-5C3A-9758-F0B3-8C697E612852}"/>
              </a:ext>
            </a:extLst>
          </p:cNvPr>
          <p:cNvSpPr txBox="1"/>
          <p:nvPr/>
        </p:nvSpPr>
        <p:spPr>
          <a:xfrm>
            <a:off x="4483613" y="3016341"/>
            <a:ext cx="24257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b="1" dirty="0">
                <a:solidFill>
                  <a:schemeClr val="bg1"/>
                </a:solidFill>
                <a:latin typeface="Montserrat" panose="00000500000000000000" pitchFamily="2" charset="0"/>
              </a:rPr>
              <a:t>                   IMPOSTOS ELEVADOS</a:t>
            </a:r>
          </a:p>
          <a:p>
            <a:endParaRPr lang="pt-BR" sz="7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pt-BR" sz="700" b="1" dirty="0">
                <a:solidFill>
                  <a:schemeClr val="bg1"/>
                </a:solidFill>
                <a:latin typeface="Montserrat" panose="00000500000000000000" pitchFamily="2" charset="0"/>
              </a:rPr>
              <a:t>    EXIGÊNCIAS LEGAIS RIGOROSAS</a:t>
            </a:r>
          </a:p>
          <a:p>
            <a:endParaRPr lang="pt-BR" sz="7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pt-BR" sz="700" b="1" dirty="0">
                <a:solidFill>
                  <a:schemeClr val="bg1"/>
                </a:solidFill>
                <a:latin typeface="Montserrat" panose="00000500000000000000" pitchFamily="2" charset="0"/>
              </a:rPr>
              <a:t>INSTABILIDADE DE PREÇOS DE </a:t>
            </a:r>
          </a:p>
          <a:p>
            <a:r>
              <a:rPr lang="pt-BR" sz="700" b="1" dirty="0">
                <a:solidFill>
                  <a:schemeClr val="bg1"/>
                </a:solidFill>
                <a:latin typeface="Montserrat" panose="00000500000000000000" pitchFamily="2" charset="0"/>
              </a:rPr>
              <a:t>COMODITIES</a:t>
            </a:r>
          </a:p>
          <a:p>
            <a:endParaRPr lang="pt-BR" sz="7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pt-BR" sz="700" b="1" dirty="0">
                <a:solidFill>
                  <a:schemeClr val="bg1"/>
                </a:solidFill>
                <a:latin typeface="Montserrat" panose="00000500000000000000" pitchFamily="2" charset="0"/>
              </a:rPr>
              <a:t>COMPLIANCE DAS EMPREITEIRAS</a:t>
            </a:r>
          </a:p>
          <a:p>
            <a:r>
              <a:rPr lang="pt-BR" sz="700" b="1" dirty="0">
                <a:solidFill>
                  <a:schemeClr val="bg1"/>
                </a:solidFill>
                <a:latin typeface="Montserrat" panose="00000500000000000000" pitchFamily="2" charset="0"/>
              </a:rPr>
              <a:t>DISPONÍVEIS NO MERCADO</a:t>
            </a:r>
          </a:p>
          <a:p>
            <a:endParaRPr lang="pt-BR" sz="7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819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0" y="165647"/>
            <a:ext cx="8201663" cy="507900"/>
          </a:xfrm>
        </p:spPr>
        <p:txBody>
          <a:bodyPr/>
          <a:lstStyle/>
          <a:p>
            <a:r>
              <a:rPr lang="pt-BR" sz="2400" dirty="0"/>
              <a:t>PRIORIZAÇÃO DE SUBCATEGORIAS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C44362-3E93-4857-A8C1-4CBA216B3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F101CF2-5456-4F84-94FE-4E2D3CB16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36D7539-FBF4-4BF3-8E84-9D465C902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46" y="1092585"/>
            <a:ext cx="7814350" cy="319365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03446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40745"/>
            <a:ext cx="8201663" cy="507900"/>
          </a:xfrm>
        </p:spPr>
        <p:txBody>
          <a:bodyPr/>
          <a:lstStyle/>
          <a:p>
            <a:r>
              <a:rPr lang="pt-BR" sz="2400" dirty="0"/>
              <a:t>MATRIZ DE PRIORIZAÇÃO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92E595-9A40-429C-A100-696085E0F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20F57FA-B56A-40C3-BBF8-7913BBC24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34A096F-48FF-4E12-9524-AE6142611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348" y="888161"/>
            <a:ext cx="6682410" cy="363930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35234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38" y="140745"/>
            <a:ext cx="8201663" cy="507900"/>
          </a:xfrm>
        </p:spPr>
        <p:txBody>
          <a:bodyPr/>
          <a:lstStyle/>
          <a:p>
            <a:r>
              <a:rPr lang="pt-BR" sz="2400" dirty="0"/>
              <a:t>KRALJIC - CATEGORIA E SUBCATEGORIA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1EA112-94E7-4108-AD8E-26AB9A8B4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4E4A38-37C2-45FC-B54E-20D06BB52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347B0DD4-7DC4-4BFE-B7BB-AA11839798BE}"/>
              </a:ext>
            </a:extLst>
          </p:cNvPr>
          <p:cNvGrpSpPr/>
          <p:nvPr/>
        </p:nvGrpSpPr>
        <p:grpSpPr>
          <a:xfrm>
            <a:off x="498032" y="1259153"/>
            <a:ext cx="8112073" cy="2625194"/>
            <a:chOff x="515963" y="1212407"/>
            <a:chExt cx="8112073" cy="2625194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EB48F568-670B-4357-A9F5-4D147A89B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88525" y="1212407"/>
              <a:ext cx="5766950" cy="1260475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1AD8880-12A9-4597-B6AB-24644F81C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5963" y="2670619"/>
              <a:ext cx="8112073" cy="1166982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131097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40745"/>
            <a:ext cx="8201663" cy="507900"/>
          </a:xfrm>
        </p:spPr>
        <p:txBody>
          <a:bodyPr/>
          <a:lstStyle/>
          <a:p>
            <a:r>
              <a:rPr lang="pt-BR" sz="2400" dirty="0"/>
              <a:t>KRALJIC - IMPACTO NO NEGÓCIO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D945E6-2E64-41D7-B61D-06CB9C508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C804E5B-F6F4-4001-B73D-7F74CEDFB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A3228B5-7476-4615-A4B6-6DDAF9FA7C6E}"/>
              </a:ext>
            </a:extLst>
          </p:cNvPr>
          <p:cNvGrpSpPr/>
          <p:nvPr/>
        </p:nvGrpSpPr>
        <p:grpSpPr>
          <a:xfrm>
            <a:off x="638252" y="1116355"/>
            <a:ext cx="7858600" cy="3085191"/>
            <a:chOff x="638252" y="1116355"/>
            <a:chExt cx="7858600" cy="3085191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151FD03-5C54-476C-AD9E-3DEC334E9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37376" y="1116355"/>
              <a:ext cx="3660353" cy="159145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6536BF44-8C6B-4773-837F-E99CF1EA5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8252" y="2961292"/>
              <a:ext cx="7858600" cy="1240254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632524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67" y="140745"/>
            <a:ext cx="8201663" cy="507900"/>
          </a:xfrm>
        </p:spPr>
        <p:txBody>
          <a:bodyPr/>
          <a:lstStyle/>
          <a:p>
            <a:r>
              <a:rPr lang="pt-BR" sz="2400" dirty="0"/>
              <a:t>KRALJIC - RISCO DE SUPRIMENTO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89EB46-E2D1-46B5-8345-EEBD70CF6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9B68BC8-38D6-4ED2-8B62-4CC02BA2F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BCE7274E-F4D1-444A-81BA-A04B986E2738}"/>
              </a:ext>
            </a:extLst>
          </p:cNvPr>
          <p:cNvGrpSpPr/>
          <p:nvPr/>
        </p:nvGrpSpPr>
        <p:grpSpPr>
          <a:xfrm>
            <a:off x="316798" y="1017424"/>
            <a:ext cx="8510400" cy="3207336"/>
            <a:chOff x="316797" y="1112674"/>
            <a:chExt cx="8510400" cy="3207336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3D0B5C7B-9221-4BBD-88A0-1B15C6D85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33635" y="1112674"/>
              <a:ext cx="3076725" cy="1711063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2C5CD107-0988-40A6-9623-1D9C8DB6A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6797" y="3082333"/>
              <a:ext cx="8510400" cy="1237677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927724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40745"/>
            <a:ext cx="8201663" cy="507900"/>
          </a:xfrm>
        </p:spPr>
        <p:txBody>
          <a:bodyPr/>
          <a:lstStyle/>
          <a:p>
            <a:r>
              <a:rPr lang="pt-BR" sz="2400" dirty="0"/>
              <a:t>MATRIZ KRALJIC - ENGENHARIA E CONSTRUÇÃO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9196990-EFE8-4828-9925-03556411B426}"/>
              </a:ext>
            </a:extLst>
          </p:cNvPr>
          <p:cNvGrpSpPr/>
          <p:nvPr/>
        </p:nvGrpSpPr>
        <p:grpSpPr>
          <a:xfrm>
            <a:off x="230878" y="1280935"/>
            <a:ext cx="8440328" cy="2932653"/>
            <a:chOff x="351836" y="1299985"/>
            <a:chExt cx="8440328" cy="2932653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21A68ABB-83DF-DD98-30C8-0DAD6D355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641" y="3803953"/>
              <a:ext cx="7887801" cy="428685"/>
            </a:xfrm>
            <a:prstGeom prst="rect">
              <a:avLst/>
            </a:prstGeom>
            <a:ln w="19050">
              <a:noFill/>
            </a:ln>
          </p:spPr>
        </p:pic>
        <p:pic>
          <p:nvPicPr>
            <p:cNvPr id="4" name="Imagem 3" descr="Uma imagem contendo Padrão do plano de fundo&#10;&#10;Descrição gerada automaticamente">
              <a:extLst>
                <a:ext uri="{FF2B5EF4-FFF2-40B4-BE49-F238E27FC236}">
                  <a16:creationId xmlns:a16="http://schemas.microsoft.com/office/drawing/2014/main" id="{012785E2-D625-DD46-5E19-A672D1E42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836" y="1299985"/>
              <a:ext cx="8440328" cy="2543530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sp>
          <p:nvSpPr>
            <p:cNvPr id="13" name="Google Shape;215;p36">
              <a:extLst>
                <a:ext uri="{FF2B5EF4-FFF2-40B4-BE49-F238E27FC236}">
                  <a16:creationId xmlns:a16="http://schemas.microsoft.com/office/drawing/2014/main" id="{E5B32931-7DD8-4E9F-9960-117E9AE747E0}"/>
                </a:ext>
              </a:extLst>
            </p:cNvPr>
            <p:cNvSpPr txBox="1">
              <a:spLocks/>
            </p:cNvSpPr>
            <p:nvPr/>
          </p:nvSpPr>
          <p:spPr>
            <a:xfrm>
              <a:off x="1323094" y="3843107"/>
              <a:ext cx="1184914" cy="253152"/>
            </a:xfrm>
            <a:prstGeom prst="rect">
              <a:avLst/>
            </a:prstGeom>
            <a:noFill/>
            <a:ln w="19050"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1050" dirty="0">
                  <a:solidFill>
                    <a:schemeClr val="bg1"/>
                  </a:solidFill>
                </a:rPr>
                <a:t>Engenharia</a:t>
              </a:r>
            </a:p>
          </p:txBody>
        </p:sp>
        <p:sp>
          <p:nvSpPr>
            <p:cNvPr id="15" name="Google Shape;215;p36">
              <a:extLst>
                <a:ext uri="{FF2B5EF4-FFF2-40B4-BE49-F238E27FC236}">
                  <a16:creationId xmlns:a16="http://schemas.microsoft.com/office/drawing/2014/main" id="{5C2567EF-8322-4116-AE90-1058B10DE685}"/>
                </a:ext>
              </a:extLst>
            </p:cNvPr>
            <p:cNvSpPr txBox="1">
              <a:spLocks/>
            </p:cNvSpPr>
            <p:nvPr/>
          </p:nvSpPr>
          <p:spPr>
            <a:xfrm>
              <a:off x="4052159" y="3843107"/>
              <a:ext cx="1764505" cy="349562"/>
            </a:xfrm>
            <a:prstGeom prst="rect">
              <a:avLst/>
            </a:prstGeom>
            <a:noFill/>
            <a:ln w="19050"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1050" dirty="0">
                  <a:solidFill>
                    <a:schemeClr val="bg1"/>
                  </a:solidFill>
                </a:rPr>
                <a:t>Construção Generalista</a:t>
              </a:r>
            </a:p>
          </p:txBody>
        </p:sp>
        <p:sp>
          <p:nvSpPr>
            <p:cNvPr id="16" name="Google Shape;215;p36">
              <a:extLst>
                <a:ext uri="{FF2B5EF4-FFF2-40B4-BE49-F238E27FC236}">
                  <a16:creationId xmlns:a16="http://schemas.microsoft.com/office/drawing/2014/main" id="{92D87504-7004-4812-BEA7-5B49667DCDB4}"/>
                </a:ext>
              </a:extLst>
            </p:cNvPr>
            <p:cNvSpPr txBox="1">
              <a:spLocks/>
            </p:cNvSpPr>
            <p:nvPr/>
          </p:nvSpPr>
          <p:spPr>
            <a:xfrm>
              <a:off x="6736425" y="3843515"/>
              <a:ext cx="1902867" cy="349562"/>
            </a:xfrm>
            <a:prstGeom prst="rect">
              <a:avLst/>
            </a:prstGeom>
            <a:noFill/>
            <a:ln w="19050"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1050" dirty="0">
                  <a:solidFill>
                    <a:schemeClr val="bg1"/>
                  </a:solidFill>
                </a:rPr>
                <a:t>Construção Especialista</a:t>
              </a:r>
            </a:p>
          </p:txBody>
        </p:sp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0D6F13BE-FA53-4D4A-993A-AB75CDE77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1BF3E52-9FFC-4DFD-A9E2-0AE993F20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14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to vidro da lupa no refletor isolado">
            <a:extLst>
              <a:ext uri="{FF2B5EF4-FFF2-40B4-BE49-F238E27FC236}">
                <a16:creationId xmlns:a16="http://schemas.microsoft.com/office/drawing/2014/main" id="{DD92F017-E589-4BAE-8AAB-56BEE0D39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84982"/>
            <a:ext cx="4032250" cy="217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C61DE2A-CDF2-4513-85AF-2A030C65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599" y="140745"/>
            <a:ext cx="6165850" cy="507900"/>
          </a:xfrm>
        </p:spPr>
        <p:txBody>
          <a:bodyPr/>
          <a:lstStyle/>
          <a:p>
            <a:r>
              <a:rPr lang="pt-BR" sz="2400" dirty="0"/>
              <a:t>ANÁLISE MATRIZ KRALJIC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4B79391-626C-4674-B1B7-78B8A3831505}"/>
              </a:ext>
            </a:extLst>
          </p:cNvPr>
          <p:cNvSpPr txBox="1"/>
          <p:nvPr/>
        </p:nvSpPr>
        <p:spPr>
          <a:xfrm>
            <a:off x="1687512" y="1684940"/>
            <a:ext cx="6042025" cy="14561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b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Na Matriz de Kraljic  a subcategoria, Construção Especialista, posiciona-se de forma extremamente estratégica, pois além de apresentar um alto spend, trata de serviços que são sensíveis aos Projetos de Capex. </a:t>
            </a:r>
          </a:p>
          <a:p>
            <a:pPr marL="13970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Sendo assim, na estruturação e aplicação de uma estratégica da categoria de Engenharia e Construção deverá ser priorizada.</a:t>
            </a:r>
            <a:b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pt-BR" sz="1200" dirty="0">
              <a:solidFill>
                <a:schemeClr val="bg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just"/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C58F5DF-F136-4712-B2F5-1EBE64664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0F139BF-24C2-4244-B15A-66A179D07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56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58CEEC-D7F6-4161-9B58-BBDC0105F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360" y="70348"/>
            <a:ext cx="4061280" cy="16103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38" y="140745"/>
            <a:ext cx="8201663" cy="507900"/>
          </a:xfrm>
        </p:spPr>
        <p:txBody>
          <a:bodyPr/>
          <a:lstStyle/>
          <a:p>
            <a:r>
              <a:rPr lang="pt-BR" sz="2400" dirty="0"/>
              <a:t>KITS E KIQS</a:t>
            </a:r>
          </a:p>
        </p:txBody>
      </p:sp>
      <p:sp>
        <p:nvSpPr>
          <p:cNvPr id="13" name="Google Shape;215;p36">
            <a:extLst>
              <a:ext uri="{FF2B5EF4-FFF2-40B4-BE49-F238E27FC236}">
                <a16:creationId xmlns:a16="http://schemas.microsoft.com/office/drawing/2014/main" id="{E5B32931-7DD8-4E9F-9960-117E9AE747E0}"/>
              </a:ext>
            </a:extLst>
          </p:cNvPr>
          <p:cNvSpPr txBox="1">
            <a:spLocks/>
          </p:cNvSpPr>
          <p:nvPr/>
        </p:nvSpPr>
        <p:spPr>
          <a:xfrm>
            <a:off x="3529962" y="2882895"/>
            <a:ext cx="1184914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Engenharia</a:t>
            </a:r>
          </a:p>
        </p:txBody>
      </p:sp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sp>
        <p:nvSpPr>
          <p:cNvPr id="16" name="Google Shape;215;p36">
            <a:extLst>
              <a:ext uri="{FF2B5EF4-FFF2-40B4-BE49-F238E27FC236}">
                <a16:creationId xmlns:a16="http://schemas.microsoft.com/office/drawing/2014/main" id="{92D87504-7004-4812-BEA7-5B49667DCDB4}"/>
              </a:ext>
            </a:extLst>
          </p:cNvPr>
          <p:cNvSpPr txBox="1">
            <a:spLocks/>
          </p:cNvSpPr>
          <p:nvPr/>
        </p:nvSpPr>
        <p:spPr>
          <a:xfrm>
            <a:off x="6651525" y="1707905"/>
            <a:ext cx="1902867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Especialista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00086F-74A4-4A7C-8426-0AD99262B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CE5C452-9846-4F78-A6A5-07CE14B60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90F1DF6-724D-4D1F-A08B-5585907B5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45" y="1912466"/>
            <a:ext cx="8885110" cy="222753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928355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39" y="139520"/>
            <a:ext cx="8201663" cy="507900"/>
          </a:xfrm>
        </p:spPr>
        <p:txBody>
          <a:bodyPr/>
          <a:lstStyle/>
          <a:p>
            <a:r>
              <a:rPr lang="pt-BR" sz="2400" dirty="0"/>
              <a:t>RESPOSTAS DOS KITS E KIQS</a:t>
            </a:r>
          </a:p>
        </p:txBody>
      </p:sp>
      <p:sp>
        <p:nvSpPr>
          <p:cNvPr id="13" name="Google Shape;215;p36">
            <a:extLst>
              <a:ext uri="{FF2B5EF4-FFF2-40B4-BE49-F238E27FC236}">
                <a16:creationId xmlns:a16="http://schemas.microsoft.com/office/drawing/2014/main" id="{E5B32931-7DD8-4E9F-9960-117E9AE747E0}"/>
              </a:ext>
            </a:extLst>
          </p:cNvPr>
          <p:cNvSpPr txBox="1">
            <a:spLocks/>
          </p:cNvSpPr>
          <p:nvPr/>
        </p:nvSpPr>
        <p:spPr>
          <a:xfrm>
            <a:off x="3529962" y="2882895"/>
            <a:ext cx="1184914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Engenharia</a:t>
            </a:r>
          </a:p>
        </p:txBody>
      </p:sp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E99AEC-74E9-4529-B0DF-D836817A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44696F-664A-4717-9C6E-E3169BBC3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8" name="Google Shape;247;p39">
            <a:extLst>
              <a:ext uri="{FF2B5EF4-FFF2-40B4-BE49-F238E27FC236}">
                <a16:creationId xmlns:a16="http://schemas.microsoft.com/office/drawing/2014/main" id="{7358251F-018A-41A1-BED4-2A3548862D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52314" y="861994"/>
            <a:ext cx="7603511" cy="3690413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Existem fornecedores qualificados no mercado que não foram mapeados internamente ? </a:t>
            </a:r>
            <a:br>
              <a:rPr lang="pt-BR" sz="1000" dirty="0"/>
            </a:br>
            <a:r>
              <a:rPr lang="pt-BR" sz="1000" i="1" dirty="0"/>
              <a:t>R: Sim</a:t>
            </a:r>
            <a:br>
              <a:rPr lang="pt-BR" sz="1000" dirty="0"/>
            </a:br>
            <a:endParaRPr lang="pt-BR" sz="1000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AutoNum type="arabicParenR"/>
            </a:pPr>
            <a:r>
              <a:rPr lang="pt-BR" sz="1000" dirty="0"/>
              <a:t>Que ações a empresa pode fazer para atrair fornecedores de maior porte capazes de estabelecer uma parceria de longo prazo? </a:t>
            </a:r>
            <a:br>
              <a:rPr lang="pt-BR" sz="1000" dirty="0"/>
            </a:br>
            <a:r>
              <a:rPr lang="pt-BR" sz="1000" i="1" dirty="0"/>
              <a:t>R: Para manutenção informar ao mercado os contratos de manutenção firmados e visibilidade do possível mês e ano para novo processo de concorrência... Assim, com planejamento e antecipação, empresas de médio e grande porte organizarão seus departamento a participar do processo....</a:t>
            </a:r>
            <a:br>
              <a:rPr lang="pt-BR" sz="1000" dirty="0"/>
            </a:br>
            <a:endParaRPr lang="pt-BR" sz="1000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AutoNum type="arabicParenR"/>
            </a:pPr>
            <a:r>
              <a:rPr lang="pt-BR" sz="1000" dirty="0"/>
              <a:t>Com quanto tempo consegue-se prever um novo projeto da empresa?</a:t>
            </a:r>
            <a:br>
              <a:rPr lang="pt-BR" sz="1000" dirty="0"/>
            </a:br>
            <a:r>
              <a:rPr lang="pt-BR" sz="1000" i="1" dirty="0"/>
              <a:t>R: Depende da magnitude, para projetos até BRL 300K, 3 a 9 meses.... acima de BRL 1M no mínimo 1 ano devido ao impacto financeiro para CAPEX. 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AutoNum type="arabicParenR"/>
            </a:pPr>
            <a:r>
              <a:rPr lang="pt-BR" sz="1000" dirty="0"/>
              <a:t>É possível criar um pipeline de obras de novos projetos com quanto tempo de antecedência? </a:t>
            </a:r>
            <a:br>
              <a:rPr lang="pt-BR" sz="1000" dirty="0"/>
            </a:br>
            <a:r>
              <a:rPr lang="pt-BR" sz="1000" i="1" dirty="0"/>
              <a:t>R: Os Marcos são divididos da seguinte forma: Marco X0 ==&gt; Apresentação da oportunidade; Marco X1 ==&gt; Apresentação da viabilidade do projeto com definição dos prazos para implantação do projeto e cenários das soluções estudadas; Marco X2 ==&gt; Definição do cronograma físico financeiro, forma de execução e firmar objetos do projeto; Marco X3 ==&gt; Apresentação do projeto, avaliação em marcha corrente e comprovação dos objetivos.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AutoNum type="arabicParenR"/>
            </a:pPr>
            <a:r>
              <a:rPr lang="pt-BR" sz="1000" dirty="0"/>
              <a:t>Como é desenhado o processo interno de aprovação de um projeto para uma obra? </a:t>
            </a:r>
            <a:br>
              <a:rPr lang="pt-BR" sz="1000" dirty="0"/>
            </a:br>
            <a:r>
              <a:rPr lang="pt-BR" sz="1000" i="1" dirty="0"/>
              <a:t>R: Para a EBP, inicia com uma necessidade nas seguintes etapas: Perenidade das máquinas / obsolescência /  aumento de capacidade  Infra estrutura / Qualidade / performance energética.</a:t>
            </a:r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4319777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32276"/>
            <a:ext cx="8201663" cy="507900"/>
          </a:xfrm>
        </p:spPr>
        <p:txBody>
          <a:bodyPr/>
          <a:lstStyle/>
          <a:p>
            <a:r>
              <a:rPr lang="pt-BR" sz="2400" dirty="0"/>
              <a:t>RESPOSTAS DOS KITS E KIQS</a:t>
            </a:r>
          </a:p>
        </p:txBody>
      </p:sp>
      <p:sp>
        <p:nvSpPr>
          <p:cNvPr id="13" name="Google Shape;215;p36">
            <a:extLst>
              <a:ext uri="{FF2B5EF4-FFF2-40B4-BE49-F238E27FC236}">
                <a16:creationId xmlns:a16="http://schemas.microsoft.com/office/drawing/2014/main" id="{E5B32931-7DD8-4E9F-9960-117E9AE747E0}"/>
              </a:ext>
            </a:extLst>
          </p:cNvPr>
          <p:cNvSpPr txBox="1">
            <a:spLocks/>
          </p:cNvSpPr>
          <p:nvPr/>
        </p:nvSpPr>
        <p:spPr>
          <a:xfrm>
            <a:off x="3529962" y="2882895"/>
            <a:ext cx="1184914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Engenharia</a:t>
            </a:r>
          </a:p>
        </p:txBody>
      </p:sp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sp>
        <p:nvSpPr>
          <p:cNvPr id="16" name="Google Shape;215;p36">
            <a:extLst>
              <a:ext uri="{FF2B5EF4-FFF2-40B4-BE49-F238E27FC236}">
                <a16:creationId xmlns:a16="http://schemas.microsoft.com/office/drawing/2014/main" id="{92D87504-7004-4812-BEA7-5B49667DCDB4}"/>
              </a:ext>
            </a:extLst>
          </p:cNvPr>
          <p:cNvSpPr txBox="1">
            <a:spLocks/>
          </p:cNvSpPr>
          <p:nvPr/>
        </p:nvSpPr>
        <p:spPr>
          <a:xfrm>
            <a:off x="6651525" y="1707905"/>
            <a:ext cx="1902867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Especialista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E99AEC-74E9-4529-B0DF-D836817A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44696F-664A-4717-9C6E-E3169BBC3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11" name="Google Shape;247;p39">
            <a:extLst>
              <a:ext uri="{FF2B5EF4-FFF2-40B4-BE49-F238E27FC236}">
                <a16:creationId xmlns:a16="http://schemas.microsoft.com/office/drawing/2014/main" id="{8452B76E-8F63-41B5-9FF1-D37D62AE23BE}"/>
              </a:ext>
            </a:extLst>
          </p:cNvPr>
          <p:cNvSpPr txBox="1">
            <a:spLocks/>
          </p:cNvSpPr>
          <p:nvPr/>
        </p:nvSpPr>
        <p:spPr>
          <a:xfrm>
            <a:off x="760868" y="844460"/>
            <a:ext cx="7603511" cy="379614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Existem fornecedores qualificados no mercado que não foram mapeados internamente? </a:t>
            </a:r>
            <a:br>
              <a:rPr lang="pt-BR" sz="1000" dirty="0"/>
            </a:br>
            <a:r>
              <a:rPr lang="pt-BR" sz="1000" i="1" dirty="0"/>
              <a:t>R: Sim. Devemos buscar no mercado, realiza Benchmarks com outras fabricas e buscar fornecedores consolidados.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Que ações a empresa pode fazer para atrair fornecedores de maior porte capazes de estabelecer uma parceria de longo prazo? </a:t>
            </a:r>
            <a:br>
              <a:rPr lang="pt-BR" sz="1000" dirty="0"/>
            </a:br>
            <a:r>
              <a:rPr lang="pt-BR" sz="1000" i="1" dirty="0"/>
              <a:t>R: Ter um alinhamento estratégico, para consolidar as demandas spots e fixas. Tendo assim um volume considerável de serviços a serem negociados, mantendo a atratividade. 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Com quanto tempo consegue-se prever um novo projeto da empresa? </a:t>
            </a:r>
            <a:br>
              <a:rPr lang="pt-BR" sz="1000" dirty="0"/>
            </a:br>
            <a:r>
              <a:rPr lang="pt-BR" sz="1000" i="1" dirty="0"/>
              <a:t>R: Um projeto de perenidade consegue ser previsto anualmente, já projetos de aumento de capacidade são normalmente alinhados de acordo com a necessidade do negocio, em prazo não medido. 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É possível criar um pipeline de obras de novos projetos com quanto tempo de antecedência? </a:t>
            </a:r>
            <a:br>
              <a:rPr lang="pt-BR" sz="1000" dirty="0"/>
            </a:br>
            <a:r>
              <a:rPr lang="pt-BR" sz="1000" i="1" dirty="0"/>
              <a:t>R: Em um ano. 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Como é desenhado o processo interno de aprovação de um projeto para uma obra? </a:t>
            </a:r>
            <a:br>
              <a:rPr lang="pt-BR" sz="1000" dirty="0"/>
            </a:br>
            <a:r>
              <a:rPr lang="pt-BR" sz="1000" i="1" dirty="0"/>
              <a:t>R: É realizada a apresentação da necessidade e cenários junto a equipe de direção, aonde é tomada a decisão sobre seguir ou não o projeto. Isso ocorre pelo menos uma vez ao mês.</a:t>
            </a:r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i="1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1788705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15;p36">
            <a:extLst>
              <a:ext uri="{FF2B5EF4-FFF2-40B4-BE49-F238E27FC236}">
                <a16:creationId xmlns:a16="http://schemas.microsoft.com/office/drawing/2014/main" id="{E5B32931-7DD8-4E9F-9960-117E9AE747E0}"/>
              </a:ext>
            </a:extLst>
          </p:cNvPr>
          <p:cNvSpPr txBox="1">
            <a:spLocks/>
          </p:cNvSpPr>
          <p:nvPr/>
        </p:nvSpPr>
        <p:spPr>
          <a:xfrm>
            <a:off x="3529962" y="2882895"/>
            <a:ext cx="1184914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Engenharia</a:t>
            </a:r>
          </a:p>
        </p:txBody>
      </p:sp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sp>
        <p:nvSpPr>
          <p:cNvPr id="16" name="Google Shape;215;p36">
            <a:extLst>
              <a:ext uri="{FF2B5EF4-FFF2-40B4-BE49-F238E27FC236}">
                <a16:creationId xmlns:a16="http://schemas.microsoft.com/office/drawing/2014/main" id="{92D87504-7004-4812-BEA7-5B49667DCDB4}"/>
              </a:ext>
            </a:extLst>
          </p:cNvPr>
          <p:cNvSpPr txBox="1">
            <a:spLocks/>
          </p:cNvSpPr>
          <p:nvPr/>
        </p:nvSpPr>
        <p:spPr>
          <a:xfrm>
            <a:off x="6651525" y="1707905"/>
            <a:ext cx="1902867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Especialista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E99AEC-74E9-4529-B0DF-D836817A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44696F-664A-4717-9C6E-E3169BBC3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A22F5E4C-6EE3-43F4-8835-9D1D79C49AEC}"/>
              </a:ext>
            </a:extLst>
          </p:cNvPr>
          <p:cNvSpPr txBox="1">
            <a:spLocks/>
          </p:cNvSpPr>
          <p:nvPr/>
        </p:nvSpPr>
        <p:spPr>
          <a:xfrm>
            <a:off x="466722" y="132276"/>
            <a:ext cx="8201663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000"/>
              <a:buFont typeface="Montserrat ExtraLight"/>
              <a:buNone/>
              <a:defRPr sz="20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B961"/>
              </a:buClr>
              <a:buSzPts val="2400"/>
              <a:buFont typeface="Montserrat ExtraLight"/>
              <a:buNone/>
              <a:defRPr sz="2400" b="0" i="0" u="none" strike="noStrike" cap="none">
                <a:solidFill>
                  <a:srgbClr val="D5B96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defRPr>
            </a:lvl9pPr>
          </a:lstStyle>
          <a:p>
            <a:r>
              <a:rPr lang="pt-BR" sz="2400" dirty="0"/>
              <a:t>RESPOSTAS DOS KITS E KIQS</a:t>
            </a:r>
          </a:p>
        </p:txBody>
      </p:sp>
      <p:sp>
        <p:nvSpPr>
          <p:cNvPr id="14" name="Google Shape;247;p39">
            <a:extLst>
              <a:ext uri="{FF2B5EF4-FFF2-40B4-BE49-F238E27FC236}">
                <a16:creationId xmlns:a16="http://schemas.microsoft.com/office/drawing/2014/main" id="{1706BEC9-A153-4947-AEDE-9922A919707D}"/>
              </a:ext>
            </a:extLst>
          </p:cNvPr>
          <p:cNvSpPr txBox="1">
            <a:spLocks/>
          </p:cNvSpPr>
          <p:nvPr/>
        </p:nvSpPr>
        <p:spPr>
          <a:xfrm>
            <a:off x="760868" y="841853"/>
            <a:ext cx="7603511" cy="379614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Existem fornecedores qualificados no mercado que não foram mapeados internamente? </a:t>
            </a:r>
            <a:br>
              <a:rPr lang="pt-BR" sz="1000" dirty="0"/>
            </a:br>
            <a:r>
              <a:rPr lang="pt-BR" sz="1000" i="1" dirty="0"/>
              <a:t>R: Acredito que existam fornecedores com perfil corporativo não mapeados no nosso portfólio.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Que ações a empresa pode fazer para atrair fornecedores de maior porte capazes de estabelecer uma parceria de longo prazo? </a:t>
            </a:r>
            <a:br>
              <a:rPr lang="pt-BR" sz="1000" dirty="0"/>
            </a:br>
            <a:r>
              <a:rPr lang="pt-BR" sz="1000" i="1" dirty="0"/>
              <a:t>R: Se afiliar a empresas que trabalham com prospecção de mercado e business, para ter uma visibilidade global, inclusive a nível multinacional. 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Com quanto tempo consegue-se prever um novo projeto da empresa? </a:t>
            </a:r>
            <a:br>
              <a:rPr lang="pt-BR" sz="1000" dirty="0"/>
            </a:br>
            <a:r>
              <a:rPr lang="pt-BR" sz="1000" i="1" dirty="0"/>
              <a:t>R: Depende das dimensões e complexidade do projeto.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É possível criar um pipeline de obras de novos projetos com quanto tempo de antecedência? </a:t>
            </a:r>
            <a:br>
              <a:rPr lang="pt-BR" sz="1000" dirty="0"/>
            </a:br>
            <a:r>
              <a:rPr lang="pt-BR" sz="1000" i="1" dirty="0"/>
              <a:t>R: Não respondida.</a:t>
            </a:r>
            <a:br>
              <a:rPr lang="pt-BR" sz="1000" i="1" dirty="0"/>
            </a:br>
            <a:endParaRPr lang="pt-BR" sz="1000" i="1" dirty="0"/>
          </a:p>
          <a:p>
            <a:pPr marL="342900" indent="-228600" algn="l">
              <a:buClr>
                <a:schemeClr val="accent4">
                  <a:lumMod val="50000"/>
                </a:schemeClr>
              </a:buClr>
              <a:buFont typeface="+mj-lt"/>
              <a:buAutoNum type="arabicParenR"/>
            </a:pPr>
            <a:r>
              <a:rPr lang="pt-BR" sz="1000" dirty="0"/>
              <a:t>Como é desenhado o processo interno de aprovação de um projeto para uma obra? </a:t>
            </a:r>
            <a:br>
              <a:rPr lang="pt-BR" sz="1000" dirty="0"/>
            </a:br>
            <a:r>
              <a:rPr lang="pt-BR" sz="1000" i="1" dirty="0"/>
              <a:t>R: Cria-se um Dossiê Técnico de Contratação, a partir de uma oportunidade capitada, que possui viabilidade técnica assegurada. Após a criação do documento, há uma análise de riscos multidisciplinar que irá balizar o departamento Comercial na busca pela prestação do serviço. Uma vez definida a empreiteira, os mesmos receberão uma integração de acolhimento, em seguida passarão pelo processo de validação das atividades pelo departamento de segurança e meio ambiente, e finalmente inicial a jornada.</a:t>
            </a:r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i="1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  <a:p>
            <a:pPr marL="114300" indent="0" algn="l">
              <a:buClr>
                <a:schemeClr val="accent4">
                  <a:lumMod val="50000"/>
                </a:schemeClr>
              </a:buClr>
            </a:pP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843454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38" y="140745"/>
            <a:ext cx="8201663" cy="507900"/>
          </a:xfrm>
        </p:spPr>
        <p:txBody>
          <a:bodyPr/>
          <a:lstStyle/>
          <a:p>
            <a:r>
              <a:rPr lang="pt-BR" sz="2400" dirty="0"/>
              <a:t>ANÁLISE DOS KITS E KIQS</a:t>
            </a:r>
          </a:p>
        </p:txBody>
      </p:sp>
      <p:sp>
        <p:nvSpPr>
          <p:cNvPr id="13" name="Google Shape;215;p36">
            <a:extLst>
              <a:ext uri="{FF2B5EF4-FFF2-40B4-BE49-F238E27FC236}">
                <a16:creationId xmlns:a16="http://schemas.microsoft.com/office/drawing/2014/main" id="{E5B32931-7DD8-4E9F-9960-117E9AE747E0}"/>
              </a:ext>
            </a:extLst>
          </p:cNvPr>
          <p:cNvSpPr txBox="1">
            <a:spLocks/>
          </p:cNvSpPr>
          <p:nvPr/>
        </p:nvSpPr>
        <p:spPr>
          <a:xfrm>
            <a:off x="3529962" y="2882895"/>
            <a:ext cx="1184914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Engenharia</a:t>
            </a:r>
          </a:p>
        </p:txBody>
      </p:sp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00086F-74A4-4A7C-8426-0AD99262B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CE5C452-9846-4F78-A6A5-07CE14B60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6C7D7FE-4E39-4694-B292-64305A453B8A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2294010" y="1050750"/>
            <a:ext cx="4092750" cy="4092750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DF37E85-C1FC-4BD5-802B-CE135E9614D2}"/>
              </a:ext>
            </a:extLst>
          </p:cNvPr>
          <p:cNvSpPr/>
          <p:nvPr/>
        </p:nvSpPr>
        <p:spPr>
          <a:xfrm>
            <a:off x="2756733" y="779727"/>
            <a:ext cx="1240971" cy="70539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Montserrat" panose="00000500000000000000" pitchFamily="2" charset="0"/>
              </a:rPr>
              <a:t>Visibilidade do Spend e Volumetria 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80D1125-7F71-4952-A736-C9E371052106}"/>
              </a:ext>
            </a:extLst>
          </p:cNvPr>
          <p:cNvSpPr/>
          <p:nvPr/>
        </p:nvSpPr>
        <p:spPr>
          <a:xfrm>
            <a:off x="988252" y="3782645"/>
            <a:ext cx="1240971" cy="70539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Montserrat" panose="00000500000000000000" pitchFamily="2" charset="0"/>
              </a:rPr>
              <a:t>Planejamento e Organização das Áreas demandantes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FF6BC20-4909-43D3-B24A-6DA270C0F948}"/>
              </a:ext>
            </a:extLst>
          </p:cNvPr>
          <p:cNvSpPr/>
          <p:nvPr/>
        </p:nvSpPr>
        <p:spPr>
          <a:xfrm>
            <a:off x="988252" y="1616204"/>
            <a:ext cx="1240971" cy="70539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Montserrat" panose="00000500000000000000" pitchFamily="2" charset="0"/>
              </a:rPr>
              <a:t>Visibilidade Técnica e Financeira do Projeto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C3258DC-4CD9-436E-A584-D618D69D9FD3}"/>
              </a:ext>
            </a:extLst>
          </p:cNvPr>
          <p:cNvSpPr/>
          <p:nvPr/>
        </p:nvSpPr>
        <p:spPr>
          <a:xfrm>
            <a:off x="5014651" y="789038"/>
            <a:ext cx="1240971" cy="70539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Montserrat" panose="00000500000000000000" pitchFamily="2" charset="0"/>
              </a:rPr>
              <a:t>Estudo de Oportunidades dentro da Empresa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F740D8C-E23A-4053-8C3B-5139324B3E0F}"/>
              </a:ext>
            </a:extLst>
          </p:cNvPr>
          <p:cNvSpPr/>
          <p:nvPr/>
        </p:nvSpPr>
        <p:spPr>
          <a:xfrm>
            <a:off x="6511385" y="3759326"/>
            <a:ext cx="1240971" cy="70539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Montserrat" panose="00000500000000000000" pitchFamily="2" charset="0"/>
              </a:rPr>
              <a:t>Benchmark com o Mercado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7DEA318-0A70-4F3F-AF19-38B7A0428FFD}"/>
              </a:ext>
            </a:extLst>
          </p:cNvPr>
          <p:cNvSpPr/>
          <p:nvPr/>
        </p:nvSpPr>
        <p:spPr>
          <a:xfrm>
            <a:off x="7681036" y="2704529"/>
            <a:ext cx="1240971" cy="70539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Montserrat" panose="00000500000000000000" pitchFamily="2" charset="0"/>
              </a:rPr>
              <a:t>Atratividade de Grandes Fornecedores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D1F232C-BE48-4049-9FB8-599329B3D780}"/>
              </a:ext>
            </a:extLst>
          </p:cNvPr>
          <p:cNvSpPr/>
          <p:nvPr/>
        </p:nvSpPr>
        <p:spPr>
          <a:xfrm>
            <a:off x="346386" y="2704529"/>
            <a:ext cx="1240971" cy="70539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Montserrat" panose="00000500000000000000" pitchFamily="2" charset="0"/>
              </a:rPr>
              <a:t>Integração entre Áreas diferentes dentro da Empresa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03F2737-DFFF-4776-AE54-78FA76AC7DD6}"/>
              </a:ext>
            </a:extLst>
          </p:cNvPr>
          <p:cNvSpPr/>
          <p:nvPr/>
        </p:nvSpPr>
        <p:spPr>
          <a:xfrm>
            <a:off x="6866087" y="1616204"/>
            <a:ext cx="1240971" cy="70539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Montserrat" panose="00000500000000000000" pitchFamily="2" charset="0"/>
              </a:rPr>
              <a:t>Projeção de Cenários para possíveis projetos</a:t>
            </a:r>
          </a:p>
        </p:txBody>
      </p:sp>
    </p:spTree>
    <p:extLst>
      <p:ext uri="{BB962C8B-B14F-4D97-AF65-F5344CB8AC3E}">
        <p14:creationId xmlns:p14="http://schemas.microsoft.com/office/powerpoint/2010/main" val="5295678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20409-8E93-464D-B9DB-8BCECD1B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40745"/>
            <a:ext cx="7613650" cy="507900"/>
          </a:xfrm>
        </p:spPr>
        <p:txBody>
          <a:bodyPr/>
          <a:lstStyle/>
          <a:p>
            <a:r>
              <a:rPr lang="pt-BR" sz="2400" dirty="0"/>
              <a:t>TEMPLATE RFI - INFORMAÇÕES GERAIS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A14C798-D675-41B1-84BD-6B029C201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880" y="1153458"/>
            <a:ext cx="5478240" cy="344842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E900C4C-49B2-4BFB-B8DE-ABCF23803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DE19184-6CA9-4225-9B7A-00CE75B23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929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20409-8E93-464D-B9DB-8BCECD1B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86" y="140745"/>
            <a:ext cx="7494428" cy="507900"/>
          </a:xfrm>
        </p:spPr>
        <p:txBody>
          <a:bodyPr/>
          <a:lstStyle/>
          <a:p>
            <a:r>
              <a:rPr lang="pt-BR" sz="2400" dirty="0"/>
              <a:t>TEMPLATE RFI - DADOS RFI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0FB1523-66C3-4324-893B-CE7C33B72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F915356-8A84-4BBA-9727-3455734F7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DC3E407-653C-4F6A-A2D8-E4FA5D145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2" y="792200"/>
            <a:ext cx="4458741" cy="390361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14957F7-02A1-4163-94FA-3DC2A0CA7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830511"/>
            <a:ext cx="4458741" cy="379140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906007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>
            <a:extLst>
              <a:ext uri="{FF2B5EF4-FFF2-40B4-BE49-F238E27FC236}">
                <a16:creationId xmlns:a16="http://schemas.microsoft.com/office/drawing/2014/main" id="{C69BAF31-23E7-42E0-AC3E-08D0E97F0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56" y="774003"/>
            <a:ext cx="6152493" cy="279325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9AD765A-7D07-4EA5-8CB1-98863C2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12" y="140745"/>
            <a:ext cx="7930775" cy="507900"/>
          </a:xfrm>
        </p:spPr>
        <p:txBody>
          <a:bodyPr/>
          <a:lstStyle/>
          <a:p>
            <a:r>
              <a:rPr lang="pt-BR" sz="2400" dirty="0"/>
              <a:t>RESUMO RFI - MPE ENGENHARIA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A373FE-D8C6-4597-8DA9-3D33846E9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F3A8D8-3DCB-4751-A0DD-2CA779AC1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37751FC-8E63-40F4-A9F0-6582D462F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6" y="2241550"/>
            <a:ext cx="5325288" cy="245451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988506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9AD765A-7D07-4EA5-8CB1-98863C2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12" y="140745"/>
            <a:ext cx="7930775" cy="507900"/>
          </a:xfrm>
        </p:spPr>
        <p:txBody>
          <a:bodyPr/>
          <a:lstStyle/>
          <a:p>
            <a:r>
              <a:rPr lang="pt-BR" sz="2400" dirty="0"/>
              <a:t>RESUMO RFI - MEI ENGENHARIA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A373FE-D8C6-4597-8DA9-3D33846E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F3A8D8-3DCB-4751-A0DD-2CA779AC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582B1A9-5A5B-4A74-BE6C-549A166FC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06" y="803853"/>
            <a:ext cx="6146404" cy="287539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2775AF-B7F9-4D90-B451-9D00349AD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6" y="2241549"/>
            <a:ext cx="5302090" cy="245451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96327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9AD765A-7D07-4EA5-8CB1-98863C2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12" y="122568"/>
            <a:ext cx="7930775" cy="507900"/>
          </a:xfrm>
        </p:spPr>
        <p:txBody>
          <a:bodyPr/>
          <a:lstStyle/>
          <a:p>
            <a:r>
              <a:rPr lang="pt-BR" sz="2400" dirty="0"/>
              <a:t>RESUMO RFI - CONIN CONSTRUÇÃO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A373FE-D8C6-4597-8DA9-3D33846E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F3A8D8-3DCB-4751-A0DD-2CA779AC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92A06E7-DE8A-4F79-AEF7-4929637F9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27" y="717328"/>
            <a:ext cx="6242845" cy="287756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1A4F2A7-152F-4832-9155-1AC6944E1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179" y="2316178"/>
            <a:ext cx="5279594" cy="245080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2064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9AD765A-7D07-4EA5-8CB1-98863C2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12" y="140745"/>
            <a:ext cx="7930775" cy="507900"/>
          </a:xfrm>
        </p:spPr>
        <p:txBody>
          <a:bodyPr/>
          <a:lstStyle/>
          <a:p>
            <a:r>
              <a:rPr lang="pt-BR" sz="2400" dirty="0"/>
              <a:t>RESUMO RFI - PARISOTTI CONSTRUÇÃO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A373FE-D8C6-4597-8DA9-3D33846E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F3A8D8-3DCB-4751-A0DD-2CA779AC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B89F25D-43FF-400A-904A-4C344E513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09" y="877479"/>
            <a:ext cx="6273641" cy="238305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CD6BFF0-7993-4721-87C6-15888399B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7144" y="2571750"/>
            <a:ext cx="6461296" cy="183515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39852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9AD765A-7D07-4EA5-8CB1-98863C2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12" y="140745"/>
            <a:ext cx="7930775" cy="507900"/>
          </a:xfrm>
        </p:spPr>
        <p:txBody>
          <a:bodyPr/>
          <a:lstStyle/>
          <a:p>
            <a:r>
              <a:rPr lang="pt-BR" sz="2400" dirty="0"/>
              <a:t>RESUMO RFI - PARISOTTI CONSTRUÇÃO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A373FE-D8C6-4597-8DA9-3D33846E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F3A8D8-3DCB-4751-A0DD-2CA779AC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8533C83-1B78-41CC-9E0B-C3423132D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742565"/>
            <a:ext cx="5283200" cy="280347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68C690F-74FF-4AA3-B16B-E47ED9A0F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4100" y="2441096"/>
            <a:ext cx="5283200" cy="191399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405784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9AD765A-7D07-4EA5-8CB1-98863C2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612" y="140745"/>
            <a:ext cx="7930775" cy="507900"/>
          </a:xfrm>
        </p:spPr>
        <p:txBody>
          <a:bodyPr/>
          <a:lstStyle/>
          <a:p>
            <a:r>
              <a:rPr lang="pt-BR" sz="2400" dirty="0"/>
              <a:t>RFI – VISIBILIDADE DOS FORNECEDORES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A373FE-D8C6-4597-8DA9-3D33846E9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BF3A8D8-3DCB-4751-A0DD-2CA779AC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8E6C61AE-8439-4452-8D4F-B8ED88882F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9608390"/>
              </p:ext>
            </p:extLst>
          </p:nvPr>
        </p:nvGraphicFramePr>
        <p:xfrm>
          <a:off x="888999" y="841208"/>
          <a:ext cx="7365999" cy="3834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883740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68" y="158246"/>
            <a:ext cx="8201663" cy="507900"/>
          </a:xfrm>
        </p:spPr>
        <p:txBody>
          <a:bodyPr/>
          <a:lstStyle/>
          <a:p>
            <a:r>
              <a:rPr lang="pt-BR" sz="2400" dirty="0"/>
              <a:t>MATRIZ PERCEPÇÃO DO FORNECEDOR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2C92032-A442-4533-83BD-AC26A326694A}"/>
              </a:ext>
            </a:extLst>
          </p:cNvPr>
          <p:cNvGrpSpPr/>
          <p:nvPr/>
        </p:nvGrpSpPr>
        <p:grpSpPr>
          <a:xfrm>
            <a:off x="375652" y="1065552"/>
            <a:ext cx="8392696" cy="3609868"/>
            <a:chOff x="425907" y="1065552"/>
            <a:chExt cx="8392696" cy="3609868"/>
          </a:xfrm>
        </p:grpSpPr>
        <p:sp>
          <p:nvSpPr>
            <p:cNvPr id="13" name="Google Shape;215;p36">
              <a:extLst>
                <a:ext uri="{FF2B5EF4-FFF2-40B4-BE49-F238E27FC236}">
                  <a16:creationId xmlns:a16="http://schemas.microsoft.com/office/drawing/2014/main" id="{E5B32931-7DD8-4E9F-9960-117E9AE747E0}"/>
                </a:ext>
              </a:extLst>
            </p:cNvPr>
            <p:cNvSpPr txBox="1">
              <a:spLocks/>
            </p:cNvSpPr>
            <p:nvPr/>
          </p:nvSpPr>
          <p:spPr>
            <a:xfrm>
              <a:off x="3529962" y="2882895"/>
              <a:ext cx="1184914" cy="349562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1050" dirty="0">
                  <a:solidFill>
                    <a:schemeClr val="tx1"/>
                  </a:solidFill>
                </a:rPr>
                <a:t>Engenharia</a:t>
              </a:r>
            </a:p>
          </p:txBody>
        </p:sp>
        <p:sp>
          <p:nvSpPr>
            <p:cNvPr id="15" name="Google Shape;215;p36">
              <a:extLst>
                <a:ext uri="{FF2B5EF4-FFF2-40B4-BE49-F238E27FC236}">
                  <a16:creationId xmlns:a16="http://schemas.microsoft.com/office/drawing/2014/main" id="{5C2567EF-8322-4116-AE90-1058B10DE685}"/>
                </a:ext>
              </a:extLst>
            </p:cNvPr>
            <p:cNvSpPr txBox="1">
              <a:spLocks/>
            </p:cNvSpPr>
            <p:nvPr/>
          </p:nvSpPr>
          <p:spPr>
            <a:xfrm>
              <a:off x="4622255" y="2396969"/>
              <a:ext cx="1764505" cy="349562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1050" dirty="0">
                  <a:solidFill>
                    <a:schemeClr val="tx1"/>
                  </a:solidFill>
                </a:rPr>
                <a:t>Construção Generalista</a:t>
              </a:r>
            </a:p>
          </p:txBody>
        </p:sp>
        <p:sp>
          <p:nvSpPr>
            <p:cNvPr id="16" name="Google Shape;215;p36">
              <a:extLst>
                <a:ext uri="{FF2B5EF4-FFF2-40B4-BE49-F238E27FC236}">
                  <a16:creationId xmlns:a16="http://schemas.microsoft.com/office/drawing/2014/main" id="{92D87504-7004-4812-BEA7-5B49667DCDB4}"/>
                </a:ext>
              </a:extLst>
            </p:cNvPr>
            <p:cNvSpPr txBox="1">
              <a:spLocks/>
            </p:cNvSpPr>
            <p:nvPr/>
          </p:nvSpPr>
          <p:spPr>
            <a:xfrm>
              <a:off x="6651525" y="1707905"/>
              <a:ext cx="1902867" cy="349562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●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Char char="○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lt1"/>
                </a:buClr>
                <a:buSzPts val="1400"/>
                <a:buFont typeface="Montserrat"/>
                <a:buChar char="■"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pPr marL="0" indent="0" algn="just">
                <a:buClr>
                  <a:schemeClr val="accent4">
                    <a:lumMod val="50000"/>
                  </a:schemeClr>
                </a:buClr>
                <a:buSzPts val="1100"/>
                <a:buNone/>
              </a:pPr>
              <a:r>
                <a:rPr lang="pt-BR" sz="1050" dirty="0">
                  <a:solidFill>
                    <a:schemeClr val="tx1"/>
                  </a:solidFill>
                </a:rPr>
                <a:t>Construção Especialista</a:t>
              </a:r>
            </a:p>
          </p:txBody>
        </p:sp>
        <p:pic>
          <p:nvPicPr>
            <p:cNvPr id="9" name="Imagem 8" descr="Padrão do plano de fundo&#10;&#10;Descrição gerada automaticamente com confiança média">
              <a:extLst>
                <a:ext uri="{FF2B5EF4-FFF2-40B4-BE49-F238E27FC236}">
                  <a16:creationId xmlns:a16="http://schemas.microsoft.com/office/drawing/2014/main" id="{AE655B95-5268-2793-5334-21ECEA034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5907" y="1065552"/>
              <a:ext cx="8392696" cy="2419688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764F97C3-4FB7-AD48-BD6C-EC71CFBC4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8328" y="3903787"/>
              <a:ext cx="7411484" cy="771633"/>
            </a:xfrm>
            <a:prstGeom prst="rect">
              <a:avLst/>
            </a:prstGeom>
            <a:ln w="19050">
              <a:noFill/>
            </a:ln>
          </p:spPr>
        </p:pic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07FE44E3-31E1-4BB0-9783-54BAB74FD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C6BFB56-6849-46DA-AE60-569F17B6B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004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9AD639E-F4DD-6452-ECD1-A50BAFF0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01" y="3995349"/>
            <a:ext cx="7411484" cy="77163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68" y="138967"/>
            <a:ext cx="8201663" cy="507900"/>
          </a:xfrm>
        </p:spPr>
        <p:txBody>
          <a:bodyPr/>
          <a:lstStyle/>
          <a:p>
            <a:r>
              <a:rPr lang="pt-BR" sz="2400" dirty="0"/>
              <a:t>MATRIZ 16 QUADRANTES FORNECEDOR</a:t>
            </a:r>
          </a:p>
        </p:txBody>
      </p:sp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3B388A18-926D-C62A-C2E5-7865789702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16"/>
          <a:stretch/>
        </p:blipFill>
        <p:spPr>
          <a:xfrm>
            <a:off x="523310" y="1477108"/>
            <a:ext cx="8097380" cy="2223512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1" name="Imagem 20" descr="Padrão do plano de fundo&#10;&#10;Descrição gerada automaticamente">
            <a:extLst>
              <a:ext uri="{FF2B5EF4-FFF2-40B4-BE49-F238E27FC236}">
                <a16:creationId xmlns:a16="http://schemas.microsoft.com/office/drawing/2014/main" id="{01CC8C95-B738-7CBC-2C0E-8DDFDB9F5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02" y="1477108"/>
            <a:ext cx="3874933" cy="994787"/>
          </a:xfrm>
          <a:prstGeom prst="rect">
            <a:avLst/>
          </a:prstGeom>
        </p:spPr>
      </p:pic>
      <p:pic>
        <p:nvPicPr>
          <p:cNvPr id="23" name="Imagem 22" descr="Padrão do plano de fundo&#10;&#10;Descrição gerada automaticamente">
            <a:extLst>
              <a:ext uri="{FF2B5EF4-FFF2-40B4-BE49-F238E27FC236}">
                <a16:creationId xmlns:a16="http://schemas.microsoft.com/office/drawing/2014/main" id="{DB6B5D3C-A71A-688B-9547-8E702D7D7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01" y="2471895"/>
            <a:ext cx="3874933" cy="1025057"/>
          </a:xfrm>
          <a:prstGeom prst="rect">
            <a:avLst/>
          </a:prstGeom>
        </p:spPr>
      </p:pic>
      <p:pic>
        <p:nvPicPr>
          <p:cNvPr id="27" name="Imagem 26" descr="Padrão do plano de fundo&#10;&#10;Descrição gerada automaticamente">
            <a:extLst>
              <a:ext uri="{FF2B5EF4-FFF2-40B4-BE49-F238E27FC236}">
                <a16:creationId xmlns:a16="http://schemas.microsoft.com/office/drawing/2014/main" id="{13A00B90-FDD3-BE2B-366A-8CB8B4B5F1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203" y="2471895"/>
            <a:ext cx="3874933" cy="1025057"/>
          </a:xfrm>
          <a:prstGeom prst="rect">
            <a:avLst/>
          </a:prstGeom>
        </p:spPr>
      </p:pic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4B304BA6-D8A1-60FC-3635-F11A1BA1DC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2434" y="1492626"/>
            <a:ext cx="3856701" cy="99478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86C5B19-481F-46B3-9DF7-BB5235732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CD9A20D-74B0-4982-A468-6F665B0EE9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D39F9F-44CB-4D40-A6E1-52AE6E4DBA4F}"/>
              </a:ext>
            </a:extLst>
          </p:cNvPr>
          <p:cNvSpPr txBox="1"/>
          <p:nvPr/>
        </p:nvSpPr>
        <p:spPr>
          <a:xfrm rot="16200000">
            <a:off x="-502828" y="2348785"/>
            <a:ext cx="1806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IMPACTO NO NEGÓCIO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E849B51-3149-4C02-9177-91EDEE2EAF63}"/>
              </a:ext>
            </a:extLst>
          </p:cNvPr>
          <p:cNvSpPr txBox="1"/>
          <p:nvPr/>
        </p:nvSpPr>
        <p:spPr>
          <a:xfrm>
            <a:off x="3828922" y="3686098"/>
            <a:ext cx="1806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RISCO DE SUPRIMENTO</a:t>
            </a:r>
          </a:p>
        </p:txBody>
      </p:sp>
    </p:spTree>
    <p:extLst>
      <p:ext uri="{BB962C8B-B14F-4D97-AF65-F5344CB8AC3E}">
        <p14:creationId xmlns:p14="http://schemas.microsoft.com/office/powerpoint/2010/main" val="18001538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94FEC322-F6CD-490B-B1EA-5D36CD1B1976}"/>
              </a:ext>
            </a:extLst>
          </p:cNvPr>
          <p:cNvGrpSpPr/>
          <p:nvPr/>
        </p:nvGrpSpPr>
        <p:grpSpPr>
          <a:xfrm>
            <a:off x="367248" y="1150589"/>
            <a:ext cx="8373644" cy="3474031"/>
            <a:chOff x="367248" y="1201389"/>
            <a:chExt cx="8373644" cy="3474031"/>
          </a:xfrm>
        </p:grpSpPr>
        <p:pic>
          <p:nvPicPr>
            <p:cNvPr id="9" name="Imagem 8" descr="Uma imagem contendo Linha do tempo&#10;&#10;Descrição gerada automaticamente">
              <a:extLst>
                <a:ext uri="{FF2B5EF4-FFF2-40B4-BE49-F238E27FC236}">
                  <a16:creationId xmlns:a16="http://schemas.microsoft.com/office/drawing/2014/main" id="{A0C1E502-294F-FD96-F217-7493E43E7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7248" y="1201389"/>
              <a:ext cx="8373644" cy="2438740"/>
            </a:xfrm>
            <a:prstGeom prst="rect">
              <a:avLst/>
            </a:prstGeom>
            <a:ln w="19050">
              <a:solidFill>
                <a:schemeClr val="accent1"/>
              </a:solidFill>
            </a:ln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6F421EB-F330-8877-504B-A7011BA7A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8328" y="3903787"/>
              <a:ext cx="7411484" cy="771633"/>
            </a:xfrm>
            <a:prstGeom prst="rect">
              <a:avLst/>
            </a:prstGeom>
            <a:ln w="19050">
              <a:noFill/>
            </a:ln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38" y="140745"/>
            <a:ext cx="8201663" cy="507900"/>
          </a:xfrm>
        </p:spPr>
        <p:txBody>
          <a:bodyPr/>
          <a:lstStyle/>
          <a:p>
            <a:r>
              <a:rPr lang="pt-BR" sz="2400" dirty="0"/>
              <a:t>MATRIZ PERCEPÇÃO DA IMAGEM EBP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324F5A-F892-42E5-B7F6-7EAC2B0C4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BE27262-F538-422F-9A2D-844937F1B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427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6338B29-3149-987E-4376-64C0E8BBD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01" y="4050389"/>
            <a:ext cx="7411484" cy="77163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02" y="158982"/>
            <a:ext cx="8201663" cy="507900"/>
          </a:xfrm>
        </p:spPr>
        <p:txBody>
          <a:bodyPr/>
          <a:lstStyle/>
          <a:p>
            <a:r>
              <a:rPr lang="pt-BR" sz="2400" dirty="0"/>
              <a:t>MATRIZ 16 QUADRANTES IMAGEM EBP</a:t>
            </a:r>
          </a:p>
        </p:txBody>
      </p:sp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3B388A18-926D-C62A-C2E5-7865789702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16"/>
          <a:stretch/>
        </p:blipFill>
        <p:spPr>
          <a:xfrm>
            <a:off x="523310" y="1477108"/>
            <a:ext cx="8097380" cy="2223512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1" name="Imagem 20" descr="Padrão do plano de fundo&#10;&#10;Descrição gerada automaticamente">
            <a:extLst>
              <a:ext uri="{FF2B5EF4-FFF2-40B4-BE49-F238E27FC236}">
                <a16:creationId xmlns:a16="http://schemas.microsoft.com/office/drawing/2014/main" id="{01CC8C95-B738-7CBC-2C0E-8DDFDB9F5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02" y="1477108"/>
            <a:ext cx="3874933" cy="994787"/>
          </a:xfrm>
          <a:prstGeom prst="rect">
            <a:avLst/>
          </a:prstGeom>
        </p:spPr>
      </p:pic>
      <p:pic>
        <p:nvPicPr>
          <p:cNvPr id="23" name="Imagem 22" descr="Padrão do plano de fundo&#10;&#10;Descrição gerada automaticamente">
            <a:extLst>
              <a:ext uri="{FF2B5EF4-FFF2-40B4-BE49-F238E27FC236}">
                <a16:creationId xmlns:a16="http://schemas.microsoft.com/office/drawing/2014/main" id="{DB6B5D3C-A71A-688B-9547-8E702D7D7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01" y="2471895"/>
            <a:ext cx="3874933" cy="1025057"/>
          </a:xfrm>
          <a:prstGeom prst="rect">
            <a:avLst/>
          </a:prstGeom>
        </p:spPr>
      </p:pic>
      <p:pic>
        <p:nvPicPr>
          <p:cNvPr id="27" name="Imagem 26" descr="Padrão do plano de fundo&#10;&#10;Descrição gerada automaticamente">
            <a:extLst>
              <a:ext uri="{FF2B5EF4-FFF2-40B4-BE49-F238E27FC236}">
                <a16:creationId xmlns:a16="http://schemas.microsoft.com/office/drawing/2014/main" id="{13A00B90-FDD3-BE2B-366A-8CB8B4B5F1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203" y="2471895"/>
            <a:ext cx="3874933" cy="1025057"/>
          </a:xfrm>
          <a:prstGeom prst="rect">
            <a:avLst/>
          </a:prstGeom>
        </p:spPr>
      </p:pic>
      <p:pic>
        <p:nvPicPr>
          <p:cNvPr id="7" name="Imagem 6" descr="Padrão do plano de fundo&#10;&#10;Descrição gerada automaticamente com confiança baixa">
            <a:extLst>
              <a:ext uri="{FF2B5EF4-FFF2-40B4-BE49-F238E27FC236}">
                <a16:creationId xmlns:a16="http://schemas.microsoft.com/office/drawing/2014/main" id="{F55435ED-2733-3E5B-0EE6-195CC38557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203" y="1477108"/>
            <a:ext cx="3874932" cy="99478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0794F5B-19BF-48F5-9ED5-81F04A7C37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59BBEEC-167F-48C5-AB09-C34D645A61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C4C5556-7AFC-417A-8FCD-7E6DFF837800}"/>
              </a:ext>
            </a:extLst>
          </p:cNvPr>
          <p:cNvSpPr txBox="1"/>
          <p:nvPr/>
        </p:nvSpPr>
        <p:spPr>
          <a:xfrm rot="16200000">
            <a:off x="-502828" y="2348785"/>
            <a:ext cx="1806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IMPACTO NO NEGÓCIO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33349F1-1A41-4D7C-AC75-365F312F27CC}"/>
              </a:ext>
            </a:extLst>
          </p:cNvPr>
          <p:cNvSpPr txBox="1"/>
          <p:nvPr/>
        </p:nvSpPr>
        <p:spPr>
          <a:xfrm>
            <a:off x="3828922" y="3686098"/>
            <a:ext cx="1806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RISCO DE SUPRIMENTO</a:t>
            </a:r>
          </a:p>
        </p:txBody>
      </p:sp>
    </p:spTree>
    <p:extLst>
      <p:ext uri="{BB962C8B-B14F-4D97-AF65-F5344CB8AC3E}">
        <p14:creationId xmlns:p14="http://schemas.microsoft.com/office/powerpoint/2010/main" val="37198754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Foto grátis o xadrez de peões dourados sai da linha para pensar diferente e liderar a mudança interrupção e conceito único por renderização 3d">
            <a:extLst>
              <a:ext uri="{FF2B5EF4-FFF2-40B4-BE49-F238E27FC236}">
                <a16:creationId xmlns:a16="http://schemas.microsoft.com/office/drawing/2014/main" id="{19C2A7EF-F392-41AF-8A80-7884E639F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2553"/>
            <a:ext cx="3473450" cy="173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40745"/>
            <a:ext cx="8201663" cy="507900"/>
          </a:xfrm>
        </p:spPr>
        <p:txBody>
          <a:bodyPr/>
          <a:lstStyle/>
          <a:p>
            <a:r>
              <a:rPr lang="pt-BR" sz="2400" dirty="0"/>
              <a:t>ANÁLISE DA MATRIZ DE PERCEPÇÃO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92E595-9A40-429C-A100-696085E0F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20F57FA-B56A-40C3-BBF8-7913BBC24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80A0514-E672-46A7-840D-F0EAA12C8A60}"/>
              </a:ext>
            </a:extLst>
          </p:cNvPr>
          <p:cNvSpPr txBox="1"/>
          <p:nvPr/>
        </p:nvSpPr>
        <p:spPr>
          <a:xfrm>
            <a:off x="1475028" y="1903482"/>
            <a:ext cx="6194425" cy="96823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13970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2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maioria dos Fornecedores de grande porte que comportariam as altas demandas da EBP e que, por isso, foram vislumbrados para uma parceria, enxergam a Empresa como um cliente a ser desenvolvido, direcionando ainda pouco foco e, consequentemente, prioridade em seus atendimentos.</a:t>
            </a:r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pt-B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4631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0794F5B-19BF-48F5-9ED5-81F04A7C3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407" y="4817533"/>
            <a:ext cx="1390715" cy="29229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59BBEEC-167F-48C5-AB09-C34D645A6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765" y="85954"/>
            <a:ext cx="608012" cy="434294"/>
          </a:xfrm>
          <a:prstGeom prst="rect">
            <a:avLst/>
          </a:prstGeom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28F031E7-B5F7-4678-9434-80173FCFB9B3}"/>
              </a:ext>
            </a:extLst>
          </p:cNvPr>
          <p:cNvSpPr txBox="1"/>
          <p:nvPr/>
        </p:nvSpPr>
        <p:spPr>
          <a:xfrm>
            <a:off x="135972" y="85954"/>
            <a:ext cx="4436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CANVAS ATUAL </a:t>
            </a:r>
            <a:endParaRPr lang="pt-BR" sz="2800" b="1" dirty="0">
              <a:solidFill>
                <a:schemeClr val="bg1"/>
              </a:solidFill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72DE455-7222-4123-977E-1F8B645BDE68}"/>
              </a:ext>
            </a:extLst>
          </p:cNvPr>
          <p:cNvGrpSpPr/>
          <p:nvPr/>
        </p:nvGrpSpPr>
        <p:grpSpPr>
          <a:xfrm>
            <a:off x="138956" y="588528"/>
            <a:ext cx="8866087" cy="4176463"/>
            <a:chOff x="135972" y="571793"/>
            <a:chExt cx="8866087" cy="4176463"/>
          </a:xfrm>
        </p:grpSpPr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5F6C74AC-DAB3-4E74-A9B9-F70410E896C4}"/>
                </a:ext>
              </a:extLst>
            </p:cNvPr>
            <p:cNvSpPr/>
            <p:nvPr/>
          </p:nvSpPr>
          <p:spPr>
            <a:xfrm>
              <a:off x="177291" y="571793"/>
              <a:ext cx="8812807" cy="417646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00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EA940C8-1275-4F0D-BE68-91D02BF1A88C}"/>
                </a:ext>
              </a:extLst>
            </p:cNvPr>
            <p:cNvSpPr txBox="1"/>
            <p:nvPr/>
          </p:nvSpPr>
          <p:spPr>
            <a:xfrm>
              <a:off x="135972" y="641205"/>
              <a:ext cx="225532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GESTÃO DE CONTRATOS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E04289EF-1FFA-4CC4-BC5A-5B1957F25180}"/>
                </a:ext>
              </a:extLst>
            </p:cNvPr>
            <p:cNvSpPr txBox="1"/>
            <p:nvPr/>
          </p:nvSpPr>
          <p:spPr>
            <a:xfrm>
              <a:off x="145637" y="1800156"/>
              <a:ext cx="2252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POLÍTICA DE COMPRAS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C15CA1E-3B90-4317-9BF4-68A3F31E40FD}"/>
                </a:ext>
              </a:extLst>
            </p:cNvPr>
            <p:cNvSpPr txBox="1"/>
            <p:nvPr/>
          </p:nvSpPr>
          <p:spPr>
            <a:xfrm>
              <a:off x="141680" y="2873649"/>
              <a:ext cx="217338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GESTÃO DE DEMANDA</a:t>
              </a: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E3C92908-1AA6-444A-816D-03DDEC154F02}"/>
                </a:ext>
              </a:extLst>
            </p:cNvPr>
            <p:cNvSpPr txBox="1"/>
            <p:nvPr/>
          </p:nvSpPr>
          <p:spPr>
            <a:xfrm>
              <a:off x="204392" y="3937990"/>
              <a:ext cx="9918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SAVING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ABBB20D-7360-4939-A530-A6D985C7760B}"/>
                </a:ext>
              </a:extLst>
            </p:cNvPr>
            <p:cNvSpPr txBox="1"/>
            <p:nvPr/>
          </p:nvSpPr>
          <p:spPr>
            <a:xfrm>
              <a:off x="3880152" y="2973576"/>
              <a:ext cx="101440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QUALIDADE</a:t>
              </a:r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498E842D-B45D-4252-B722-F12FAF07E8C0}"/>
                </a:ext>
              </a:extLst>
            </p:cNvPr>
            <p:cNvSpPr txBox="1"/>
            <p:nvPr/>
          </p:nvSpPr>
          <p:spPr>
            <a:xfrm>
              <a:off x="167920" y="970429"/>
              <a:ext cx="2796453" cy="6842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Atendimento por demandas Spot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Ausência de SRM - CAPEX</a:t>
              </a: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9BC2A981-3B94-47C2-AF36-C82639DCF3B9}"/>
                </a:ext>
              </a:extLst>
            </p:cNvPr>
            <p:cNvSpPr txBox="1"/>
            <p:nvPr/>
          </p:nvSpPr>
          <p:spPr>
            <a:xfrm>
              <a:off x="178098" y="2046377"/>
              <a:ext cx="3517085" cy="7467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Processos de Compra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Compras pulverizadas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Ausência de planejamento dos investimentos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2E308DE4-F25D-48B2-80A7-EC2B0A8DB2D4}"/>
                </a:ext>
              </a:extLst>
            </p:cNvPr>
            <p:cNvSpPr txBox="1"/>
            <p:nvPr/>
          </p:nvSpPr>
          <p:spPr>
            <a:xfrm>
              <a:off x="204392" y="3174431"/>
              <a:ext cx="3490791" cy="5771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SLA de atendimento da área de Compras em</a:t>
              </a: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  150 dias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Demandas acionadas pela área requisitante</a:t>
              </a: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id="{2B4DE50C-4F6C-4EF2-AEF7-F4218AA252C2}"/>
                </a:ext>
              </a:extLst>
            </p:cNvPr>
            <p:cNvSpPr txBox="1"/>
            <p:nvPr/>
          </p:nvSpPr>
          <p:spPr>
            <a:xfrm>
              <a:off x="204392" y="4306455"/>
              <a:ext cx="1501986" cy="335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8%</a:t>
              </a: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4" name="CaixaDeTexto 63">
              <a:extLst>
                <a:ext uri="{FF2B5EF4-FFF2-40B4-BE49-F238E27FC236}">
                  <a16:creationId xmlns:a16="http://schemas.microsoft.com/office/drawing/2014/main" id="{921AE852-7915-454C-8744-6D2E5FF8FCE3}"/>
                </a:ext>
              </a:extLst>
            </p:cNvPr>
            <p:cNvSpPr txBox="1"/>
            <p:nvPr/>
          </p:nvSpPr>
          <p:spPr>
            <a:xfrm>
              <a:off x="3100506" y="652222"/>
              <a:ext cx="246756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KPI DE DESEMPENHO</a:t>
              </a:r>
            </a:p>
          </p:txBody>
        </p:sp>
        <p:sp>
          <p:nvSpPr>
            <p:cNvPr id="65" name="CaixaDeTexto 64">
              <a:extLst>
                <a:ext uri="{FF2B5EF4-FFF2-40B4-BE49-F238E27FC236}">
                  <a16:creationId xmlns:a16="http://schemas.microsoft.com/office/drawing/2014/main" id="{BDABF85F-BBFE-4F64-8CFF-0CAD7AB1F46E}"/>
                </a:ext>
              </a:extLst>
            </p:cNvPr>
            <p:cNvSpPr txBox="1"/>
            <p:nvPr/>
          </p:nvSpPr>
          <p:spPr>
            <a:xfrm>
              <a:off x="3126998" y="970695"/>
              <a:ext cx="1905036" cy="5503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Segurança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ESG</a:t>
              </a:r>
            </a:p>
            <a:p>
              <a:pPr marL="13970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6B3BC06E-286A-49C7-9902-74E767D04387}"/>
                </a:ext>
              </a:extLst>
            </p:cNvPr>
            <p:cNvSpPr txBox="1"/>
            <p:nvPr/>
          </p:nvSpPr>
          <p:spPr>
            <a:xfrm>
              <a:off x="3873945" y="3189307"/>
              <a:ext cx="3037862" cy="5771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Não há controle de documentação das empresas contratadas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77777F4-4E95-49F2-B898-D8274A30711A}"/>
                </a:ext>
              </a:extLst>
            </p:cNvPr>
            <p:cNvSpPr txBox="1"/>
            <p:nvPr/>
          </p:nvSpPr>
          <p:spPr>
            <a:xfrm>
              <a:off x="6841423" y="2934990"/>
              <a:ext cx="18842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PRAZO DE PAGAMENTO</a:t>
              </a:r>
            </a:p>
          </p:txBody>
        </p: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id="{7511E184-4B83-47B3-9BCB-AA4732BA41BE}"/>
                </a:ext>
              </a:extLst>
            </p:cNvPr>
            <p:cNvSpPr txBox="1"/>
            <p:nvPr/>
          </p:nvSpPr>
          <p:spPr>
            <a:xfrm>
              <a:off x="7042596" y="3185341"/>
              <a:ext cx="1187146" cy="661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60 Dias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id="{450F8C00-390E-4511-899C-EF39C3000690}"/>
                </a:ext>
              </a:extLst>
            </p:cNvPr>
            <p:cNvSpPr txBox="1"/>
            <p:nvPr/>
          </p:nvSpPr>
          <p:spPr>
            <a:xfrm>
              <a:off x="4004694" y="3888849"/>
              <a:ext cx="8554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RISCOS</a:t>
              </a:r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id="{9136CBB9-C8D6-4429-BA93-F48EE7D45B02}"/>
                </a:ext>
              </a:extLst>
            </p:cNvPr>
            <p:cNvSpPr txBox="1"/>
            <p:nvPr/>
          </p:nvSpPr>
          <p:spPr>
            <a:xfrm>
              <a:off x="3900031" y="4061101"/>
              <a:ext cx="3570563" cy="6871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Não cumprimento do cronograma do projeto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Acidentes no local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Abandono de obra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D7BCA897-3CCE-466D-B0C2-A7BA7932163D}"/>
                </a:ext>
              </a:extLst>
            </p:cNvPr>
            <p:cNvSpPr txBox="1"/>
            <p:nvPr/>
          </p:nvSpPr>
          <p:spPr>
            <a:xfrm>
              <a:off x="6565489" y="1787038"/>
              <a:ext cx="162894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RELACIONAMENTO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8722348B-4A1F-436E-866B-CDA2CD56275E}"/>
                </a:ext>
              </a:extLst>
            </p:cNvPr>
            <p:cNvSpPr txBox="1"/>
            <p:nvPr/>
          </p:nvSpPr>
          <p:spPr>
            <a:xfrm>
              <a:off x="6496516" y="2052974"/>
              <a:ext cx="2405667" cy="751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Baixa integração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Relacionamento pautado por condições contratuais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778D7998-3BC2-4E9D-8F53-0E441877EB56}"/>
                </a:ext>
              </a:extLst>
            </p:cNvPr>
            <p:cNvSpPr txBox="1"/>
            <p:nvPr/>
          </p:nvSpPr>
          <p:spPr>
            <a:xfrm>
              <a:off x="3708856" y="1804251"/>
              <a:ext cx="18842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VENDOR LIST</a:t>
              </a: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2713B1C8-E2C7-4337-BE56-E314610A8795}"/>
                </a:ext>
              </a:extLst>
            </p:cNvPr>
            <p:cNvSpPr txBox="1"/>
            <p:nvPr/>
          </p:nvSpPr>
          <p:spPr>
            <a:xfrm>
              <a:off x="3720187" y="2088981"/>
              <a:ext cx="2751325" cy="661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Vendor List inflado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Não há pré-qualificação dos fornecedores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8F9A3614-63D8-4367-B424-496F5EEAE83C}"/>
                </a:ext>
              </a:extLst>
            </p:cNvPr>
            <p:cNvSpPr txBox="1"/>
            <p:nvPr/>
          </p:nvSpPr>
          <p:spPr>
            <a:xfrm>
              <a:off x="5593153" y="935024"/>
              <a:ext cx="3309030" cy="7239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Números de revisões de escopo do processo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SLA atendimento de demandas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3970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6337B54E-16F9-4E5C-986C-FB5F8178D95B}"/>
                </a:ext>
              </a:extLst>
            </p:cNvPr>
            <p:cNvSpPr txBox="1"/>
            <p:nvPr/>
          </p:nvSpPr>
          <p:spPr>
            <a:xfrm>
              <a:off x="5668833" y="645981"/>
              <a:ext cx="200457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KPI DA CATEGORIA </a:t>
              </a:r>
            </a:p>
          </p:txBody>
        </p:sp>
        <p:cxnSp>
          <p:nvCxnSpPr>
            <p:cNvPr id="39" name="Conector reto 38">
              <a:extLst>
                <a:ext uri="{FF2B5EF4-FFF2-40B4-BE49-F238E27FC236}">
                  <a16:creationId xmlns:a16="http://schemas.microsoft.com/office/drawing/2014/main" id="{07487F96-6B69-4481-8858-76378FDBE929}"/>
                </a:ext>
              </a:extLst>
            </p:cNvPr>
            <p:cNvCxnSpPr>
              <a:cxnSpLocks/>
            </p:cNvCxnSpPr>
            <p:nvPr/>
          </p:nvCxnSpPr>
          <p:spPr>
            <a:xfrm>
              <a:off x="177291" y="3875096"/>
              <a:ext cx="882476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0" name="Conector reto 39">
              <a:extLst>
                <a:ext uri="{FF2B5EF4-FFF2-40B4-BE49-F238E27FC236}">
                  <a16:creationId xmlns:a16="http://schemas.microsoft.com/office/drawing/2014/main" id="{DDDB72DA-3661-4EDB-908B-9A68D1B318D4}"/>
                </a:ext>
              </a:extLst>
            </p:cNvPr>
            <p:cNvCxnSpPr>
              <a:cxnSpLocks/>
            </p:cNvCxnSpPr>
            <p:nvPr/>
          </p:nvCxnSpPr>
          <p:spPr>
            <a:xfrm>
              <a:off x="3849938" y="2873649"/>
              <a:ext cx="0" cy="18746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3" name="Conector reto 42">
              <a:extLst>
                <a:ext uri="{FF2B5EF4-FFF2-40B4-BE49-F238E27FC236}">
                  <a16:creationId xmlns:a16="http://schemas.microsoft.com/office/drawing/2014/main" id="{249E3D16-986C-465F-9FFA-C20EBCAF3870}"/>
                </a:ext>
              </a:extLst>
            </p:cNvPr>
            <p:cNvCxnSpPr>
              <a:cxnSpLocks/>
            </p:cNvCxnSpPr>
            <p:nvPr/>
          </p:nvCxnSpPr>
          <p:spPr>
            <a:xfrm>
              <a:off x="6841423" y="2873649"/>
              <a:ext cx="0" cy="100144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7" name="Conector reto 46">
              <a:extLst>
                <a:ext uri="{FF2B5EF4-FFF2-40B4-BE49-F238E27FC236}">
                  <a16:creationId xmlns:a16="http://schemas.microsoft.com/office/drawing/2014/main" id="{5F28C2E3-2F9B-48F2-A693-FA5D0DD118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7920" y="2876228"/>
              <a:ext cx="88088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Conector reto 51">
              <a:extLst>
                <a:ext uri="{FF2B5EF4-FFF2-40B4-BE49-F238E27FC236}">
                  <a16:creationId xmlns:a16="http://schemas.microsoft.com/office/drawing/2014/main" id="{04C7ECD9-D9F3-4BE9-BBBF-C82171055D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7923" y="1763375"/>
              <a:ext cx="879797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3" name="Conector reto 52">
              <a:extLst>
                <a:ext uri="{FF2B5EF4-FFF2-40B4-BE49-F238E27FC236}">
                  <a16:creationId xmlns:a16="http://schemas.microsoft.com/office/drawing/2014/main" id="{2D41F21C-A0A9-4F33-83B6-89772E242592}"/>
                </a:ext>
              </a:extLst>
            </p:cNvPr>
            <p:cNvCxnSpPr>
              <a:cxnSpLocks/>
            </p:cNvCxnSpPr>
            <p:nvPr/>
          </p:nvCxnSpPr>
          <p:spPr>
            <a:xfrm>
              <a:off x="3677971" y="1763375"/>
              <a:ext cx="0" cy="111027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1" name="Conector reto 60">
              <a:extLst>
                <a:ext uri="{FF2B5EF4-FFF2-40B4-BE49-F238E27FC236}">
                  <a16:creationId xmlns:a16="http://schemas.microsoft.com/office/drawing/2014/main" id="{5B26C74D-7D39-4B85-8D12-35B6635735B1}"/>
                </a:ext>
              </a:extLst>
            </p:cNvPr>
            <p:cNvCxnSpPr>
              <a:cxnSpLocks/>
            </p:cNvCxnSpPr>
            <p:nvPr/>
          </p:nvCxnSpPr>
          <p:spPr>
            <a:xfrm>
              <a:off x="3100506" y="599002"/>
              <a:ext cx="0" cy="116437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B9E66859-87B7-485F-A0E1-0B2A2426FCB4}"/>
                </a:ext>
              </a:extLst>
            </p:cNvPr>
            <p:cNvCxnSpPr>
              <a:cxnSpLocks/>
            </p:cNvCxnSpPr>
            <p:nvPr/>
          </p:nvCxnSpPr>
          <p:spPr>
            <a:xfrm>
              <a:off x="5593153" y="571793"/>
              <a:ext cx="0" cy="118473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Conector reto 67">
              <a:extLst>
                <a:ext uri="{FF2B5EF4-FFF2-40B4-BE49-F238E27FC236}">
                  <a16:creationId xmlns:a16="http://schemas.microsoft.com/office/drawing/2014/main" id="{56A219F4-ED09-4031-B815-FC6BD6C95FFE}"/>
                </a:ext>
              </a:extLst>
            </p:cNvPr>
            <p:cNvCxnSpPr>
              <a:cxnSpLocks/>
            </p:cNvCxnSpPr>
            <p:nvPr/>
          </p:nvCxnSpPr>
          <p:spPr>
            <a:xfrm>
              <a:off x="6535231" y="1756525"/>
              <a:ext cx="0" cy="113430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9666753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BB910A70-6B3A-4B50-B47F-635A68AD3462}"/>
              </a:ext>
            </a:extLst>
          </p:cNvPr>
          <p:cNvGrpSpPr/>
          <p:nvPr/>
        </p:nvGrpSpPr>
        <p:grpSpPr>
          <a:xfrm>
            <a:off x="40603" y="85954"/>
            <a:ext cx="9023519" cy="5023875"/>
            <a:chOff x="40603" y="85954"/>
            <a:chExt cx="9023519" cy="5023875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359BBEEC-167F-48C5-AB09-C34D645A6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8765" y="85954"/>
              <a:ext cx="608012" cy="434294"/>
            </a:xfrm>
            <a:prstGeom prst="rect">
              <a:avLst/>
            </a:prstGeom>
          </p:spPr>
        </p:pic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28F031E7-B5F7-4678-9434-80173FCFB9B3}"/>
                </a:ext>
              </a:extLst>
            </p:cNvPr>
            <p:cNvSpPr txBox="1"/>
            <p:nvPr/>
          </p:nvSpPr>
          <p:spPr>
            <a:xfrm>
              <a:off x="135972" y="85954"/>
              <a:ext cx="4436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400" b="1" dirty="0">
                  <a:solidFill>
                    <a:schemeClr val="bg1"/>
                  </a:solidFill>
                </a:rPr>
                <a:t>CANVAS FUTURO </a:t>
              </a:r>
              <a:endParaRPr lang="pt-B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5F6C74AC-DAB3-4E74-A9B9-F70410E896C4}"/>
                </a:ext>
              </a:extLst>
            </p:cNvPr>
            <p:cNvSpPr/>
            <p:nvPr/>
          </p:nvSpPr>
          <p:spPr>
            <a:xfrm>
              <a:off x="179595" y="601717"/>
              <a:ext cx="8812807" cy="417646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00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EA940C8-1275-4F0D-BE68-91D02BF1A88C}"/>
                </a:ext>
              </a:extLst>
            </p:cNvPr>
            <p:cNvSpPr txBox="1"/>
            <p:nvPr/>
          </p:nvSpPr>
          <p:spPr>
            <a:xfrm>
              <a:off x="151597" y="637070"/>
              <a:ext cx="225532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GESTÃO DE CONTRATOS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E04289EF-1FFA-4CC4-BC5A-5B1957F25180}"/>
                </a:ext>
              </a:extLst>
            </p:cNvPr>
            <p:cNvSpPr txBox="1"/>
            <p:nvPr/>
          </p:nvSpPr>
          <p:spPr>
            <a:xfrm>
              <a:off x="161262" y="1796021"/>
              <a:ext cx="2252922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POLÍTICA DE COMPRAS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C15CA1E-3B90-4317-9BF4-68A3F31E40FD}"/>
                </a:ext>
              </a:extLst>
            </p:cNvPr>
            <p:cNvSpPr txBox="1"/>
            <p:nvPr/>
          </p:nvSpPr>
          <p:spPr>
            <a:xfrm>
              <a:off x="157305" y="2869514"/>
              <a:ext cx="217338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GESTÃO DE DEMANDA</a:t>
              </a: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E3C92908-1AA6-444A-816D-03DDEC154F02}"/>
                </a:ext>
              </a:extLst>
            </p:cNvPr>
            <p:cNvSpPr txBox="1"/>
            <p:nvPr/>
          </p:nvSpPr>
          <p:spPr>
            <a:xfrm>
              <a:off x="183545" y="3927855"/>
              <a:ext cx="99181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SAVING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ABBB20D-7360-4939-A530-A6D985C7760B}"/>
                </a:ext>
              </a:extLst>
            </p:cNvPr>
            <p:cNvSpPr txBox="1"/>
            <p:nvPr/>
          </p:nvSpPr>
          <p:spPr>
            <a:xfrm>
              <a:off x="3895777" y="2969441"/>
              <a:ext cx="101440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QUALIDADE</a:t>
              </a:r>
            </a:p>
          </p:txBody>
        </p:sp>
        <p:sp>
          <p:nvSpPr>
            <p:cNvPr id="64" name="CaixaDeTexto 63">
              <a:extLst>
                <a:ext uri="{FF2B5EF4-FFF2-40B4-BE49-F238E27FC236}">
                  <a16:creationId xmlns:a16="http://schemas.microsoft.com/office/drawing/2014/main" id="{921AE852-7915-454C-8744-6D2E5FF8FCE3}"/>
                </a:ext>
              </a:extLst>
            </p:cNvPr>
            <p:cNvSpPr txBox="1"/>
            <p:nvPr/>
          </p:nvSpPr>
          <p:spPr>
            <a:xfrm>
              <a:off x="3116131" y="648087"/>
              <a:ext cx="246756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KPI DE DESEMPENHO</a:t>
              </a:r>
            </a:p>
          </p:txBody>
        </p: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77777F4-4E95-49F2-B898-D8274A30711A}"/>
                </a:ext>
              </a:extLst>
            </p:cNvPr>
            <p:cNvSpPr txBox="1"/>
            <p:nvPr/>
          </p:nvSpPr>
          <p:spPr>
            <a:xfrm>
              <a:off x="6857048" y="2930855"/>
              <a:ext cx="18842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PRAZO DE PAGAMENTO</a:t>
              </a:r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id="{450F8C00-390E-4511-899C-EF39C3000690}"/>
                </a:ext>
              </a:extLst>
            </p:cNvPr>
            <p:cNvSpPr txBox="1"/>
            <p:nvPr/>
          </p:nvSpPr>
          <p:spPr>
            <a:xfrm>
              <a:off x="4020319" y="3884714"/>
              <a:ext cx="8554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RISCOS</a:t>
              </a:r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D7BCA897-3CCE-466D-B0C2-A7BA7932163D}"/>
                </a:ext>
              </a:extLst>
            </p:cNvPr>
            <p:cNvSpPr txBox="1"/>
            <p:nvPr/>
          </p:nvSpPr>
          <p:spPr>
            <a:xfrm>
              <a:off x="6581114" y="1782903"/>
              <a:ext cx="162894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RELACIONAMENTO</a:t>
              </a:r>
            </a:p>
          </p:txBody>
        </p: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778D7998-3BC2-4E9D-8F53-0E441877EB56}"/>
                </a:ext>
              </a:extLst>
            </p:cNvPr>
            <p:cNvSpPr txBox="1"/>
            <p:nvPr/>
          </p:nvSpPr>
          <p:spPr>
            <a:xfrm>
              <a:off x="3724481" y="1800116"/>
              <a:ext cx="18842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VENDOR LIST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6337B54E-16F9-4E5C-986C-FB5F8178D95B}"/>
                </a:ext>
              </a:extLst>
            </p:cNvPr>
            <p:cNvSpPr txBox="1"/>
            <p:nvPr/>
          </p:nvSpPr>
          <p:spPr>
            <a:xfrm>
              <a:off x="5948135" y="626261"/>
              <a:ext cx="200457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KPI DA CATEGORIA </a:t>
              </a:r>
            </a:p>
          </p:txBody>
        </p:sp>
        <p:cxnSp>
          <p:nvCxnSpPr>
            <p:cNvPr id="39" name="Conector reto 38">
              <a:extLst>
                <a:ext uri="{FF2B5EF4-FFF2-40B4-BE49-F238E27FC236}">
                  <a16:creationId xmlns:a16="http://schemas.microsoft.com/office/drawing/2014/main" id="{07487F96-6B69-4481-8858-76378FDBE929}"/>
                </a:ext>
              </a:extLst>
            </p:cNvPr>
            <p:cNvCxnSpPr>
              <a:cxnSpLocks/>
            </p:cNvCxnSpPr>
            <p:nvPr/>
          </p:nvCxnSpPr>
          <p:spPr>
            <a:xfrm>
              <a:off x="167634" y="3892974"/>
              <a:ext cx="882476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0" name="Conector reto 39">
              <a:extLst>
                <a:ext uri="{FF2B5EF4-FFF2-40B4-BE49-F238E27FC236}">
                  <a16:creationId xmlns:a16="http://schemas.microsoft.com/office/drawing/2014/main" id="{DDDB72DA-3661-4EDB-908B-9A68D1B318D4}"/>
                </a:ext>
              </a:extLst>
            </p:cNvPr>
            <p:cNvCxnSpPr>
              <a:cxnSpLocks/>
            </p:cNvCxnSpPr>
            <p:nvPr/>
          </p:nvCxnSpPr>
          <p:spPr>
            <a:xfrm>
              <a:off x="3865563" y="2869514"/>
              <a:ext cx="0" cy="187460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3" name="Conector reto 42">
              <a:extLst>
                <a:ext uri="{FF2B5EF4-FFF2-40B4-BE49-F238E27FC236}">
                  <a16:creationId xmlns:a16="http://schemas.microsoft.com/office/drawing/2014/main" id="{249E3D16-986C-465F-9FFA-C20EBCAF3870}"/>
                </a:ext>
              </a:extLst>
            </p:cNvPr>
            <p:cNvCxnSpPr>
              <a:cxnSpLocks/>
            </p:cNvCxnSpPr>
            <p:nvPr/>
          </p:nvCxnSpPr>
          <p:spPr>
            <a:xfrm>
              <a:off x="6830256" y="2869514"/>
              <a:ext cx="0" cy="103233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7" name="Conector reto 46">
              <a:extLst>
                <a:ext uri="{FF2B5EF4-FFF2-40B4-BE49-F238E27FC236}">
                  <a16:creationId xmlns:a16="http://schemas.microsoft.com/office/drawing/2014/main" id="{5F28C2E3-2F9B-48F2-A693-FA5D0DD118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545" y="2872093"/>
              <a:ext cx="880885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Conector reto 51">
              <a:extLst>
                <a:ext uri="{FF2B5EF4-FFF2-40B4-BE49-F238E27FC236}">
                  <a16:creationId xmlns:a16="http://schemas.microsoft.com/office/drawing/2014/main" id="{04C7ECD9-D9F3-4BE9-BBBF-C82171055D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548" y="1759240"/>
              <a:ext cx="8797978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3" name="Conector reto 52">
              <a:extLst>
                <a:ext uri="{FF2B5EF4-FFF2-40B4-BE49-F238E27FC236}">
                  <a16:creationId xmlns:a16="http://schemas.microsoft.com/office/drawing/2014/main" id="{2D41F21C-A0A9-4F33-83B6-89772E242592}"/>
                </a:ext>
              </a:extLst>
            </p:cNvPr>
            <p:cNvCxnSpPr>
              <a:cxnSpLocks/>
            </p:cNvCxnSpPr>
            <p:nvPr/>
          </p:nvCxnSpPr>
          <p:spPr>
            <a:xfrm>
              <a:off x="3693596" y="1759240"/>
              <a:ext cx="0" cy="111027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1" name="Conector reto 60">
              <a:extLst>
                <a:ext uri="{FF2B5EF4-FFF2-40B4-BE49-F238E27FC236}">
                  <a16:creationId xmlns:a16="http://schemas.microsoft.com/office/drawing/2014/main" id="{5B26C74D-7D39-4B85-8D12-35B6635735B1}"/>
                </a:ext>
              </a:extLst>
            </p:cNvPr>
            <p:cNvCxnSpPr>
              <a:cxnSpLocks/>
            </p:cNvCxnSpPr>
            <p:nvPr/>
          </p:nvCxnSpPr>
          <p:spPr>
            <a:xfrm>
              <a:off x="3116131" y="601717"/>
              <a:ext cx="0" cy="115752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3" name="Conector reto 62">
              <a:extLst>
                <a:ext uri="{FF2B5EF4-FFF2-40B4-BE49-F238E27FC236}">
                  <a16:creationId xmlns:a16="http://schemas.microsoft.com/office/drawing/2014/main" id="{B9E66859-87B7-485F-A0E1-0B2A2426FCB4}"/>
                </a:ext>
              </a:extLst>
            </p:cNvPr>
            <p:cNvCxnSpPr>
              <a:cxnSpLocks/>
            </p:cNvCxnSpPr>
            <p:nvPr/>
          </p:nvCxnSpPr>
          <p:spPr>
            <a:xfrm>
              <a:off x="5931799" y="601716"/>
              <a:ext cx="0" cy="115752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Conector reto 67">
              <a:extLst>
                <a:ext uri="{FF2B5EF4-FFF2-40B4-BE49-F238E27FC236}">
                  <a16:creationId xmlns:a16="http://schemas.microsoft.com/office/drawing/2014/main" id="{56A219F4-ED09-4031-B815-FC6BD6C95FFE}"/>
                </a:ext>
              </a:extLst>
            </p:cNvPr>
            <p:cNvCxnSpPr>
              <a:cxnSpLocks/>
            </p:cNvCxnSpPr>
            <p:nvPr/>
          </p:nvCxnSpPr>
          <p:spPr>
            <a:xfrm>
              <a:off x="6550856" y="1752390"/>
              <a:ext cx="0" cy="113430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13941D9E-5812-4FF2-ABFB-30B60A49AAA9}"/>
                </a:ext>
              </a:extLst>
            </p:cNvPr>
            <p:cNvSpPr txBox="1"/>
            <p:nvPr/>
          </p:nvSpPr>
          <p:spPr>
            <a:xfrm>
              <a:off x="6864620" y="3177076"/>
              <a:ext cx="1437882" cy="3442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75 Dias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46163BA3-4B60-495D-82F2-8C37D6398928}"/>
                </a:ext>
              </a:extLst>
            </p:cNvPr>
            <p:cNvSpPr txBox="1"/>
            <p:nvPr/>
          </p:nvSpPr>
          <p:spPr>
            <a:xfrm>
              <a:off x="3038230" y="838380"/>
              <a:ext cx="2893569" cy="8499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Manter indicador de Segurança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Manter indicador ESG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Desenvolver Indicador Performance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3970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CC12A671-2AD3-4280-83E4-A94A35F5138C}"/>
                </a:ext>
              </a:extLst>
            </p:cNvPr>
            <p:cNvSpPr txBox="1"/>
            <p:nvPr/>
          </p:nvSpPr>
          <p:spPr>
            <a:xfrm>
              <a:off x="5880868" y="797505"/>
              <a:ext cx="3009614" cy="8073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Manter indicador Números de revisões de escopo do processo</a:t>
              </a:r>
            </a:p>
            <a:p>
              <a:pPr marL="425450" indent="-285750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Manter indicador SLA atendimento de demandas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3970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1" name="CaixaDeTexto 70">
              <a:extLst>
                <a:ext uri="{FF2B5EF4-FFF2-40B4-BE49-F238E27FC236}">
                  <a16:creationId xmlns:a16="http://schemas.microsoft.com/office/drawing/2014/main" id="{348A2ABF-1F95-4EA6-8077-8A087BB39E2D}"/>
                </a:ext>
              </a:extLst>
            </p:cNvPr>
            <p:cNvSpPr txBox="1"/>
            <p:nvPr/>
          </p:nvSpPr>
          <p:spPr>
            <a:xfrm>
              <a:off x="3832022" y="2016465"/>
              <a:ext cx="2573195" cy="8069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Vendor List enxuto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Fornecedores qualificados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4" name="CaixaDeTexto 73">
              <a:extLst>
                <a:ext uri="{FF2B5EF4-FFF2-40B4-BE49-F238E27FC236}">
                  <a16:creationId xmlns:a16="http://schemas.microsoft.com/office/drawing/2014/main" id="{AC6A8936-FC7A-4099-9B29-65ABC6434F2B}"/>
                </a:ext>
              </a:extLst>
            </p:cNvPr>
            <p:cNvSpPr txBox="1"/>
            <p:nvPr/>
          </p:nvSpPr>
          <p:spPr>
            <a:xfrm>
              <a:off x="3964322" y="3174018"/>
              <a:ext cx="2654285" cy="5771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Implementação da gestão da documentação das empresas contratadas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A796FBA0-34DD-4629-9763-C9CD7C5FF68E}"/>
                </a:ext>
              </a:extLst>
            </p:cNvPr>
            <p:cNvSpPr txBox="1"/>
            <p:nvPr/>
          </p:nvSpPr>
          <p:spPr>
            <a:xfrm>
              <a:off x="258041" y="4185664"/>
              <a:ext cx="1463637" cy="335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15%</a:t>
              </a: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EC810AC9-1C24-4721-974D-F1E295D0AB3D}"/>
                </a:ext>
              </a:extLst>
            </p:cNvPr>
            <p:cNvSpPr txBox="1"/>
            <p:nvPr/>
          </p:nvSpPr>
          <p:spPr>
            <a:xfrm>
              <a:off x="3724481" y="4061401"/>
              <a:ext cx="3570563" cy="8656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Não cumprimento do cronograma do projeto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Acidentes no local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Abandono de obra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0AF4AC54-CC23-4FC6-87E9-4861AE96FEFD}"/>
                </a:ext>
              </a:extLst>
            </p:cNvPr>
            <p:cNvSpPr txBox="1"/>
            <p:nvPr/>
          </p:nvSpPr>
          <p:spPr>
            <a:xfrm>
              <a:off x="6435477" y="1938401"/>
              <a:ext cx="2524976" cy="794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Relacionamento pautado por parceira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Definição de parceiro estratégico para demandas sensíveis para a Operação.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425450" lvl="7" indent="-285750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00794F5B-19BF-48F5-9ED5-81F04A7C3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73407" y="4817533"/>
              <a:ext cx="1390715" cy="292296"/>
            </a:xfrm>
            <a:prstGeom prst="rect">
              <a:avLst/>
            </a:prstGeom>
          </p:spPr>
        </p:pic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888DF417-AD1E-4A03-AE20-C9FC406EDF5B}"/>
                </a:ext>
              </a:extLst>
            </p:cNvPr>
            <p:cNvSpPr txBox="1"/>
            <p:nvPr/>
          </p:nvSpPr>
          <p:spPr>
            <a:xfrm>
              <a:off x="40603" y="888421"/>
              <a:ext cx="3059900" cy="7872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Atendimento por demandas concentradas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Implementação de SRM - CAPEX</a:t>
              </a: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463C035E-72EF-44BD-B4AE-EC581373D4F0}"/>
                </a:ext>
              </a:extLst>
            </p:cNvPr>
            <p:cNvSpPr txBox="1"/>
            <p:nvPr/>
          </p:nvSpPr>
          <p:spPr>
            <a:xfrm>
              <a:off x="110025" y="1938401"/>
              <a:ext cx="3623412" cy="801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Processo de Compras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Compras agrupadas por sinergia e similaridade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Envolvimento no planejamento dos projetos e alocação dos investimentos futuros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508DA7EB-B677-4560-A470-D210E18EC784}"/>
                </a:ext>
              </a:extLst>
            </p:cNvPr>
            <p:cNvSpPr/>
            <p:nvPr/>
          </p:nvSpPr>
          <p:spPr>
            <a:xfrm>
              <a:off x="7003612" y="3249426"/>
              <a:ext cx="1437882" cy="359771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121B6FC3-8277-4356-B810-64EAA40E81F0}"/>
                </a:ext>
              </a:extLst>
            </p:cNvPr>
            <p:cNvSpPr txBox="1"/>
            <p:nvPr/>
          </p:nvSpPr>
          <p:spPr>
            <a:xfrm>
              <a:off x="6969250" y="3166866"/>
              <a:ext cx="1472244" cy="5771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90 Dias</a:t>
              </a: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74018DF0-E666-4725-995A-32211C1AD9EB}"/>
                </a:ext>
              </a:extLst>
            </p:cNvPr>
            <p:cNvSpPr txBox="1"/>
            <p:nvPr/>
          </p:nvSpPr>
          <p:spPr>
            <a:xfrm>
              <a:off x="258042" y="3085107"/>
              <a:ext cx="3414824" cy="7335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SLA de atendimento da área de Compras</a:t>
              </a: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  75 dias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1000" dirty="0">
                  <a:solidFill>
                    <a:schemeClr val="bg1"/>
                  </a:solidFill>
                  <a:latin typeface="Montserrat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Acionamento pró-ativo pela área de Compras</a:t>
              </a: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85783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0794F5B-19BF-48F5-9ED5-81F04A7C3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407" y="4817533"/>
            <a:ext cx="1390715" cy="29229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59BBEEC-167F-48C5-AB09-C34D645A6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765" y="85954"/>
            <a:ext cx="608012" cy="434294"/>
          </a:xfrm>
          <a:prstGeom prst="rect">
            <a:avLst/>
          </a:prstGeom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28F031E7-B5F7-4678-9434-80173FCFB9B3}"/>
              </a:ext>
            </a:extLst>
          </p:cNvPr>
          <p:cNvSpPr txBox="1"/>
          <p:nvPr/>
        </p:nvSpPr>
        <p:spPr>
          <a:xfrm>
            <a:off x="135972" y="85954"/>
            <a:ext cx="4436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</a:rPr>
              <a:t>CANVAS A3 </a:t>
            </a:r>
            <a:endParaRPr lang="pt-BR" sz="2800" b="1" dirty="0">
              <a:solidFill>
                <a:schemeClr val="bg1"/>
              </a:solidFill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E11AF9D-A453-4854-94BC-79AF165B2321}"/>
              </a:ext>
            </a:extLst>
          </p:cNvPr>
          <p:cNvGrpSpPr/>
          <p:nvPr/>
        </p:nvGrpSpPr>
        <p:grpSpPr>
          <a:xfrm>
            <a:off x="151597" y="608964"/>
            <a:ext cx="8840805" cy="4208569"/>
            <a:chOff x="135972" y="618531"/>
            <a:chExt cx="8840805" cy="4208569"/>
          </a:xfrm>
        </p:grpSpPr>
        <p:sp>
          <p:nvSpPr>
            <p:cNvPr id="13" name="Espaço Reservado para Conteúdo 5">
              <a:extLst>
                <a:ext uri="{FF2B5EF4-FFF2-40B4-BE49-F238E27FC236}">
                  <a16:creationId xmlns:a16="http://schemas.microsoft.com/office/drawing/2014/main" id="{081BA4D3-B0FA-474B-B403-084289055A42}"/>
                </a:ext>
              </a:extLst>
            </p:cNvPr>
            <p:cNvSpPr txBox="1">
              <a:spLocks/>
            </p:cNvSpPr>
            <p:nvPr/>
          </p:nvSpPr>
          <p:spPr>
            <a:xfrm>
              <a:off x="242418" y="699529"/>
              <a:ext cx="8640960" cy="50403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"/>
                <a:buNone/>
                <a:defRPr sz="1400" b="0" i="0" u="none" strike="noStrike" cap="non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defRPr>
              </a:lvl9pPr>
            </a:lstStyle>
            <a:p>
              <a:r>
                <a:rPr lang="pt-BR" sz="1000">
                  <a:solidFill>
                    <a:schemeClr val="bg1"/>
                  </a:solidFill>
                  <a:latin typeface="Montserrat" panose="00000500000000000000" pitchFamily="2" charset="0"/>
                </a:rPr>
                <a:t>Apresentações e Expectativas</a:t>
              </a: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CBAFA1BC-8FD5-4E8D-8EB1-439AF0092E11}"/>
                </a:ext>
              </a:extLst>
            </p:cNvPr>
            <p:cNvSpPr/>
            <p:nvPr/>
          </p:nvSpPr>
          <p:spPr>
            <a:xfrm>
              <a:off x="153094" y="618531"/>
              <a:ext cx="8812807" cy="417646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EA940C8-1275-4F0D-BE68-91D02BF1A88C}"/>
                </a:ext>
              </a:extLst>
            </p:cNvPr>
            <p:cNvSpPr txBox="1"/>
            <p:nvPr/>
          </p:nvSpPr>
          <p:spPr>
            <a:xfrm>
              <a:off x="135972" y="641205"/>
              <a:ext cx="225532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CONSIDERAÇÕES INICIAIS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C15CA1E-3B90-4317-9BF4-68A3F31E40FD}"/>
                </a:ext>
              </a:extLst>
            </p:cNvPr>
            <p:cNvSpPr txBox="1"/>
            <p:nvPr/>
          </p:nvSpPr>
          <p:spPr>
            <a:xfrm>
              <a:off x="138070" y="1745849"/>
              <a:ext cx="3218711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METAS, OBJETIVOS E BENEFÍCIOS</a:t>
              </a:r>
              <a:endParaRPr lang="pt-BR" sz="1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F3CA61EB-FD09-4F2F-87A8-DC504D5E380F}"/>
                </a:ext>
              </a:extLst>
            </p:cNvPr>
            <p:cNvCxnSpPr>
              <a:cxnSpLocks/>
            </p:cNvCxnSpPr>
            <p:nvPr/>
          </p:nvCxnSpPr>
          <p:spPr>
            <a:xfrm>
              <a:off x="4867370" y="618531"/>
              <a:ext cx="10454" cy="214105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E3C92908-1AA6-444A-816D-03DDEC154F02}"/>
                </a:ext>
              </a:extLst>
            </p:cNvPr>
            <p:cNvSpPr txBox="1"/>
            <p:nvPr/>
          </p:nvSpPr>
          <p:spPr>
            <a:xfrm>
              <a:off x="148043" y="2829437"/>
              <a:ext cx="31987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ANÁLISE DE SITUAÇÃO ATUAL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ABBB20D-7360-4939-A530-A6D985C7760B}"/>
                </a:ext>
              </a:extLst>
            </p:cNvPr>
            <p:cNvSpPr txBox="1"/>
            <p:nvPr/>
          </p:nvSpPr>
          <p:spPr>
            <a:xfrm>
              <a:off x="4227513" y="2793955"/>
              <a:ext cx="312044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PLANO DE IMPLEMENTAÇÃO</a:t>
              </a:r>
            </a:p>
          </p:txBody>
        </p:sp>
        <p:cxnSp>
          <p:nvCxnSpPr>
            <p:cNvPr id="35" name="Conector reto 34">
              <a:extLst>
                <a:ext uri="{FF2B5EF4-FFF2-40B4-BE49-F238E27FC236}">
                  <a16:creationId xmlns:a16="http://schemas.microsoft.com/office/drawing/2014/main" id="{0A455CAE-F751-48E2-A3A2-B15520DF308B}"/>
                </a:ext>
              </a:extLst>
            </p:cNvPr>
            <p:cNvCxnSpPr>
              <a:cxnSpLocks/>
            </p:cNvCxnSpPr>
            <p:nvPr/>
          </p:nvCxnSpPr>
          <p:spPr>
            <a:xfrm>
              <a:off x="152009" y="1664705"/>
              <a:ext cx="4715361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498E842D-B45D-4252-B722-F12FAF07E8C0}"/>
                </a:ext>
              </a:extLst>
            </p:cNvPr>
            <p:cNvSpPr txBox="1"/>
            <p:nvPr/>
          </p:nvSpPr>
          <p:spPr>
            <a:xfrm>
              <a:off x="174549" y="796260"/>
              <a:ext cx="4703275" cy="8656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25450" indent="-285750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A categoria Capital Equipment se divide em 3 subcategorias: Engenharia, Construção Generalista e Construção Especialista e representa 6% do spend da empresa.</a:t>
              </a:r>
            </a:p>
            <a:p>
              <a:r>
                <a:rPr lang="pt-BR" dirty="0"/>
                <a:t>Trata-se da categoria referente ao desenvolvimento dos ativos da empresa.</a:t>
              </a:r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</p:txBody>
        </p:sp>
        <p:cxnSp>
          <p:nvCxnSpPr>
            <p:cNvPr id="67" name="Conector reto 66">
              <a:extLst>
                <a:ext uri="{FF2B5EF4-FFF2-40B4-BE49-F238E27FC236}">
                  <a16:creationId xmlns:a16="http://schemas.microsoft.com/office/drawing/2014/main" id="{5695FCD4-A7CD-4F40-ADAB-4C6BDB286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970" y="2762376"/>
              <a:ext cx="4726431" cy="739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77777F4-4E95-49F2-B898-D8274A30711A}"/>
                </a:ext>
              </a:extLst>
            </p:cNvPr>
            <p:cNvSpPr txBox="1"/>
            <p:nvPr/>
          </p:nvSpPr>
          <p:spPr>
            <a:xfrm>
              <a:off x="4867371" y="636992"/>
              <a:ext cx="338127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ESTADO FUTURO / RECOMENDAÇÕES</a:t>
              </a:r>
            </a:p>
          </p:txBody>
        </p: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id="{2AE739CE-B08A-4597-948A-0CAC4EBEAC35}"/>
                </a:ext>
              </a:extLst>
            </p:cNvPr>
            <p:cNvSpPr txBox="1"/>
            <p:nvPr/>
          </p:nvSpPr>
          <p:spPr>
            <a:xfrm>
              <a:off x="4227513" y="4150041"/>
              <a:ext cx="43268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00" b="1" cap="small" dirty="0">
                  <a:solidFill>
                    <a:schemeClr val="bg1"/>
                  </a:solidFill>
                  <a:latin typeface="Montserrat" panose="00000500000000000000" pitchFamily="2" charset="0"/>
                </a:rPr>
                <a:t>ACOMPANHAMENTO / INDICADORES</a:t>
              </a:r>
            </a:p>
          </p:txBody>
        </p:sp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FD873E47-92BF-9309-6E83-06B66D9579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0424" y="4139989"/>
              <a:ext cx="479635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9" name="Conector reto 38">
              <a:extLst>
                <a:ext uri="{FF2B5EF4-FFF2-40B4-BE49-F238E27FC236}">
                  <a16:creationId xmlns:a16="http://schemas.microsoft.com/office/drawing/2014/main" id="{4649B547-C0D3-3AB5-42CE-D23DF8CAE2BC}"/>
                </a:ext>
              </a:extLst>
            </p:cNvPr>
            <p:cNvCxnSpPr>
              <a:cxnSpLocks/>
            </p:cNvCxnSpPr>
            <p:nvPr/>
          </p:nvCxnSpPr>
          <p:spPr>
            <a:xfrm>
              <a:off x="4816725" y="2762375"/>
              <a:ext cx="4149176" cy="7396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Conector reto 48">
              <a:extLst>
                <a:ext uri="{FF2B5EF4-FFF2-40B4-BE49-F238E27FC236}">
                  <a16:creationId xmlns:a16="http://schemas.microsoft.com/office/drawing/2014/main" id="{15E9ED85-44E6-866D-EC1A-68F820508D4F}"/>
                </a:ext>
              </a:extLst>
            </p:cNvPr>
            <p:cNvCxnSpPr>
              <a:cxnSpLocks/>
            </p:cNvCxnSpPr>
            <p:nvPr/>
          </p:nvCxnSpPr>
          <p:spPr>
            <a:xfrm>
              <a:off x="4180424" y="2759581"/>
              <a:ext cx="0" cy="2035413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4141601D-584E-7A4C-5FC4-D5BBA379128B}"/>
                </a:ext>
              </a:extLst>
            </p:cNvPr>
            <p:cNvSpPr txBox="1"/>
            <p:nvPr/>
          </p:nvSpPr>
          <p:spPr>
            <a:xfrm>
              <a:off x="171757" y="1945155"/>
              <a:ext cx="4715360" cy="6695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Implementar contratos com parceiros estratégicos, reduzir custos dos projetos de Capex e garantir qualidade dos fornecimentos.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Uma categoria estratégica para o crescimento da empresa como esta necessita de uma abordagem também estratégica de seus fornecimentos.</a:t>
              </a: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4B0AE21D-E404-36C8-B258-29B3E87B0783}"/>
                </a:ext>
              </a:extLst>
            </p:cNvPr>
            <p:cNvSpPr txBox="1"/>
            <p:nvPr/>
          </p:nvSpPr>
          <p:spPr>
            <a:xfrm>
              <a:off x="4200519" y="4344842"/>
              <a:ext cx="4776257" cy="4501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4" name="CaixaDeTexto 73">
              <a:extLst>
                <a:ext uri="{FF2B5EF4-FFF2-40B4-BE49-F238E27FC236}">
                  <a16:creationId xmlns:a16="http://schemas.microsoft.com/office/drawing/2014/main" id="{4B5D0906-290C-7D94-6790-B377D4475953}"/>
                </a:ext>
              </a:extLst>
            </p:cNvPr>
            <p:cNvSpPr txBox="1"/>
            <p:nvPr/>
          </p:nvSpPr>
          <p:spPr>
            <a:xfrm>
              <a:off x="4204103" y="4316849"/>
              <a:ext cx="2437851" cy="4966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Savings</a:t>
              </a:r>
            </a:p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Prazo de Pagamento</a:t>
              </a: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B7F93B8F-0FC0-36B0-586F-22B2BB6BE42E}"/>
                </a:ext>
              </a:extLst>
            </p:cNvPr>
            <p:cNvSpPr txBox="1"/>
            <p:nvPr/>
          </p:nvSpPr>
          <p:spPr>
            <a:xfrm>
              <a:off x="5938755" y="4330494"/>
              <a:ext cx="2944623" cy="4966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425450" indent="-28575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pt-BR" sz="9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Prazo dos processos de compras</a:t>
              </a: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9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C028DDB2-D8A4-4E77-AEEE-05880E907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9678" y="3040176"/>
              <a:ext cx="2996838" cy="1682684"/>
            </a:xfrm>
            <a:prstGeom prst="rect">
              <a:avLst/>
            </a:prstGeom>
          </p:spPr>
        </p:pic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66634AAA-0D85-49AF-8B6D-3315529F1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5258" y="3178485"/>
            <a:ext cx="4613745" cy="70856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15F05EE-37FE-4602-B287-D1392560D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8653" y="882865"/>
            <a:ext cx="3120654" cy="175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1715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0794F5B-19BF-48F5-9ED5-81F04A7C3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407" y="4817533"/>
            <a:ext cx="1390715" cy="29229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59BBEEC-167F-48C5-AB09-C34D645A6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765" y="85954"/>
            <a:ext cx="608012" cy="43429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2C7AA87-BB38-4B30-B01D-0E4BF76EAAEB}"/>
              </a:ext>
            </a:extLst>
          </p:cNvPr>
          <p:cNvSpPr txBox="1"/>
          <p:nvPr/>
        </p:nvSpPr>
        <p:spPr>
          <a:xfrm>
            <a:off x="1316199" y="3167937"/>
            <a:ext cx="6502707" cy="1206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425450" indent="-28575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pt-BR" sz="900" dirty="0">
                <a:solidFill>
                  <a:schemeClr val="bg1"/>
                </a:solidFill>
                <a:latin typeface="Montserrat" panose="00000500000000000000" pitchFamily="2" charset="0"/>
              </a:rPr>
              <a:t>A 1º RFP foi finalizada em 07/04/2023;</a:t>
            </a:r>
          </a:p>
          <a:p>
            <a:pPr marL="425450" indent="-28575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pt-BR" sz="900" dirty="0">
                <a:solidFill>
                  <a:schemeClr val="bg1"/>
                </a:solidFill>
                <a:latin typeface="Montserrat" panose="00000500000000000000" pitchFamily="2" charset="0"/>
              </a:rPr>
              <a:t>14 RFPs em andamento, com previsão de definição do vencedor até Maio/2023;</a:t>
            </a:r>
          </a:p>
          <a:p>
            <a:pPr marL="425450" indent="-28575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pt-BR" sz="900" dirty="0">
                <a:solidFill>
                  <a:schemeClr val="bg1"/>
                </a:solidFill>
                <a:latin typeface="Montserrat" panose="00000500000000000000" pitchFamily="2" charset="0"/>
              </a:rPr>
              <a:t>06 RFPs a serem lançadas ao mercado, com previsão de definição do vencedor até para Agosto/23;</a:t>
            </a:r>
          </a:p>
          <a:p>
            <a:pPr marL="425450" indent="-28575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pt-BR" sz="900" dirty="0">
                <a:solidFill>
                  <a:schemeClr val="bg1"/>
                </a:solidFill>
                <a:latin typeface="Montserrat" panose="00000500000000000000" pitchFamily="2" charset="0"/>
              </a:rPr>
              <a:t>A aplicação do Strategic Sourcing, em todos os novos contratos da categoria Engenharia e Construção, do Projeto Capex em andamento, será concluída até Dezembro/23, quando finaliza a mobilização dos serviços contratados.</a:t>
            </a:r>
          </a:p>
          <a:p>
            <a:pPr marL="425450" indent="-28575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425450" indent="-28575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8EA0077-F345-457C-BD22-ED66C1DEB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32276"/>
            <a:ext cx="8201663" cy="507900"/>
          </a:xfrm>
        </p:spPr>
        <p:txBody>
          <a:bodyPr/>
          <a:lstStyle/>
          <a:p>
            <a:r>
              <a:rPr lang="pt-BR" sz="2400" dirty="0"/>
              <a:t>CRONOGRAMA DE IMPLANTAÇÃO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E3AEC17-F7A1-4C29-AC51-78368E1E9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45" y="1284590"/>
            <a:ext cx="8696309" cy="1339715"/>
          </a:xfrm>
          <a:prstGeom prst="rect">
            <a:avLst/>
          </a:prstGeom>
          <a:ln w="1905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42457332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37" y="140745"/>
            <a:ext cx="8201663" cy="809514"/>
          </a:xfrm>
        </p:spPr>
        <p:txBody>
          <a:bodyPr/>
          <a:lstStyle/>
          <a:p>
            <a:r>
              <a:rPr lang="pt-BR" sz="2400" dirty="0"/>
              <a:t>RFP - OBRA DE MODERNIZAÇÃO </a:t>
            </a:r>
            <a:br>
              <a:rPr lang="pt-BR" sz="2400" dirty="0"/>
            </a:br>
            <a:r>
              <a:rPr lang="pt-BR" sz="2400" dirty="0"/>
              <a:t>DO GALPÃO DE FÁBRICA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E99AEC-74E9-4529-B0DF-D836817A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44696F-664A-4717-9C6E-E3169BBC3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25" name="Imagem 24" descr="Cadeira de escritório&#10;&#10;Descrição gerada automaticamente com confiança média">
            <a:extLst>
              <a:ext uri="{FF2B5EF4-FFF2-40B4-BE49-F238E27FC236}">
                <a16:creationId xmlns:a16="http://schemas.microsoft.com/office/drawing/2014/main" id="{A76605EA-1BED-5249-0E62-7636C479B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400" y="2351913"/>
            <a:ext cx="4453122" cy="2324847"/>
          </a:xfrm>
          <a:prstGeom prst="rect">
            <a:avLst/>
          </a:prstGeom>
        </p:spPr>
      </p:pic>
      <p:pic>
        <p:nvPicPr>
          <p:cNvPr id="36" name="Imagem 35" descr="Pessoa com capacete&#10;&#10;Descrição gerada automaticamente com confiança média">
            <a:extLst>
              <a:ext uri="{FF2B5EF4-FFF2-40B4-BE49-F238E27FC236}">
                <a16:creationId xmlns:a16="http://schemas.microsoft.com/office/drawing/2014/main" id="{9388D6BF-1A69-FDAE-C002-BA0EEFE16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6142" y="2900162"/>
            <a:ext cx="2020680" cy="1776598"/>
          </a:xfrm>
          <a:prstGeom prst="rect">
            <a:avLst/>
          </a:prstGeom>
        </p:spPr>
      </p:pic>
      <p:pic>
        <p:nvPicPr>
          <p:cNvPr id="38" name="Imagem 37" descr="Pessoa com a mão&#10;&#10;Descrição gerada automaticamente com confiança média">
            <a:extLst>
              <a:ext uri="{FF2B5EF4-FFF2-40B4-BE49-F238E27FC236}">
                <a16:creationId xmlns:a16="http://schemas.microsoft.com/office/drawing/2014/main" id="{D8770205-B9C7-EA59-A88E-85B9D3E77F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491" y="1040480"/>
            <a:ext cx="3293331" cy="173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42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68" y="140745"/>
            <a:ext cx="8201663" cy="507900"/>
          </a:xfrm>
        </p:spPr>
        <p:txBody>
          <a:bodyPr/>
          <a:lstStyle/>
          <a:p>
            <a:r>
              <a:rPr lang="pt-BR" sz="2400" dirty="0"/>
              <a:t>COST BREAKDOWN DA SUBCATEGORIA</a:t>
            </a:r>
          </a:p>
        </p:txBody>
      </p:sp>
      <p:sp>
        <p:nvSpPr>
          <p:cNvPr id="13" name="Google Shape;215;p36">
            <a:extLst>
              <a:ext uri="{FF2B5EF4-FFF2-40B4-BE49-F238E27FC236}">
                <a16:creationId xmlns:a16="http://schemas.microsoft.com/office/drawing/2014/main" id="{E5B32931-7DD8-4E9F-9960-117E9AE747E0}"/>
              </a:ext>
            </a:extLst>
          </p:cNvPr>
          <p:cNvSpPr txBox="1">
            <a:spLocks/>
          </p:cNvSpPr>
          <p:nvPr/>
        </p:nvSpPr>
        <p:spPr>
          <a:xfrm>
            <a:off x="3529962" y="2882895"/>
            <a:ext cx="1184914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Engenharia</a:t>
            </a:r>
          </a:p>
        </p:txBody>
      </p:sp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sp>
        <p:nvSpPr>
          <p:cNvPr id="16" name="Google Shape;215;p36">
            <a:extLst>
              <a:ext uri="{FF2B5EF4-FFF2-40B4-BE49-F238E27FC236}">
                <a16:creationId xmlns:a16="http://schemas.microsoft.com/office/drawing/2014/main" id="{92D87504-7004-4812-BEA7-5B49667DCDB4}"/>
              </a:ext>
            </a:extLst>
          </p:cNvPr>
          <p:cNvSpPr txBox="1">
            <a:spLocks/>
          </p:cNvSpPr>
          <p:nvPr/>
        </p:nvSpPr>
        <p:spPr>
          <a:xfrm>
            <a:off x="6651525" y="1707905"/>
            <a:ext cx="1902867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Especialista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E99AEC-74E9-4529-B0DF-D836817A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44696F-664A-4717-9C6E-E3169BBC3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6234E92-CED4-4798-9870-F5B82547E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71" y="685448"/>
            <a:ext cx="8507258" cy="392039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750330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37" y="140745"/>
            <a:ext cx="8201663" cy="507900"/>
          </a:xfrm>
        </p:spPr>
        <p:txBody>
          <a:bodyPr/>
          <a:lstStyle/>
          <a:p>
            <a:r>
              <a:rPr lang="pt-BR" sz="2400" dirty="0"/>
              <a:t>EQUALIZAÇÃO DA RFP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E99AEC-74E9-4529-B0DF-D836817A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44696F-664A-4717-9C6E-E3169BBC3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2E4BEC3-54E5-DF09-811E-69E02827A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68" y="850010"/>
            <a:ext cx="8201664" cy="367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787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40745"/>
            <a:ext cx="8201663" cy="507900"/>
          </a:xfrm>
        </p:spPr>
        <p:txBody>
          <a:bodyPr/>
          <a:lstStyle/>
          <a:p>
            <a:r>
              <a:rPr lang="pt-BR" sz="2400" dirty="0"/>
              <a:t>MAPA COMPARATIVO</a:t>
            </a:r>
          </a:p>
        </p:txBody>
      </p:sp>
      <p:sp>
        <p:nvSpPr>
          <p:cNvPr id="13" name="Google Shape;215;p36">
            <a:extLst>
              <a:ext uri="{FF2B5EF4-FFF2-40B4-BE49-F238E27FC236}">
                <a16:creationId xmlns:a16="http://schemas.microsoft.com/office/drawing/2014/main" id="{E5B32931-7DD8-4E9F-9960-117E9AE747E0}"/>
              </a:ext>
            </a:extLst>
          </p:cNvPr>
          <p:cNvSpPr txBox="1">
            <a:spLocks/>
          </p:cNvSpPr>
          <p:nvPr/>
        </p:nvSpPr>
        <p:spPr>
          <a:xfrm>
            <a:off x="3529962" y="2882895"/>
            <a:ext cx="1184914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Engenharia</a:t>
            </a:r>
          </a:p>
        </p:txBody>
      </p:sp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sp>
        <p:nvSpPr>
          <p:cNvPr id="16" name="Google Shape;215;p36">
            <a:extLst>
              <a:ext uri="{FF2B5EF4-FFF2-40B4-BE49-F238E27FC236}">
                <a16:creationId xmlns:a16="http://schemas.microsoft.com/office/drawing/2014/main" id="{92D87504-7004-4812-BEA7-5B49667DCDB4}"/>
              </a:ext>
            </a:extLst>
          </p:cNvPr>
          <p:cNvSpPr txBox="1">
            <a:spLocks/>
          </p:cNvSpPr>
          <p:nvPr/>
        </p:nvSpPr>
        <p:spPr>
          <a:xfrm>
            <a:off x="6651525" y="1707905"/>
            <a:ext cx="1902867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Especialista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E99AEC-74E9-4529-B0DF-D836817A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44696F-664A-4717-9C6E-E3169BBC3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73F35E5-5BE4-474A-AC15-CA330D6EF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61" y="796151"/>
            <a:ext cx="6847184" cy="382332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075466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140745"/>
            <a:ext cx="8201663" cy="507900"/>
          </a:xfrm>
        </p:spPr>
        <p:txBody>
          <a:bodyPr/>
          <a:lstStyle/>
          <a:p>
            <a:r>
              <a:rPr lang="pt-BR" sz="2400" dirty="0"/>
              <a:t>EXEMPLO DE PROCESSO EM ANDAMENTO</a:t>
            </a:r>
          </a:p>
        </p:txBody>
      </p:sp>
      <p:sp>
        <p:nvSpPr>
          <p:cNvPr id="13" name="Google Shape;215;p36">
            <a:extLst>
              <a:ext uri="{FF2B5EF4-FFF2-40B4-BE49-F238E27FC236}">
                <a16:creationId xmlns:a16="http://schemas.microsoft.com/office/drawing/2014/main" id="{E5B32931-7DD8-4E9F-9960-117E9AE747E0}"/>
              </a:ext>
            </a:extLst>
          </p:cNvPr>
          <p:cNvSpPr txBox="1">
            <a:spLocks/>
          </p:cNvSpPr>
          <p:nvPr/>
        </p:nvSpPr>
        <p:spPr>
          <a:xfrm>
            <a:off x="3529962" y="2882895"/>
            <a:ext cx="1184914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Engenharia</a:t>
            </a:r>
          </a:p>
        </p:txBody>
      </p:sp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sp>
        <p:nvSpPr>
          <p:cNvPr id="16" name="Google Shape;215;p36">
            <a:extLst>
              <a:ext uri="{FF2B5EF4-FFF2-40B4-BE49-F238E27FC236}">
                <a16:creationId xmlns:a16="http://schemas.microsoft.com/office/drawing/2014/main" id="{92D87504-7004-4812-BEA7-5B49667DCDB4}"/>
              </a:ext>
            </a:extLst>
          </p:cNvPr>
          <p:cNvSpPr txBox="1">
            <a:spLocks/>
          </p:cNvSpPr>
          <p:nvPr/>
        </p:nvSpPr>
        <p:spPr>
          <a:xfrm>
            <a:off x="6651525" y="1707905"/>
            <a:ext cx="1902867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Especialista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E99AEC-74E9-4529-B0DF-D836817A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44696F-664A-4717-9C6E-E3169BBC3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CA1E5DD-A2DA-42CD-AF7E-934751EEB430}"/>
              </a:ext>
            </a:extLst>
          </p:cNvPr>
          <p:cNvSpPr txBox="1"/>
          <p:nvPr/>
        </p:nvSpPr>
        <p:spPr>
          <a:xfrm>
            <a:off x="2184257" y="4369165"/>
            <a:ext cx="4875995" cy="4698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425450" indent="-28575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pt-BR" sz="900" dirty="0">
                <a:solidFill>
                  <a:schemeClr val="bg1"/>
                </a:solidFill>
                <a:latin typeface="Montserrat" panose="00000500000000000000" pitchFamily="2" charset="0"/>
              </a:rPr>
              <a:t>Vendor List de RFQ - aguardando recebimento das propostas iniciais. </a:t>
            </a:r>
          </a:p>
          <a:p>
            <a:pPr marL="425450" indent="-28575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425450" indent="-285750" algn="l">
              <a:spcBef>
                <a:spcPts val="600"/>
              </a:spcBef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endParaRPr lang="pt-BR" sz="9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7" name="Imagem 16" descr="Tabela&#10;&#10;Descrição gerada automaticamente">
            <a:extLst>
              <a:ext uri="{FF2B5EF4-FFF2-40B4-BE49-F238E27FC236}">
                <a16:creationId xmlns:a16="http://schemas.microsoft.com/office/drawing/2014/main" id="{F4A08DFE-AB57-4BDB-AA4E-F48E8418E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9328" y="790363"/>
            <a:ext cx="4616450" cy="3462338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367096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11F58-B21E-43F8-8981-B057FD92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237" y="140745"/>
            <a:ext cx="8201663" cy="507900"/>
          </a:xfrm>
        </p:spPr>
        <p:txBody>
          <a:bodyPr/>
          <a:lstStyle/>
          <a:p>
            <a:r>
              <a:rPr lang="pt-BR" sz="2400" dirty="0"/>
              <a:t>EVOLUÇÃO DO STRATEGIC SOURCING</a:t>
            </a:r>
          </a:p>
        </p:txBody>
      </p:sp>
      <p:sp>
        <p:nvSpPr>
          <p:cNvPr id="15" name="Google Shape;215;p36">
            <a:extLst>
              <a:ext uri="{FF2B5EF4-FFF2-40B4-BE49-F238E27FC236}">
                <a16:creationId xmlns:a16="http://schemas.microsoft.com/office/drawing/2014/main" id="{5C2567EF-8322-4116-AE90-1058B10DE685}"/>
              </a:ext>
            </a:extLst>
          </p:cNvPr>
          <p:cNvSpPr txBox="1">
            <a:spLocks/>
          </p:cNvSpPr>
          <p:nvPr/>
        </p:nvSpPr>
        <p:spPr>
          <a:xfrm>
            <a:off x="4622255" y="2396969"/>
            <a:ext cx="1764505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Generalista</a:t>
            </a:r>
          </a:p>
        </p:txBody>
      </p:sp>
      <p:sp>
        <p:nvSpPr>
          <p:cNvPr id="16" name="Google Shape;215;p36">
            <a:extLst>
              <a:ext uri="{FF2B5EF4-FFF2-40B4-BE49-F238E27FC236}">
                <a16:creationId xmlns:a16="http://schemas.microsoft.com/office/drawing/2014/main" id="{92D87504-7004-4812-BEA7-5B49667DCDB4}"/>
              </a:ext>
            </a:extLst>
          </p:cNvPr>
          <p:cNvSpPr txBox="1">
            <a:spLocks/>
          </p:cNvSpPr>
          <p:nvPr/>
        </p:nvSpPr>
        <p:spPr>
          <a:xfrm>
            <a:off x="6651525" y="1707905"/>
            <a:ext cx="1902867" cy="34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just">
              <a:buClr>
                <a:schemeClr val="accent4">
                  <a:lumMod val="50000"/>
                </a:schemeClr>
              </a:buClr>
              <a:buSzPts val="1100"/>
              <a:buNone/>
            </a:pPr>
            <a:r>
              <a:rPr lang="pt-BR" sz="1050" dirty="0">
                <a:solidFill>
                  <a:schemeClr val="tx1"/>
                </a:solidFill>
              </a:rPr>
              <a:t>Construção Especialista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E99AEC-74E9-4529-B0DF-D836817A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44696F-664A-4717-9C6E-E3169BBC3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sp>
        <p:nvSpPr>
          <p:cNvPr id="8" name="Google Shape;247;p39">
            <a:extLst>
              <a:ext uri="{FF2B5EF4-FFF2-40B4-BE49-F238E27FC236}">
                <a16:creationId xmlns:a16="http://schemas.microsoft.com/office/drawing/2014/main" id="{7358251F-018A-41A1-BED4-2A3548862D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44550" y="856374"/>
            <a:ext cx="7315200" cy="36660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marL="0" indent="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Através de um pipeline dos stakeholders, a área de Compras estrategicamente mapeou as demandas que possuíam sinergia de potenciais fornecedores e as unificou em uma única RFP.</a:t>
            </a:r>
          </a:p>
          <a:p>
            <a:pPr marL="0" indent="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Anteriormente, em processos spot eram convidados em média 6 fornecedores que variavam de acordo com cada BID aberto e a aderência ao processo era em torno de 50%. </a:t>
            </a:r>
          </a:p>
          <a:p>
            <a:pPr marL="0" indent="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Como para a RFP aumentamos o valor de compra, gerando uma maior atratividade, conseguimos aumentar a aderência de 50% para 83%, além de compor o vendor list com grandes players do mercado que antes não tinham interesse nos BID spots. Foram convidadas 6 empresas incialmente, que serão filtradas em uma short list para os próximos contratos. </a:t>
            </a:r>
          </a:p>
          <a:p>
            <a:pPr marL="0" indent="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Melhorias como RFI prévia, cost breakdown e visitas técnicas em obras dos proponentes, fizeram com que pudéssemos ser mais assertivos e estratégicos.</a:t>
            </a:r>
          </a:p>
          <a:p>
            <a:pPr marL="0" indent="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Quanto a negociação, a principal alavanca para nossos resultados foi trabalhar um cost breakdown, onde pudemos identificar com clareza as divergências de preços, potenciais erros ou divergência entre eles para correção. Sendo assim, com a planilha devidamente equalizada, identificamos os preços alvos como oportunidades de negociação. Este racional rendeu um resultando de saving de 11,3%.</a:t>
            </a:r>
          </a:p>
          <a:p>
            <a:pPr marL="0" indent="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Outro resultado relevante da negociação foi o aumento do prazo de pagamento de 60 para 90 dias.</a:t>
            </a:r>
          </a:p>
          <a:p>
            <a:pPr marL="0" indent="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Finalizada a etapa de negociação, foi criada uma price list com o fornecedor vencedor que ficará válida por 12, meses mediante assinatura de contrato, com a condição de que mesmo surgindo novas demandas ou aditivos os preços não serão alterados.</a:t>
            </a:r>
          </a:p>
          <a:p>
            <a:pPr marL="0" indent="0" algn="just">
              <a:spcBef>
                <a:spcPts val="600"/>
              </a:spcBef>
              <a:buClr>
                <a:schemeClr val="accent4">
                  <a:lumMod val="50000"/>
                </a:schemeClr>
              </a:buClr>
            </a:pP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Outro ponto bem importante, além da formalização de um contrato, é a construção de um baseline sólido para todos estes itens, evitando assim desvios/aumento de preços em projetos futuros.</a:t>
            </a:r>
          </a:p>
        </p:txBody>
      </p:sp>
    </p:spTree>
    <p:extLst>
      <p:ext uri="{BB962C8B-B14F-4D97-AF65-F5344CB8AC3E}">
        <p14:creationId xmlns:p14="http://schemas.microsoft.com/office/powerpoint/2010/main" val="25268191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 idx="2"/>
          </p:nvPr>
        </p:nvSpPr>
        <p:spPr>
          <a:xfrm>
            <a:off x="875057" y="753100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82" name="Google Shape;182;p33"/>
          <p:cNvSpPr txBox="1">
            <a:spLocks noGrp="1"/>
          </p:cNvSpPr>
          <p:nvPr>
            <p:ph type="ctrTitle"/>
          </p:nvPr>
        </p:nvSpPr>
        <p:spPr>
          <a:xfrm>
            <a:off x="2952527" y="708419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A Empresa</a:t>
            </a:r>
            <a:endParaRPr sz="1400" b="0" dirty="0"/>
          </a:p>
        </p:txBody>
      </p:sp>
      <p:sp>
        <p:nvSpPr>
          <p:cNvPr id="183" name="Google Shape;183;p33"/>
          <p:cNvSpPr txBox="1">
            <a:spLocks noGrp="1"/>
          </p:cNvSpPr>
          <p:nvPr>
            <p:ph type="subTitle" idx="1"/>
          </p:nvPr>
        </p:nvSpPr>
        <p:spPr>
          <a:xfrm>
            <a:off x="5116110" y="448520"/>
            <a:ext cx="3253470" cy="9945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 sobre o negócio da empresa e seus objetivos </a:t>
            </a:r>
            <a:endParaRPr dirty="0"/>
          </a:p>
        </p:txBody>
      </p:sp>
      <p:sp>
        <p:nvSpPr>
          <p:cNvPr id="184" name="Google Shape;184;p33"/>
          <p:cNvSpPr txBox="1">
            <a:spLocks noGrp="1"/>
          </p:cNvSpPr>
          <p:nvPr>
            <p:ph type="ctrTitle" idx="3"/>
          </p:nvPr>
        </p:nvSpPr>
        <p:spPr>
          <a:xfrm>
            <a:off x="2929077" y="1626624"/>
            <a:ext cx="2603146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Sobre o Projeto </a:t>
            </a:r>
            <a:endParaRPr sz="1400" b="0" dirty="0"/>
          </a:p>
        </p:txBody>
      </p:sp>
      <p:sp>
        <p:nvSpPr>
          <p:cNvPr id="185" name="Google Shape;185;p33"/>
          <p:cNvSpPr txBox="1">
            <a:spLocks noGrp="1"/>
          </p:cNvSpPr>
          <p:nvPr>
            <p:ph type="subTitle" idx="4"/>
          </p:nvPr>
        </p:nvSpPr>
        <p:spPr>
          <a:xfrm>
            <a:off x="5126820" y="1513554"/>
            <a:ext cx="3146518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1800"/>
            </a:pPr>
            <a:r>
              <a:rPr lang="en" dirty="0"/>
              <a:t>Proposta do Projeto e análise da categoria e subcategorias </a:t>
            </a:r>
            <a:endParaRPr dirty="0"/>
          </a:p>
        </p:txBody>
      </p:sp>
      <p:sp>
        <p:nvSpPr>
          <p:cNvPr id="186" name="Google Shape;186;p33"/>
          <p:cNvSpPr txBox="1">
            <a:spLocks noGrp="1"/>
          </p:cNvSpPr>
          <p:nvPr>
            <p:ph type="title" idx="5"/>
          </p:nvPr>
        </p:nvSpPr>
        <p:spPr>
          <a:xfrm>
            <a:off x="965111" y="170299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7" name="Google Shape;187;p33"/>
          <p:cNvSpPr txBox="1">
            <a:spLocks noGrp="1"/>
          </p:cNvSpPr>
          <p:nvPr>
            <p:ph type="ctrTitle" idx="6"/>
          </p:nvPr>
        </p:nvSpPr>
        <p:spPr>
          <a:xfrm>
            <a:off x="3003350" y="2553574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dirty="0"/>
              <a:t>A estratégia</a:t>
            </a:r>
            <a:endParaRPr sz="1400" b="0" dirty="0"/>
          </a:p>
        </p:txBody>
      </p:sp>
      <p:sp>
        <p:nvSpPr>
          <p:cNvPr id="188" name="Google Shape;188;p33"/>
          <p:cNvSpPr txBox="1">
            <a:spLocks noGrp="1"/>
          </p:cNvSpPr>
          <p:nvPr>
            <p:ph type="subTitle" idx="7"/>
          </p:nvPr>
        </p:nvSpPr>
        <p:spPr>
          <a:xfrm>
            <a:off x="5159280" y="2472983"/>
            <a:ext cx="3146519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1800"/>
            </a:pPr>
            <a:r>
              <a:rPr lang="en" dirty="0"/>
              <a:t>Desenvolvimento do Estrategic Sourcing</a:t>
            </a:r>
            <a:endParaRPr dirty="0"/>
          </a:p>
        </p:txBody>
      </p:sp>
      <p:sp>
        <p:nvSpPr>
          <p:cNvPr id="189" name="Google Shape;189;p33"/>
          <p:cNvSpPr txBox="1">
            <a:spLocks noGrp="1"/>
          </p:cNvSpPr>
          <p:nvPr>
            <p:ph type="title" idx="8"/>
          </p:nvPr>
        </p:nvSpPr>
        <p:spPr>
          <a:xfrm>
            <a:off x="965111" y="2733421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ctrTitle" idx="9"/>
          </p:nvPr>
        </p:nvSpPr>
        <p:spPr>
          <a:xfrm>
            <a:off x="3003350" y="3686633"/>
            <a:ext cx="2454600" cy="65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Conclusão</a:t>
            </a:r>
            <a:r>
              <a:rPr lang="en" b="0" dirty="0"/>
              <a:t>	</a:t>
            </a:r>
            <a:endParaRPr b="0"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subTitle" idx="13"/>
          </p:nvPr>
        </p:nvSpPr>
        <p:spPr>
          <a:xfrm>
            <a:off x="5159280" y="3655365"/>
            <a:ext cx="3253469" cy="86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/>
              <a:t>Benefícios, recomendações e proposta de solução</a:t>
            </a:r>
            <a:endParaRPr sz="1800" b="1" dirty="0"/>
          </a:p>
        </p:txBody>
      </p:sp>
      <p:sp>
        <p:nvSpPr>
          <p:cNvPr id="192" name="Google Shape;192;p33"/>
          <p:cNvSpPr txBox="1">
            <a:spLocks noGrp="1"/>
          </p:cNvSpPr>
          <p:nvPr>
            <p:ph type="title" idx="14"/>
          </p:nvPr>
        </p:nvSpPr>
        <p:spPr>
          <a:xfrm>
            <a:off x="965111" y="3763846"/>
            <a:ext cx="15261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04</a:t>
            </a:r>
            <a:endParaRPr b="1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179FF1A-13C2-4229-A687-82556727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C88D6CE-0A51-4C93-8E0A-B13F9A9BE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425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530747" y="148953"/>
            <a:ext cx="8068235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OBJETIVO DO PROJETO</a:t>
            </a:r>
            <a:endParaRPr sz="24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664EAA2-5A68-48B6-BBA1-E57C7704C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9BCB9A69-DC3B-4736-9028-3FDC6940E486}"/>
              </a:ext>
            </a:extLst>
          </p:cNvPr>
          <p:cNvGrpSpPr/>
          <p:nvPr/>
        </p:nvGrpSpPr>
        <p:grpSpPr>
          <a:xfrm>
            <a:off x="424783" y="818993"/>
            <a:ext cx="8280162" cy="1962966"/>
            <a:chOff x="431917" y="1027418"/>
            <a:chExt cx="8280162" cy="1962966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FB5217EB-CB82-46C8-B959-FD989D8C5349}"/>
                </a:ext>
              </a:extLst>
            </p:cNvPr>
            <p:cNvSpPr/>
            <p:nvPr/>
          </p:nvSpPr>
          <p:spPr>
            <a:xfrm>
              <a:off x="750841" y="1057082"/>
              <a:ext cx="700539" cy="11079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6600" b="1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rPr>
                <a:t>S</a:t>
              </a:r>
              <a:endParaRPr lang="pt-BR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endParaRP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A0FB980E-E720-430F-BF4E-12499209E153}"/>
                </a:ext>
              </a:extLst>
            </p:cNvPr>
            <p:cNvSpPr/>
            <p:nvPr/>
          </p:nvSpPr>
          <p:spPr>
            <a:xfrm>
              <a:off x="2503860" y="1050288"/>
              <a:ext cx="700539" cy="11079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6600" b="1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rPr>
                <a:t>M</a:t>
              </a:r>
              <a:endParaRPr lang="pt-BR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endParaRP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0E4BD58E-93A2-4C26-9E6A-CDEC35691FDC}"/>
                </a:ext>
              </a:extLst>
            </p:cNvPr>
            <p:cNvSpPr/>
            <p:nvPr/>
          </p:nvSpPr>
          <p:spPr>
            <a:xfrm>
              <a:off x="4221729" y="1027418"/>
              <a:ext cx="700539" cy="11079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6600" b="1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rPr>
                <a:t>A</a:t>
              </a:r>
              <a:endParaRPr lang="pt-BR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0D6536BA-EB13-4FA7-9AA8-6AF3D50FEA96}"/>
                </a:ext>
              </a:extLst>
            </p:cNvPr>
            <p:cNvSpPr/>
            <p:nvPr/>
          </p:nvSpPr>
          <p:spPr>
            <a:xfrm>
              <a:off x="5935552" y="1041407"/>
              <a:ext cx="700539" cy="11079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6600" b="1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rPr>
                <a:t>R</a:t>
              </a:r>
              <a:endParaRPr lang="pt-BR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F3331248-9CA8-4032-885E-A894735C6EC9}"/>
                </a:ext>
              </a:extLst>
            </p:cNvPr>
            <p:cNvSpPr/>
            <p:nvPr/>
          </p:nvSpPr>
          <p:spPr>
            <a:xfrm>
              <a:off x="7649375" y="1079461"/>
              <a:ext cx="700539" cy="1107996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pt-BR" sz="6600" b="1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rPr>
                <a:t>T</a:t>
              </a:r>
              <a:endParaRPr lang="pt-BR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7CE11B40-6A9E-41F1-8C22-45EDBC8AA5B7}"/>
                </a:ext>
              </a:extLst>
            </p:cNvPr>
            <p:cNvGrpSpPr/>
            <p:nvPr/>
          </p:nvGrpSpPr>
          <p:grpSpPr>
            <a:xfrm>
              <a:off x="431917" y="1982744"/>
              <a:ext cx="8280162" cy="1007640"/>
              <a:chOff x="448011" y="2034298"/>
              <a:chExt cx="8280162" cy="1007640"/>
            </a:xfrm>
          </p:grpSpPr>
          <p:pic>
            <p:nvPicPr>
              <p:cNvPr id="242" name="Imagem 241">
                <a:extLst>
                  <a:ext uri="{FF2B5EF4-FFF2-40B4-BE49-F238E27FC236}">
                    <a16:creationId xmlns:a16="http://schemas.microsoft.com/office/drawing/2014/main" id="{549B0617-00C4-43A8-96B6-275A256B25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colorTemperature colorTemp="72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780553" y="2312216"/>
                <a:ext cx="1116882" cy="508485"/>
              </a:xfrm>
              <a:prstGeom prst="rect">
                <a:avLst/>
              </a:prstGeom>
            </p:spPr>
          </p:pic>
          <p:pic>
            <p:nvPicPr>
              <p:cNvPr id="241" name="Imagem 240">
                <a:extLst>
                  <a:ext uri="{FF2B5EF4-FFF2-40B4-BE49-F238E27FC236}">
                    <a16:creationId xmlns:a16="http://schemas.microsoft.com/office/drawing/2014/main" id="{0E0BD0DC-BB56-48A7-BBBC-288A9ED9BA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/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harpenSoften amount="25000"/>
                        </a14:imgEffect>
                        <a14:imgEffect>
                          <a14:colorTemperature colorTemp="4700"/>
                        </a14:imgEffect>
                        <a14:imgEffect>
                          <a14:saturation sat="66000"/>
                        </a14:imgEffect>
                        <a14:imgEffect>
                          <a14:brightnessContrast bright="20000"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65693" y="2073722"/>
                <a:ext cx="836867" cy="933722"/>
              </a:xfrm>
              <a:prstGeom prst="rect">
                <a:avLst/>
              </a:prstGeom>
            </p:spPr>
          </p:pic>
          <p:pic>
            <p:nvPicPr>
              <p:cNvPr id="237" name="Imagem 236">
                <a:extLst>
                  <a:ext uri="{FF2B5EF4-FFF2-40B4-BE49-F238E27FC236}">
                    <a16:creationId xmlns:a16="http://schemas.microsoft.com/office/drawing/2014/main" id="{04B28BAF-07BC-44DC-AA6A-4E863A850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10719" y="2034298"/>
                <a:ext cx="817454" cy="817454"/>
              </a:xfrm>
              <a:prstGeom prst="rect">
                <a:avLst/>
              </a:prstGeom>
            </p:spPr>
          </p:pic>
          <p:pic>
            <p:nvPicPr>
              <p:cNvPr id="230" name="Imagem 229">
                <a:extLst>
                  <a:ext uri="{FF2B5EF4-FFF2-40B4-BE49-F238E27FC236}">
                    <a16:creationId xmlns:a16="http://schemas.microsoft.com/office/drawing/2014/main" id="{4EB8415B-0027-4CEF-8201-ED56069BC8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25000"/>
              </a:blip>
              <a:stretch>
                <a:fillRect/>
              </a:stretch>
            </p:blipFill>
            <p:spPr>
              <a:xfrm>
                <a:off x="4164761" y="2073722"/>
                <a:ext cx="950235" cy="760492"/>
              </a:xfrm>
              <a:prstGeom prst="rect">
                <a:avLst/>
              </a:prstGeom>
            </p:spPr>
          </p:pic>
          <p:pic>
            <p:nvPicPr>
              <p:cNvPr id="229" name="Imagem 228">
                <a:extLst>
                  <a:ext uri="{FF2B5EF4-FFF2-40B4-BE49-F238E27FC236}">
                    <a16:creationId xmlns:a16="http://schemas.microsoft.com/office/drawing/2014/main" id="{E3D21D4B-FE1D-407F-86C8-150C593B32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0875" y="2133680"/>
                <a:ext cx="1392362" cy="640575"/>
              </a:xfrm>
              <a:prstGeom prst="rect">
                <a:avLst/>
              </a:prstGeom>
            </p:spPr>
          </p:pic>
          <p:cxnSp>
            <p:nvCxnSpPr>
              <p:cNvPr id="12" name="Conector reto 11">
                <a:extLst>
                  <a:ext uri="{FF2B5EF4-FFF2-40B4-BE49-F238E27FC236}">
                    <a16:creationId xmlns:a16="http://schemas.microsoft.com/office/drawing/2014/main" id="{3717E14C-B922-442D-B208-E088F22992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1111" y="2130876"/>
                <a:ext cx="1" cy="513443"/>
              </a:xfrm>
              <a:prstGeom prst="line">
                <a:avLst/>
              </a:prstGeom>
              <a:ln w="22225"/>
              <a:effectLst>
                <a:reflection blurRad="6350" stA="50000" endA="300" endPos="55000" dir="5400000" sy="-100000" algn="bl" rotWithShape="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to 22">
                <a:extLst>
                  <a:ext uri="{FF2B5EF4-FFF2-40B4-BE49-F238E27FC236}">
                    <a16:creationId xmlns:a16="http://schemas.microsoft.com/office/drawing/2014/main" id="{5125C291-8090-4B07-A652-A10664090069}"/>
                  </a:ext>
                </a:extLst>
              </p:cNvPr>
              <p:cNvCxnSpPr/>
              <p:nvPr/>
            </p:nvCxnSpPr>
            <p:spPr>
              <a:xfrm flipH="1">
                <a:off x="2854127" y="2130875"/>
                <a:ext cx="1" cy="513443"/>
              </a:xfrm>
              <a:prstGeom prst="line">
                <a:avLst/>
              </a:prstGeom>
              <a:ln w="22225"/>
              <a:effectLst>
                <a:reflection blurRad="6350" stA="50000" endA="300" endPos="55000" dir="5400000" sy="-100000" algn="bl" rotWithShape="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to 23">
                <a:extLst>
                  <a:ext uri="{FF2B5EF4-FFF2-40B4-BE49-F238E27FC236}">
                    <a16:creationId xmlns:a16="http://schemas.microsoft.com/office/drawing/2014/main" id="{33239A54-3E68-4A29-893D-E93F6ABF1A68}"/>
                  </a:ext>
                </a:extLst>
              </p:cNvPr>
              <p:cNvCxnSpPr/>
              <p:nvPr/>
            </p:nvCxnSpPr>
            <p:spPr>
              <a:xfrm flipH="1">
                <a:off x="4580958" y="2135781"/>
                <a:ext cx="1" cy="513443"/>
              </a:xfrm>
              <a:prstGeom prst="line">
                <a:avLst/>
              </a:prstGeom>
              <a:ln w="22225"/>
              <a:effectLst>
                <a:reflection blurRad="6350" stA="50000" endA="300" endPos="55000" dir="5400000" sy="-100000" algn="bl" rotWithShape="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to 24">
                <a:extLst>
                  <a:ext uri="{FF2B5EF4-FFF2-40B4-BE49-F238E27FC236}">
                    <a16:creationId xmlns:a16="http://schemas.microsoft.com/office/drawing/2014/main" id="{9D35A970-6FBC-4037-A23C-CC856319E9A8}"/>
                  </a:ext>
                </a:extLst>
              </p:cNvPr>
              <p:cNvCxnSpPr/>
              <p:nvPr/>
            </p:nvCxnSpPr>
            <p:spPr>
              <a:xfrm flipH="1">
                <a:off x="6305139" y="2149403"/>
                <a:ext cx="1" cy="513443"/>
              </a:xfrm>
              <a:prstGeom prst="line">
                <a:avLst/>
              </a:prstGeom>
              <a:ln w="22225"/>
              <a:effectLst>
                <a:reflection blurRad="6350" stA="50000" endA="300" endPos="55000" dir="5400000" sy="-100000" algn="bl" rotWithShape="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to 25">
                <a:extLst>
                  <a:ext uri="{FF2B5EF4-FFF2-40B4-BE49-F238E27FC236}">
                    <a16:creationId xmlns:a16="http://schemas.microsoft.com/office/drawing/2014/main" id="{832BE9D5-0730-417B-9631-D4AA183AF25C}"/>
                  </a:ext>
                </a:extLst>
              </p:cNvPr>
              <p:cNvCxnSpPr/>
              <p:nvPr/>
            </p:nvCxnSpPr>
            <p:spPr>
              <a:xfrm flipH="1">
                <a:off x="8033107" y="2149403"/>
                <a:ext cx="1" cy="513443"/>
              </a:xfrm>
              <a:prstGeom prst="line">
                <a:avLst/>
              </a:prstGeom>
              <a:ln w="22225"/>
              <a:effectLst>
                <a:reflection blurRad="6350" stA="50000" endA="300" endPos="55000" dir="5400000" sy="-100000" algn="bl" rotWithShape="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3" name="CaixaDeTexto 242">
                <a:extLst>
                  <a:ext uri="{FF2B5EF4-FFF2-40B4-BE49-F238E27FC236}">
                    <a16:creationId xmlns:a16="http://schemas.microsoft.com/office/drawing/2014/main" id="{AF9DCA4C-4726-4144-8D1E-3D86BE5DDE91}"/>
                  </a:ext>
                </a:extLst>
              </p:cNvPr>
              <p:cNvSpPr txBox="1"/>
              <p:nvPr/>
            </p:nvSpPr>
            <p:spPr>
              <a:xfrm>
                <a:off x="448011" y="2761223"/>
                <a:ext cx="12954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chemeClr val="accent1"/>
                    </a:solidFill>
                    <a:latin typeface="Montserrat" panose="00000500000000000000" pitchFamily="2" charset="0"/>
                  </a:rPr>
                  <a:t>Específico</a:t>
                </a:r>
              </a:p>
            </p:txBody>
          </p:sp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7C78ECDB-9302-4CFD-9E2A-E3435D7EAAC0}"/>
                  </a:ext>
                </a:extLst>
              </p:cNvPr>
              <p:cNvSpPr txBox="1"/>
              <p:nvPr/>
            </p:nvSpPr>
            <p:spPr>
              <a:xfrm>
                <a:off x="2200543" y="2773122"/>
                <a:ext cx="12954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chemeClr val="accent1"/>
                    </a:solidFill>
                    <a:latin typeface="Montserrat" panose="00000500000000000000" pitchFamily="2" charset="0"/>
                  </a:rPr>
                  <a:t>Mensurável</a:t>
                </a:r>
              </a:p>
            </p:txBody>
          </p:sp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1A65FA5F-BA86-4A5D-AA96-798F2029E102}"/>
                  </a:ext>
                </a:extLst>
              </p:cNvPr>
              <p:cNvSpPr txBox="1"/>
              <p:nvPr/>
            </p:nvSpPr>
            <p:spPr>
              <a:xfrm>
                <a:off x="3933258" y="2784973"/>
                <a:ext cx="12954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chemeClr val="accent1"/>
                    </a:solidFill>
                    <a:latin typeface="Montserrat" panose="00000500000000000000" pitchFamily="2" charset="0"/>
                  </a:rPr>
                  <a:t>Atingível</a:t>
                </a:r>
              </a:p>
            </p:txBody>
          </p:sp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43FFFE3C-7B41-404E-AF52-D8499ED0CB8D}"/>
                  </a:ext>
                </a:extLst>
              </p:cNvPr>
              <p:cNvSpPr txBox="1"/>
              <p:nvPr/>
            </p:nvSpPr>
            <p:spPr>
              <a:xfrm>
                <a:off x="5659135" y="2795717"/>
                <a:ext cx="12954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chemeClr val="accent1"/>
                    </a:solidFill>
                    <a:latin typeface="Montserrat" panose="00000500000000000000" pitchFamily="2" charset="0"/>
                  </a:rPr>
                  <a:t>Relevante</a:t>
                </a:r>
              </a:p>
            </p:txBody>
          </p: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48F36ECD-1F78-4ED2-AB9E-0CAC76DFB3DA}"/>
                  </a:ext>
                </a:extLst>
              </p:cNvPr>
              <p:cNvSpPr txBox="1"/>
              <p:nvPr/>
            </p:nvSpPr>
            <p:spPr>
              <a:xfrm>
                <a:off x="7350668" y="2783602"/>
                <a:ext cx="12954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chemeClr val="accent1"/>
                    </a:solidFill>
                    <a:latin typeface="Montserrat" panose="00000500000000000000" pitchFamily="2" charset="0"/>
                  </a:rPr>
                  <a:t>Temporizável</a:t>
                </a:r>
              </a:p>
            </p:txBody>
          </p:sp>
        </p:grp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6FD235C-D75D-76EF-C247-63F2FD044049}"/>
              </a:ext>
            </a:extLst>
          </p:cNvPr>
          <p:cNvSpPr txBox="1"/>
          <p:nvPr/>
        </p:nvSpPr>
        <p:spPr>
          <a:xfrm>
            <a:off x="1200856" y="3232580"/>
            <a:ext cx="67422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</a:rPr>
              <a:t>Aumentar, em um ano, a média de </a:t>
            </a:r>
            <a:r>
              <a:rPr lang="pt-BR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Savings das contratações de 8% para 15%, </a:t>
            </a: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</a:rPr>
              <a:t>reduzindo, consequentemente, os custos dos projetos CAPEX da EBP, além de </a:t>
            </a:r>
            <a:r>
              <a:rPr lang="pt-BR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reduzir SLAs </a:t>
            </a: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</a:rPr>
              <a:t>de atendimento ao cliente interno </a:t>
            </a:r>
            <a:r>
              <a:rPr lang="pt-BR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para 75 dias </a:t>
            </a: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</a:rPr>
              <a:t>e </a:t>
            </a:r>
            <a:r>
              <a:rPr lang="pt-BR" sz="1000" b="1" dirty="0">
                <a:solidFill>
                  <a:schemeClr val="bg1"/>
                </a:solidFill>
                <a:latin typeface="Montserrat" panose="00000500000000000000" pitchFamily="2" charset="0"/>
              </a:rPr>
              <a:t>aumento do prazo de pagamento para 90 dias </a:t>
            </a: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</a:rPr>
              <a:t>através da implementação de contratos para demandas recorrentes, porém estratégicas.</a:t>
            </a:r>
          </a:p>
        </p:txBody>
      </p:sp>
    </p:spTree>
    <p:extLst>
      <p:ext uri="{BB962C8B-B14F-4D97-AF65-F5344CB8AC3E}">
        <p14:creationId xmlns:p14="http://schemas.microsoft.com/office/powerpoint/2010/main" val="40434731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Imagem 240" descr="Fundo preto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F07B2EEA-1D83-4722-B870-2E3830073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318" y="3032922"/>
            <a:ext cx="3130681" cy="2087120"/>
          </a:xfrm>
          <a:prstGeom prst="rect">
            <a:avLst/>
          </a:prstGeom>
        </p:spPr>
      </p:pic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406773" y="144541"/>
            <a:ext cx="8330453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SOLUÇÕES E BENEFÍCIOS</a:t>
            </a:r>
            <a:endParaRPr sz="24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661117A-8F01-4368-8168-B5784C2FD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E3B6D7C0-053F-4EF6-8D33-8F75189D8BBD}"/>
              </a:ext>
            </a:extLst>
          </p:cNvPr>
          <p:cNvGrpSpPr/>
          <p:nvPr/>
        </p:nvGrpSpPr>
        <p:grpSpPr>
          <a:xfrm>
            <a:off x="182667" y="883020"/>
            <a:ext cx="8772622" cy="3619481"/>
            <a:chOff x="108565" y="918907"/>
            <a:chExt cx="8772622" cy="3619481"/>
          </a:xfrm>
        </p:grpSpPr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0C424472-A790-68FE-355A-1C7FFB8319F1}"/>
                </a:ext>
              </a:extLst>
            </p:cNvPr>
            <p:cNvCxnSpPr>
              <a:cxnSpLocks/>
            </p:cNvCxnSpPr>
            <p:nvPr/>
          </p:nvCxnSpPr>
          <p:spPr>
            <a:xfrm>
              <a:off x="1261708" y="1741334"/>
              <a:ext cx="0" cy="440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2B2602AD-B9FC-42B2-A5AF-5C9B603E4730}"/>
                </a:ext>
              </a:extLst>
            </p:cNvPr>
            <p:cNvSpPr txBox="1"/>
            <p:nvPr/>
          </p:nvSpPr>
          <p:spPr>
            <a:xfrm>
              <a:off x="108565" y="3192557"/>
              <a:ext cx="2211025" cy="254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139700" algn="ctr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</a:pPr>
              <a:r>
                <a:rPr lang="pt-BR" sz="800" b="1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Atração de Fornecedores de Maior Porte</a:t>
              </a:r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DEECFA80-0C7B-4FEF-A848-FBA94AB055B1}"/>
                </a:ext>
              </a:extLst>
            </p:cNvPr>
            <p:cNvSpPr txBox="1"/>
            <p:nvPr/>
          </p:nvSpPr>
          <p:spPr>
            <a:xfrm>
              <a:off x="4981164" y="973261"/>
              <a:ext cx="1885938" cy="254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13970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</a:pPr>
              <a:r>
                <a:rPr lang="pt-BR" sz="800" b="1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Saving futuro estimado 15%</a:t>
              </a:r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0894B30B-9915-4A15-AA30-91E339C35E62}"/>
                </a:ext>
              </a:extLst>
            </p:cNvPr>
            <p:cNvSpPr txBox="1"/>
            <p:nvPr/>
          </p:nvSpPr>
          <p:spPr>
            <a:xfrm>
              <a:off x="299701" y="982082"/>
              <a:ext cx="1885938" cy="254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13970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</a:pPr>
              <a:r>
                <a:rPr lang="pt-BR" sz="800" b="1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Implementação de Contrato</a:t>
              </a:r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C933392D-8D6D-4039-A564-31A3E7BC86D2}"/>
                </a:ext>
              </a:extLst>
            </p:cNvPr>
            <p:cNvSpPr txBox="1"/>
            <p:nvPr/>
          </p:nvSpPr>
          <p:spPr>
            <a:xfrm>
              <a:off x="2518024" y="978486"/>
              <a:ext cx="2309642" cy="254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139700" algn="l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</a:pPr>
              <a:r>
                <a:rPr lang="pt-BR" sz="800" b="1" i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SLA de Atendimento Futuro 75 dias</a:t>
              </a:r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endParaRPr lang="pt-BR" sz="8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4B48F2E7-F6DA-43A6-A4C4-0E995D693513}"/>
                </a:ext>
              </a:extLst>
            </p:cNvPr>
            <p:cNvSpPr txBox="1"/>
            <p:nvPr/>
          </p:nvSpPr>
          <p:spPr>
            <a:xfrm>
              <a:off x="133495" y="4161418"/>
              <a:ext cx="2384529" cy="376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>
                <a:buClr>
                  <a:schemeClr val="accent3"/>
                </a:buClr>
              </a:pPr>
              <a:r>
                <a:rPr lang="pt-BR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Redução de Risco de Fornecimento</a:t>
              </a:r>
            </a:p>
            <a:p>
              <a:pPr algn="ctr">
                <a:buClr>
                  <a:schemeClr val="accent3"/>
                </a:buClr>
              </a:pPr>
              <a:r>
                <a:rPr lang="pt-BR" sz="8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Redução da Pulverização de Contratadas</a:t>
              </a:r>
            </a:p>
            <a:p>
              <a:pPr algn="ctr">
                <a:buClr>
                  <a:schemeClr val="accent3"/>
                </a:buClr>
              </a:pPr>
              <a:endParaRPr lang="pt-BR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>
                <a:buClr>
                  <a:schemeClr val="accent3"/>
                </a:buClr>
              </a:pPr>
              <a:endParaRPr lang="pt-BR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>
                <a:buClr>
                  <a:schemeClr val="accent3"/>
                </a:buClr>
              </a:pPr>
              <a:endParaRPr lang="pt-BR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>
                <a:buClr>
                  <a:schemeClr val="accent3"/>
                </a:buClr>
              </a:pPr>
              <a:endParaRPr lang="pt-BR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>
                <a:buClr>
                  <a:schemeClr val="accent3"/>
                </a:buClr>
              </a:pPr>
              <a:endParaRPr lang="pt-BR" sz="8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6" name="CaixaDeTexto 55">
              <a:extLst>
                <a:ext uri="{FF2B5EF4-FFF2-40B4-BE49-F238E27FC236}">
                  <a16:creationId xmlns:a16="http://schemas.microsoft.com/office/drawing/2014/main" id="{7F11135E-C915-487E-8969-3397E3A86CEC}"/>
                </a:ext>
              </a:extLst>
            </p:cNvPr>
            <p:cNvSpPr txBox="1"/>
            <p:nvPr/>
          </p:nvSpPr>
          <p:spPr>
            <a:xfrm>
              <a:off x="4886804" y="2292322"/>
              <a:ext cx="2074657" cy="2566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139700" algn="ctr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defRPr sz="800" b="1" i="1">
                  <a:solidFill>
                    <a:schemeClr val="bg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Redução no Custo dos Projetos</a:t>
              </a:r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id="{D33CC850-5BD1-488D-A050-464FA0F89CEF}"/>
                </a:ext>
              </a:extLst>
            </p:cNvPr>
            <p:cNvSpPr txBox="1"/>
            <p:nvPr/>
          </p:nvSpPr>
          <p:spPr>
            <a:xfrm>
              <a:off x="2543319" y="2217075"/>
              <a:ext cx="2155711" cy="3176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139700" algn="ctr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defRPr sz="800" b="1" i="1">
                  <a:solidFill>
                    <a:schemeClr val="bg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Redução no Prazo de Atendimento às demandas dos Projetos</a:t>
              </a:r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A4965AAC-8ACE-40AA-8227-C6F3C3D6B621}"/>
                </a:ext>
              </a:extLst>
            </p:cNvPr>
            <p:cNvSpPr txBox="1"/>
            <p:nvPr/>
          </p:nvSpPr>
          <p:spPr>
            <a:xfrm>
              <a:off x="7085299" y="918907"/>
              <a:ext cx="1645577" cy="3176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139700" algn="ctr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defRPr sz="800" b="1" i="1">
                  <a:solidFill>
                    <a:schemeClr val="bg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Prazo de Pagamento para 90 dias</a:t>
              </a:r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</p:txBody>
        </p: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A754F17E-B4A0-405C-8835-0FA0CFF3FFB1}"/>
                </a:ext>
              </a:extLst>
            </p:cNvPr>
            <p:cNvSpPr txBox="1"/>
            <p:nvPr/>
          </p:nvSpPr>
          <p:spPr>
            <a:xfrm>
              <a:off x="6961461" y="2209481"/>
              <a:ext cx="1919726" cy="6465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139700" algn="ctr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defRPr sz="800" b="1" i="1">
                  <a:solidFill>
                    <a:schemeClr val="bg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Aumento da permanência do Capital em caixa da empresa e, consequentemente, de seu rendimento</a:t>
              </a:r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</p:txBody>
        </p:sp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id="{4EFFF37A-4686-450C-8443-44748A1C229C}"/>
                </a:ext>
              </a:extLst>
            </p:cNvPr>
            <p:cNvSpPr txBox="1"/>
            <p:nvPr/>
          </p:nvSpPr>
          <p:spPr>
            <a:xfrm>
              <a:off x="168071" y="2278020"/>
              <a:ext cx="2036606" cy="2566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139700" algn="ctr">
                <a:spcBef>
                  <a:spcPts val="600"/>
                </a:spcBef>
                <a:buClr>
                  <a:schemeClr val="accent4">
                    <a:lumMod val="50000"/>
                  </a:schemeClr>
                </a:buClr>
                <a:defRPr sz="800" b="1" i="1">
                  <a:solidFill>
                    <a:schemeClr val="bg1"/>
                  </a:solidFill>
                  <a:latin typeface="Montserrat" panose="00000500000000000000" pitchFamily="2" charset="0"/>
                </a:defRPr>
              </a:lvl1pPr>
            </a:lstStyle>
            <a:p>
              <a:r>
                <a:rPr lang="pt-BR" dirty="0"/>
                <a:t>Aumento do valor médio dos contratos</a:t>
              </a:r>
            </a:p>
            <a:p>
              <a:endParaRPr lang="pt-BR" dirty="0"/>
            </a:p>
            <a:p>
              <a:endParaRPr lang="pt-BR" dirty="0"/>
            </a:p>
            <a:p>
              <a:endParaRPr lang="pt-BR" dirty="0"/>
            </a:p>
          </p:txBody>
        </p:sp>
        <p:pic>
          <p:nvPicPr>
            <p:cNvPr id="227" name="Imagem 226">
              <a:extLst>
                <a:ext uri="{FF2B5EF4-FFF2-40B4-BE49-F238E27FC236}">
                  <a16:creationId xmlns:a16="http://schemas.microsoft.com/office/drawing/2014/main" id="{35F6004C-B1BC-4645-BE02-B9E919971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8820" y="1142034"/>
              <a:ext cx="545776" cy="545776"/>
            </a:xfrm>
            <a:prstGeom prst="rect">
              <a:avLst/>
            </a:prstGeom>
          </p:spPr>
        </p:pic>
        <p:pic>
          <p:nvPicPr>
            <p:cNvPr id="229" name="Imagem 228">
              <a:extLst>
                <a:ext uri="{FF2B5EF4-FFF2-40B4-BE49-F238E27FC236}">
                  <a16:creationId xmlns:a16="http://schemas.microsoft.com/office/drawing/2014/main" id="{5B8C8D64-6F14-4D7F-80E0-BBFDC60D1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82879" y="1189363"/>
              <a:ext cx="685552" cy="470713"/>
            </a:xfrm>
            <a:prstGeom prst="rect">
              <a:avLst/>
            </a:prstGeom>
          </p:spPr>
        </p:pic>
        <p:pic>
          <p:nvPicPr>
            <p:cNvPr id="231" name="Imagem 230">
              <a:extLst>
                <a:ext uri="{FF2B5EF4-FFF2-40B4-BE49-F238E27FC236}">
                  <a16:creationId xmlns:a16="http://schemas.microsoft.com/office/drawing/2014/main" id="{BE72B8E0-7671-426A-B709-B1F274CFE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14715" y="1163809"/>
              <a:ext cx="544752" cy="544752"/>
            </a:xfrm>
            <a:prstGeom prst="rect">
              <a:avLst/>
            </a:prstGeom>
          </p:spPr>
        </p:pic>
        <p:pic>
          <p:nvPicPr>
            <p:cNvPr id="1032" name="Picture 8" descr="Ícone de bitcoin, símbolo de pagamento. logotipo da criptomoeda. símbolo de  troca de moeda virtual. moedas">
              <a:extLst>
                <a:ext uri="{FF2B5EF4-FFF2-40B4-BE49-F238E27FC236}">
                  <a16:creationId xmlns:a16="http://schemas.microsoft.com/office/drawing/2014/main" id="{4E4AD8BB-A3EB-4384-AB97-F9FA073E5B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3812" y="1180399"/>
              <a:ext cx="494139" cy="4941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8" name="Conector de Seta Reta 67">
              <a:extLst>
                <a:ext uri="{FF2B5EF4-FFF2-40B4-BE49-F238E27FC236}">
                  <a16:creationId xmlns:a16="http://schemas.microsoft.com/office/drawing/2014/main" id="{4109C4FE-62B6-40A1-A125-8B122BAF1187}"/>
                </a:ext>
              </a:extLst>
            </p:cNvPr>
            <p:cNvCxnSpPr>
              <a:cxnSpLocks/>
            </p:cNvCxnSpPr>
            <p:nvPr/>
          </p:nvCxnSpPr>
          <p:spPr>
            <a:xfrm>
              <a:off x="1261708" y="2700554"/>
              <a:ext cx="0" cy="440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de Seta Reta 69">
              <a:extLst>
                <a:ext uri="{FF2B5EF4-FFF2-40B4-BE49-F238E27FC236}">
                  <a16:creationId xmlns:a16="http://schemas.microsoft.com/office/drawing/2014/main" id="{8F36C3E5-F8D7-4D0E-B45A-7A9E69E68963}"/>
                </a:ext>
              </a:extLst>
            </p:cNvPr>
            <p:cNvCxnSpPr>
              <a:cxnSpLocks/>
            </p:cNvCxnSpPr>
            <p:nvPr/>
          </p:nvCxnSpPr>
          <p:spPr>
            <a:xfrm>
              <a:off x="1261708" y="3660470"/>
              <a:ext cx="0" cy="440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de Seta Reta 70">
              <a:extLst>
                <a:ext uri="{FF2B5EF4-FFF2-40B4-BE49-F238E27FC236}">
                  <a16:creationId xmlns:a16="http://schemas.microsoft.com/office/drawing/2014/main" id="{194CD8D4-0FFA-47F3-9E52-19AA00465B5B}"/>
                </a:ext>
              </a:extLst>
            </p:cNvPr>
            <p:cNvCxnSpPr>
              <a:cxnSpLocks/>
            </p:cNvCxnSpPr>
            <p:nvPr/>
          </p:nvCxnSpPr>
          <p:spPr>
            <a:xfrm>
              <a:off x="3674993" y="1741334"/>
              <a:ext cx="0" cy="440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de Seta Reta 71">
              <a:extLst>
                <a:ext uri="{FF2B5EF4-FFF2-40B4-BE49-F238E27FC236}">
                  <a16:creationId xmlns:a16="http://schemas.microsoft.com/office/drawing/2014/main" id="{6D2A9727-C632-4B18-9499-E8DFB336D5F1}"/>
                </a:ext>
              </a:extLst>
            </p:cNvPr>
            <p:cNvCxnSpPr>
              <a:cxnSpLocks/>
            </p:cNvCxnSpPr>
            <p:nvPr/>
          </p:nvCxnSpPr>
          <p:spPr>
            <a:xfrm>
              <a:off x="5939217" y="1721143"/>
              <a:ext cx="0" cy="440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de Seta Reta 72">
              <a:extLst>
                <a:ext uri="{FF2B5EF4-FFF2-40B4-BE49-F238E27FC236}">
                  <a16:creationId xmlns:a16="http://schemas.microsoft.com/office/drawing/2014/main" id="{80C28EFE-55A3-4774-A44D-047E22E39435}"/>
                </a:ext>
              </a:extLst>
            </p:cNvPr>
            <p:cNvCxnSpPr>
              <a:cxnSpLocks/>
            </p:cNvCxnSpPr>
            <p:nvPr/>
          </p:nvCxnSpPr>
          <p:spPr>
            <a:xfrm>
              <a:off x="7980882" y="1721143"/>
              <a:ext cx="0" cy="440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FE0641D-9792-49F7-A405-50EFC87EFB7F}"/>
              </a:ext>
            </a:extLst>
          </p:cNvPr>
          <p:cNvCxnSpPr/>
          <p:nvPr/>
        </p:nvCxnSpPr>
        <p:spPr>
          <a:xfrm>
            <a:off x="2642821" y="883020"/>
            <a:ext cx="0" cy="405093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3CD2993-E316-48AF-8303-698B4FDB4C66}"/>
              </a:ext>
            </a:extLst>
          </p:cNvPr>
          <p:cNvCxnSpPr/>
          <p:nvPr/>
        </p:nvCxnSpPr>
        <p:spPr>
          <a:xfrm>
            <a:off x="4960906" y="883020"/>
            <a:ext cx="0" cy="405093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C3EB295-4421-4EE1-B719-A9D3D43FAF06}"/>
              </a:ext>
            </a:extLst>
          </p:cNvPr>
          <p:cNvCxnSpPr/>
          <p:nvPr/>
        </p:nvCxnSpPr>
        <p:spPr>
          <a:xfrm>
            <a:off x="7159401" y="883020"/>
            <a:ext cx="0" cy="405093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836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406773" y="137669"/>
            <a:ext cx="8330453" cy="5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/>
              <a:t>CONCLUSÕES E RECOMENDAÇÕES FUTURAS</a:t>
            </a:r>
            <a:endParaRPr sz="2400" dirty="0"/>
          </a:p>
        </p:txBody>
      </p:sp>
      <p:sp>
        <p:nvSpPr>
          <p:cNvPr id="21" name="Google Shape;247;p39">
            <a:extLst>
              <a:ext uri="{FF2B5EF4-FFF2-40B4-BE49-F238E27FC236}">
                <a16:creationId xmlns:a16="http://schemas.microsoft.com/office/drawing/2014/main" id="{A2350B7C-4D52-4E41-B35D-399DDCF6AE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46149" y="1191816"/>
            <a:ext cx="7251700" cy="35751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2" indent="0" algn="just"/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empresa EBP passa por uma fase de expansão de sua operação, com alto investimento em novos ativos. Para que este crescimento seja viável e rentável, é necessário otimização dos custos de Capex destes projetos.</a:t>
            </a:r>
          </a:p>
          <a:p>
            <a:pPr marL="457200" lvl="2" algn="just">
              <a:buFont typeface="Courier New" pitchFamily="49" charset="0"/>
              <a:buChar char="o"/>
            </a:pPr>
            <a:endParaRPr lang="pt-BR" sz="1000" dirty="0">
              <a:solidFill>
                <a:schemeClr val="bg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39700" lvl="2" indent="0" algn="just"/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categoria Engenharia e Construção contempla os investimentos relacionados aos projetos Capex e, como tal, se apresenta como consideravelmente estratégica no spend da empresa.</a:t>
            </a:r>
          </a:p>
          <a:p>
            <a:pPr marL="457200" lvl="2" algn="just">
              <a:buFont typeface="Courier New" pitchFamily="49" charset="0"/>
              <a:buChar char="o"/>
            </a:pPr>
            <a:endParaRPr lang="pt-BR" sz="1000" dirty="0">
              <a:solidFill>
                <a:schemeClr val="bg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39700" lvl="2" indent="0" algn="just"/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Portanto, foi necessária uma estruturação na estratégia da abordagem desta categoria, aplicando os conceitos do Strategic Sourcing. </a:t>
            </a:r>
          </a:p>
          <a:p>
            <a:pPr marL="457200" lvl="2" algn="just">
              <a:buFont typeface="Courier New" pitchFamily="49" charset="0"/>
              <a:buChar char="o"/>
            </a:pPr>
            <a:endParaRPr lang="pt-BR" sz="1000" dirty="0">
              <a:solidFill>
                <a:schemeClr val="bg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39700" lvl="2" indent="0" algn="just"/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Dentre os objetivos esperados destacam-se, mas não limitam-se a, redução dos custos, aumento da atratividade de fornecedores de grande porte, redução dos prazos dos processos e estabelecimento de parcerias estratégicas.</a:t>
            </a:r>
          </a:p>
          <a:p>
            <a:pPr marL="457200" lvl="2" algn="just">
              <a:buFont typeface="Courier New" pitchFamily="49" charset="0"/>
              <a:buChar char="o"/>
            </a:pPr>
            <a:endParaRPr lang="pt-BR" sz="1000" dirty="0">
              <a:solidFill>
                <a:schemeClr val="bg1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39700" lvl="2" indent="0" algn="just"/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Para que os resultados sejam duradouros e maximizados, considerando a dinâmica do mercado de engenharia e construção no país, é fundamental que o mapeamento de mercado seja revisitado regularmente e a estratégia reavaliada.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BE96BF8-75E0-40D7-850E-8680D2729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378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82FABD-361A-42E1-BCA9-F5B9497B1B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3832" y="0"/>
            <a:ext cx="9227832" cy="5227722"/>
          </a:xfrm>
          <a:prstGeom prst="rect">
            <a:avLst/>
          </a:prstGeom>
        </p:spPr>
      </p:pic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406837" y="2384960"/>
            <a:ext cx="8653331" cy="6089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bg1"/>
                </a:solidFill>
                <a:latin typeface="Montserrat" panose="00000500000000000000" pitchFamily="2" charset="0"/>
              </a:rPr>
              <a:t>MUITO OBRIGADO !</a:t>
            </a:r>
            <a:endParaRPr sz="28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D870EE6-1A56-44DE-8544-B2D4E0B5D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453" y="4766982"/>
            <a:ext cx="1390715" cy="2922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BE96BF8-75E0-40D7-850E-8680D2729F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4379" y="177548"/>
            <a:ext cx="608012" cy="43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42781"/>
      </p:ext>
    </p:extLst>
  </p:cSld>
  <p:clrMapOvr>
    <a:masterClrMapping/>
  </p:clrMapOvr>
</p:sld>
</file>

<file path=ppt/theme/theme1.xml><?xml version="1.0" encoding="utf-8"?>
<a:theme xmlns:a="http://schemas.openxmlformats.org/drawingml/2006/main" name="Transport App Pitch Deck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D5B961"/>
      </a:accent1>
      <a:accent2>
        <a:srgbClr val="D7D7D7"/>
      </a:accent2>
      <a:accent3>
        <a:srgbClr val="BF9000"/>
      </a:accent3>
      <a:accent4>
        <a:srgbClr val="FFE599"/>
      </a:accent4>
      <a:accent5>
        <a:srgbClr val="999999"/>
      </a:accent5>
      <a:accent6>
        <a:srgbClr val="666666"/>
      </a:accent6>
      <a:hlink>
        <a:srgbClr val="F8FA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4080</TotalTime>
  <Words>3590</Words>
  <Application>Microsoft Office PowerPoint</Application>
  <PresentationFormat>Apresentação na tela (16:9)</PresentationFormat>
  <Paragraphs>741</Paragraphs>
  <Slides>66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9" baseType="lpstr">
      <vt:lpstr>Courier New</vt:lpstr>
      <vt:lpstr>Montserrat ExtraLight</vt:lpstr>
      <vt:lpstr>Arial Nova Cond Light</vt:lpstr>
      <vt:lpstr>Wingdings</vt:lpstr>
      <vt:lpstr>Michelin Black</vt:lpstr>
      <vt:lpstr>Montserrat Black</vt:lpstr>
      <vt:lpstr>Montserrat Thin</vt:lpstr>
      <vt:lpstr>Arial</vt:lpstr>
      <vt:lpstr>Michelin</vt:lpstr>
      <vt:lpstr>Montserrat</vt:lpstr>
      <vt:lpstr>Segoe UI</vt:lpstr>
      <vt:lpstr>Open Sans</vt:lpstr>
      <vt:lpstr>Transport App Pitch Deck by Slidesgo</vt:lpstr>
      <vt:lpstr>Empresa Brasileira de Pneus</vt:lpstr>
      <vt:lpstr>SHIFT – MBA EM GESTÃO DE COMPRAS</vt:lpstr>
      <vt:lpstr>SHIFT – APRESENTAÇÃO EM 10/05/2023</vt:lpstr>
      <vt:lpstr>CONFIDENCIALIDADE</vt:lpstr>
      <vt:lpstr>01</vt:lpstr>
      <vt:lpstr>A EMPRESA</vt:lpstr>
      <vt:lpstr>TIMELINE</vt:lpstr>
      <vt:lpstr>PRESENÇA GLOBAL</vt:lpstr>
      <vt:lpstr>PRESENÇA E GESTÃO - AMÉRICA DO SUL</vt:lpstr>
      <vt:lpstr>MARKET SHARE GLOBAL</vt:lpstr>
      <vt:lpstr>VISÃO</vt:lpstr>
      <vt:lpstr>OBJETIVOS ESTRATÉGICOS</vt:lpstr>
      <vt:lpstr>OBJETIVOS ESTRATÉGICOS</vt:lpstr>
      <vt:lpstr>ORGANOGRAMA</vt:lpstr>
      <vt:lpstr>COMPRAS BRASIL</vt:lpstr>
      <vt:lpstr>01</vt:lpstr>
      <vt:lpstr>SOBRE O PROJETO</vt:lpstr>
      <vt:lpstr>ENGENHARIA E CONSTRUÇÃO</vt:lpstr>
      <vt:lpstr>SOBRE A CATEGORIA</vt:lpstr>
      <vt:lpstr>SPEND CAPITAL EQUIPMENT</vt:lpstr>
      <vt:lpstr>Apresentação do PowerPoint</vt:lpstr>
      <vt:lpstr>Apresentação do PowerPoint</vt:lpstr>
      <vt:lpstr>ENTRAVES IDENTIFICADOS</vt:lpstr>
      <vt:lpstr>01</vt:lpstr>
      <vt:lpstr>POR QUE STRATEGIC SOURCING?</vt:lpstr>
      <vt:lpstr>ANÁLISE DE SWOT</vt:lpstr>
      <vt:lpstr>PRIORIZAÇÃO DE SUBCATEGORIAS</vt:lpstr>
      <vt:lpstr>MATRIZ DE PRIORIZAÇÃO </vt:lpstr>
      <vt:lpstr>KRALJIC - CATEGORIA E SUBCATEGORIA</vt:lpstr>
      <vt:lpstr>KRALJIC - IMPACTO NO NEGÓCIO </vt:lpstr>
      <vt:lpstr>KRALJIC - RISCO DE SUPRIMENTO</vt:lpstr>
      <vt:lpstr>MATRIZ KRALJIC - ENGENHARIA E CONSTRUÇÃO</vt:lpstr>
      <vt:lpstr>ANÁLISE MATRIZ KRALJIC</vt:lpstr>
      <vt:lpstr>KITS E KIQS</vt:lpstr>
      <vt:lpstr>RESPOSTAS DOS KITS E KIQS</vt:lpstr>
      <vt:lpstr>RESPOSTAS DOS KITS E KIQS</vt:lpstr>
      <vt:lpstr>Apresentação do PowerPoint</vt:lpstr>
      <vt:lpstr>ANÁLISE DOS KITS E KIQS</vt:lpstr>
      <vt:lpstr>TEMPLATE RFI - INFORMAÇÕES GERAIS</vt:lpstr>
      <vt:lpstr>TEMPLATE RFI - DADOS RFI</vt:lpstr>
      <vt:lpstr>RESUMO RFI - MPE ENGENHARIA</vt:lpstr>
      <vt:lpstr>RESUMO RFI - MEI ENGENHARIA</vt:lpstr>
      <vt:lpstr>RESUMO RFI - CONIN CONSTRUÇÃO</vt:lpstr>
      <vt:lpstr>RESUMO RFI - PARISOTTI CONSTRUÇÃO</vt:lpstr>
      <vt:lpstr>RESUMO RFI - PARISOTTI CONSTRUÇÃO</vt:lpstr>
      <vt:lpstr>RFI – VISIBILIDADE DOS FORNECEDORES</vt:lpstr>
      <vt:lpstr>MATRIZ PERCEPÇÃO DO FORNECEDOR</vt:lpstr>
      <vt:lpstr>MATRIZ 16 QUADRANTES FORNECEDOR</vt:lpstr>
      <vt:lpstr>MATRIZ PERCEPÇÃO DA IMAGEM EBP</vt:lpstr>
      <vt:lpstr>MATRIZ 16 QUADRANTES IMAGEM EBP</vt:lpstr>
      <vt:lpstr>ANÁLISE DA MATRIZ DE PERCEPÇÃO</vt:lpstr>
      <vt:lpstr>Apresentação do PowerPoint</vt:lpstr>
      <vt:lpstr>Apresentação do PowerPoint</vt:lpstr>
      <vt:lpstr>Apresentação do PowerPoint</vt:lpstr>
      <vt:lpstr>CRONOGRAMA DE IMPLANTAÇÃO</vt:lpstr>
      <vt:lpstr>RFP - OBRA DE MODERNIZAÇÃO  DO GALPÃO DE FÁBRICA</vt:lpstr>
      <vt:lpstr>COST BREAKDOWN DA SUBCATEGORIA</vt:lpstr>
      <vt:lpstr>EQUALIZAÇÃO DA RFP</vt:lpstr>
      <vt:lpstr>MAPA COMPARATIVO</vt:lpstr>
      <vt:lpstr>EXEMPLO DE PROCESSO EM ANDAMENTO</vt:lpstr>
      <vt:lpstr>EVOLUÇÃO DO STRATEGIC SOURCING</vt:lpstr>
      <vt:lpstr>01</vt:lpstr>
      <vt:lpstr>OBJETIVO DO PROJETO</vt:lpstr>
      <vt:lpstr>SOLUÇÕES E BENEFÍCIOS</vt:lpstr>
      <vt:lpstr>CONCLUSÕES E RECOMENDAÇÕES FUTURAS</vt:lpstr>
      <vt:lpstr>MUITO OBRIGADO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Empresa Brasileira de Pneus</dc:title>
  <dc:creator>Tatiane MACHADO</dc:creator>
  <cp:lastModifiedBy>Jean Somogyi</cp:lastModifiedBy>
  <cp:revision>60</cp:revision>
  <dcterms:modified xsi:type="dcterms:W3CDTF">2026-10-20T02:44:08Z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10edb9-2b8d-40d3-bf31-cf780319a0a0_Enabled">
    <vt:lpwstr>true</vt:lpwstr>
  </property>
  <property fmtid="{D5CDD505-2E9C-101B-9397-08002B2CF9AE}" pid="3" name="MSIP_Label_7b10edb9-2b8d-40d3-bf31-cf780319a0a0_SetDate">
    <vt:lpwstr>2023-01-18T23:05:53Z</vt:lpwstr>
  </property>
  <property fmtid="{D5CDD505-2E9C-101B-9397-08002B2CF9AE}" pid="4" name="MSIP_Label_7b10edb9-2b8d-40d3-bf31-cf780319a0a0_Method">
    <vt:lpwstr>Privileged</vt:lpwstr>
  </property>
  <property fmtid="{D5CDD505-2E9C-101B-9397-08002B2CF9AE}" pid="5" name="MSIP_Label_7b10edb9-2b8d-40d3-bf31-cf780319a0a0_Name">
    <vt:lpwstr>C1 - Public</vt:lpwstr>
  </property>
  <property fmtid="{D5CDD505-2E9C-101B-9397-08002B2CF9AE}" pid="6" name="MSIP_Label_7b10edb9-2b8d-40d3-bf31-cf780319a0a0_SiteId">
    <vt:lpwstr>fffad414-b6a3-4f32-a9bd-42d28fc811f1</vt:lpwstr>
  </property>
  <property fmtid="{D5CDD505-2E9C-101B-9397-08002B2CF9AE}" pid="7" name="MSIP_Label_7b10edb9-2b8d-40d3-bf31-cf780319a0a0_ActionId">
    <vt:lpwstr>0d51ba32-91ad-4eb1-91be-4cfc899a4da6</vt:lpwstr>
  </property>
  <property fmtid="{D5CDD505-2E9C-101B-9397-08002B2CF9AE}" pid="8" name="MSIP_Label_7b10edb9-2b8d-40d3-bf31-cf780319a0a0_ContentBits">
    <vt:lpwstr>0</vt:lpwstr>
  </property>
  <property fmtid="{D5CDD505-2E9C-101B-9397-08002B2CF9AE}" pid="9" name="MSIP_Label_2b87170e-801f-45f5-bc16-63d90c62b0e5_Enabled">
    <vt:lpwstr>true</vt:lpwstr>
  </property>
  <property fmtid="{D5CDD505-2E9C-101B-9397-08002B2CF9AE}" pid="10" name="MSIP_Label_2b87170e-801f-45f5-bc16-63d90c62b0e5_SetDate">
    <vt:lpwstr>2023-03-15T17:12:08Z</vt:lpwstr>
  </property>
  <property fmtid="{D5CDD505-2E9C-101B-9397-08002B2CF9AE}" pid="11" name="MSIP_Label_2b87170e-801f-45f5-bc16-63d90c62b0e5_Method">
    <vt:lpwstr>Standard</vt:lpwstr>
  </property>
  <property fmtid="{D5CDD505-2E9C-101B-9397-08002B2CF9AE}" pid="12" name="MSIP_Label_2b87170e-801f-45f5-bc16-63d90c62b0e5_Name">
    <vt:lpwstr>Público</vt:lpwstr>
  </property>
  <property fmtid="{D5CDD505-2E9C-101B-9397-08002B2CF9AE}" pid="13" name="MSIP_Label_2b87170e-801f-45f5-bc16-63d90c62b0e5_SiteId">
    <vt:lpwstr>bee8f688-a48d-4e4d-9763-890a8b24ed75</vt:lpwstr>
  </property>
  <property fmtid="{D5CDD505-2E9C-101B-9397-08002B2CF9AE}" pid="14" name="MSIP_Label_2b87170e-801f-45f5-bc16-63d90c62b0e5_ActionId">
    <vt:lpwstr>05780b37-9c70-405b-9530-76b1b0f4778d</vt:lpwstr>
  </property>
  <property fmtid="{D5CDD505-2E9C-101B-9397-08002B2CF9AE}" pid="15" name="MSIP_Label_2b87170e-801f-45f5-bc16-63d90c62b0e5_ContentBits">
    <vt:lpwstr>0</vt:lpwstr>
  </property>
  <property fmtid="{D5CDD505-2E9C-101B-9397-08002B2CF9AE}" pid="16" name="MSIP_Label_09e9a456-2778-4ca9-be06-1190b1e1118a_Enabled">
    <vt:lpwstr>true</vt:lpwstr>
  </property>
  <property fmtid="{D5CDD505-2E9C-101B-9397-08002B2CF9AE}" pid="17" name="MSIP_Label_09e9a456-2778-4ca9-be06-1190b1e1118a_SetDate">
    <vt:lpwstr>2023-03-29T22:41:10Z</vt:lpwstr>
  </property>
  <property fmtid="{D5CDD505-2E9C-101B-9397-08002B2CF9AE}" pid="18" name="MSIP_Label_09e9a456-2778-4ca9-be06-1190b1e1118a_Method">
    <vt:lpwstr>Standard</vt:lpwstr>
  </property>
  <property fmtid="{D5CDD505-2E9C-101B-9397-08002B2CF9AE}" pid="19" name="MSIP_Label_09e9a456-2778-4ca9-be06-1190b1e1118a_Name">
    <vt:lpwstr>D3</vt:lpwstr>
  </property>
  <property fmtid="{D5CDD505-2E9C-101B-9397-08002B2CF9AE}" pid="20" name="MSIP_Label_09e9a456-2778-4ca9-be06-1190b1e1118a_SiteId">
    <vt:lpwstr>658ba197-6c73-4fea-91bd-1c7d8de6bf2c</vt:lpwstr>
  </property>
  <property fmtid="{D5CDD505-2E9C-101B-9397-08002B2CF9AE}" pid="21" name="MSIP_Label_09e9a456-2778-4ca9-be06-1190b1e1118a_ActionId">
    <vt:lpwstr>711a2ed8-5e62-445e-868e-64e713feb4bc</vt:lpwstr>
  </property>
  <property fmtid="{D5CDD505-2E9C-101B-9397-08002B2CF9AE}" pid="22" name="MSIP_Label_09e9a456-2778-4ca9-be06-1190b1e1118a_ContentBits">
    <vt:lpwstr>0</vt:lpwstr>
  </property>
</Properties>
</file>