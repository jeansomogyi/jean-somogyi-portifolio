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1.xml" ContentType="application/vnd.openxmlformats-officedocument.drawingml.chart+xml"/>
  <Override PartName="/ppt/notesSlides/notesSlide18.xml" ContentType="application/vnd.openxmlformats-officedocument.presentationml.notesSlide+xml"/>
  <Override PartName="/ppt/charts/chart2.xml" ContentType="application/vnd.openxmlformats-officedocument.drawingml.chart+xml"/>
  <Override PartName="/ppt/notesSlides/notesSlide19.xml" ContentType="application/vnd.openxmlformats-officedocument.presentationml.notesSlide+xml"/>
  <Override PartName="/ppt/charts/chart3.xml" ContentType="application/vnd.openxmlformats-officedocument.drawingml.chart+xml"/>
  <Override PartName="/ppt/notesSlides/notesSlide20.xml" ContentType="application/vnd.openxmlformats-officedocument.presentationml.notesSlide+xml"/>
  <Override PartName="/ppt/charts/chart4.xml" ContentType="application/vnd.openxmlformats-officedocument.drawingml.chart+xml"/>
  <Override PartName="/ppt/notesSlides/notesSlide21.xml" ContentType="application/vnd.openxmlformats-officedocument.presentationml.notesSlide+xml"/>
  <Override PartName="/ppt/charts/chart5.xml" ContentType="application/vnd.openxmlformats-officedocument.drawingml.chart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4"/>
    <p:sldMasterId id="2147483669" r:id="rId5"/>
    <p:sldMasterId id="2147483702" r:id="rId6"/>
  </p:sldMasterIdLst>
  <p:notesMasterIdLst>
    <p:notesMasterId r:id="rId37"/>
  </p:notesMasterIdLst>
  <p:handoutMasterIdLst>
    <p:handoutMasterId r:id="rId38"/>
  </p:handoutMasterIdLst>
  <p:sldIdLst>
    <p:sldId id="275" r:id="rId7"/>
    <p:sldId id="2147475350" r:id="rId8"/>
    <p:sldId id="2076138009" r:id="rId9"/>
    <p:sldId id="2147475346" r:id="rId10"/>
    <p:sldId id="2147475354" r:id="rId11"/>
    <p:sldId id="258" r:id="rId12"/>
    <p:sldId id="374" r:id="rId13"/>
    <p:sldId id="301" r:id="rId14"/>
    <p:sldId id="274" r:id="rId15"/>
    <p:sldId id="257" r:id="rId16"/>
    <p:sldId id="2147475353" r:id="rId17"/>
    <p:sldId id="2147475352" r:id="rId18"/>
    <p:sldId id="272" r:id="rId19"/>
    <p:sldId id="259" r:id="rId20"/>
    <p:sldId id="260" r:id="rId21"/>
    <p:sldId id="2147481429" r:id="rId22"/>
    <p:sldId id="2147481430" r:id="rId23"/>
    <p:sldId id="306" r:id="rId24"/>
    <p:sldId id="2147475811" r:id="rId25"/>
    <p:sldId id="2147475356" r:id="rId26"/>
    <p:sldId id="2147475357" r:id="rId27"/>
    <p:sldId id="2147481425" r:id="rId28"/>
    <p:sldId id="2147481426" r:id="rId29"/>
    <p:sldId id="2147475359" r:id="rId30"/>
    <p:sldId id="308" r:id="rId31"/>
    <p:sldId id="276" r:id="rId32"/>
    <p:sldId id="277" r:id="rId33"/>
    <p:sldId id="2147475361" r:id="rId34"/>
    <p:sldId id="2147481423" r:id="rId35"/>
    <p:sldId id="292" r:id="rId3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4E9F"/>
    <a:srgbClr val="FFE600"/>
    <a:srgbClr val="9191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4C1A8A3-306A-4EB7-A6B1-4F7E0EB9C5D6}" styleName="Style moyen 3 - Accentuation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E25E649-3F16-4E02-A733-19D2CDBF48F0}" styleName="Style moyen 3 - Accentuation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Style moyen 2 - Accentuation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FD0F851-EC5A-4D38-B0AD-8093EC10F338}" styleName="Style léger 1 - Accentuation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C083E6E3-FA7D-4D7B-A595-EF9225AFEA82}" styleName="Style léger 1 - Accentuation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Style à thème 1 - Accentuation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Style à thème 1 - Accentuation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Style à thème 1 - Accentuation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B301B821-A1FF-4177-AEE7-76D212191A09}" styleName="Style moyen 1 - Accentuation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Style léger 1 - Accentuation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3792" autoAdjust="0"/>
  </p:normalViewPr>
  <p:slideViewPr>
    <p:cSldViewPr snapToGrid="0" snapToObjects="1">
      <p:cViewPr varScale="1">
        <p:scale>
          <a:sx n="77" d="100"/>
          <a:sy n="77" d="100"/>
        </p:scale>
        <p:origin x="912" y="6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128" d="100"/>
          <a:sy n="128" d="100"/>
        </p:scale>
        <p:origin x="4408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presProps" Target="presProps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tableStyles" Target="tableStyles.xml"/><Relationship Id="rId7" Type="http://schemas.openxmlformats.org/officeDocument/2006/relationships/slide" Target="slides/slid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microsoft.com/office/2016/11/relationships/changesInfo" Target="changesInfos/changesInfo1.xml"/><Relationship Id="rId8" Type="http://schemas.openxmlformats.org/officeDocument/2006/relationships/slide" Target="slides/slide2.xml"/><Relationship Id="rId3" Type="http://schemas.openxmlformats.org/officeDocument/2006/relationships/customXml" Target="../customXml/item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an Somogyi" userId="94ea200989126f6d" providerId="LiveId" clId="{8C91E982-4918-44F0-A830-2DE951E9F24D}"/>
    <pc:docChg chg="modSld">
      <pc:chgData name="Jean Somogyi" userId="94ea200989126f6d" providerId="LiveId" clId="{8C91E982-4918-44F0-A830-2DE951E9F24D}" dt="2026-10-20T02:56:55.445" v="32" actId="20577"/>
      <pc:docMkLst>
        <pc:docMk/>
      </pc:docMkLst>
      <pc:sldChg chg="modSp mod">
        <pc:chgData name="Jean Somogyi" userId="94ea200989126f6d" providerId="LiveId" clId="{8C91E982-4918-44F0-A830-2DE951E9F24D}" dt="2026-10-20T02:56:08.073" v="27" actId="20577"/>
        <pc:sldMkLst>
          <pc:docMk/>
          <pc:sldMk cId="0" sldId="272"/>
        </pc:sldMkLst>
        <pc:spChg chg="mod">
          <ac:chgData name="Jean Somogyi" userId="94ea200989126f6d" providerId="LiveId" clId="{8C91E982-4918-44F0-A830-2DE951E9F24D}" dt="2026-10-20T02:56:08.073" v="27" actId="20577"/>
          <ac:spMkLst>
            <pc:docMk/>
            <pc:sldMk cId="0" sldId="272"/>
            <ac:spMk id="92" creationId="{E06E96EF-70BC-B478-95C3-1B358F9568B2}"/>
          </ac:spMkLst>
        </pc:spChg>
        <pc:graphicFrameChg chg="modGraphic">
          <ac:chgData name="Jean Somogyi" userId="94ea200989126f6d" providerId="LiveId" clId="{8C91E982-4918-44F0-A830-2DE951E9F24D}" dt="2026-10-20T02:55:59.588" v="14" actId="6549"/>
          <ac:graphicFrameMkLst>
            <pc:docMk/>
            <pc:sldMk cId="0" sldId="272"/>
            <ac:graphicFrameMk id="86" creationId="{B2D51C06-5F0E-AFE7-F0EB-B86A60BD3C06}"/>
          </ac:graphicFrameMkLst>
        </pc:graphicFrameChg>
      </pc:sldChg>
      <pc:sldChg chg="modSp mod">
        <pc:chgData name="Jean Somogyi" userId="94ea200989126f6d" providerId="LiveId" clId="{8C91E982-4918-44F0-A830-2DE951E9F24D}" dt="2026-10-20T02:56:55.445" v="32" actId="20577"/>
        <pc:sldMkLst>
          <pc:docMk/>
          <pc:sldMk cId="0" sldId="276"/>
        </pc:sldMkLst>
        <pc:spChg chg="mod">
          <ac:chgData name="Jean Somogyi" userId="94ea200989126f6d" providerId="LiveId" clId="{8C91E982-4918-44F0-A830-2DE951E9F24D}" dt="2026-10-20T02:56:55.445" v="32" actId="20577"/>
          <ac:spMkLst>
            <pc:docMk/>
            <pc:sldMk cId="0" sldId="276"/>
            <ac:spMk id="62" creationId="{044C1777-9A74-FDAA-B9C0-C28807E375FE}"/>
          </ac:spMkLst>
        </pc:spChg>
      </pc:sldChg>
      <pc:sldChg chg="modSp mod">
        <pc:chgData name="Jean Somogyi" userId="94ea200989126f6d" providerId="LiveId" clId="{8C91E982-4918-44F0-A830-2DE951E9F24D}" dt="2026-10-20T02:55:34.950" v="9" actId="20577"/>
        <pc:sldMkLst>
          <pc:docMk/>
          <pc:sldMk cId="1305584646" sldId="2076138009"/>
        </pc:sldMkLst>
        <pc:spChg chg="mod">
          <ac:chgData name="Jean Somogyi" userId="94ea200989126f6d" providerId="LiveId" clId="{8C91E982-4918-44F0-A830-2DE951E9F24D}" dt="2026-10-20T02:55:34.950" v="9" actId="20577"/>
          <ac:spMkLst>
            <pc:docMk/>
            <pc:sldMk cId="1305584646" sldId="2076138009"/>
            <ac:spMk id="7" creationId="{C39A936A-FD67-9214-2303-67170D9F7B91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Spend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60A5FA"/>
              </a:solidFill>
              <a:ln w="12700" cap="flat">
                <a:solidFill>
                  <a:srgbClr val="131A2E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1BDC-4418-8BA6-DC5673FCFE0E}"/>
              </c:ext>
            </c:extLst>
          </c:dPt>
          <c:dPt>
            <c:idx val="1"/>
            <c:bubble3D val="0"/>
            <c:spPr>
              <a:solidFill>
                <a:srgbClr val="1E3A8A"/>
              </a:solidFill>
              <a:ln w="12700" cap="flat">
                <a:solidFill>
                  <a:srgbClr val="131A2E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1BDC-4418-8BA6-DC5673FCFE0E}"/>
              </c:ext>
            </c:extLst>
          </c:dPt>
          <c:cat>
            <c:strRef>
              <c:f>Sheet1!$A$2:$A$3</c:f>
              <c:strCache>
                <c:ptCount val="2"/>
                <c:pt idx="0">
                  <c:v>Maintenance</c:v>
                </c:pt>
                <c:pt idx="1">
                  <c:v>Other MFE Purchases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7.3</c:v>
                </c:pt>
                <c:pt idx="1">
                  <c:v>92.7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BDC-4418-8BA6-DC5673FCFE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solidFill>
          <a:srgbClr val="131A2E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31A2E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 (Jan–Dec)</c:v>
                </c:pt>
              </c:strCache>
            </c:strRef>
          </c:tx>
          <c:spPr>
            <a:solidFill>
              <a:srgbClr val="1E3A8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94A3B8"/>
                    </a:solidFill>
                    <a:latin typeface="Calibri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Family 1</c:v>
                </c:pt>
                <c:pt idx="1">
                  <c:v>Family 2</c:v>
                </c:pt>
                <c:pt idx="2">
                  <c:v>Family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</c:v>
                </c:pt>
                <c:pt idx="1">
                  <c:v>23.8</c:v>
                </c:pt>
                <c:pt idx="2">
                  <c:v>53.1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0FC-4BC1-9474-20525C5EEAB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 (Jan–Sep)</c:v>
                </c:pt>
              </c:strCache>
            </c:strRef>
          </c:tx>
          <c:spPr>
            <a:solidFill>
              <a:srgbClr val="60A5F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94A3B8"/>
                    </a:solidFill>
                    <a:latin typeface="Calibri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Family 1</c:v>
                </c:pt>
                <c:pt idx="1">
                  <c:v>Family 2</c:v>
                </c:pt>
                <c:pt idx="2">
                  <c:v>Family 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2.4</c:v>
                </c:pt>
                <c:pt idx="1">
                  <c:v>26.1</c:v>
                </c:pt>
                <c:pt idx="2">
                  <c:v>36.200000000000003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0FC-4BC1-9474-20525C5EEAB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overlap val="-2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F1F5F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b"/>
        <c:majorGridlines>
          <c:spPr>
            <a:ln w="6350" cap="flat">
              <a:solidFill>
                <a:srgbClr val="2A35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4A3B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31A2E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94A3B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31A2E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 (R$ K)</c:v>
                </c:pt>
              </c:strCache>
            </c:strRef>
          </c:tx>
          <c:spPr>
            <a:solidFill>
              <a:srgbClr val="27509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F3A6E"/>
                    </a:solidFill>
                    <a:latin typeface="Arial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Supplier B</c:v>
                </c:pt>
                <c:pt idx="1">
                  <c:v>Supplier C</c:v>
                </c:pt>
                <c:pt idx="2">
                  <c:v>Supplier D</c:v>
                </c:pt>
                <c:pt idx="3">
                  <c:v>Outros (47)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935.5</c:v>
                </c:pt>
                <c:pt idx="1">
                  <c:v>468.8</c:v>
                </c:pt>
                <c:pt idx="2">
                  <c:v>297.8</c:v>
                </c:pt>
                <c:pt idx="3">
                  <c:v>1594.9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D0F-4C9D-BCD0-BD722A87F18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Cumulative %</c:v>
                </c:pt>
              </c:strCache>
            </c:strRef>
          </c:tx>
          <c:spPr>
            <a:ln w="28575" cap="flat">
              <a:solidFill>
                <a:srgbClr val="E4572E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4572E"/>
              </a:solidFill>
              <a:ln w="9525" cap="flat">
                <a:solidFill>
                  <a:srgbClr val="E4572E"/>
                </a:solidFill>
                <a:prstDash val="solid"/>
                <a:round/>
              </a:ln>
              <a:effectLst/>
            </c:spPr>
          </c:marker>
          <c:dLbls>
            <c:dLbl>
              <c:idx val="3"/>
              <c:layout>
                <c:manualLayout>
                  <c:x val="-9.0031520882584721E-3"/>
                  <c:y val="2.319463743502650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FD0F-4C9D-BCD0-BD722A87F180}"/>
                </c:ext>
              </c:extLst>
            </c:dLbl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E4572E"/>
                    </a:solidFill>
                    <a:latin typeface="Arial"/>
                  </a:defRPr>
                </a:pPr>
                <a:endParaRPr lang="pt-B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Supplier B</c:v>
                </c:pt>
                <c:pt idx="1">
                  <c:v>Supplier C</c:v>
                </c:pt>
                <c:pt idx="2">
                  <c:v>Supplier D</c:v>
                </c:pt>
                <c:pt idx="3">
                  <c:v>Outros (47)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28.4</c:v>
                </c:pt>
                <c:pt idx="1">
                  <c:v>42.6</c:v>
                </c:pt>
                <c:pt idx="2">
                  <c:v>51.6</c:v>
                </c:pt>
                <c:pt idx="3">
                  <c:v>100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D0F-4C9D-BCD0-BD722A87F180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5"/>
        <c:axId val="2094734553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700000"/>
          <a:lstStyle/>
          <a:p>
            <a:pPr>
              <a:defRPr sz="85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6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27509B"/>
                    </a:solidFill>
                    <a:latin typeface="Arial"/>
                  </a:defRPr>
                </a:pPr>
                <a:r>
                  <a:rPr lang="pt-BR" sz="1000" b="0" i="0" u="none" strike="noStrike">
                    <a:solidFill>
                      <a:srgbClr val="27509B"/>
                    </a:solidFill>
                    <a:latin typeface="Arial"/>
                  </a:rPr>
                  <a:t>Spend (R$ K)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47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400"/>
      </c:valAx>
      <c:valAx>
        <c:axId val="2094734553"/>
        <c:scaling>
          <c:orientation val="minMax"/>
          <c:max val="100"/>
          <c:min val="0"/>
        </c:scaling>
        <c:delete val="0"/>
        <c:axPos val="r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E4572E"/>
                    </a:solidFill>
                    <a:latin typeface="Arial"/>
                  </a:defRPr>
                </a:pPr>
                <a:r>
                  <a:rPr lang="pt-BR" sz="1000" b="0" i="0" u="none" strike="noStrike">
                    <a:solidFill>
                      <a:srgbClr val="E4572E"/>
                    </a:solidFill>
                    <a:latin typeface="Arial"/>
                  </a:rPr>
                  <a:t>Cumulative %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E4572E"/>
                </a:solidFill>
                <a:latin typeface="Calibri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3"/>
        <c:crosses val="autoZero"/>
        <c:auto val="1"/>
        <c:lblAlgn val="ctr"/>
        <c:lblOffset val="100"/>
        <c:noMultiLvlLbl val="1"/>
      </c:cat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B6478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 (R$ K)</c:v>
                </c:pt>
              </c:strCache>
            </c:strRef>
          </c:tx>
          <c:spPr>
            <a:solidFill>
              <a:srgbClr val="27509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1F3A6E"/>
                    </a:solidFill>
                    <a:latin typeface="Arial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Supplier A</c:v>
                </c:pt>
                <c:pt idx="1">
                  <c:v>Supplier G</c:v>
                </c:pt>
                <c:pt idx="2">
                  <c:v>Supplier H</c:v>
                </c:pt>
                <c:pt idx="3">
                  <c:v>Supplier E</c:v>
                </c:pt>
                <c:pt idx="4">
                  <c:v>Supplier I</c:v>
                </c:pt>
                <c:pt idx="5">
                  <c:v>Supplier J</c:v>
                </c:pt>
                <c:pt idx="6">
                  <c:v>Supplier K</c:v>
                </c:pt>
                <c:pt idx="7">
                  <c:v>Supplier L</c:v>
                </c:pt>
                <c:pt idx="8">
                  <c:v>Supplier M</c:v>
                </c:pt>
                <c:pt idx="9">
                  <c:v>Supplier N</c:v>
                </c:pt>
                <c:pt idx="10">
                  <c:v>Outros (118)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8873.9</c:v>
                </c:pt>
                <c:pt idx="1">
                  <c:v>4804.1000000000004</c:v>
                </c:pt>
                <c:pt idx="2">
                  <c:v>3964.7</c:v>
                </c:pt>
                <c:pt idx="3">
                  <c:v>3944.5</c:v>
                </c:pt>
                <c:pt idx="4">
                  <c:v>3402.9</c:v>
                </c:pt>
                <c:pt idx="5">
                  <c:v>2611.9</c:v>
                </c:pt>
                <c:pt idx="6">
                  <c:v>2111.6</c:v>
                </c:pt>
                <c:pt idx="7">
                  <c:v>1901.4</c:v>
                </c:pt>
                <c:pt idx="8">
                  <c:v>1757.9</c:v>
                </c:pt>
                <c:pt idx="9">
                  <c:v>1476.5</c:v>
                </c:pt>
                <c:pt idx="10">
                  <c:v>15039.3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A0D-44A0-BCC3-67032B50E06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30"/>
        <c:axId val="2094734554"/>
        <c:axId val="2094734552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Cumulative %</c:v>
                </c:pt>
              </c:strCache>
            </c:strRef>
          </c:tx>
          <c:spPr>
            <a:ln w="28575" cap="flat">
              <a:solidFill>
                <a:srgbClr val="E4572E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E4572E"/>
              </a:solidFill>
              <a:ln w="9525" cap="flat">
                <a:solidFill>
                  <a:srgbClr val="E4572E"/>
                </a:solidFill>
                <a:prstDash val="solid"/>
                <a:round/>
              </a:ln>
              <a:effectLst/>
            </c:spPr>
          </c:marker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E4572E"/>
                    </a:solidFill>
                    <a:latin typeface="Arial"/>
                  </a:defRPr>
                </a:pPr>
                <a:endParaRPr lang="pt-B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Supplier A</c:v>
                </c:pt>
                <c:pt idx="1">
                  <c:v>Supplier G</c:v>
                </c:pt>
                <c:pt idx="2">
                  <c:v>Supplier H</c:v>
                </c:pt>
                <c:pt idx="3">
                  <c:v>Supplier E</c:v>
                </c:pt>
                <c:pt idx="4">
                  <c:v>Supplier I</c:v>
                </c:pt>
                <c:pt idx="5">
                  <c:v>Supplier J</c:v>
                </c:pt>
                <c:pt idx="6">
                  <c:v>Supplier K</c:v>
                </c:pt>
                <c:pt idx="7">
                  <c:v>Supplier L</c:v>
                </c:pt>
                <c:pt idx="8">
                  <c:v>Supplier M</c:v>
                </c:pt>
                <c:pt idx="9">
                  <c:v>Supplier N</c:v>
                </c:pt>
                <c:pt idx="10">
                  <c:v>Outros (118)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17.8</c:v>
                </c:pt>
                <c:pt idx="1">
                  <c:v>27.4</c:v>
                </c:pt>
                <c:pt idx="2">
                  <c:v>35.4</c:v>
                </c:pt>
                <c:pt idx="3">
                  <c:v>43.3</c:v>
                </c:pt>
                <c:pt idx="4">
                  <c:v>50.1</c:v>
                </c:pt>
                <c:pt idx="5">
                  <c:v>55.3</c:v>
                </c:pt>
                <c:pt idx="6">
                  <c:v>59.5</c:v>
                </c:pt>
                <c:pt idx="7">
                  <c:v>63.4</c:v>
                </c:pt>
                <c:pt idx="8">
                  <c:v>66.900000000000006</c:v>
                </c:pt>
                <c:pt idx="9">
                  <c:v>69.8</c:v>
                </c:pt>
                <c:pt idx="10">
                  <c:v>100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A0D-44A0-BCC3-67032B50E064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5"/>
        <c:axId val="2094734553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700000"/>
          <a:lstStyle/>
          <a:p>
            <a:pPr>
              <a:defRPr sz="8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60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27509B"/>
                    </a:solidFill>
                    <a:latin typeface="Arial"/>
                  </a:defRPr>
                </a:pPr>
                <a:r>
                  <a:rPr lang="pt-BR" sz="1000" b="0" i="0" u="none" strike="noStrike">
                    <a:solidFill>
                      <a:srgbClr val="27509B"/>
                    </a:solidFill>
                    <a:latin typeface="Arial"/>
                  </a:rPr>
                  <a:t>Spend (R$ K)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47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4000"/>
      </c:valAx>
      <c:valAx>
        <c:axId val="2094734553"/>
        <c:scaling>
          <c:orientation val="minMax"/>
          <c:max val="100"/>
          <c:min val="0"/>
        </c:scaling>
        <c:delete val="0"/>
        <c:axPos val="r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E4572E"/>
                    </a:solidFill>
                    <a:latin typeface="Arial"/>
                  </a:defRPr>
                </a:pPr>
                <a:r>
                  <a:rPr lang="pt-BR" sz="1000" b="0" i="0" u="none" strike="noStrike">
                    <a:solidFill>
                      <a:srgbClr val="E4572E"/>
                    </a:solidFill>
                    <a:latin typeface="Arial"/>
                  </a:rPr>
                  <a:t>Cumulative %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E4572E"/>
                </a:solidFill>
                <a:latin typeface="Calibri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3"/>
        <c:crosses val="autoZero"/>
        <c:auto val="1"/>
        <c:lblAlgn val="ctr"/>
        <c:lblOffset val="100"/>
        <c:noMultiLvlLbl val="1"/>
      </c:cat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B6478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Spend (R$ K)</c:v>
                </c:pt>
              </c:strCache>
            </c:strRef>
          </c:tx>
          <c:spPr>
            <a:solidFill>
              <a:srgbClr val="27509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1F3A6E"/>
                    </a:solidFill>
                    <a:latin typeface="Arial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Supplier A</c:v>
                </c:pt>
                <c:pt idx="1">
                  <c:v>Supplier E</c:v>
                </c:pt>
                <c:pt idx="2">
                  <c:v>Supplier F</c:v>
                </c:pt>
                <c:pt idx="3">
                  <c:v>Supplier O</c:v>
                </c:pt>
                <c:pt idx="4">
                  <c:v>Supplier H</c:v>
                </c:pt>
                <c:pt idx="5">
                  <c:v>Supplier P</c:v>
                </c:pt>
                <c:pt idx="6">
                  <c:v>Supplier Q</c:v>
                </c:pt>
                <c:pt idx="7">
                  <c:v>Supplier R</c:v>
                </c:pt>
                <c:pt idx="8">
                  <c:v>Supplier S</c:v>
                </c:pt>
                <c:pt idx="9">
                  <c:v>Supplier T</c:v>
                </c:pt>
                <c:pt idx="10">
                  <c:v>Outros (318)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11780.5</c:v>
                </c:pt>
                <c:pt idx="1">
                  <c:v>4613.3999999999996</c:v>
                </c:pt>
                <c:pt idx="2">
                  <c:v>2586.1999999999998</c:v>
                </c:pt>
                <c:pt idx="3">
                  <c:v>1934.9</c:v>
                </c:pt>
                <c:pt idx="4">
                  <c:v>1659.6</c:v>
                </c:pt>
                <c:pt idx="5">
                  <c:v>1548.2</c:v>
                </c:pt>
                <c:pt idx="6">
                  <c:v>1433.7</c:v>
                </c:pt>
                <c:pt idx="7">
                  <c:v>1211.4000000000001</c:v>
                </c:pt>
                <c:pt idx="8">
                  <c:v>1189.8</c:v>
                </c:pt>
                <c:pt idx="9">
                  <c:v>1164.0999999999999</c:v>
                </c:pt>
                <c:pt idx="10">
                  <c:v>78691.899999999994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FF3-4971-A3E5-6B9E3534D46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30"/>
        <c:axId val="2094734554"/>
        <c:axId val="2094734552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Cumulative %</c:v>
                </c:pt>
              </c:strCache>
            </c:strRef>
          </c:tx>
          <c:spPr>
            <a:ln w="28575" cap="flat">
              <a:solidFill>
                <a:srgbClr val="E4572E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E4572E"/>
              </a:solidFill>
              <a:ln w="9525" cap="flat">
                <a:solidFill>
                  <a:srgbClr val="E4572E"/>
                </a:solidFill>
                <a:prstDash val="solid"/>
                <a:round/>
              </a:ln>
              <a:effectLst/>
            </c:spPr>
          </c:marker>
          <c:dLbls>
            <c:dLbl>
              <c:idx val="10"/>
              <c:layout>
                <c:manualLayout>
                  <c:x val="-9.1051140770524258E-2"/>
                  <c:y val="1.572718851320055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2DC2-4CE5-90AA-93A1B4BFE7EB}"/>
                </c:ext>
              </c:extLst>
            </c:dLbl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E4572E"/>
                    </a:solidFill>
                    <a:latin typeface="Arial"/>
                  </a:defRPr>
                </a:pPr>
                <a:endParaRPr lang="pt-B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Supplier A</c:v>
                </c:pt>
                <c:pt idx="1">
                  <c:v>Supplier E</c:v>
                </c:pt>
                <c:pt idx="2">
                  <c:v>Supplier F</c:v>
                </c:pt>
                <c:pt idx="3">
                  <c:v>Supplier O</c:v>
                </c:pt>
                <c:pt idx="4">
                  <c:v>Supplier H</c:v>
                </c:pt>
                <c:pt idx="5">
                  <c:v>Supplier P</c:v>
                </c:pt>
                <c:pt idx="6">
                  <c:v>Supplier Q</c:v>
                </c:pt>
                <c:pt idx="7">
                  <c:v>Supplier R</c:v>
                </c:pt>
                <c:pt idx="8">
                  <c:v>Supplier S</c:v>
                </c:pt>
                <c:pt idx="9">
                  <c:v>Supplier T</c:v>
                </c:pt>
                <c:pt idx="10">
                  <c:v>Outros (318)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13.2</c:v>
                </c:pt>
                <c:pt idx="1">
                  <c:v>18.399999999999999</c:v>
                </c:pt>
                <c:pt idx="2">
                  <c:v>21.3</c:v>
                </c:pt>
                <c:pt idx="3">
                  <c:v>23.4</c:v>
                </c:pt>
                <c:pt idx="4">
                  <c:v>25.3</c:v>
                </c:pt>
                <c:pt idx="5">
                  <c:v>27</c:v>
                </c:pt>
                <c:pt idx="6">
                  <c:v>28.6</c:v>
                </c:pt>
                <c:pt idx="7">
                  <c:v>30</c:v>
                </c:pt>
                <c:pt idx="8">
                  <c:v>31.3</c:v>
                </c:pt>
                <c:pt idx="9">
                  <c:v>32.6</c:v>
                </c:pt>
                <c:pt idx="10">
                  <c:v>100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FF3-4971-A3E5-6B9E3534D461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5"/>
        <c:axId val="2094734553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700000"/>
          <a:lstStyle/>
          <a:p>
            <a:pPr>
              <a:defRPr sz="8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00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27509B"/>
                    </a:solidFill>
                    <a:latin typeface="Arial"/>
                  </a:defRPr>
                </a:pPr>
                <a:r>
                  <a:rPr lang="pt-BR" sz="1000" b="0" i="0" u="none" strike="noStrike">
                    <a:solidFill>
                      <a:srgbClr val="27509B"/>
                    </a:solidFill>
                    <a:latin typeface="Arial"/>
                  </a:rPr>
                  <a:t>Spend (R$ K)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47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10000"/>
      </c:valAx>
      <c:valAx>
        <c:axId val="2094734553"/>
        <c:scaling>
          <c:orientation val="minMax"/>
          <c:max val="100"/>
          <c:min val="0"/>
        </c:scaling>
        <c:delete val="0"/>
        <c:axPos val="r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E4572E"/>
                    </a:solidFill>
                    <a:latin typeface="Arial"/>
                  </a:defRPr>
                </a:pPr>
                <a:r>
                  <a:rPr lang="pt-BR" sz="1000" b="0" i="0" u="none" strike="noStrike">
                    <a:solidFill>
                      <a:srgbClr val="E4572E"/>
                    </a:solidFill>
                    <a:latin typeface="Arial"/>
                  </a:rPr>
                  <a:t>Cumulative %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E4572E"/>
                </a:solidFill>
                <a:latin typeface="Calibri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3"/>
        <c:crosses val="autoZero"/>
        <c:auto val="1"/>
        <c:lblAlgn val="ctr"/>
        <c:lblOffset val="100"/>
        <c:noMultiLvlLbl val="1"/>
      </c:cat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B6478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85EEDD98-7A48-594F-97F5-0D0644FDA1B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2C11310-D083-1144-86FE-24D277C8ACD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CFF509-8CEA-EC45-8DB0-9AF733226C3E}" type="datetimeFigureOut">
              <a:rPr lang="fr-FR" smtClean="0"/>
              <a:t>19/10/2026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E2E18D6-E050-1A45-BB0A-F76F15E1EB2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DB4BBF0-3AA6-D14B-9C17-49A43274ED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EFD45B-794C-504F-8F63-68C84631C11A}" type="slidenum">
              <a:rPr lang="fr-FR" smtClean="0"/>
              <a:t>‹nº›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054779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43767D-6507-D947-9DB8-B7C961FBFD19}" type="datetimeFigureOut">
              <a:rPr lang="fr-FR" smtClean="0"/>
              <a:t>19/10/2026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637971-6FA1-0649-9130-E7A97B44DE1C}" type="slidenum">
              <a:rPr lang="fr-FR" smtClean="0"/>
              <a:t>‹nº›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390619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Annete Deparis CPS.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637971-6FA1-0649-9130-E7A97B44DE1C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981704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EBU overview of category codes.</a:t>
            </a:r>
          </a:p>
        </p:txBody>
      </p:sp>
    </p:spTree>
    <p:extLst>
      <p:ext uri="{BB962C8B-B14F-4D97-AF65-F5344CB8AC3E}">
        <p14:creationId xmlns:p14="http://schemas.microsoft.com/office/powerpoint/2010/main" val="38784796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898A0-B2F5-24C6-3F93-8BE24856E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1BE2F965-AC0F-FD27-1075-262DCA5310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E118E9A-555C-092F-A52C-44D88170AD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0641D49-4AB7-1730-368A-0CC5826D9C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637971-6FA1-0649-9130-E7A97B44DE1C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64962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637971-6FA1-0649-9130-E7A97B44DE1C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234141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CPS, </a:t>
            </a:r>
            <a:r>
              <a:rPr lang="en-US" dirty="0" err="1"/>
              <a:t>perguntar</a:t>
            </a:r>
            <a:r>
              <a:rPr lang="en-US" dirty="0"/>
              <a:t> Annethe.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Fazer link de </a:t>
            </a:r>
            <a:r>
              <a:rPr lang="en-US" dirty="0" err="1"/>
              <a:t>benchmarck</a:t>
            </a:r>
            <a:r>
              <a:rPr lang="en-US" dirty="0"/>
              <a:t> mercado para </a:t>
            </a:r>
            <a:r>
              <a:rPr lang="en-US" dirty="0" err="1"/>
              <a:t>troca</a:t>
            </a:r>
            <a:r>
              <a:rPr lang="en-US" dirty="0"/>
              <a:t> de Fornecedor para </a:t>
            </a:r>
            <a:r>
              <a:rPr lang="en-US" dirty="0" err="1"/>
              <a:t>assuntos</a:t>
            </a:r>
            <a:r>
              <a:rPr lang="en-US" dirty="0"/>
              <a:t> </a:t>
            </a:r>
            <a:r>
              <a:rPr lang="en-US" dirty="0" err="1"/>
              <a:t>criticos</a:t>
            </a:r>
            <a:r>
              <a:rPr lang="en-US" dirty="0"/>
              <a:t> </a:t>
            </a:r>
            <a:r>
              <a:rPr lang="en-US" dirty="0" err="1"/>
              <a:t>insucesso</a:t>
            </a:r>
            <a:r>
              <a:rPr lang="en-US" dirty="0"/>
              <a:t> the company (</a:t>
            </a:r>
            <a:r>
              <a:rPr lang="en-US" dirty="0" err="1"/>
              <a:t>Moove</a:t>
            </a:r>
            <a:r>
              <a:rPr lang="en-US" dirty="0"/>
              <a:t>, Marluvas, Globo- </a:t>
            </a:r>
            <a:r>
              <a:rPr lang="en-US" dirty="0" err="1"/>
              <a:t>subestação</a:t>
            </a:r>
            <a:r>
              <a:rPr lang="en-US" dirty="0"/>
              <a:t>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630C4-3B61-4ACE-EF0D-461CADA2D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F1D2B7-13F9-AE4A-ADA3-D94DF71A25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590025-F99F-88EF-CF0F-7DD27380C7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FC6164-7BD4-12B8-8B41-2691522CE2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3315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322BB-CD48-67FB-853A-340A101CD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76EE69-55C8-14DC-0398-D0AC11F964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9E6717-1708-4ADA-FB8C-4D66EBF1E3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Fazer link de </a:t>
            </a:r>
            <a:r>
              <a:rPr lang="en-US" dirty="0" err="1"/>
              <a:t>benchmarck</a:t>
            </a:r>
            <a:r>
              <a:rPr lang="en-US" dirty="0"/>
              <a:t> mercado para </a:t>
            </a:r>
            <a:r>
              <a:rPr lang="en-US" dirty="0" err="1"/>
              <a:t>troca</a:t>
            </a:r>
            <a:r>
              <a:rPr lang="en-US" dirty="0"/>
              <a:t> de Fornecedor para </a:t>
            </a:r>
            <a:r>
              <a:rPr lang="en-US" dirty="0" err="1"/>
              <a:t>assuntos</a:t>
            </a:r>
            <a:r>
              <a:rPr lang="en-US" dirty="0"/>
              <a:t> </a:t>
            </a:r>
            <a:r>
              <a:rPr lang="en-US" dirty="0" err="1"/>
              <a:t>criticos</a:t>
            </a:r>
            <a:r>
              <a:rPr lang="en-US" dirty="0"/>
              <a:t> </a:t>
            </a:r>
            <a:r>
              <a:rPr lang="en-US" dirty="0" err="1"/>
              <a:t>insucesso</a:t>
            </a:r>
            <a:r>
              <a:rPr lang="en-US" dirty="0"/>
              <a:t> the company (</a:t>
            </a:r>
            <a:r>
              <a:rPr lang="en-US" dirty="0" err="1"/>
              <a:t>Moove</a:t>
            </a:r>
            <a:r>
              <a:rPr lang="en-US" dirty="0"/>
              <a:t>, Marluvas, Globo- </a:t>
            </a:r>
            <a:r>
              <a:rPr lang="en-US" dirty="0" err="1"/>
              <a:t>subestação</a:t>
            </a:r>
            <a:r>
              <a:rPr lang="en-US" dirty="0"/>
              <a:t>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AD901E-DEC7-06AB-984B-6AFEC6A202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1189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892F2C-4F77-43D0-8788-D9407C048626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44378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FA4C3-A064-208C-2A68-85BE9B4AF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21C2CC-9B56-A850-7C37-F679A7D393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F87E21-B54D-2FEC-4B0E-C96E51EEFB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B59A56-14C4-F01E-4F27-744826732B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48333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Aquisição</a:t>
            </a:r>
            <a:r>
              <a:rPr lang="en-US" dirty="0"/>
              <a:t> de pontes </a:t>
            </a:r>
            <a:r>
              <a:rPr lang="en-US" dirty="0" err="1"/>
              <a:t>rolantes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categoria</a:t>
            </a:r>
            <a:r>
              <a:rPr lang="en-US" dirty="0"/>
              <a:t> Family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Vitor and Jean</a:t>
            </a:r>
          </a:p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637971-6FA1-0649-9130-E7A97B44DE1C}" type="slidenum">
              <a:rPr lang="fr-FR" smtClean="0"/>
              <a:t>29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915663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Disposition personnalisé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A0ADCECC-E0CE-8040-90A8-7BAE91E8747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46538"/>
          <a:stretch/>
        </p:blipFill>
        <p:spPr>
          <a:xfrm>
            <a:off x="451500" y="2016718"/>
            <a:ext cx="5389464" cy="4383805"/>
          </a:xfrm>
          <a:prstGeom prst="rect">
            <a:avLst/>
          </a:prstGeom>
        </p:spPr>
      </p:pic>
      <p:sp>
        <p:nvSpPr>
          <p:cNvPr id="7" name="Titre 3">
            <a:extLst>
              <a:ext uri="{FF2B5EF4-FFF2-40B4-BE49-F238E27FC236}">
                <a16:creationId xmlns:a16="http://schemas.microsoft.com/office/drawing/2014/main" id="{0C3946A3-F4D6-BE49-ADE9-C2956C7CDD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9687" y="457477"/>
            <a:ext cx="5281277" cy="813764"/>
          </a:xfrm>
          <a:prstGeom prst="rect">
            <a:avLst/>
          </a:prstGeom>
          <a:noFill/>
        </p:spPr>
        <p:txBody>
          <a:bodyPr anchor="ctr"/>
          <a:lstStyle>
            <a:lvl1pPr algn="l">
              <a:defRPr sz="5400" b="1" i="1" u="none">
                <a:solidFill>
                  <a:srgbClr val="014E9F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r>
              <a:rPr lang="en-GB" dirty="0"/>
              <a:t>CONTENT</a:t>
            </a:r>
          </a:p>
        </p:txBody>
      </p:sp>
      <p:sp>
        <p:nvSpPr>
          <p:cNvPr id="6" name="Espace réservé du contenu 3">
            <a:extLst>
              <a:ext uri="{FF2B5EF4-FFF2-40B4-BE49-F238E27FC236}">
                <a16:creationId xmlns:a16="http://schemas.microsoft.com/office/drawing/2014/main" id="{59319072-AA48-9747-9DDC-FE0293354C0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898534" y="1828278"/>
            <a:ext cx="5964812" cy="3442551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014E9F"/>
              </a:buClr>
              <a:buFont typeface="+mj-lt"/>
              <a:buAutoNum type="arabicPeriod"/>
              <a:defRPr sz="2000" b="1" i="1" baseline="0">
                <a:solidFill>
                  <a:srgbClr val="014E9F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  <a:lvl2pPr marL="742950" indent="-285750">
              <a:lnSpc>
                <a:spcPct val="100000"/>
              </a:lnSpc>
              <a:buClr>
                <a:srgbClr val="014E9F"/>
              </a:buClr>
              <a:buSzPct val="100000"/>
              <a:buFont typeface="Lucida Grande"/>
              <a:buChar char="●"/>
              <a:defRPr sz="1400" b="0" i="0" baseline="0">
                <a:solidFill>
                  <a:srgbClr val="014E9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Clr>
                <a:srgbClr val="014E9F"/>
              </a:buClr>
              <a:buFont typeface="Wingdings" pitchFamily="2" charset="2"/>
              <a:buChar char="§"/>
              <a:defRPr sz="1800" baseline="0">
                <a:solidFill>
                  <a:srgbClr val="014E9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Clr>
                <a:srgbClr val="014E9F"/>
              </a:buClr>
              <a:buFont typeface="Lucida Grande"/>
              <a:buChar char="▸"/>
              <a:defRPr sz="1400">
                <a:solidFill>
                  <a:srgbClr val="014E9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Clr>
                <a:srgbClr val="014E9F"/>
              </a:buClr>
              <a:buFont typeface="Wingdings" pitchFamily="2" charset="2"/>
              <a:buChar char="v"/>
              <a:defRPr sz="1200">
                <a:solidFill>
                  <a:srgbClr val="014E9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noProof="0" dirty="0"/>
              <a:t>CONTENT A</a:t>
            </a:r>
          </a:p>
          <a:p>
            <a:pPr lvl="1"/>
            <a:r>
              <a:rPr lang="en-GB" noProof="0" dirty="0"/>
              <a:t>The XDR3 the company tyre equips the world’s largest mining truck. Capable of withstanding up to 220 tonnes, it resists even the heaviest </a:t>
            </a:r>
            <a:r>
              <a:rPr lang="en-GB" noProof="0" dirty="0" err="1"/>
              <a:t>loads.Nem</a:t>
            </a:r>
            <a:r>
              <a:rPr lang="en-GB" noProof="0" dirty="0"/>
              <a:t> rem qui </a:t>
            </a:r>
            <a:r>
              <a:rPr lang="en-GB" noProof="0" dirty="0" err="1"/>
              <a:t>doluptiur</a:t>
            </a:r>
            <a:r>
              <a:rPr lang="en-GB" noProof="0" dirty="0"/>
              <a:t> </a:t>
            </a:r>
            <a:r>
              <a:rPr lang="en-GB" noProof="0" dirty="0" err="1"/>
              <a:t>aut</a:t>
            </a:r>
            <a:r>
              <a:rPr lang="en-GB" noProof="0" dirty="0"/>
              <a:t> </a:t>
            </a:r>
            <a:r>
              <a:rPr lang="en-GB" noProof="0" dirty="0" err="1"/>
              <a:t>esti</a:t>
            </a:r>
            <a:r>
              <a:rPr lang="en-GB" noProof="0" dirty="0"/>
              <a:t> </a:t>
            </a:r>
            <a:r>
              <a:rPr lang="en-GB" noProof="0" dirty="0" err="1"/>
              <a:t>te</a:t>
            </a:r>
            <a:r>
              <a:rPr lang="en-GB" noProof="0" dirty="0"/>
              <a:t> </a:t>
            </a:r>
            <a:r>
              <a:rPr lang="en-GB" noProof="0" dirty="0" err="1"/>
              <a:t>estoruntis</a:t>
            </a:r>
            <a:r>
              <a:rPr lang="en-GB" noProof="0" dirty="0"/>
              <a:t> ex ex et </a:t>
            </a:r>
            <a:r>
              <a:rPr lang="en-GB" noProof="0" dirty="0" err="1"/>
              <a:t>lat</a:t>
            </a:r>
            <a:r>
              <a:rPr lang="en-GB" noProof="0" dirty="0"/>
              <a:t> verum </a:t>
            </a:r>
            <a:r>
              <a:rPr lang="en-GB" noProof="0" dirty="0" err="1"/>
              <a:t>quosam</a:t>
            </a:r>
            <a:r>
              <a:rPr lang="en-GB" noProof="0" dirty="0"/>
              <a:t> et </a:t>
            </a:r>
            <a:r>
              <a:rPr lang="en-GB" noProof="0" dirty="0" err="1"/>
              <a:t>esserfe</a:t>
            </a:r>
            <a:r>
              <a:rPr lang="en-GB" noProof="0" dirty="0"/>
              <a:t> </a:t>
            </a:r>
            <a:r>
              <a:rPr lang="en-GB" noProof="0" dirty="0" err="1"/>
              <a:t>rspictem</a:t>
            </a:r>
            <a:r>
              <a:rPr lang="en-GB" noProof="0" dirty="0"/>
              <a:t> as </a:t>
            </a:r>
            <a:r>
              <a:rPr lang="en-GB" noProof="0" dirty="0" err="1"/>
              <a:t>istiore</a:t>
            </a:r>
            <a:r>
              <a:rPr lang="en-GB" noProof="0" dirty="0"/>
              <a:t> </a:t>
            </a:r>
            <a:r>
              <a:rPr lang="en-GB" noProof="0" dirty="0" err="1"/>
              <a:t>ctiiscia</a:t>
            </a:r>
            <a:r>
              <a:rPr lang="en-GB" noProof="0" dirty="0"/>
              <a:t> </a:t>
            </a:r>
            <a:r>
              <a:rPr lang="en-GB" noProof="0" dirty="0" err="1"/>
              <a:t>corerioria</a:t>
            </a:r>
            <a:r>
              <a:rPr lang="en-GB" noProof="0" dirty="0"/>
              <a:t> </a:t>
            </a:r>
            <a:r>
              <a:rPr lang="en-GB" noProof="0" dirty="0" err="1"/>
              <a:t>vernatur</a:t>
            </a:r>
            <a:r>
              <a:rPr lang="en-GB" noProof="0" dirty="0"/>
              <a:t>, </a:t>
            </a:r>
            <a:r>
              <a:rPr lang="en-GB" noProof="0" dirty="0" err="1"/>
              <a:t>ut</a:t>
            </a:r>
            <a:r>
              <a:rPr lang="en-GB" noProof="0" dirty="0"/>
              <a:t> </a:t>
            </a:r>
            <a:r>
              <a:rPr lang="en-GB" noProof="0" dirty="0" err="1"/>
              <a:t>ventisit</a:t>
            </a:r>
            <a:r>
              <a:rPr lang="en-GB" noProof="0" dirty="0"/>
              <a:t>,</a:t>
            </a:r>
          </a:p>
        </p:txBody>
      </p:sp>
      <p:pic>
        <p:nvPicPr>
          <p:cNvPr id="2" name="Image 8">
            <a:extLst>
              <a:ext uri="{FF2B5EF4-FFF2-40B4-BE49-F238E27FC236}">
                <a16:creationId xmlns:a16="http://schemas.microsoft.com/office/drawing/2014/main" id="{C0658270-DFE8-96A0-6A30-D738183B847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743626" y="6079066"/>
            <a:ext cx="1431122" cy="751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7361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position personnalisé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re 3">
            <a:extLst>
              <a:ext uri="{FF2B5EF4-FFF2-40B4-BE49-F238E27FC236}">
                <a16:creationId xmlns:a16="http://schemas.microsoft.com/office/drawing/2014/main" id="{98F3E029-05D4-4945-9E36-3B3D678D8F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8948" y="496831"/>
            <a:ext cx="7391400" cy="1187003"/>
          </a:xfrm>
          <a:prstGeom prst="rect">
            <a:avLst/>
          </a:prstGeom>
          <a:noFill/>
        </p:spPr>
        <p:txBody>
          <a:bodyPr anchor="ctr"/>
          <a:lstStyle>
            <a:lvl1pPr algn="l">
              <a:defRPr sz="4000" b="1" i="1">
                <a:solidFill>
                  <a:srgbClr val="014E9F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r>
              <a:rPr lang="en-GB" noProof="0" dirty="0"/>
              <a:t>TITRE</a:t>
            </a:r>
            <a:br>
              <a:rPr lang="en-GB" noProof="0" dirty="0"/>
            </a:br>
            <a:r>
              <a:rPr lang="en-GB" noProof="0" dirty="0"/>
              <a:t>TITLE</a:t>
            </a:r>
          </a:p>
        </p:txBody>
      </p:sp>
      <p:sp>
        <p:nvSpPr>
          <p:cNvPr id="17" name="Sous-titre 2">
            <a:extLst>
              <a:ext uri="{FF2B5EF4-FFF2-40B4-BE49-F238E27FC236}">
                <a16:creationId xmlns:a16="http://schemas.microsoft.com/office/drawing/2014/main" id="{CB2E5BC9-E70A-A24A-9F4D-E3EA8597C8E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28948" y="1683834"/>
            <a:ext cx="7391398" cy="345796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indent="0" algn="l">
              <a:buNone/>
              <a:defRPr lang="fr-FR" sz="1200" b="1" i="1" kern="1200" baseline="0" smtClean="0">
                <a:solidFill>
                  <a:srgbClr val="014E9F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4571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2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5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6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8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9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noProof="0" dirty="0"/>
              <a:t>SOUS TITRE / SUBTITLE</a:t>
            </a:r>
          </a:p>
        </p:txBody>
      </p:sp>
      <p:sp>
        <p:nvSpPr>
          <p:cNvPr id="7" name="Espace réservé du contenu 3">
            <a:extLst>
              <a:ext uri="{FF2B5EF4-FFF2-40B4-BE49-F238E27FC236}">
                <a16:creationId xmlns:a16="http://schemas.microsoft.com/office/drawing/2014/main" id="{611C4C19-B115-6244-BB29-A18EABD2410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328948" y="2304902"/>
            <a:ext cx="7391398" cy="3442551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014E9F"/>
              </a:buClr>
              <a:buFont typeface="Wingdings" charset="2"/>
              <a:buChar char=""/>
              <a:defRPr sz="2000" b="1" i="0" baseline="0">
                <a:solidFill>
                  <a:srgbClr val="014E9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Clr>
                <a:srgbClr val="014E9F"/>
              </a:buClr>
              <a:buSzPct val="100000"/>
              <a:buFont typeface="Lucida Grande"/>
              <a:buChar char="●"/>
              <a:defRPr sz="1800" b="1" i="0" baseline="0">
                <a:solidFill>
                  <a:srgbClr val="014E9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Clr>
                <a:srgbClr val="014E9F"/>
              </a:buClr>
              <a:buFont typeface="Wingdings" pitchFamily="2" charset="2"/>
              <a:buChar char="§"/>
              <a:defRPr sz="1800" b="0" i="0" baseline="0">
                <a:solidFill>
                  <a:srgbClr val="014E9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Clr>
                <a:srgbClr val="014E9F"/>
              </a:buClr>
              <a:buFont typeface="Lucida Grande"/>
              <a:buChar char="▸"/>
              <a:defRPr sz="1400">
                <a:solidFill>
                  <a:srgbClr val="014E9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Clr>
                <a:srgbClr val="014E9F"/>
              </a:buClr>
              <a:buFont typeface="Wingdings" pitchFamily="2" charset="2"/>
              <a:buChar char="v"/>
              <a:defRPr sz="1200">
                <a:solidFill>
                  <a:srgbClr val="014E9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noProof="0" dirty="0"/>
              <a:t>CLICK TO MODIFY THE TEXT OF THE MASK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0C4C15ED-6CE1-714D-9181-FFA75E624DE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4498"/>
            <a:ext cx="3857908" cy="6510221"/>
          </a:xfrm>
          <a:prstGeom prst="rect">
            <a:avLst/>
          </a:prstGeom>
        </p:spPr>
      </p:pic>
      <p:pic>
        <p:nvPicPr>
          <p:cNvPr id="2" name="Image 8">
            <a:extLst>
              <a:ext uri="{FF2B5EF4-FFF2-40B4-BE49-F238E27FC236}">
                <a16:creationId xmlns:a16="http://schemas.microsoft.com/office/drawing/2014/main" id="{B940FD25-ADFA-F839-C2BD-97207B16144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743626" y="6079066"/>
            <a:ext cx="1431122" cy="751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3009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Disposition personnalisé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re 3">
            <a:extLst>
              <a:ext uri="{FF2B5EF4-FFF2-40B4-BE49-F238E27FC236}">
                <a16:creationId xmlns:a16="http://schemas.microsoft.com/office/drawing/2014/main" id="{10D27255-9B58-6C4D-8D8D-F87BEEDC9E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8948" y="496831"/>
            <a:ext cx="7391400" cy="1187003"/>
          </a:xfrm>
          <a:prstGeom prst="rect">
            <a:avLst/>
          </a:prstGeom>
          <a:noFill/>
        </p:spPr>
        <p:txBody>
          <a:bodyPr anchor="ctr"/>
          <a:lstStyle>
            <a:lvl1pPr algn="l">
              <a:defRPr sz="4000" b="1" i="1">
                <a:solidFill>
                  <a:srgbClr val="014E9F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r>
              <a:rPr lang="en-GB" noProof="0" dirty="0"/>
              <a:t>TITRE</a:t>
            </a:r>
            <a:br>
              <a:rPr lang="en-GB" noProof="0" dirty="0"/>
            </a:br>
            <a:r>
              <a:rPr lang="en-GB" noProof="0" dirty="0"/>
              <a:t>TITLE</a:t>
            </a:r>
          </a:p>
        </p:txBody>
      </p:sp>
      <p:sp>
        <p:nvSpPr>
          <p:cNvPr id="12" name="Sous-titre 2">
            <a:extLst>
              <a:ext uri="{FF2B5EF4-FFF2-40B4-BE49-F238E27FC236}">
                <a16:creationId xmlns:a16="http://schemas.microsoft.com/office/drawing/2014/main" id="{C9FD2BFF-9DA7-1543-B0F5-90429DB5FAF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28948" y="1683834"/>
            <a:ext cx="7391398" cy="345796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indent="0" algn="l">
              <a:buNone/>
              <a:defRPr lang="fr-FR" sz="1200" b="1" i="1" kern="1200" baseline="0" smtClean="0">
                <a:solidFill>
                  <a:srgbClr val="014E9F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4571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2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5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6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8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9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noProof="0" dirty="0"/>
              <a:t>SOUS TITRE / SUBTITLE</a:t>
            </a:r>
          </a:p>
        </p:txBody>
      </p:sp>
      <p:sp>
        <p:nvSpPr>
          <p:cNvPr id="13" name="Espace réservé du contenu 3">
            <a:extLst>
              <a:ext uri="{FF2B5EF4-FFF2-40B4-BE49-F238E27FC236}">
                <a16:creationId xmlns:a16="http://schemas.microsoft.com/office/drawing/2014/main" id="{ADD604E5-9934-D241-B41B-F30CAFC0215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328948" y="2304902"/>
            <a:ext cx="7391398" cy="3442551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014E9F"/>
              </a:buClr>
              <a:buFont typeface="Wingdings" charset="2"/>
              <a:buChar char=""/>
              <a:defRPr sz="2000" b="1" i="0" baseline="0">
                <a:solidFill>
                  <a:srgbClr val="014E9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Clr>
                <a:srgbClr val="014E9F"/>
              </a:buClr>
              <a:buSzPct val="100000"/>
              <a:buFont typeface="Lucida Grande"/>
              <a:buChar char="●"/>
              <a:defRPr sz="1800" b="1" i="0" baseline="0">
                <a:solidFill>
                  <a:srgbClr val="014E9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Clr>
                <a:srgbClr val="014E9F"/>
              </a:buClr>
              <a:buFont typeface="Wingdings" pitchFamily="2" charset="2"/>
              <a:buChar char="§"/>
              <a:defRPr sz="1800" b="0" i="0" baseline="0">
                <a:solidFill>
                  <a:srgbClr val="014E9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Clr>
                <a:srgbClr val="014E9F"/>
              </a:buClr>
              <a:buFont typeface="Lucida Grande"/>
              <a:buChar char="▸"/>
              <a:defRPr sz="1400">
                <a:solidFill>
                  <a:srgbClr val="014E9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Clr>
                <a:srgbClr val="014E9F"/>
              </a:buClr>
              <a:buFont typeface="Wingdings" pitchFamily="2" charset="2"/>
              <a:buChar char="v"/>
              <a:defRPr sz="1200">
                <a:solidFill>
                  <a:srgbClr val="014E9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noProof="0" dirty="0"/>
              <a:t>CLICK TO MODIFY THE TEXT OF THE MASK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A1ACAECC-7D09-EF4D-A23A-2CDCF7FA58D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9684"/>
            <a:ext cx="3857908" cy="6510221"/>
          </a:xfrm>
          <a:prstGeom prst="rect">
            <a:avLst/>
          </a:prstGeom>
        </p:spPr>
      </p:pic>
      <p:pic>
        <p:nvPicPr>
          <p:cNvPr id="2" name="Image 8">
            <a:extLst>
              <a:ext uri="{FF2B5EF4-FFF2-40B4-BE49-F238E27FC236}">
                <a16:creationId xmlns:a16="http://schemas.microsoft.com/office/drawing/2014/main" id="{52A47C8E-7236-6065-26D3-E4B85D77E93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743626" y="6079066"/>
            <a:ext cx="1431122" cy="751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8832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isposition personnalisé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3">
            <a:extLst>
              <a:ext uri="{FF2B5EF4-FFF2-40B4-BE49-F238E27FC236}">
                <a16:creationId xmlns:a16="http://schemas.microsoft.com/office/drawing/2014/main" id="{4C1C9CFE-EFDB-FF48-9DE9-AB4F908131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52843" y="454329"/>
            <a:ext cx="4915856" cy="1187003"/>
          </a:xfrm>
          <a:prstGeom prst="rect">
            <a:avLst/>
          </a:prstGeom>
          <a:noFill/>
        </p:spPr>
        <p:txBody>
          <a:bodyPr anchor="ctr"/>
          <a:lstStyle>
            <a:lvl1pPr algn="l">
              <a:defRPr sz="4000" b="1" i="1" u="none">
                <a:solidFill>
                  <a:srgbClr val="014E9F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r>
              <a:rPr lang="en-GB" noProof="0" dirty="0"/>
              <a:t>TITRE</a:t>
            </a:r>
            <a:br>
              <a:rPr lang="en-GB" noProof="0" dirty="0"/>
            </a:br>
            <a:r>
              <a:rPr lang="en-GB" noProof="0" dirty="0"/>
              <a:t>TITLE</a:t>
            </a:r>
          </a:p>
        </p:txBody>
      </p:sp>
      <p:sp>
        <p:nvSpPr>
          <p:cNvPr id="10" name="Sous-titre 2">
            <a:extLst>
              <a:ext uri="{FF2B5EF4-FFF2-40B4-BE49-F238E27FC236}">
                <a16:creationId xmlns:a16="http://schemas.microsoft.com/office/drawing/2014/main" id="{5796F34F-CB38-6A46-8A54-4350538B18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652843" y="1738673"/>
            <a:ext cx="4915855" cy="345796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indent="0" algn="l">
              <a:buNone/>
              <a:defRPr lang="fr-FR" sz="1200" b="1" i="1" kern="1200" baseline="0" smtClean="0">
                <a:solidFill>
                  <a:srgbClr val="014E9F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4571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2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5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6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8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9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noProof="0" dirty="0"/>
              <a:t>SOUS TITRE / SUBTITLE</a:t>
            </a:r>
          </a:p>
        </p:txBody>
      </p:sp>
      <p:sp>
        <p:nvSpPr>
          <p:cNvPr id="12" name="Espace réservé du contenu 3">
            <a:extLst>
              <a:ext uri="{FF2B5EF4-FFF2-40B4-BE49-F238E27FC236}">
                <a16:creationId xmlns:a16="http://schemas.microsoft.com/office/drawing/2014/main" id="{8FD7DD1D-E93C-5345-A33A-628C9AC5363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652843" y="2258603"/>
            <a:ext cx="4915857" cy="3115063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014E9F"/>
              </a:buClr>
              <a:buFont typeface="Wingdings" charset="2"/>
              <a:buChar char=""/>
              <a:defRPr sz="1600" b="1" i="0" baseline="0">
                <a:solidFill>
                  <a:srgbClr val="014E9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Clr>
                <a:srgbClr val="014E9F"/>
              </a:buClr>
              <a:buSzPct val="100000"/>
              <a:buFont typeface="Lucida Grande"/>
              <a:buChar char="●"/>
              <a:defRPr sz="1600" b="1" i="0" baseline="0">
                <a:solidFill>
                  <a:srgbClr val="014E9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Clr>
                <a:srgbClr val="014E9F"/>
              </a:buClr>
              <a:buFont typeface="Wingdings" pitchFamily="2" charset="2"/>
              <a:buChar char="§"/>
              <a:defRPr sz="1600" b="0" i="0" baseline="0">
                <a:solidFill>
                  <a:srgbClr val="014E9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Clr>
                <a:srgbClr val="014E9F"/>
              </a:buClr>
              <a:buFont typeface="Lucida Grande"/>
              <a:buChar char="▸"/>
              <a:defRPr sz="1400">
                <a:solidFill>
                  <a:srgbClr val="014E9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Clr>
                <a:srgbClr val="014E9F"/>
              </a:buClr>
              <a:buFont typeface="Wingdings" pitchFamily="2" charset="2"/>
              <a:buChar char="v"/>
              <a:defRPr sz="1200">
                <a:solidFill>
                  <a:srgbClr val="014E9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noProof="0" dirty="0"/>
              <a:t>CLICK TO MODIFY THE TEXT OF THE MASK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794682A2-86F6-0646-85F8-2A2D4A5BCB6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2404" b="2404"/>
          <a:stretch/>
        </p:blipFill>
        <p:spPr>
          <a:xfrm>
            <a:off x="0" y="0"/>
            <a:ext cx="6096000" cy="6528216"/>
          </a:xfrm>
          <a:prstGeom prst="rect">
            <a:avLst/>
          </a:prstGeom>
        </p:spPr>
      </p:pic>
      <p:pic>
        <p:nvPicPr>
          <p:cNvPr id="2" name="Image 8">
            <a:extLst>
              <a:ext uri="{FF2B5EF4-FFF2-40B4-BE49-F238E27FC236}">
                <a16:creationId xmlns:a16="http://schemas.microsoft.com/office/drawing/2014/main" id="{47A87710-4E0C-3632-A662-2DA18245A50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743626" y="6079066"/>
            <a:ext cx="1431122" cy="751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6099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Disposition personnalisé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3">
            <a:extLst>
              <a:ext uri="{FF2B5EF4-FFF2-40B4-BE49-F238E27FC236}">
                <a16:creationId xmlns:a16="http://schemas.microsoft.com/office/drawing/2014/main" id="{E94D439E-2C8A-AE4B-943D-A4D7BABC9D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52843" y="454329"/>
            <a:ext cx="4915856" cy="1187003"/>
          </a:xfrm>
          <a:prstGeom prst="rect">
            <a:avLst/>
          </a:prstGeom>
          <a:noFill/>
        </p:spPr>
        <p:txBody>
          <a:bodyPr anchor="ctr"/>
          <a:lstStyle>
            <a:lvl1pPr algn="l">
              <a:defRPr sz="4000" b="1" i="1" u="none">
                <a:solidFill>
                  <a:srgbClr val="014E9F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r>
              <a:rPr lang="en-GB" noProof="0" dirty="0"/>
              <a:t>TITRE</a:t>
            </a:r>
            <a:br>
              <a:rPr lang="en-GB" noProof="0" dirty="0"/>
            </a:br>
            <a:r>
              <a:rPr lang="en-GB" noProof="0" dirty="0"/>
              <a:t>TITLE</a:t>
            </a:r>
          </a:p>
        </p:txBody>
      </p:sp>
      <p:sp>
        <p:nvSpPr>
          <p:cNvPr id="13" name="Sous-titre 2">
            <a:extLst>
              <a:ext uri="{FF2B5EF4-FFF2-40B4-BE49-F238E27FC236}">
                <a16:creationId xmlns:a16="http://schemas.microsoft.com/office/drawing/2014/main" id="{A9EDF9CD-35AC-3D46-B699-5B04F79E7AC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652843" y="1738673"/>
            <a:ext cx="4915855" cy="345796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indent="0" algn="l">
              <a:buNone/>
              <a:defRPr lang="fr-FR" sz="1200" b="1" i="1" kern="1200" baseline="0" smtClean="0">
                <a:solidFill>
                  <a:srgbClr val="014E9F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4571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2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5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6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8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9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noProof="0" dirty="0"/>
              <a:t>SOUS TITRE / SUBTITLE</a:t>
            </a:r>
          </a:p>
        </p:txBody>
      </p:sp>
      <p:sp>
        <p:nvSpPr>
          <p:cNvPr id="14" name="Espace réservé du contenu 3">
            <a:extLst>
              <a:ext uri="{FF2B5EF4-FFF2-40B4-BE49-F238E27FC236}">
                <a16:creationId xmlns:a16="http://schemas.microsoft.com/office/drawing/2014/main" id="{D4858A5E-176C-8C44-845C-DB0714CF0BB6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652843" y="2258603"/>
            <a:ext cx="4915857" cy="3115063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014E9F"/>
              </a:buClr>
              <a:buFont typeface="Wingdings" charset="2"/>
              <a:buChar char=""/>
              <a:defRPr sz="1600" b="1" i="0" baseline="0">
                <a:solidFill>
                  <a:srgbClr val="014E9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Clr>
                <a:srgbClr val="014E9F"/>
              </a:buClr>
              <a:buSzPct val="100000"/>
              <a:buFont typeface="Lucida Grande"/>
              <a:buChar char="●"/>
              <a:defRPr sz="1600" b="1" i="0" baseline="0">
                <a:solidFill>
                  <a:srgbClr val="014E9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Clr>
                <a:srgbClr val="014E9F"/>
              </a:buClr>
              <a:buFont typeface="Wingdings" pitchFamily="2" charset="2"/>
              <a:buChar char="§"/>
              <a:defRPr sz="1600" b="0" i="0" baseline="0">
                <a:solidFill>
                  <a:srgbClr val="014E9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Clr>
                <a:srgbClr val="014E9F"/>
              </a:buClr>
              <a:buFont typeface="Lucida Grande"/>
              <a:buChar char="▸"/>
              <a:defRPr sz="1400">
                <a:solidFill>
                  <a:srgbClr val="014E9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Clr>
                <a:srgbClr val="014E9F"/>
              </a:buClr>
              <a:buFont typeface="Wingdings" pitchFamily="2" charset="2"/>
              <a:buChar char="v"/>
              <a:defRPr sz="1200">
                <a:solidFill>
                  <a:srgbClr val="014E9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noProof="0" dirty="0"/>
              <a:t>CLICK TO MODIFY THE TEXT OF THE MASK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63334DA9-0460-E64C-A307-54BDD8626FF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2404" b="2404"/>
          <a:stretch/>
        </p:blipFill>
        <p:spPr>
          <a:xfrm>
            <a:off x="0" y="0"/>
            <a:ext cx="6096000" cy="6528216"/>
          </a:xfrm>
          <a:prstGeom prst="rect">
            <a:avLst/>
          </a:prstGeom>
        </p:spPr>
      </p:pic>
      <p:pic>
        <p:nvPicPr>
          <p:cNvPr id="2" name="Image 8">
            <a:extLst>
              <a:ext uri="{FF2B5EF4-FFF2-40B4-BE49-F238E27FC236}">
                <a16:creationId xmlns:a16="http://schemas.microsoft.com/office/drawing/2014/main" id="{FA6B7A66-A871-2594-06C5-A62DCA18B8A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743626" y="6079066"/>
            <a:ext cx="1431122" cy="751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026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sposition personnalisé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D83B10C9-53EA-934F-A768-591D5632B21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850900"/>
          </a:xfrm>
          <a:prstGeom prst="rect">
            <a:avLst/>
          </a:prstGeom>
        </p:spPr>
      </p:pic>
      <p:sp>
        <p:nvSpPr>
          <p:cNvPr id="14" name="Titre 3">
            <a:extLst>
              <a:ext uri="{FF2B5EF4-FFF2-40B4-BE49-F238E27FC236}">
                <a16:creationId xmlns:a16="http://schemas.microsoft.com/office/drawing/2014/main" id="{98F3E029-05D4-4945-9E36-3B3D678D8F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00300" y="1356584"/>
            <a:ext cx="7391400" cy="557279"/>
          </a:xfrm>
          <a:prstGeom prst="rect">
            <a:avLst/>
          </a:prstGeom>
          <a:noFill/>
        </p:spPr>
        <p:txBody>
          <a:bodyPr anchor="ctr"/>
          <a:lstStyle>
            <a:lvl1pPr algn="l">
              <a:defRPr sz="4000" b="1" i="1">
                <a:solidFill>
                  <a:srgbClr val="014E9F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r>
              <a:rPr lang="en-GB" noProof="0" dirty="0"/>
              <a:t>TITRE TITLE</a:t>
            </a:r>
          </a:p>
        </p:txBody>
      </p:sp>
      <p:sp>
        <p:nvSpPr>
          <p:cNvPr id="17" name="Sous-titre 2">
            <a:extLst>
              <a:ext uri="{FF2B5EF4-FFF2-40B4-BE49-F238E27FC236}">
                <a16:creationId xmlns:a16="http://schemas.microsoft.com/office/drawing/2014/main" id="{CB2E5BC9-E70A-A24A-9F4D-E3EA8597C8E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400300" y="1913863"/>
            <a:ext cx="7391398" cy="285892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indent="0" algn="l">
              <a:buNone/>
              <a:defRPr lang="fr-FR" sz="1200" b="1" i="1" kern="1200" baseline="0" smtClean="0">
                <a:solidFill>
                  <a:srgbClr val="014E9F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4571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2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5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6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8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9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noProof="0" dirty="0"/>
              <a:t>SOUS TITRE / SUBTITLE</a:t>
            </a:r>
          </a:p>
        </p:txBody>
      </p:sp>
      <p:sp>
        <p:nvSpPr>
          <p:cNvPr id="9" name="Espace réservé du contenu 3">
            <a:extLst>
              <a:ext uri="{FF2B5EF4-FFF2-40B4-BE49-F238E27FC236}">
                <a16:creationId xmlns:a16="http://schemas.microsoft.com/office/drawing/2014/main" id="{9F0CC2BE-2D84-6145-8BF0-CAF681C2495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400300" y="2419547"/>
            <a:ext cx="7391398" cy="3442551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014E9F"/>
              </a:buClr>
              <a:buFont typeface="Wingdings" charset="2"/>
              <a:buChar char=""/>
              <a:defRPr sz="2000" b="1" i="0" baseline="0">
                <a:solidFill>
                  <a:srgbClr val="014E9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Clr>
                <a:srgbClr val="014E9F"/>
              </a:buClr>
              <a:buSzPct val="100000"/>
              <a:buFont typeface="Lucida Grande"/>
              <a:buChar char="●"/>
              <a:defRPr sz="1800" b="1" i="0" baseline="0">
                <a:solidFill>
                  <a:srgbClr val="014E9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Clr>
                <a:srgbClr val="014E9F"/>
              </a:buClr>
              <a:buFont typeface="Wingdings" pitchFamily="2" charset="2"/>
              <a:buChar char="§"/>
              <a:defRPr sz="1800" b="0" i="0" baseline="0">
                <a:solidFill>
                  <a:srgbClr val="014E9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Clr>
                <a:srgbClr val="014E9F"/>
              </a:buClr>
              <a:buFont typeface="Lucida Grande"/>
              <a:buChar char="▸"/>
              <a:defRPr sz="1400">
                <a:solidFill>
                  <a:srgbClr val="014E9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Clr>
                <a:srgbClr val="014E9F"/>
              </a:buClr>
              <a:buFont typeface="Wingdings" pitchFamily="2" charset="2"/>
              <a:buChar char="v"/>
              <a:defRPr sz="1200">
                <a:solidFill>
                  <a:srgbClr val="014E9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noProof="0" dirty="0"/>
              <a:t>CLICK TO MODIFY THE TEXT OF THE MASK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pic>
        <p:nvPicPr>
          <p:cNvPr id="8" name="Image 8">
            <a:extLst>
              <a:ext uri="{FF2B5EF4-FFF2-40B4-BE49-F238E27FC236}">
                <a16:creationId xmlns:a16="http://schemas.microsoft.com/office/drawing/2014/main" id="{E6F46116-3863-374D-B6E6-2B4B6C0E261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743626" y="6079066"/>
            <a:ext cx="1431122" cy="751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5760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sposition personnalisé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6A5AC64-4348-4441-B0FC-BCFD2C1238B4}"/>
              </a:ext>
            </a:extLst>
          </p:cNvPr>
          <p:cNvSpPr/>
          <p:nvPr userDrawn="1"/>
        </p:nvSpPr>
        <p:spPr>
          <a:xfrm>
            <a:off x="0" y="2351"/>
            <a:ext cx="12192000" cy="276999"/>
          </a:xfrm>
          <a:prstGeom prst="rect">
            <a:avLst/>
          </a:prstGeom>
          <a:solidFill>
            <a:srgbClr val="014E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" panose="02000000000000000000" pitchFamily="2" charset="0"/>
            </a:endParaRPr>
          </a:p>
        </p:txBody>
      </p:sp>
      <p:sp>
        <p:nvSpPr>
          <p:cNvPr id="8" name="Titre 3">
            <a:extLst>
              <a:ext uri="{FF2B5EF4-FFF2-40B4-BE49-F238E27FC236}">
                <a16:creationId xmlns:a16="http://schemas.microsoft.com/office/drawing/2014/main" id="{862A1E56-BD6B-E44D-B8E4-941225EC34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00300" y="1356584"/>
            <a:ext cx="7391400" cy="557279"/>
          </a:xfrm>
          <a:prstGeom prst="rect">
            <a:avLst/>
          </a:prstGeom>
          <a:noFill/>
        </p:spPr>
        <p:txBody>
          <a:bodyPr anchor="ctr"/>
          <a:lstStyle>
            <a:lvl1pPr algn="l">
              <a:defRPr sz="4000" b="1" i="1">
                <a:solidFill>
                  <a:srgbClr val="014E9F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r>
              <a:rPr lang="en-GB" noProof="0" dirty="0"/>
              <a:t>TITRE TITLE</a:t>
            </a:r>
          </a:p>
        </p:txBody>
      </p:sp>
      <p:sp>
        <p:nvSpPr>
          <p:cNvPr id="12" name="Sous-titre 2">
            <a:extLst>
              <a:ext uri="{FF2B5EF4-FFF2-40B4-BE49-F238E27FC236}">
                <a16:creationId xmlns:a16="http://schemas.microsoft.com/office/drawing/2014/main" id="{06A5EA46-90E6-204C-912C-1DD302B1842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400300" y="1913863"/>
            <a:ext cx="7391398" cy="285892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indent="0" algn="l">
              <a:buNone/>
              <a:defRPr lang="fr-FR" sz="1200" b="1" i="1" kern="1200" baseline="0" smtClean="0">
                <a:solidFill>
                  <a:srgbClr val="014E9F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4571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2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5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6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8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9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noProof="0" dirty="0"/>
              <a:t>SOUS TITRE / SUBTITLE</a:t>
            </a:r>
          </a:p>
        </p:txBody>
      </p:sp>
      <p:sp>
        <p:nvSpPr>
          <p:cNvPr id="13" name="Espace réservé du contenu 3">
            <a:extLst>
              <a:ext uri="{FF2B5EF4-FFF2-40B4-BE49-F238E27FC236}">
                <a16:creationId xmlns:a16="http://schemas.microsoft.com/office/drawing/2014/main" id="{C7B4B5D1-35BE-4A47-A3BA-84E419D507A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400300" y="2419547"/>
            <a:ext cx="7391398" cy="3442551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014E9F"/>
              </a:buClr>
              <a:buFont typeface="Wingdings" charset="2"/>
              <a:buChar char=""/>
              <a:defRPr sz="2000" b="1" i="0" baseline="0">
                <a:solidFill>
                  <a:srgbClr val="014E9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Clr>
                <a:srgbClr val="014E9F"/>
              </a:buClr>
              <a:buSzPct val="100000"/>
              <a:buFont typeface="Lucida Grande"/>
              <a:buChar char="●"/>
              <a:defRPr sz="1800" b="1" i="0" baseline="0">
                <a:solidFill>
                  <a:srgbClr val="014E9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Clr>
                <a:srgbClr val="014E9F"/>
              </a:buClr>
              <a:buFont typeface="Wingdings" pitchFamily="2" charset="2"/>
              <a:buChar char="§"/>
              <a:defRPr sz="1800" b="0" i="0" baseline="0">
                <a:solidFill>
                  <a:srgbClr val="014E9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Clr>
                <a:srgbClr val="014E9F"/>
              </a:buClr>
              <a:buFont typeface="Lucida Grande"/>
              <a:buChar char="▸"/>
              <a:defRPr sz="1400">
                <a:solidFill>
                  <a:srgbClr val="014E9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Clr>
                <a:srgbClr val="014E9F"/>
              </a:buClr>
              <a:buFont typeface="Wingdings" pitchFamily="2" charset="2"/>
              <a:buChar char="v"/>
              <a:defRPr sz="1200">
                <a:solidFill>
                  <a:srgbClr val="014E9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noProof="0" dirty="0"/>
              <a:t>CLICK TO MODIFY THE TEXT OF THE MASK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pic>
        <p:nvPicPr>
          <p:cNvPr id="2" name="Image 8">
            <a:extLst>
              <a:ext uri="{FF2B5EF4-FFF2-40B4-BE49-F238E27FC236}">
                <a16:creationId xmlns:a16="http://schemas.microsoft.com/office/drawing/2014/main" id="{BC2107A3-3471-A173-B6F1-B97FA9CD5C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743626" y="6079066"/>
            <a:ext cx="1431122" cy="751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5158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Disposition personnalisé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6A5AC64-4348-4441-B0FC-BCFD2C1238B4}"/>
              </a:ext>
            </a:extLst>
          </p:cNvPr>
          <p:cNvSpPr/>
          <p:nvPr userDrawn="1"/>
        </p:nvSpPr>
        <p:spPr>
          <a:xfrm>
            <a:off x="-2" y="0"/>
            <a:ext cx="12192000" cy="276999"/>
          </a:xfrm>
          <a:prstGeom prst="rect">
            <a:avLst/>
          </a:prstGeom>
          <a:solidFill>
            <a:srgbClr val="014E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" panose="02000000000000000000" pitchFamily="2" charset="0"/>
            </a:endParaRPr>
          </a:p>
        </p:txBody>
      </p:sp>
      <p:sp>
        <p:nvSpPr>
          <p:cNvPr id="26" name="Titre 3">
            <a:extLst>
              <a:ext uri="{FF2B5EF4-FFF2-40B4-BE49-F238E27FC236}">
                <a16:creationId xmlns:a16="http://schemas.microsoft.com/office/drawing/2014/main" id="{3821C1D1-B53B-9548-AA89-CA0B744EC1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9913" y="1413287"/>
            <a:ext cx="2785473" cy="716142"/>
          </a:xfrm>
          <a:prstGeom prst="rect">
            <a:avLst/>
          </a:prstGeom>
          <a:noFill/>
        </p:spPr>
        <p:txBody>
          <a:bodyPr anchor="ctr"/>
          <a:lstStyle>
            <a:lvl1pPr algn="ctr">
              <a:lnSpc>
                <a:spcPct val="100000"/>
              </a:lnSpc>
              <a:defRPr sz="4000" b="1" i="1">
                <a:solidFill>
                  <a:srgbClr val="014E9F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r>
              <a:rPr lang="en-GB" noProof="0" dirty="0"/>
              <a:t>01.</a:t>
            </a:r>
          </a:p>
        </p:txBody>
      </p:sp>
      <p:sp>
        <p:nvSpPr>
          <p:cNvPr id="39" name="Espace réservé du texte 2">
            <a:extLst>
              <a:ext uri="{FF2B5EF4-FFF2-40B4-BE49-F238E27FC236}">
                <a16:creationId xmlns:a16="http://schemas.microsoft.com/office/drawing/2014/main" id="{91D0E328-5673-4F44-A7E6-846385DADEE8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8396611" y="2128525"/>
            <a:ext cx="2785473" cy="618901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1600" b="1" i="1">
                <a:solidFill>
                  <a:srgbClr val="014E9F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GB" noProof="0" dirty="0"/>
              <a:t>SOUS TITRE / SUBTITLE</a:t>
            </a:r>
          </a:p>
        </p:txBody>
      </p:sp>
      <p:sp>
        <p:nvSpPr>
          <p:cNvPr id="40" name="Espace réservé du texte 2">
            <a:extLst>
              <a:ext uri="{FF2B5EF4-FFF2-40B4-BE49-F238E27FC236}">
                <a16:creationId xmlns:a16="http://schemas.microsoft.com/office/drawing/2014/main" id="{CBCCFA41-8490-F247-8163-02180CD336DF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8396612" y="1413288"/>
            <a:ext cx="2785473" cy="71614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 b="1" i="1">
                <a:solidFill>
                  <a:srgbClr val="014E9F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GB" noProof="0" dirty="0"/>
              <a:t>03.</a:t>
            </a:r>
          </a:p>
        </p:txBody>
      </p:sp>
      <p:sp>
        <p:nvSpPr>
          <p:cNvPr id="41" name="Espace réservé du texte 2">
            <a:extLst>
              <a:ext uri="{FF2B5EF4-FFF2-40B4-BE49-F238E27FC236}">
                <a16:creationId xmlns:a16="http://schemas.microsoft.com/office/drawing/2014/main" id="{975CC523-812C-684C-8D76-CE842299C04F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703262" y="1413287"/>
            <a:ext cx="2785473" cy="71614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 b="1" i="1">
                <a:solidFill>
                  <a:srgbClr val="014E9F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GB" noProof="0" dirty="0"/>
              <a:t>02.</a:t>
            </a:r>
          </a:p>
        </p:txBody>
      </p:sp>
      <p:sp>
        <p:nvSpPr>
          <p:cNvPr id="44" name="Espace réservé du texte 2">
            <a:extLst>
              <a:ext uri="{FF2B5EF4-FFF2-40B4-BE49-F238E27FC236}">
                <a16:creationId xmlns:a16="http://schemas.microsoft.com/office/drawing/2014/main" id="{BC4A025C-DBDA-B44B-8569-4CA2FA2B4E53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4703262" y="2129429"/>
            <a:ext cx="2785473" cy="618901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1600" b="1" i="1">
                <a:solidFill>
                  <a:srgbClr val="014E9F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GB" noProof="0" dirty="0"/>
              <a:t>SOUS TITRE / SUBTITLE</a:t>
            </a:r>
          </a:p>
        </p:txBody>
      </p:sp>
      <p:sp>
        <p:nvSpPr>
          <p:cNvPr id="45" name="Espace réservé du texte 2">
            <a:extLst>
              <a:ext uri="{FF2B5EF4-FFF2-40B4-BE49-F238E27FC236}">
                <a16:creationId xmlns:a16="http://schemas.microsoft.com/office/drawing/2014/main" id="{BF8AB068-2DAD-5546-ABE5-286A1FB0167F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009913" y="2129429"/>
            <a:ext cx="2785473" cy="618901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1600" b="1" i="1">
                <a:solidFill>
                  <a:srgbClr val="014E9F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GB" noProof="0" dirty="0"/>
              <a:t>SOUS TITRE / SUBTITLE</a:t>
            </a:r>
          </a:p>
        </p:txBody>
      </p:sp>
      <p:sp>
        <p:nvSpPr>
          <p:cNvPr id="16" name="Espace réservé du texte 2">
            <a:extLst>
              <a:ext uri="{FF2B5EF4-FFF2-40B4-BE49-F238E27FC236}">
                <a16:creationId xmlns:a16="http://schemas.microsoft.com/office/drawing/2014/main" id="{7AB02803-6917-1840-B4C2-BA26D7BE32D8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009913" y="2898919"/>
            <a:ext cx="2785473" cy="3006581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200" b="0" i="0">
                <a:solidFill>
                  <a:srgbClr val="27509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noProof="0" dirty="0"/>
              <a:t>Use this slide to insert text / utiliser </a:t>
            </a:r>
            <a:r>
              <a:rPr lang="en-GB" noProof="0" dirty="0" err="1"/>
              <a:t>cette</a:t>
            </a:r>
            <a:r>
              <a:rPr lang="en-GB" noProof="0" dirty="0"/>
              <a:t> diapositive pour </a:t>
            </a:r>
            <a:r>
              <a:rPr lang="en-GB" noProof="0" dirty="0" err="1"/>
              <a:t>insérer</a:t>
            </a:r>
            <a:r>
              <a:rPr lang="en-GB" noProof="0" dirty="0"/>
              <a:t> du </a:t>
            </a:r>
            <a:r>
              <a:rPr lang="en-GB" noProof="0" dirty="0" err="1"/>
              <a:t>texte</a:t>
            </a:r>
            <a:endParaRPr lang="en-GB" noProof="0" dirty="0"/>
          </a:p>
        </p:txBody>
      </p:sp>
      <p:sp>
        <p:nvSpPr>
          <p:cNvPr id="17" name="Espace réservé du texte 2">
            <a:extLst>
              <a:ext uri="{FF2B5EF4-FFF2-40B4-BE49-F238E27FC236}">
                <a16:creationId xmlns:a16="http://schemas.microsoft.com/office/drawing/2014/main" id="{DE04819E-10CA-F24E-BC07-0C8571D21EA4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4703262" y="2898919"/>
            <a:ext cx="2785473" cy="3006581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200" b="0" i="0">
                <a:solidFill>
                  <a:srgbClr val="27509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noProof="0" dirty="0"/>
              <a:t>Use this slide to insert text / utiliser </a:t>
            </a:r>
            <a:r>
              <a:rPr lang="en-GB" noProof="0" dirty="0" err="1"/>
              <a:t>cette</a:t>
            </a:r>
            <a:r>
              <a:rPr lang="en-GB" noProof="0" dirty="0"/>
              <a:t> diapositive pour </a:t>
            </a:r>
            <a:r>
              <a:rPr lang="en-GB" noProof="0" dirty="0" err="1"/>
              <a:t>insérer</a:t>
            </a:r>
            <a:r>
              <a:rPr lang="en-GB" noProof="0" dirty="0"/>
              <a:t> du </a:t>
            </a:r>
            <a:r>
              <a:rPr lang="en-GB" noProof="0" dirty="0" err="1"/>
              <a:t>texte</a:t>
            </a:r>
            <a:endParaRPr lang="en-GB" noProof="0" dirty="0"/>
          </a:p>
        </p:txBody>
      </p:sp>
      <p:sp>
        <p:nvSpPr>
          <p:cNvPr id="18" name="Espace réservé du texte 2">
            <a:extLst>
              <a:ext uri="{FF2B5EF4-FFF2-40B4-BE49-F238E27FC236}">
                <a16:creationId xmlns:a16="http://schemas.microsoft.com/office/drawing/2014/main" id="{482A39BB-C65B-264C-B106-09FDFCD2976E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8396610" y="2898919"/>
            <a:ext cx="2785473" cy="3006581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200" b="0" i="0">
                <a:solidFill>
                  <a:srgbClr val="27509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noProof="0" dirty="0"/>
              <a:t>Use this slide to insert text / utiliser </a:t>
            </a:r>
            <a:r>
              <a:rPr lang="en-GB" noProof="0" dirty="0" err="1"/>
              <a:t>cette</a:t>
            </a:r>
            <a:r>
              <a:rPr lang="en-GB" noProof="0" dirty="0"/>
              <a:t> diapositive pour </a:t>
            </a:r>
            <a:r>
              <a:rPr lang="en-GB" noProof="0" dirty="0" err="1"/>
              <a:t>insérer</a:t>
            </a:r>
            <a:r>
              <a:rPr lang="en-GB" noProof="0" dirty="0"/>
              <a:t> du </a:t>
            </a:r>
            <a:r>
              <a:rPr lang="en-GB" noProof="0" dirty="0" err="1"/>
              <a:t>texte</a:t>
            </a:r>
            <a:endParaRPr lang="en-GB" noProof="0" dirty="0"/>
          </a:p>
        </p:txBody>
      </p:sp>
      <p:pic>
        <p:nvPicPr>
          <p:cNvPr id="2" name="Image 8">
            <a:extLst>
              <a:ext uri="{FF2B5EF4-FFF2-40B4-BE49-F238E27FC236}">
                <a16:creationId xmlns:a16="http://schemas.microsoft.com/office/drawing/2014/main" id="{F3688490-DC93-35E4-7BB5-72ABA47C771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743626" y="6079066"/>
            <a:ext cx="1431122" cy="751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28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Disposition personnalisé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 12">
            <a:extLst>
              <a:ext uri="{FF2B5EF4-FFF2-40B4-BE49-F238E27FC236}">
                <a16:creationId xmlns:a16="http://schemas.microsoft.com/office/drawing/2014/main" id="{9949E325-96BB-CA42-9F2A-811E07DBBD9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850900"/>
          </a:xfrm>
          <a:prstGeom prst="rect">
            <a:avLst/>
          </a:prstGeom>
        </p:spPr>
      </p:pic>
      <p:sp>
        <p:nvSpPr>
          <p:cNvPr id="15" name="Titre 3">
            <a:extLst>
              <a:ext uri="{FF2B5EF4-FFF2-40B4-BE49-F238E27FC236}">
                <a16:creationId xmlns:a16="http://schemas.microsoft.com/office/drawing/2014/main" id="{0408222E-4A4A-7C4D-AC7E-DF106C9BC6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9913" y="1413287"/>
            <a:ext cx="2785473" cy="716142"/>
          </a:xfrm>
          <a:prstGeom prst="rect">
            <a:avLst/>
          </a:prstGeom>
          <a:noFill/>
        </p:spPr>
        <p:txBody>
          <a:bodyPr anchor="ctr"/>
          <a:lstStyle>
            <a:lvl1pPr algn="ctr">
              <a:lnSpc>
                <a:spcPct val="100000"/>
              </a:lnSpc>
              <a:defRPr sz="4000" b="1" i="1">
                <a:solidFill>
                  <a:srgbClr val="014E9F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r>
              <a:rPr lang="en-GB" noProof="0" dirty="0"/>
              <a:t>01.</a:t>
            </a:r>
          </a:p>
        </p:txBody>
      </p:sp>
      <p:sp>
        <p:nvSpPr>
          <p:cNvPr id="16" name="Espace réservé du texte 2">
            <a:extLst>
              <a:ext uri="{FF2B5EF4-FFF2-40B4-BE49-F238E27FC236}">
                <a16:creationId xmlns:a16="http://schemas.microsoft.com/office/drawing/2014/main" id="{506A5A34-7F4F-7C46-BE3A-C425AFDBF7B6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8396611" y="2128525"/>
            <a:ext cx="2785473" cy="618901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1600" b="1" i="1">
                <a:solidFill>
                  <a:srgbClr val="014E9F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GB" noProof="0" dirty="0"/>
              <a:t>SOUS TITRE / SUBTITLE</a:t>
            </a:r>
          </a:p>
        </p:txBody>
      </p:sp>
      <p:sp>
        <p:nvSpPr>
          <p:cNvPr id="17" name="Espace réservé du texte 2">
            <a:extLst>
              <a:ext uri="{FF2B5EF4-FFF2-40B4-BE49-F238E27FC236}">
                <a16:creationId xmlns:a16="http://schemas.microsoft.com/office/drawing/2014/main" id="{B66CA9CD-AC26-5942-83F7-7FEA862EF0E0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8396612" y="1413288"/>
            <a:ext cx="2785473" cy="71614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 b="1" i="1">
                <a:solidFill>
                  <a:srgbClr val="014E9F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GB" noProof="0" dirty="0"/>
              <a:t>03.</a:t>
            </a:r>
          </a:p>
        </p:txBody>
      </p:sp>
      <p:sp>
        <p:nvSpPr>
          <p:cNvPr id="27" name="Espace réservé du texte 2">
            <a:extLst>
              <a:ext uri="{FF2B5EF4-FFF2-40B4-BE49-F238E27FC236}">
                <a16:creationId xmlns:a16="http://schemas.microsoft.com/office/drawing/2014/main" id="{4B3F9A30-4401-B341-BBD4-693BB935FDE3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703262" y="1413287"/>
            <a:ext cx="2785473" cy="71614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 b="1" i="1">
                <a:solidFill>
                  <a:srgbClr val="014E9F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GB" noProof="0" dirty="0"/>
              <a:t>02.</a:t>
            </a:r>
          </a:p>
        </p:txBody>
      </p:sp>
      <p:sp>
        <p:nvSpPr>
          <p:cNvPr id="28" name="Espace réservé du texte 2">
            <a:extLst>
              <a:ext uri="{FF2B5EF4-FFF2-40B4-BE49-F238E27FC236}">
                <a16:creationId xmlns:a16="http://schemas.microsoft.com/office/drawing/2014/main" id="{A833BA34-7A43-2643-A084-B464ED4555C8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4703262" y="2129429"/>
            <a:ext cx="2785473" cy="618901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1600" b="1" i="1">
                <a:solidFill>
                  <a:srgbClr val="014E9F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GB" noProof="0" dirty="0"/>
              <a:t>SOUS TITRE / SUBTITLE</a:t>
            </a:r>
          </a:p>
        </p:txBody>
      </p:sp>
      <p:sp>
        <p:nvSpPr>
          <p:cNvPr id="29" name="Espace réservé du texte 2">
            <a:extLst>
              <a:ext uri="{FF2B5EF4-FFF2-40B4-BE49-F238E27FC236}">
                <a16:creationId xmlns:a16="http://schemas.microsoft.com/office/drawing/2014/main" id="{20BBC612-9FA1-E342-9488-90753A3C0B38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009913" y="2129429"/>
            <a:ext cx="2785473" cy="618901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1600" b="1" i="1">
                <a:solidFill>
                  <a:srgbClr val="014E9F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GB" noProof="0" dirty="0"/>
              <a:t>SOUS TITRE / SUBTITLE</a:t>
            </a:r>
          </a:p>
        </p:txBody>
      </p:sp>
      <p:sp>
        <p:nvSpPr>
          <p:cNvPr id="30" name="Espace réservé du texte 2">
            <a:extLst>
              <a:ext uri="{FF2B5EF4-FFF2-40B4-BE49-F238E27FC236}">
                <a16:creationId xmlns:a16="http://schemas.microsoft.com/office/drawing/2014/main" id="{38F2FB9F-1E98-1F44-8DEB-79555E426252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009913" y="2898919"/>
            <a:ext cx="2785473" cy="3006581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200" b="0" i="0">
                <a:solidFill>
                  <a:srgbClr val="27509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noProof="0" dirty="0"/>
              <a:t>Use this slide to insert text / utiliser </a:t>
            </a:r>
            <a:r>
              <a:rPr lang="en-GB" noProof="0" dirty="0" err="1"/>
              <a:t>cette</a:t>
            </a:r>
            <a:r>
              <a:rPr lang="en-GB" noProof="0" dirty="0"/>
              <a:t> diapositive pour </a:t>
            </a:r>
            <a:r>
              <a:rPr lang="en-GB" noProof="0" dirty="0" err="1"/>
              <a:t>insérer</a:t>
            </a:r>
            <a:r>
              <a:rPr lang="en-GB" noProof="0" dirty="0"/>
              <a:t> du </a:t>
            </a:r>
            <a:r>
              <a:rPr lang="en-GB" noProof="0" dirty="0" err="1"/>
              <a:t>texte</a:t>
            </a:r>
            <a:endParaRPr lang="en-GB" noProof="0" dirty="0"/>
          </a:p>
        </p:txBody>
      </p:sp>
      <p:sp>
        <p:nvSpPr>
          <p:cNvPr id="31" name="Espace réservé du texte 2">
            <a:extLst>
              <a:ext uri="{FF2B5EF4-FFF2-40B4-BE49-F238E27FC236}">
                <a16:creationId xmlns:a16="http://schemas.microsoft.com/office/drawing/2014/main" id="{12EEEE3A-E152-814D-AA15-A64E4CB675FB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4703262" y="2898919"/>
            <a:ext cx="2785473" cy="3006581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200" b="0" i="0">
                <a:solidFill>
                  <a:srgbClr val="27509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noProof="0" dirty="0"/>
              <a:t>Use this slide to insert text / utiliser </a:t>
            </a:r>
            <a:r>
              <a:rPr lang="en-GB" noProof="0" dirty="0" err="1"/>
              <a:t>cette</a:t>
            </a:r>
            <a:r>
              <a:rPr lang="en-GB" noProof="0" dirty="0"/>
              <a:t> diapositive pour </a:t>
            </a:r>
            <a:r>
              <a:rPr lang="en-GB" noProof="0" dirty="0" err="1"/>
              <a:t>insérer</a:t>
            </a:r>
            <a:r>
              <a:rPr lang="en-GB" noProof="0" dirty="0"/>
              <a:t> du </a:t>
            </a:r>
            <a:r>
              <a:rPr lang="en-GB" noProof="0" dirty="0" err="1"/>
              <a:t>texte</a:t>
            </a:r>
            <a:endParaRPr lang="en-GB" noProof="0" dirty="0"/>
          </a:p>
        </p:txBody>
      </p:sp>
      <p:sp>
        <p:nvSpPr>
          <p:cNvPr id="32" name="Espace réservé du texte 2">
            <a:extLst>
              <a:ext uri="{FF2B5EF4-FFF2-40B4-BE49-F238E27FC236}">
                <a16:creationId xmlns:a16="http://schemas.microsoft.com/office/drawing/2014/main" id="{988D9B87-4D44-C641-A046-2BFA4B37387B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8396610" y="2898919"/>
            <a:ext cx="2785473" cy="3006581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200" b="0" i="0">
                <a:solidFill>
                  <a:srgbClr val="27509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noProof="0" dirty="0"/>
              <a:t>Use this slide to insert text / utiliser </a:t>
            </a:r>
            <a:r>
              <a:rPr lang="en-GB" noProof="0" dirty="0" err="1"/>
              <a:t>cette</a:t>
            </a:r>
            <a:r>
              <a:rPr lang="en-GB" noProof="0" dirty="0"/>
              <a:t> diapositive pour </a:t>
            </a:r>
            <a:r>
              <a:rPr lang="en-GB" noProof="0" dirty="0" err="1"/>
              <a:t>insérer</a:t>
            </a:r>
            <a:r>
              <a:rPr lang="en-GB" noProof="0" dirty="0"/>
              <a:t> du </a:t>
            </a:r>
            <a:r>
              <a:rPr lang="en-GB" noProof="0" dirty="0" err="1"/>
              <a:t>texte</a:t>
            </a:r>
            <a:endParaRPr lang="en-GB" noProof="0" dirty="0"/>
          </a:p>
        </p:txBody>
      </p:sp>
      <p:pic>
        <p:nvPicPr>
          <p:cNvPr id="2" name="Image 8">
            <a:extLst>
              <a:ext uri="{FF2B5EF4-FFF2-40B4-BE49-F238E27FC236}">
                <a16:creationId xmlns:a16="http://schemas.microsoft.com/office/drawing/2014/main" id="{38773A05-A4FE-9934-1726-010E14E4786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743626" y="6079066"/>
            <a:ext cx="1431122" cy="751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5921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apositive de tit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 25">
            <a:extLst>
              <a:ext uri="{FF2B5EF4-FFF2-40B4-BE49-F238E27FC236}">
                <a16:creationId xmlns:a16="http://schemas.microsoft.com/office/drawing/2014/main" id="{89A94041-F71A-9640-80CF-0F0F0E50C54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850900"/>
          </a:xfrm>
          <a:prstGeom prst="rect">
            <a:avLst/>
          </a:prstGeom>
        </p:spPr>
      </p:pic>
      <p:sp>
        <p:nvSpPr>
          <p:cNvPr id="11" name="Espace réservé du texte 2">
            <a:extLst>
              <a:ext uri="{FF2B5EF4-FFF2-40B4-BE49-F238E27FC236}">
                <a16:creationId xmlns:a16="http://schemas.microsoft.com/office/drawing/2014/main" id="{A788E230-FFFB-5848-94B5-BA42A1648BF1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403684" y="4911820"/>
            <a:ext cx="6350766" cy="2182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200" b="0" i="1">
                <a:solidFill>
                  <a:srgbClr val="27509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noProof="0" dirty="0"/>
              <a:t>Name of the Author, Title / Nom de </a:t>
            </a:r>
            <a:r>
              <a:rPr lang="en-GB" noProof="0" dirty="0" err="1"/>
              <a:t>l’auteur</a:t>
            </a:r>
            <a:r>
              <a:rPr lang="en-GB" noProof="0" dirty="0"/>
              <a:t>, Titre</a:t>
            </a:r>
          </a:p>
        </p:txBody>
      </p:sp>
      <p:sp>
        <p:nvSpPr>
          <p:cNvPr id="15" name="Espace réservé du texte 2">
            <a:extLst>
              <a:ext uri="{FF2B5EF4-FFF2-40B4-BE49-F238E27FC236}">
                <a16:creationId xmlns:a16="http://schemas.microsoft.com/office/drawing/2014/main" id="{09B9ECD0-A17E-0144-8A94-4290645E47CC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444245" y="1946180"/>
            <a:ext cx="1250332" cy="100281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9600" b="1" i="0">
                <a:solidFill>
                  <a:srgbClr val="014E9F"/>
                </a:solidFill>
                <a:latin typeface="Arial" panose="02000000000000000000" pitchFamily="2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algn="ctr"/>
            <a:r>
              <a:rPr lang="en-GB" sz="9600" b="1" i="0" dirty="0">
                <a:latin typeface="Arial" panose="02000000000000000000" pitchFamily="2" charset="0"/>
                <a:cs typeface="Arial" panose="020B0604020202020204" pitchFamily="34" charset="0"/>
              </a:rPr>
              <a:t>”</a:t>
            </a:r>
          </a:p>
        </p:txBody>
      </p:sp>
      <p:sp>
        <p:nvSpPr>
          <p:cNvPr id="16" name="Espace réservé du texte 2">
            <a:extLst>
              <a:ext uri="{FF2B5EF4-FFF2-40B4-BE49-F238E27FC236}">
                <a16:creationId xmlns:a16="http://schemas.microsoft.com/office/drawing/2014/main" id="{D45E7E23-A8F6-C546-8502-2A8EE6D79926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7410373" y="4460266"/>
            <a:ext cx="1250332" cy="100281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9600" b="1" i="0">
                <a:solidFill>
                  <a:srgbClr val="014E9F"/>
                </a:solidFill>
                <a:latin typeface="Arial" panose="02000000000000000000" pitchFamily="2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algn="ctr"/>
            <a:r>
              <a:rPr lang="en-GB" sz="9600" b="1" i="0" dirty="0">
                <a:latin typeface="Arial" panose="02000000000000000000" pitchFamily="2" charset="0"/>
                <a:cs typeface="Arial" panose="020B0604020202020204" pitchFamily="34" charset="0"/>
              </a:rPr>
              <a:t>”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516BC5B5-C401-7C4A-9FC7-5946095A361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03684" y="2166034"/>
            <a:ext cx="6350766" cy="2644505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1" i="1">
                <a:solidFill>
                  <a:srgbClr val="014E9F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noProof="0" dirty="0"/>
              <a:t>USE THIS SLIDE TO INSERT QUOTES / UTILISER CETTE DIAPOSITIVE POUR INSÉRER DES CITATIONS / USE THIS SLIDE TO INSERT QUOTES / UTILISER CETTE DIAPOSITIVE POUR INSÉRER DES CITATIONS</a:t>
            </a:r>
            <a:endParaRPr lang="en-US" dirty="0"/>
          </a:p>
        </p:txBody>
      </p:sp>
      <p:pic>
        <p:nvPicPr>
          <p:cNvPr id="2" name="Image 8">
            <a:extLst>
              <a:ext uri="{FF2B5EF4-FFF2-40B4-BE49-F238E27FC236}">
                <a16:creationId xmlns:a16="http://schemas.microsoft.com/office/drawing/2014/main" id="{F2BDD78F-4D2E-EB79-0814-56D57242746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743626" y="6079066"/>
            <a:ext cx="1431122" cy="751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696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765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LIDE TITR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 16" descr="An image containing jellyfish, coelenterate, Majorelle blue, aquarium&#10;&#10;Auto-generated description">
            <a:extLst>
              <a:ext uri="{FF2B5EF4-FFF2-40B4-BE49-F238E27FC236}">
                <a16:creationId xmlns:a16="http://schemas.microsoft.com/office/drawing/2014/main" id="{1EF7BA0A-8020-2577-E88D-64D120E25BE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2795381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F1B6333-7BD4-37E0-446E-0FC838749B4F}"/>
              </a:ext>
            </a:extLst>
          </p:cNvPr>
          <p:cNvSpPr/>
          <p:nvPr userDrawn="1"/>
        </p:nvSpPr>
        <p:spPr>
          <a:xfrm>
            <a:off x="9268071" y="0"/>
            <a:ext cx="2952000" cy="136525"/>
          </a:xfrm>
          <a:prstGeom prst="rect">
            <a:avLst/>
          </a:prstGeom>
          <a:solidFill>
            <a:srgbClr val="27509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0" name="Image 19" descr="An image containing Graphics, graphic design, cartoon&#10;&#10;Auto-generated description">
            <a:extLst>
              <a:ext uri="{FF2B5EF4-FFF2-40B4-BE49-F238E27FC236}">
                <a16:creationId xmlns:a16="http://schemas.microsoft.com/office/drawing/2014/main" id="{385E9751-48F7-6A14-D316-9C0F951B375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38734" y="6051096"/>
            <a:ext cx="2294342" cy="611266"/>
          </a:xfrm>
          <a:prstGeom prst="rect">
            <a:avLst/>
          </a:prstGeom>
        </p:spPr>
      </p:pic>
      <p:sp>
        <p:nvSpPr>
          <p:cNvPr id="4" name="Titre 1">
            <a:extLst>
              <a:ext uri="{FF2B5EF4-FFF2-40B4-BE49-F238E27FC236}">
                <a16:creationId xmlns:a16="http://schemas.microsoft.com/office/drawing/2014/main" id="{E544D18E-9EC6-CD37-99E5-7F2F91A40D4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38600" y="2561070"/>
            <a:ext cx="6629400" cy="867930"/>
          </a:xfrm>
          <a:prstGeom prst="rect">
            <a:avLst/>
          </a:prstGeom>
        </p:spPr>
        <p:txBody>
          <a:bodyPr anchor="ctr" anchorCtr="0">
            <a:spAutoFit/>
          </a:bodyPr>
          <a:lstStyle>
            <a:lvl1pPr algn="ctr">
              <a:defRPr sz="2800" b="1" i="0">
                <a:solidFill>
                  <a:srgbClr val="004AAD"/>
                </a:solidFill>
                <a:latin typeface="Arial" panose="02000000000000000000" pitchFamily="2" charset="0"/>
              </a:defRPr>
            </a:lvl1pPr>
          </a:lstStyle>
          <a:p>
            <a:r>
              <a:rPr lang="en"/>
              <a:t>Change the style </a:t>
            </a:r>
            <a:br>
              <a:rPr lang="fr-FR"/>
            </a:br>
            <a:r>
              <a:rPr lang="en"/>
              <a:t>of the title</a:t>
            </a:r>
          </a:p>
        </p:txBody>
      </p:sp>
      <p:sp>
        <p:nvSpPr>
          <p:cNvPr id="5" name="Sous-titre 2">
            <a:extLst>
              <a:ext uri="{FF2B5EF4-FFF2-40B4-BE49-F238E27FC236}">
                <a16:creationId xmlns:a16="http://schemas.microsoft.com/office/drawing/2014/main" id="{C90BD427-C782-93BD-E3DD-6B446B34F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38599" y="3433204"/>
            <a:ext cx="6629400" cy="313932"/>
          </a:xfrm>
          <a:prstGeom prst="rect">
            <a:avLst/>
          </a:prstGeom>
        </p:spPr>
        <p:txBody>
          <a:bodyPr anchor="ctr" anchorCtr="0">
            <a:spAutoFit/>
          </a:bodyPr>
          <a:lstStyle>
            <a:lvl1pPr marL="0" indent="0" algn="ctr">
              <a:buNone/>
              <a:defRPr sz="1600">
                <a:solidFill>
                  <a:srgbClr val="53565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"/>
              <a:t>Change the style of the mask's captions</a:t>
            </a:r>
          </a:p>
        </p:txBody>
      </p:sp>
    </p:spTree>
    <p:extLst>
      <p:ext uri="{BB962C8B-B14F-4D97-AF65-F5344CB8AC3E}">
        <p14:creationId xmlns:p14="http://schemas.microsoft.com/office/powerpoint/2010/main" val="9952250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apositive de titre">
    <p:bg>
      <p:bgPr>
        <a:solidFill>
          <a:srgbClr val="014E9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page19image46861696">
            <a:extLst>
              <a:ext uri="{FF2B5EF4-FFF2-40B4-BE49-F238E27FC236}">
                <a16:creationId xmlns:a16="http://schemas.microsoft.com/office/drawing/2014/main" id="{7996D75D-B1DB-0A47-8969-8710ECAC45A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689100" cy="193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Espace réservé du texte 2">
            <a:extLst>
              <a:ext uri="{FF2B5EF4-FFF2-40B4-BE49-F238E27FC236}">
                <a16:creationId xmlns:a16="http://schemas.microsoft.com/office/drawing/2014/main" id="{8569272F-A4BF-6745-9D7D-D0B1D243C23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5344293" y="5404626"/>
            <a:ext cx="5349375" cy="23703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2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noProof="0" dirty="0"/>
              <a:t>Name of the Author, Title / Nom de </a:t>
            </a:r>
            <a:r>
              <a:rPr lang="en-GB" noProof="0" dirty="0" err="1"/>
              <a:t>l’auteur</a:t>
            </a:r>
            <a:r>
              <a:rPr lang="en-GB" noProof="0" dirty="0"/>
              <a:t>, Titre</a:t>
            </a:r>
          </a:p>
        </p:txBody>
      </p:sp>
      <p:sp>
        <p:nvSpPr>
          <p:cNvPr id="10" name="Espace réservé du texte 2">
            <a:extLst>
              <a:ext uri="{FF2B5EF4-FFF2-40B4-BE49-F238E27FC236}">
                <a16:creationId xmlns:a16="http://schemas.microsoft.com/office/drawing/2014/main" id="{8ADAEA32-8935-8848-8A7D-3BB7D468A75B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4330445" y="1656151"/>
            <a:ext cx="1250332" cy="100281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9600" b="1" i="0">
                <a:solidFill>
                  <a:schemeClr val="bg1"/>
                </a:solidFill>
                <a:latin typeface="Arial" panose="02000000000000000000" pitchFamily="2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algn="ctr"/>
            <a:r>
              <a:rPr lang="en-GB" sz="9600" b="1" i="0" dirty="0">
                <a:latin typeface="Arial" panose="02000000000000000000" pitchFamily="2" charset="0"/>
                <a:cs typeface="Arial" panose="020B0604020202020204" pitchFamily="34" charset="0"/>
              </a:rPr>
              <a:t>”</a:t>
            </a:r>
          </a:p>
        </p:txBody>
      </p:sp>
      <p:sp>
        <p:nvSpPr>
          <p:cNvPr id="11" name="Espace réservé du texte 2">
            <a:extLst>
              <a:ext uri="{FF2B5EF4-FFF2-40B4-BE49-F238E27FC236}">
                <a16:creationId xmlns:a16="http://schemas.microsoft.com/office/drawing/2014/main" id="{5FDBB578-0F76-A047-91A2-4B276DBB0DFD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996538" y="4615028"/>
            <a:ext cx="1250332" cy="100281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9600" b="1" i="0">
                <a:solidFill>
                  <a:schemeClr val="bg1"/>
                </a:solidFill>
                <a:latin typeface="Arial" panose="02000000000000000000" pitchFamily="2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algn="ctr"/>
            <a:r>
              <a:rPr lang="en-GB" sz="9600" b="1" i="0" dirty="0">
                <a:latin typeface="Arial" panose="02000000000000000000" pitchFamily="2" charset="0"/>
                <a:cs typeface="Arial" panose="020B0604020202020204" pitchFamily="34" charset="0"/>
              </a:rPr>
              <a:t>”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F4AF310B-789E-0642-90E4-6B62749F90F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760878" y="5763777"/>
            <a:ext cx="1431122" cy="759333"/>
          </a:xfrm>
          <a:prstGeom prst="rect">
            <a:avLst/>
          </a:prstGeom>
        </p:spPr>
      </p:pic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D0D7CF2-F50F-5742-A783-AC9F3D25D70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44292" y="2064972"/>
            <a:ext cx="5349375" cy="2854898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1" i="1">
                <a:solidFill>
                  <a:schemeClr val="bg1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noProof="0" dirty="0"/>
              <a:t>USE THIS SLIDE TO INSERT QUOTES / UTILISER CETTE DIAPOSITIVE POUR INSÉRER DES CITATIONS / USE THIS SLIDE TO INSERT QUOTES / UTILISER CETTE DIAPOSITIVE POUR INSÉRER DES CITATIONS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42493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apositive de titre">
    <p:bg>
      <p:bgPr>
        <a:solidFill>
          <a:srgbClr val="014E9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F2B319CC-E261-134F-BFBC-DD5C47A61D7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625402" y="1390333"/>
            <a:ext cx="6379146" cy="3277640"/>
          </a:xfrm>
          <a:prstGeom prst="rect">
            <a:avLst/>
          </a:prstGeom>
        </p:spPr>
      </p:pic>
      <p:pic>
        <p:nvPicPr>
          <p:cNvPr id="5" name="Image 7">
            <a:extLst>
              <a:ext uri="{FF2B5EF4-FFF2-40B4-BE49-F238E27FC236}">
                <a16:creationId xmlns:a16="http://schemas.microsoft.com/office/drawing/2014/main" id="{EE7264FD-DD0F-9246-9476-BDA325B43C4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760878" y="5763777"/>
            <a:ext cx="1431122" cy="759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5818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Disposition personnalisé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>
            <a:extLst>
              <a:ext uri="{FF2B5EF4-FFF2-40B4-BE49-F238E27FC236}">
                <a16:creationId xmlns:a16="http://schemas.microsoft.com/office/drawing/2014/main" id="{A0ADCECC-E0CE-8040-90A8-7BAE91E8747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46538"/>
          <a:stretch/>
        </p:blipFill>
        <p:spPr>
          <a:xfrm>
            <a:off x="451500" y="2016718"/>
            <a:ext cx="5389464" cy="4383805"/>
          </a:xfrm>
          <a:prstGeom prst="rect">
            <a:avLst/>
          </a:prstGeom>
        </p:spPr>
      </p:pic>
      <p:sp>
        <p:nvSpPr>
          <p:cNvPr id="7" name="Titre 3">
            <a:extLst>
              <a:ext uri="{FF2B5EF4-FFF2-40B4-BE49-F238E27FC236}">
                <a16:creationId xmlns:a16="http://schemas.microsoft.com/office/drawing/2014/main" id="{0C3946A3-F4D6-BE49-ADE9-C2956C7CDD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9687" y="457477"/>
            <a:ext cx="5281277" cy="813764"/>
          </a:xfrm>
          <a:prstGeom prst="rect">
            <a:avLst/>
          </a:prstGeom>
          <a:noFill/>
        </p:spPr>
        <p:txBody>
          <a:bodyPr anchor="ctr"/>
          <a:lstStyle>
            <a:lvl1pPr algn="l">
              <a:defRPr sz="5400" b="1" i="1" u="none">
                <a:solidFill>
                  <a:srgbClr val="014E9F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r>
              <a:rPr lang="en-GB"/>
              <a:t>CONTENT</a:t>
            </a:r>
          </a:p>
        </p:txBody>
      </p:sp>
      <p:sp>
        <p:nvSpPr>
          <p:cNvPr id="6" name="Espace réservé du contenu 3">
            <a:extLst>
              <a:ext uri="{FF2B5EF4-FFF2-40B4-BE49-F238E27FC236}">
                <a16:creationId xmlns:a16="http://schemas.microsoft.com/office/drawing/2014/main" id="{59319072-AA48-9747-9DDC-FE0293354C0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898534" y="1828278"/>
            <a:ext cx="5964812" cy="3442551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014E9F"/>
              </a:buClr>
              <a:buFont typeface="+mj-lt"/>
              <a:buAutoNum type="arabicPeriod"/>
              <a:defRPr sz="2000" b="1" i="1" baseline="0">
                <a:solidFill>
                  <a:srgbClr val="014E9F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  <a:lvl2pPr marL="742950" indent="-285750">
              <a:lnSpc>
                <a:spcPct val="100000"/>
              </a:lnSpc>
              <a:buClr>
                <a:srgbClr val="014E9F"/>
              </a:buClr>
              <a:buSzPct val="100000"/>
              <a:buFont typeface="Lucida Grande"/>
              <a:buChar char="●"/>
              <a:defRPr sz="1400" b="0" i="0" baseline="0">
                <a:solidFill>
                  <a:srgbClr val="014E9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Clr>
                <a:srgbClr val="014E9F"/>
              </a:buClr>
              <a:buFont typeface="Wingdings" pitchFamily="2" charset="2"/>
              <a:buChar char="§"/>
              <a:defRPr sz="1800" baseline="0">
                <a:solidFill>
                  <a:srgbClr val="014E9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Clr>
                <a:srgbClr val="014E9F"/>
              </a:buClr>
              <a:buFont typeface="Lucida Grande"/>
              <a:buChar char="▸"/>
              <a:defRPr sz="1400">
                <a:solidFill>
                  <a:srgbClr val="014E9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Clr>
                <a:srgbClr val="014E9F"/>
              </a:buClr>
              <a:buFont typeface="Wingdings" pitchFamily="2" charset="2"/>
              <a:buChar char="v"/>
              <a:defRPr sz="1200">
                <a:solidFill>
                  <a:srgbClr val="014E9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noProof="0"/>
              <a:t>CONTENT A</a:t>
            </a:r>
          </a:p>
          <a:p>
            <a:pPr lvl="1"/>
            <a:r>
              <a:rPr lang="en-GB" noProof="0"/>
              <a:t>The XDR3 the company tyre equips the world’s largest mining truck. Capable of withstanding up to 220 tonnes, it resists even the heaviest </a:t>
            </a:r>
            <a:r>
              <a:rPr lang="en-GB" noProof="0" err="1"/>
              <a:t>loads.Nem</a:t>
            </a:r>
            <a:r>
              <a:rPr lang="en-GB" noProof="0"/>
              <a:t> rem qui </a:t>
            </a:r>
            <a:r>
              <a:rPr lang="en-GB" noProof="0" err="1"/>
              <a:t>doluptiur</a:t>
            </a:r>
            <a:r>
              <a:rPr lang="en-GB" noProof="0"/>
              <a:t> </a:t>
            </a:r>
            <a:r>
              <a:rPr lang="en-GB" noProof="0" err="1"/>
              <a:t>aut</a:t>
            </a:r>
            <a:r>
              <a:rPr lang="en-GB" noProof="0"/>
              <a:t> </a:t>
            </a:r>
            <a:r>
              <a:rPr lang="en-GB" noProof="0" err="1"/>
              <a:t>esti</a:t>
            </a:r>
            <a:r>
              <a:rPr lang="en-GB" noProof="0"/>
              <a:t> </a:t>
            </a:r>
            <a:r>
              <a:rPr lang="en-GB" noProof="0" err="1"/>
              <a:t>te</a:t>
            </a:r>
            <a:r>
              <a:rPr lang="en-GB" noProof="0"/>
              <a:t> </a:t>
            </a:r>
            <a:r>
              <a:rPr lang="en-GB" noProof="0" err="1"/>
              <a:t>estoruntis</a:t>
            </a:r>
            <a:r>
              <a:rPr lang="en-GB" noProof="0"/>
              <a:t> ex ex et </a:t>
            </a:r>
            <a:r>
              <a:rPr lang="en-GB" noProof="0" err="1"/>
              <a:t>lat</a:t>
            </a:r>
            <a:r>
              <a:rPr lang="en-GB" noProof="0"/>
              <a:t> verum </a:t>
            </a:r>
            <a:r>
              <a:rPr lang="en-GB" noProof="0" err="1"/>
              <a:t>quosam</a:t>
            </a:r>
            <a:r>
              <a:rPr lang="en-GB" noProof="0"/>
              <a:t> et </a:t>
            </a:r>
            <a:r>
              <a:rPr lang="en-GB" noProof="0" err="1"/>
              <a:t>esserfe</a:t>
            </a:r>
            <a:r>
              <a:rPr lang="en-GB" noProof="0"/>
              <a:t> </a:t>
            </a:r>
            <a:r>
              <a:rPr lang="en-GB" noProof="0" err="1"/>
              <a:t>rspictem</a:t>
            </a:r>
            <a:r>
              <a:rPr lang="en-GB" noProof="0"/>
              <a:t> as </a:t>
            </a:r>
            <a:r>
              <a:rPr lang="en-GB" noProof="0" err="1"/>
              <a:t>istiore</a:t>
            </a:r>
            <a:r>
              <a:rPr lang="en-GB" noProof="0"/>
              <a:t> </a:t>
            </a:r>
            <a:r>
              <a:rPr lang="en-GB" noProof="0" err="1"/>
              <a:t>ctiiscia</a:t>
            </a:r>
            <a:r>
              <a:rPr lang="en-GB" noProof="0"/>
              <a:t> </a:t>
            </a:r>
            <a:r>
              <a:rPr lang="en-GB" noProof="0" err="1"/>
              <a:t>corerioria</a:t>
            </a:r>
            <a:r>
              <a:rPr lang="en-GB" noProof="0"/>
              <a:t> </a:t>
            </a:r>
            <a:r>
              <a:rPr lang="en-GB" noProof="0" err="1"/>
              <a:t>vernatur</a:t>
            </a:r>
            <a:r>
              <a:rPr lang="en-GB" noProof="0"/>
              <a:t>, </a:t>
            </a:r>
            <a:r>
              <a:rPr lang="en-GB" noProof="0" err="1"/>
              <a:t>ut</a:t>
            </a:r>
            <a:r>
              <a:rPr lang="en-GB" noProof="0"/>
              <a:t> </a:t>
            </a:r>
            <a:r>
              <a:rPr lang="en-GB" noProof="0" err="1"/>
              <a:t>ventisit</a:t>
            </a:r>
            <a:r>
              <a:rPr lang="en-GB" noProof="0"/>
              <a:t>,</a:t>
            </a:r>
          </a:p>
        </p:txBody>
      </p:sp>
      <p:pic>
        <p:nvPicPr>
          <p:cNvPr id="10" name="Image 8">
            <a:extLst>
              <a:ext uri="{FF2B5EF4-FFF2-40B4-BE49-F238E27FC236}">
                <a16:creationId xmlns:a16="http://schemas.microsoft.com/office/drawing/2014/main" id="{EC807335-BDE5-CF4B-BE7A-DE6C20CAD27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760878" y="5777151"/>
            <a:ext cx="1431122" cy="751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95270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position personnalisé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re 3">
            <a:extLst>
              <a:ext uri="{FF2B5EF4-FFF2-40B4-BE49-F238E27FC236}">
                <a16:creationId xmlns:a16="http://schemas.microsoft.com/office/drawing/2014/main" id="{98F3E029-05D4-4945-9E36-3B3D678D8F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8948" y="496831"/>
            <a:ext cx="7391400" cy="1187003"/>
          </a:xfrm>
          <a:prstGeom prst="rect">
            <a:avLst/>
          </a:prstGeom>
          <a:noFill/>
        </p:spPr>
        <p:txBody>
          <a:bodyPr anchor="ctr"/>
          <a:lstStyle>
            <a:lvl1pPr algn="l">
              <a:defRPr sz="4000" b="1" i="1">
                <a:solidFill>
                  <a:srgbClr val="014E9F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r>
              <a:rPr lang="en-GB" noProof="0"/>
              <a:t>TITRE</a:t>
            </a:r>
            <a:br>
              <a:rPr lang="en-GB" noProof="0"/>
            </a:br>
            <a:r>
              <a:rPr lang="en-GB" noProof="0"/>
              <a:t>TITLE</a:t>
            </a:r>
          </a:p>
        </p:txBody>
      </p:sp>
      <p:sp>
        <p:nvSpPr>
          <p:cNvPr id="17" name="Sous-titre 2">
            <a:extLst>
              <a:ext uri="{FF2B5EF4-FFF2-40B4-BE49-F238E27FC236}">
                <a16:creationId xmlns:a16="http://schemas.microsoft.com/office/drawing/2014/main" id="{CB2E5BC9-E70A-A24A-9F4D-E3EA8597C8E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28948" y="1683834"/>
            <a:ext cx="7391398" cy="345796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indent="0" algn="l">
              <a:buNone/>
              <a:defRPr lang="fr-FR" sz="1200" b="1" i="1" kern="1200" baseline="0" smtClean="0">
                <a:solidFill>
                  <a:srgbClr val="014E9F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4571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2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5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6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8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9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noProof="0"/>
              <a:t>SOUS TITRE / SUBTITLE</a:t>
            </a:r>
          </a:p>
        </p:txBody>
      </p:sp>
      <p:sp>
        <p:nvSpPr>
          <p:cNvPr id="7" name="Espace réservé du contenu 3">
            <a:extLst>
              <a:ext uri="{FF2B5EF4-FFF2-40B4-BE49-F238E27FC236}">
                <a16:creationId xmlns:a16="http://schemas.microsoft.com/office/drawing/2014/main" id="{611C4C19-B115-6244-BB29-A18EABD2410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328948" y="2304902"/>
            <a:ext cx="7391398" cy="3442551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014E9F"/>
              </a:buClr>
              <a:buFont typeface="Wingdings" charset="2"/>
              <a:buChar char=""/>
              <a:defRPr sz="2000" b="1" i="0" baseline="0">
                <a:solidFill>
                  <a:srgbClr val="014E9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Clr>
                <a:srgbClr val="014E9F"/>
              </a:buClr>
              <a:buSzPct val="100000"/>
              <a:buFont typeface="Lucida Grande"/>
              <a:buChar char="●"/>
              <a:defRPr sz="1800" b="1" i="0" baseline="0">
                <a:solidFill>
                  <a:srgbClr val="014E9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Clr>
                <a:srgbClr val="014E9F"/>
              </a:buClr>
              <a:buFont typeface="Wingdings" pitchFamily="2" charset="2"/>
              <a:buChar char="§"/>
              <a:defRPr sz="1800" b="0" i="0" baseline="0">
                <a:solidFill>
                  <a:srgbClr val="014E9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Clr>
                <a:srgbClr val="014E9F"/>
              </a:buClr>
              <a:buFont typeface="Lucida Grande"/>
              <a:buChar char="▸"/>
              <a:defRPr sz="1400">
                <a:solidFill>
                  <a:srgbClr val="014E9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Clr>
                <a:srgbClr val="014E9F"/>
              </a:buClr>
              <a:buFont typeface="Wingdings" pitchFamily="2" charset="2"/>
              <a:buChar char="v"/>
              <a:defRPr sz="1200">
                <a:solidFill>
                  <a:srgbClr val="014E9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noProof="0"/>
              <a:t>CLICK TO MODIFY THE TEXT OF THE MASK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0C4C15ED-6CE1-714D-9181-FFA75E624DE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4498"/>
            <a:ext cx="3857908" cy="6510221"/>
          </a:xfrm>
          <a:prstGeom prst="rect">
            <a:avLst/>
          </a:prstGeom>
        </p:spPr>
      </p:pic>
      <p:pic>
        <p:nvPicPr>
          <p:cNvPr id="11" name="Image 8">
            <a:extLst>
              <a:ext uri="{FF2B5EF4-FFF2-40B4-BE49-F238E27FC236}">
                <a16:creationId xmlns:a16="http://schemas.microsoft.com/office/drawing/2014/main" id="{C1BF029C-84D1-0D41-A568-1164B3E9124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760878" y="5777151"/>
            <a:ext cx="1431122" cy="751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9823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Disposition personnalisé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re 3">
            <a:extLst>
              <a:ext uri="{FF2B5EF4-FFF2-40B4-BE49-F238E27FC236}">
                <a16:creationId xmlns:a16="http://schemas.microsoft.com/office/drawing/2014/main" id="{10D27255-9B58-6C4D-8D8D-F87BEEDC9E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8948" y="496831"/>
            <a:ext cx="7391400" cy="1187003"/>
          </a:xfrm>
          <a:prstGeom prst="rect">
            <a:avLst/>
          </a:prstGeom>
          <a:noFill/>
        </p:spPr>
        <p:txBody>
          <a:bodyPr anchor="ctr"/>
          <a:lstStyle>
            <a:lvl1pPr algn="l">
              <a:defRPr sz="4000" b="1" i="1">
                <a:solidFill>
                  <a:srgbClr val="014E9F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r>
              <a:rPr lang="en-GB" noProof="0"/>
              <a:t>TITRE</a:t>
            </a:r>
            <a:br>
              <a:rPr lang="en-GB" noProof="0"/>
            </a:br>
            <a:r>
              <a:rPr lang="en-GB" noProof="0"/>
              <a:t>TITLE</a:t>
            </a:r>
          </a:p>
        </p:txBody>
      </p:sp>
      <p:sp>
        <p:nvSpPr>
          <p:cNvPr id="12" name="Sous-titre 2">
            <a:extLst>
              <a:ext uri="{FF2B5EF4-FFF2-40B4-BE49-F238E27FC236}">
                <a16:creationId xmlns:a16="http://schemas.microsoft.com/office/drawing/2014/main" id="{C9FD2BFF-9DA7-1543-B0F5-90429DB5FAF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328948" y="1683834"/>
            <a:ext cx="7391398" cy="345796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indent="0" algn="l">
              <a:buNone/>
              <a:defRPr lang="fr-FR" sz="1200" b="1" i="1" kern="1200" baseline="0" smtClean="0">
                <a:solidFill>
                  <a:srgbClr val="014E9F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4571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2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5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6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8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9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noProof="0"/>
              <a:t>SOUS TITRE / SUBTITLE</a:t>
            </a:r>
          </a:p>
        </p:txBody>
      </p:sp>
      <p:sp>
        <p:nvSpPr>
          <p:cNvPr id="13" name="Espace réservé du contenu 3">
            <a:extLst>
              <a:ext uri="{FF2B5EF4-FFF2-40B4-BE49-F238E27FC236}">
                <a16:creationId xmlns:a16="http://schemas.microsoft.com/office/drawing/2014/main" id="{ADD604E5-9934-D241-B41B-F30CAFC0215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328948" y="2304902"/>
            <a:ext cx="7391398" cy="3442551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014E9F"/>
              </a:buClr>
              <a:buFont typeface="Wingdings" charset="2"/>
              <a:buChar char=""/>
              <a:defRPr sz="2000" b="1" i="0" baseline="0">
                <a:solidFill>
                  <a:srgbClr val="014E9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Clr>
                <a:srgbClr val="014E9F"/>
              </a:buClr>
              <a:buSzPct val="100000"/>
              <a:buFont typeface="Lucida Grande"/>
              <a:buChar char="●"/>
              <a:defRPr sz="1800" b="1" i="0" baseline="0">
                <a:solidFill>
                  <a:srgbClr val="014E9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Clr>
                <a:srgbClr val="014E9F"/>
              </a:buClr>
              <a:buFont typeface="Wingdings" pitchFamily="2" charset="2"/>
              <a:buChar char="§"/>
              <a:defRPr sz="1800" b="0" i="0" baseline="0">
                <a:solidFill>
                  <a:srgbClr val="014E9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Clr>
                <a:srgbClr val="014E9F"/>
              </a:buClr>
              <a:buFont typeface="Lucida Grande"/>
              <a:buChar char="▸"/>
              <a:defRPr sz="1400">
                <a:solidFill>
                  <a:srgbClr val="014E9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Clr>
                <a:srgbClr val="014E9F"/>
              </a:buClr>
              <a:buFont typeface="Wingdings" pitchFamily="2" charset="2"/>
              <a:buChar char="v"/>
              <a:defRPr sz="1200">
                <a:solidFill>
                  <a:srgbClr val="014E9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noProof="0"/>
              <a:t>CLICK TO MODIFY THE TEXT OF THE MASK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A1ACAECC-7D09-EF4D-A23A-2CDCF7FA58D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9684"/>
            <a:ext cx="3857908" cy="6510221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2EFDF30B-EF84-B944-8021-25D8C203C78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760878" y="5777151"/>
            <a:ext cx="1431122" cy="751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7599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isposition personnalisé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3">
            <a:extLst>
              <a:ext uri="{FF2B5EF4-FFF2-40B4-BE49-F238E27FC236}">
                <a16:creationId xmlns:a16="http://schemas.microsoft.com/office/drawing/2014/main" id="{4C1C9CFE-EFDB-FF48-9DE9-AB4F908131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52843" y="454329"/>
            <a:ext cx="4915856" cy="1187003"/>
          </a:xfrm>
          <a:prstGeom prst="rect">
            <a:avLst/>
          </a:prstGeom>
          <a:noFill/>
        </p:spPr>
        <p:txBody>
          <a:bodyPr anchor="ctr"/>
          <a:lstStyle>
            <a:lvl1pPr algn="l">
              <a:defRPr sz="4000" b="1" i="1" u="none">
                <a:solidFill>
                  <a:srgbClr val="014E9F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r>
              <a:rPr lang="en-GB" noProof="0"/>
              <a:t>TITRE</a:t>
            </a:r>
            <a:br>
              <a:rPr lang="en-GB" noProof="0"/>
            </a:br>
            <a:r>
              <a:rPr lang="en-GB" noProof="0"/>
              <a:t>TITLE</a:t>
            </a:r>
          </a:p>
        </p:txBody>
      </p:sp>
      <p:sp>
        <p:nvSpPr>
          <p:cNvPr id="10" name="Sous-titre 2">
            <a:extLst>
              <a:ext uri="{FF2B5EF4-FFF2-40B4-BE49-F238E27FC236}">
                <a16:creationId xmlns:a16="http://schemas.microsoft.com/office/drawing/2014/main" id="{5796F34F-CB38-6A46-8A54-4350538B18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652843" y="1738673"/>
            <a:ext cx="4915855" cy="345796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indent="0" algn="l">
              <a:buNone/>
              <a:defRPr lang="fr-FR" sz="1200" b="1" i="1" kern="1200" baseline="0" smtClean="0">
                <a:solidFill>
                  <a:srgbClr val="014E9F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4571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2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5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6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8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9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noProof="0"/>
              <a:t>SOUS TITRE / SUBTITLE</a:t>
            </a:r>
          </a:p>
        </p:txBody>
      </p:sp>
      <p:sp>
        <p:nvSpPr>
          <p:cNvPr id="12" name="Espace réservé du contenu 3">
            <a:extLst>
              <a:ext uri="{FF2B5EF4-FFF2-40B4-BE49-F238E27FC236}">
                <a16:creationId xmlns:a16="http://schemas.microsoft.com/office/drawing/2014/main" id="{8FD7DD1D-E93C-5345-A33A-628C9AC5363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652843" y="2258603"/>
            <a:ext cx="4915857" cy="3115063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014E9F"/>
              </a:buClr>
              <a:buFont typeface="Wingdings" charset="2"/>
              <a:buChar char=""/>
              <a:defRPr sz="1600" b="1" i="0" baseline="0">
                <a:solidFill>
                  <a:srgbClr val="014E9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Clr>
                <a:srgbClr val="014E9F"/>
              </a:buClr>
              <a:buSzPct val="100000"/>
              <a:buFont typeface="Lucida Grande"/>
              <a:buChar char="●"/>
              <a:defRPr sz="1600" b="1" i="0" baseline="0">
                <a:solidFill>
                  <a:srgbClr val="014E9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Clr>
                <a:srgbClr val="014E9F"/>
              </a:buClr>
              <a:buFont typeface="Wingdings" pitchFamily="2" charset="2"/>
              <a:buChar char="§"/>
              <a:defRPr sz="1600" b="0" i="0" baseline="0">
                <a:solidFill>
                  <a:srgbClr val="014E9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Clr>
                <a:srgbClr val="014E9F"/>
              </a:buClr>
              <a:buFont typeface="Lucida Grande"/>
              <a:buChar char="▸"/>
              <a:defRPr sz="1400">
                <a:solidFill>
                  <a:srgbClr val="014E9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Clr>
                <a:srgbClr val="014E9F"/>
              </a:buClr>
              <a:buFont typeface="Wingdings" pitchFamily="2" charset="2"/>
              <a:buChar char="v"/>
              <a:defRPr sz="1200">
                <a:solidFill>
                  <a:srgbClr val="014E9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noProof="0"/>
              <a:t>CLICK TO MODIFY THE TEXT OF THE MASK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794682A2-86F6-0646-85F8-2A2D4A5BCB6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2404" b="2404"/>
          <a:stretch/>
        </p:blipFill>
        <p:spPr>
          <a:xfrm>
            <a:off x="0" y="0"/>
            <a:ext cx="6096000" cy="6528216"/>
          </a:xfrm>
          <a:prstGeom prst="rect">
            <a:avLst/>
          </a:prstGeom>
        </p:spPr>
      </p:pic>
      <p:pic>
        <p:nvPicPr>
          <p:cNvPr id="13" name="Image 8">
            <a:extLst>
              <a:ext uri="{FF2B5EF4-FFF2-40B4-BE49-F238E27FC236}">
                <a16:creationId xmlns:a16="http://schemas.microsoft.com/office/drawing/2014/main" id="{C1296A84-0623-4E46-95C6-7063461EBAC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760878" y="5777151"/>
            <a:ext cx="1431122" cy="751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1653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Disposition personnalisé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3">
            <a:extLst>
              <a:ext uri="{FF2B5EF4-FFF2-40B4-BE49-F238E27FC236}">
                <a16:creationId xmlns:a16="http://schemas.microsoft.com/office/drawing/2014/main" id="{E94D439E-2C8A-AE4B-943D-A4D7BABC9D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52843" y="454329"/>
            <a:ext cx="4915856" cy="1187003"/>
          </a:xfrm>
          <a:prstGeom prst="rect">
            <a:avLst/>
          </a:prstGeom>
          <a:noFill/>
        </p:spPr>
        <p:txBody>
          <a:bodyPr anchor="ctr"/>
          <a:lstStyle>
            <a:lvl1pPr algn="l">
              <a:defRPr sz="4000" b="1" i="1" u="none">
                <a:solidFill>
                  <a:srgbClr val="014E9F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r>
              <a:rPr lang="en-GB" noProof="0"/>
              <a:t>TITRE</a:t>
            </a:r>
            <a:br>
              <a:rPr lang="en-GB" noProof="0"/>
            </a:br>
            <a:r>
              <a:rPr lang="en-GB" noProof="0"/>
              <a:t>TITLE</a:t>
            </a:r>
          </a:p>
        </p:txBody>
      </p:sp>
      <p:sp>
        <p:nvSpPr>
          <p:cNvPr id="13" name="Sous-titre 2">
            <a:extLst>
              <a:ext uri="{FF2B5EF4-FFF2-40B4-BE49-F238E27FC236}">
                <a16:creationId xmlns:a16="http://schemas.microsoft.com/office/drawing/2014/main" id="{A9EDF9CD-35AC-3D46-B699-5B04F79E7AC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652843" y="1738673"/>
            <a:ext cx="4915855" cy="345796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indent="0" algn="l">
              <a:buNone/>
              <a:defRPr lang="fr-FR" sz="1200" b="1" i="1" kern="1200" baseline="0" smtClean="0">
                <a:solidFill>
                  <a:srgbClr val="014E9F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4571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2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5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6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8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9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noProof="0"/>
              <a:t>SOUS TITRE / SUBTITLE</a:t>
            </a:r>
          </a:p>
        </p:txBody>
      </p:sp>
      <p:sp>
        <p:nvSpPr>
          <p:cNvPr id="14" name="Espace réservé du contenu 3">
            <a:extLst>
              <a:ext uri="{FF2B5EF4-FFF2-40B4-BE49-F238E27FC236}">
                <a16:creationId xmlns:a16="http://schemas.microsoft.com/office/drawing/2014/main" id="{D4858A5E-176C-8C44-845C-DB0714CF0BB6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652843" y="2258603"/>
            <a:ext cx="4915857" cy="3115063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014E9F"/>
              </a:buClr>
              <a:buFont typeface="Wingdings" charset="2"/>
              <a:buChar char=""/>
              <a:defRPr sz="1600" b="1" i="0" baseline="0">
                <a:solidFill>
                  <a:srgbClr val="014E9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Clr>
                <a:srgbClr val="014E9F"/>
              </a:buClr>
              <a:buSzPct val="100000"/>
              <a:buFont typeface="Lucida Grande"/>
              <a:buChar char="●"/>
              <a:defRPr sz="1600" b="1" i="0" baseline="0">
                <a:solidFill>
                  <a:srgbClr val="014E9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Clr>
                <a:srgbClr val="014E9F"/>
              </a:buClr>
              <a:buFont typeface="Wingdings" pitchFamily="2" charset="2"/>
              <a:buChar char="§"/>
              <a:defRPr sz="1600" b="0" i="0" baseline="0">
                <a:solidFill>
                  <a:srgbClr val="014E9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Clr>
                <a:srgbClr val="014E9F"/>
              </a:buClr>
              <a:buFont typeface="Lucida Grande"/>
              <a:buChar char="▸"/>
              <a:defRPr sz="1400">
                <a:solidFill>
                  <a:srgbClr val="014E9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Clr>
                <a:srgbClr val="014E9F"/>
              </a:buClr>
              <a:buFont typeface="Wingdings" pitchFamily="2" charset="2"/>
              <a:buChar char="v"/>
              <a:defRPr sz="1200">
                <a:solidFill>
                  <a:srgbClr val="014E9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noProof="0"/>
              <a:t>CLICK TO MODIFY THE TEXT OF THE MASK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63334DA9-0460-E64C-A307-54BDD8626FF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2404" b="2404"/>
          <a:stretch/>
        </p:blipFill>
        <p:spPr>
          <a:xfrm>
            <a:off x="0" y="0"/>
            <a:ext cx="6096000" cy="6528216"/>
          </a:xfrm>
          <a:prstGeom prst="rect">
            <a:avLst/>
          </a:prstGeom>
        </p:spPr>
      </p:pic>
      <p:pic>
        <p:nvPicPr>
          <p:cNvPr id="8" name="Image 8">
            <a:extLst>
              <a:ext uri="{FF2B5EF4-FFF2-40B4-BE49-F238E27FC236}">
                <a16:creationId xmlns:a16="http://schemas.microsoft.com/office/drawing/2014/main" id="{0569BFBA-4810-CB41-AB19-B56BB5B2CA4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760878" y="5777151"/>
            <a:ext cx="1431122" cy="751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5032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sposition personnalisé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re 3">
            <a:extLst>
              <a:ext uri="{FF2B5EF4-FFF2-40B4-BE49-F238E27FC236}">
                <a16:creationId xmlns:a16="http://schemas.microsoft.com/office/drawing/2014/main" id="{98F3E029-05D4-4945-9E36-3B3D678D8F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2462" y="496831"/>
            <a:ext cx="7391400" cy="1187003"/>
          </a:xfrm>
          <a:prstGeom prst="rect">
            <a:avLst/>
          </a:prstGeom>
          <a:noFill/>
        </p:spPr>
        <p:txBody>
          <a:bodyPr anchor="ctr"/>
          <a:lstStyle>
            <a:lvl1pPr algn="l">
              <a:defRPr sz="4000" b="1" i="1">
                <a:solidFill>
                  <a:srgbClr val="014E9F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r>
              <a:rPr lang="en-GB" noProof="0"/>
              <a:t>TITRE</a:t>
            </a:r>
            <a:br>
              <a:rPr lang="en-GB" noProof="0"/>
            </a:br>
            <a:r>
              <a:rPr lang="en-GB" noProof="0"/>
              <a:t>TITLE</a:t>
            </a:r>
          </a:p>
        </p:txBody>
      </p:sp>
      <p:sp>
        <p:nvSpPr>
          <p:cNvPr id="17" name="Sous-titre 2">
            <a:extLst>
              <a:ext uri="{FF2B5EF4-FFF2-40B4-BE49-F238E27FC236}">
                <a16:creationId xmlns:a16="http://schemas.microsoft.com/office/drawing/2014/main" id="{CB2E5BC9-E70A-A24A-9F4D-E3EA8597C8E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42462" y="1683834"/>
            <a:ext cx="7391398" cy="345796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indent="0" algn="l">
              <a:buNone/>
              <a:defRPr lang="fr-FR" sz="1200" b="1" i="1" kern="1200" baseline="0" smtClean="0">
                <a:solidFill>
                  <a:srgbClr val="014E9F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4571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2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5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6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8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9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noProof="0"/>
              <a:t>SOUS TITRE / SUBTITLE</a:t>
            </a:r>
          </a:p>
        </p:txBody>
      </p:sp>
      <p:sp>
        <p:nvSpPr>
          <p:cNvPr id="8" name="Espace réservé du contenu 3">
            <a:extLst>
              <a:ext uri="{FF2B5EF4-FFF2-40B4-BE49-F238E27FC236}">
                <a16:creationId xmlns:a16="http://schemas.microsoft.com/office/drawing/2014/main" id="{F760BC9A-6148-4E49-B5A1-6E25D1D26D58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42462" y="2304901"/>
            <a:ext cx="7391398" cy="3442551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014E9F"/>
              </a:buClr>
              <a:buFont typeface="Wingdings" charset="2"/>
              <a:buChar char=""/>
              <a:defRPr sz="2000" b="1" i="0" baseline="0">
                <a:solidFill>
                  <a:srgbClr val="014E9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Clr>
                <a:srgbClr val="014E9F"/>
              </a:buClr>
              <a:buSzPct val="100000"/>
              <a:buFont typeface="Lucida Grande"/>
              <a:buChar char="●"/>
              <a:defRPr sz="1800" b="1" i="0" baseline="0">
                <a:solidFill>
                  <a:srgbClr val="014E9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Clr>
                <a:srgbClr val="014E9F"/>
              </a:buClr>
              <a:buFont typeface="Wingdings" pitchFamily="2" charset="2"/>
              <a:buChar char="§"/>
              <a:defRPr sz="1800" b="0" i="0" baseline="0">
                <a:solidFill>
                  <a:srgbClr val="014E9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Clr>
                <a:srgbClr val="014E9F"/>
              </a:buClr>
              <a:buFont typeface="Lucida Grande"/>
              <a:buChar char="▸"/>
              <a:defRPr sz="1400" b="0" i="0">
                <a:solidFill>
                  <a:srgbClr val="014E9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Clr>
                <a:srgbClr val="014E9F"/>
              </a:buClr>
              <a:buFont typeface="Wingdings" pitchFamily="2" charset="2"/>
              <a:buChar char="v"/>
              <a:defRPr sz="1200" b="0" i="0">
                <a:solidFill>
                  <a:srgbClr val="014E9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noProof="0"/>
              <a:t>CLICK TO MODIFY THE TEXT OF THE MASK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3B640EEE-C428-A041-8962-B6632616CBF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8334091" y="4498"/>
            <a:ext cx="3857908" cy="6510221"/>
          </a:xfrm>
          <a:prstGeom prst="rect">
            <a:avLst/>
          </a:prstGeom>
        </p:spPr>
      </p:pic>
      <p:pic>
        <p:nvPicPr>
          <p:cNvPr id="11" name="Image 7">
            <a:extLst>
              <a:ext uri="{FF2B5EF4-FFF2-40B4-BE49-F238E27FC236}">
                <a16:creationId xmlns:a16="http://schemas.microsoft.com/office/drawing/2014/main" id="{47BC3100-7225-8B47-911B-4A70F5DC580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760878" y="5763777"/>
            <a:ext cx="1431122" cy="759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8216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Disposition personnalisé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re 3">
            <a:extLst>
              <a:ext uri="{FF2B5EF4-FFF2-40B4-BE49-F238E27FC236}">
                <a16:creationId xmlns:a16="http://schemas.microsoft.com/office/drawing/2014/main" id="{666EE7DB-68D7-0B44-8E6E-ADC869744F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2462" y="496831"/>
            <a:ext cx="7391400" cy="1187003"/>
          </a:xfrm>
          <a:prstGeom prst="rect">
            <a:avLst/>
          </a:prstGeom>
          <a:noFill/>
        </p:spPr>
        <p:txBody>
          <a:bodyPr anchor="ctr"/>
          <a:lstStyle>
            <a:lvl1pPr algn="l">
              <a:defRPr sz="4000" b="1" i="1">
                <a:solidFill>
                  <a:srgbClr val="014E9F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r>
              <a:rPr lang="en-GB" noProof="0"/>
              <a:t>TITRE</a:t>
            </a:r>
            <a:br>
              <a:rPr lang="en-GB" noProof="0"/>
            </a:br>
            <a:r>
              <a:rPr lang="en-GB" noProof="0"/>
              <a:t>TITLE</a:t>
            </a:r>
          </a:p>
        </p:txBody>
      </p:sp>
      <p:sp>
        <p:nvSpPr>
          <p:cNvPr id="12" name="Sous-titre 2">
            <a:extLst>
              <a:ext uri="{FF2B5EF4-FFF2-40B4-BE49-F238E27FC236}">
                <a16:creationId xmlns:a16="http://schemas.microsoft.com/office/drawing/2014/main" id="{ADDB063B-BEF3-D147-B88D-E344C32697C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42462" y="1683834"/>
            <a:ext cx="7391398" cy="345796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indent="0" algn="l">
              <a:buNone/>
              <a:defRPr lang="fr-FR" sz="1200" b="1" i="1" kern="1200" baseline="0" smtClean="0">
                <a:solidFill>
                  <a:srgbClr val="014E9F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4571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2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5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6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8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9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noProof="0"/>
              <a:t>SOUS TITRE / SUBTITLE</a:t>
            </a:r>
          </a:p>
        </p:txBody>
      </p:sp>
      <p:sp>
        <p:nvSpPr>
          <p:cNvPr id="13" name="Espace réservé du contenu 3">
            <a:extLst>
              <a:ext uri="{FF2B5EF4-FFF2-40B4-BE49-F238E27FC236}">
                <a16:creationId xmlns:a16="http://schemas.microsoft.com/office/drawing/2014/main" id="{5AAF0BC2-77EF-274E-9B82-01171B520F0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42462" y="2304901"/>
            <a:ext cx="7391398" cy="3442551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014E9F"/>
              </a:buClr>
              <a:buFont typeface="Wingdings" charset="2"/>
              <a:buChar char=""/>
              <a:defRPr sz="2000" b="1" i="0" baseline="0">
                <a:solidFill>
                  <a:srgbClr val="014E9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Clr>
                <a:srgbClr val="014E9F"/>
              </a:buClr>
              <a:buSzPct val="100000"/>
              <a:buFont typeface="Lucida Grande"/>
              <a:buChar char="●"/>
              <a:defRPr sz="1800" b="1" i="0" baseline="0">
                <a:solidFill>
                  <a:srgbClr val="014E9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Clr>
                <a:srgbClr val="014E9F"/>
              </a:buClr>
              <a:buFont typeface="Wingdings" pitchFamily="2" charset="2"/>
              <a:buChar char="§"/>
              <a:defRPr sz="1800" b="0" i="0" baseline="0">
                <a:solidFill>
                  <a:srgbClr val="014E9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Clr>
                <a:srgbClr val="014E9F"/>
              </a:buClr>
              <a:buFont typeface="Lucida Grande"/>
              <a:buChar char="▸"/>
              <a:defRPr sz="1400" b="0" i="0">
                <a:solidFill>
                  <a:srgbClr val="014E9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Clr>
                <a:srgbClr val="014E9F"/>
              </a:buClr>
              <a:buFont typeface="Wingdings" pitchFamily="2" charset="2"/>
              <a:buChar char="v"/>
              <a:defRPr sz="1200" b="0" i="0">
                <a:solidFill>
                  <a:srgbClr val="014E9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noProof="0"/>
              <a:t>CLICK TO MODIFY THE TEXT OF THE MASK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B16FEBDB-D793-6F47-BC3A-15E107986B8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8334090" y="9683"/>
            <a:ext cx="3857908" cy="6510221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70C4837F-482F-5E4B-9A1B-E1E0F99ED97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760878" y="9683"/>
            <a:ext cx="1431122" cy="759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93958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3">
            <a:extLst>
              <a:ext uri="{FF2B5EF4-FFF2-40B4-BE49-F238E27FC236}">
                <a16:creationId xmlns:a16="http://schemas.microsoft.com/office/drawing/2014/main" id="{4C1C9CFE-EFDB-FF48-9DE9-AB4F908131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6401" y="566231"/>
            <a:ext cx="5168632" cy="1187003"/>
          </a:xfrm>
          <a:prstGeom prst="rect">
            <a:avLst/>
          </a:prstGeom>
          <a:noFill/>
        </p:spPr>
        <p:txBody>
          <a:bodyPr anchor="ctr"/>
          <a:lstStyle>
            <a:lvl1pPr algn="l">
              <a:buClr>
                <a:srgbClr val="014E9F"/>
              </a:buClr>
              <a:defRPr sz="4000" b="1" i="1">
                <a:solidFill>
                  <a:srgbClr val="014E9F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r>
              <a:rPr lang="en-GB" noProof="0"/>
              <a:t>TITRE</a:t>
            </a:r>
            <a:br>
              <a:rPr lang="en-GB" noProof="0"/>
            </a:br>
            <a:r>
              <a:rPr lang="en-GB" noProof="0"/>
              <a:t>TITLE</a:t>
            </a:r>
          </a:p>
        </p:txBody>
      </p:sp>
      <p:sp>
        <p:nvSpPr>
          <p:cNvPr id="10" name="Sous-titre 2">
            <a:extLst>
              <a:ext uri="{FF2B5EF4-FFF2-40B4-BE49-F238E27FC236}">
                <a16:creationId xmlns:a16="http://schemas.microsoft.com/office/drawing/2014/main" id="{5796F34F-CB38-6A46-8A54-4350538B18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16401" y="1850575"/>
            <a:ext cx="5168631" cy="345796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indent="0" algn="l">
              <a:buClr>
                <a:srgbClr val="014E9F"/>
              </a:buClr>
              <a:buNone/>
              <a:defRPr lang="fr-FR" sz="1200" b="1" i="1" kern="1200" baseline="0" smtClean="0">
                <a:solidFill>
                  <a:srgbClr val="014E9F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4571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2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5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6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8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9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noProof="0"/>
              <a:t>SOUS TITRE / SUBTITLE</a:t>
            </a:r>
          </a:p>
        </p:txBody>
      </p:sp>
      <p:sp>
        <p:nvSpPr>
          <p:cNvPr id="12" name="Espace réservé du contenu 3">
            <a:extLst>
              <a:ext uri="{FF2B5EF4-FFF2-40B4-BE49-F238E27FC236}">
                <a16:creationId xmlns:a16="http://schemas.microsoft.com/office/drawing/2014/main" id="{8FD7DD1D-E93C-5345-A33A-628C9AC5363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16401" y="2370505"/>
            <a:ext cx="5168633" cy="3152641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014E9F"/>
              </a:buClr>
              <a:buFont typeface="Wingdings" charset="2"/>
              <a:buChar char=""/>
              <a:defRPr sz="1600" b="1" i="0" baseline="0">
                <a:solidFill>
                  <a:srgbClr val="014E9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Clr>
                <a:srgbClr val="014E9F"/>
              </a:buClr>
              <a:buSzPct val="100000"/>
              <a:buFont typeface="Lucida Grande"/>
              <a:buChar char="●"/>
              <a:defRPr sz="1600" b="1" i="0" baseline="0">
                <a:solidFill>
                  <a:srgbClr val="014E9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Clr>
                <a:srgbClr val="014E9F"/>
              </a:buClr>
              <a:buFont typeface="Wingdings" pitchFamily="2" charset="2"/>
              <a:buChar char="§"/>
              <a:defRPr sz="1600" b="0" i="0" baseline="0">
                <a:solidFill>
                  <a:srgbClr val="014E9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Clr>
                <a:srgbClr val="014E9F"/>
              </a:buClr>
              <a:buFont typeface="Lucida Grande"/>
              <a:buChar char="▸"/>
              <a:defRPr sz="1400">
                <a:solidFill>
                  <a:srgbClr val="014E9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Clr>
                <a:srgbClr val="014E9F"/>
              </a:buClr>
              <a:buFont typeface="Wingdings" pitchFamily="2" charset="2"/>
              <a:buChar char="v"/>
              <a:defRPr sz="1200">
                <a:solidFill>
                  <a:srgbClr val="014E9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noProof="0"/>
              <a:t>CLICK TO MODIFY THE TEXT OF THE MASK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2B7F0C96-8808-F745-BDC6-26925E84287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2404" b="2404"/>
          <a:stretch/>
        </p:blipFill>
        <p:spPr>
          <a:xfrm>
            <a:off x="6096000" y="1"/>
            <a:ext cx="6096000" cy="6528216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10A8C035-48DA-F140-9740-40E62AAA835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760878" y="5763777"/>
            <a:ext cx="1431122" cy="759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3304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3">
            <a:extLst>
              <a:ext uri="{FF2B5EF4-FFF2-40B4-BE49-F238E27FC236}">
                <a16:creationId xmlns:a16="http://schemas.microsoft.com/office/drawing/2014/main" id="{43879C80-C761-9547-8F9A-E561B9FF61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6401" y="566231"/>
            <a:ext cx="5168632" cy="1187003"/>
          </a:xfrm>
          <a:prstGeom prst="rect">
            <a:avLst/>
          </a:prstGeom>
          <a:noFill/>
        </p:spPr>
        <p:txBody>
          <a:bodyPr anchor="ctr"/>
          <a:lstStyle>
            <a:lvl1pPr algn="l">
              <a:buClr>
                <a:srgbClr val="014E9F"/>
              </a:buClr>
              <a:defRPr sz="4000" b="1" i="1">
                <a:solidFill>
                  <a:srgbClr val="014E9F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r>
              <a:rPr lang="en-GB" noProof="0"/>
              <a:t>TITRE</a:t>
            </a:r>
            <a:br>
              <a:rPr lang="en-GB" noProof="0"/>
            </a:br>
            <a:r>
              <a:rPr lang="en-GB" noProof="0"/>
              <a:t>TITLE</a:t>
            </a:r>
          </a:p>
        </p:txBody>
      </p:sp>
      <p:sp>
        <p:nvSpPr>
          <p:cNvPr id="11" name="Sous-titre 2">
            <a:extLst>
              <a:ext uri="{FF2B5EF4-FFF2-40B4-BE49-F238E27FC236}">
                <a16:creationId xmlns:a16="http://schemas.microsoft.com/office/drawing/2014/main" id="{166A9CFE-D74E-3D49-A62C-3DC4CAE8CF0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16401" y="1850575"/>
            <a:ext cx="5168631" cy="345796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indent="0" algn="l">
              <a:buClr>
                <a:srgbClr val="014E9F"/>
              </a:buClr>
              <a:buNone/>
              <a:defRPr lang="fr-FR" sz="1200" b="1" i="1" kern="1200" baseline="0" smtClean="0">
                <a:solidFill>
                  <a:srgbClr val="014E9F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4571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2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5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6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8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9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noProof="0"/>
              <a:t>SOUS TITRE / SUBTITLE</a:t>
            </a:r>
          </a:p>
        </p:txBody>
      </p:sp>
      <p:sp>
        <p:nvSpPr>
          <p:cNvPr id="14" name="Espace réservé du contenu 3">
            <a:extLst>
              <a:ext uri="{FF2B5EF4-FFF2-40B4-BE49-F238E27FC236}">
                <a16:creationId xmlns:a16="http://schemas.microsoft.com/office/drawing/2014/main" id="{B3333193-5516-5B4B-82EE-F261B5D9A36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16401" y="2370505"/>
            <a:ext cx="5168633" cy="3152641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014E9F"/>
              </a:buClr>
              <a:buFont typeface="Wingdings" charset="2"/>
              <a:buChar char=""/>
              <a:defRPr sz="1600" b="1" i="0" baseline="0">
                <a:solidFill>
                  <a:srgbClr val="014E9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Clr>
                <a:srgbClr val="014E9F"/>
              </a:buClr>
              <a:buSzPct val="100000"/>
              <a:buFont typeface="Lucida Grande"/>
              <a:buChar char="●"/>
              <a:defRPr sz="1600" b="1" i="0" baseline="0">
                <a:solidFill>
                  <a:srgbClr val="014E9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Clr>
                <a:srgbClr val="014E9F"/>
              </a:buClr>
              <a:buFont typeface="Wingdings" pitchFamily="2" charset="2"/>
              <a:buChar char="§"/>
              <a:defRPr sz="1600" b="0" i="0" baseline="0">
                <a:solidFill>
                  <a:srgbClr val="014E9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Clr>
                <a:srgbClr val="014E9F"/>
              </a:buClr>
              <a:buFont typeface="Lucida Grande"/>
              <a:buChar char="▸"/>
              <a:defRPr sz="1400">
                <a:solidFill>
                  <a:srgbClr val="014E9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Clr>
                <a:srgbClr val="014E9F"/>
              </a:buClr>
              <a:buFont typeface="Wingdings" pitchFamily="2" charset="2"/>
              <a:buChar char="v"/>
              <a:defRPr sz="1200">
                <a:solidFill>
                  <a:srgbClr val="014E9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noProof="0"/>
              <a:t>CLICK TO MODIFY THE TEXT OF THE MASK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D4245706-9D38-F64B-9805-1CE11308F64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2404" b="2404"/>
          <a:stretch/>
        </p:blipFill>
        <p:spPr>
          <a:xfrm>
            <a:off x="6096000" y="1"/>
            <a:ext cx="6096000" cy="6528216"/>
          </a:xfrm>
          <a:prstGeom prst="rect">
            <a:avLst/>
          </a:prstGeom>
        </p:spPr>
      </p:pic>
      <p:pic>
        <p:nvPicPr>
          <p:cNvPr id="10" name="Image 7">
            <a:extLst>
              <a:ext uri="{FF2B5EF4-FFF2-40B4-BE49-F238E27FC236}">
                <a16:creationId xmlns:a16="http://schemas.microsoft.com/office/drawing/2014/main" id="{EC459C40-C877-EB4A-84AC-11AFEA70BC4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760878" y="5763777"/>
            <a:ext cx="1431122" cy="759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5861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sposition personnalisé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D83B10C9-53EA-934F-A768-591D5632B21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850900"/>
          </a:xfrm>
          <a:prstGeom prst="rect">
            <a:avLst/>
          </a:prstGeom>
        </p:spPr>
      </p:pic>
      <p:sp>
        <p:nvSpPr>
          <p:cNvPr id="14" name="Titre 3">
            <a:extLst>
              <a:ext uri="{FF2B5EF4-FFF2-40B4-BE49-F238E27FC236}">
                <a16:creationId xmlns:a16="http://schemas.microsoft.com/office/drawing/2014/main" id="{98F3E029-05D4-4945-9E36-3B3D678D8F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00300" y="1356584"/>
            <a:ext cx="7391400" cy="557279"/>
          </a:xfrm>
          <a:prstGeom prst="rect">
            <a:avLst/>
          </a:prstGeom>
          <a:noFill/>
        </p:spPr>
        <p:txBody>
          <a:bodyPr anchor="ctr"/>
          <a:lstStyle>
            <a:lvl1pPr algn="l">
              <a:defRPr sz="4000" b="1" i="1">
                <a:solidFill>
                  <a:srgbClr val="014E9F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r>
              <a:rPr lang="en-GB" noProof="0"/>
              <a:t>TITRE TITLE</a:t>
            </a:r>
          </a:p>
        </p:txBody>
      </p:sp>
      <p:sp>
        <p:nvSpPr>
          <p:cNvPr id="17" name="Sous-titre 2">
            <a:extLst>
              <a:ext uri="{FF2B5EF4-FFF2-40B4-BE49-F238E27FC236}">
                <a16:creationId xmlns:a16="http://schemas.microsoft.com/office/drawing/2014/main" id="{CB2E5BC9-E70A-A24A-9F4D-E3EA8597C8E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400300" y="1913863"/>
            <a:ext cx="7391398" cy="285892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indent="0" algn="l">
              <a:buNone/>
              <a:defRPr lang="fr-FR" sz="1200" b="1" i="1" kern="1200" baseline="0" smtClean="0">
                <a:solidFill>
                  <a:srgbClr val="014E9F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4571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2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5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6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8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9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noProof="0"/>
              <a:t>SOUS TITRE / SUBTITLE</a:t>
            </a:r>
          </a:p>
        </p:txBody>
      </p:sp>
      <p:sp>
        <p:nvSpPr>
          <p:cNvPr id="9" name="Espace réservé du contenu 3">
            <a:extLst>
              <a:ext uri="{FF2B5EF4-FFF2-40B4-BE49-F238E27FC236}">
                <a16:creationId xmlns:a16="http://schemas.microsoft.com/office/drawing/2014/main" id="{9F0CC2BE-2D84-6145-8BF0-CAF681C2495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400300" y="2419547"/>
            <a:ext cx="7391398" cy="3442551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014E9F"/>
              </a:buClr>
              <a:buFont typeface="Wingdings" charset="2"/>
              <a:buChar char=""/>
              <a:defRPr sz="2000" b="1" i="0" baseline="0">
                <a:solidFill>
                  <a:srgbClr val="014E9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Clr>
                <a:srgbClr val="014E9F"/>
              </a:buClr>
              <a:buSzPct val="100000"/>
              <a:buFont typeface="Lucida Grande"/>
              <a:buChar char="●"/>
              <a:defRPr sz="1800" b="1" i="0" baseline="0">
                <a:solidFill>
                  <a:srgbClr val="014E9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Clr>
                <a:srgbClr val="014E9F"/>
              </a:buClr>
              <a:buFont typeface="Wingdings" pitchFamily="2" charset="2"/>
              <a:buChar char="§"/>
              <a:defRPr sz="1800" b="0" i="0" baseline="0">
                <a:solidFill>
                  <a:srgbClr val="014E9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Clr>
                <a:srgbClr val="014E9F"/>
              </a:buClr>
              <a:buFont typeface="Lucida Grande"/>
              <a:buChar char="▸"/>
              <a:defRPr sz="1400">
                <a:solidFill>
                  <a:srgbClr val="014E9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Clr>
                <a:srgbClr val="014E9F"/>
              </a:buClr>
              <a:buFont typeface="Wingdings" pitchFamily="2" charset="2"/>
              <a:buChar char="v"/>
              <a:defRPr sz="1200">
                <a:solidFill>
                  <a:srgbClr val="014E9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noProof="0"/>
              <a:t>CLICK TO MODIFY THE TEXT OF THE MASK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pic>
        <p:nvPicPr>
          <p:cNvPr id="8" name="Image 8">
            <a:extLst>
              <a:ext uri="{FF2B5EF4-FFF2-40B4-BE49-F238E27FC236}">
                <a16:creationId xmlns:a16="http://schemas.microsoft.com/office/drawing/2014/main" id="{E6F46116-3863-374D-B6E6-2B4B6C0E261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760878" y="5777151"/>
            <a:ext cx="1431122" cy="751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2530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sposition personnalisé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6A5AC64-4348-4441-B0FC-BCFD2C1238B4}"/>
              </a:ext>
            </a:extLst>
          </p:cNvPr>
          <p:cNvSpPr/>
          <p:nvPr userDrawn="1"/>
        </p:nvSpPr>
        <p:spPr>
          <a:xfrm>
            <a:off x="0" y="2351"/>
            <a:ext cx="12192000" cy="276999"/>
          </a:xfrm>
          <a:prstGeom prst="rect">
            <a:avLst/>
          </a:prstGeom>
          <a:solidFill>
            <a:srgbClr val="014E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" panose="02000000000000000000" pitchFamily="2" charset="0"/>
            </a:endParaRPr>
          </a:p>
        </p:txBody>
      </p:sp>
      <p:sp>
        <p:nvSpPr>
          <p:cNvPr id="8" name="Titre 3">
            <a:extLst>
              <a:ext uri="{FF2B5EF4-FFF2-40B4-BE49-F238E27FC236}">
                <a16:creationId xmlns:a16="http://schemas.microsoft.com/office/drawing/2014/main" id="{862A1E56-BD6B-E44D-B8E4-941225EC34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00300" y="1356584"/>
            <a:ext cx="7391400" cy="557279"/>
          </a:xfrm>
          <a:prstGeom prst="rect">
            <a:avLst/>
          </a:prstGeom>
          <a:noFill/>
        </p:spPr>
        <p:txBody>
          <a:bodyPr anchor="ctr"/>
          <a:lstStyle>
            <a:lvl1pPr algn="l">
              <a:defRPr sz="4000" b="1" i="1">
                <a:solidFill>
                  <a:srgbClr val="014E9F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r>
              <a:rPr lang="en-GB" noProof="0"/>
              <a:t>TITRE TITLE</a:t>
            </a:r>
          </a:p>
        </p:txBody>
      </p:sp>
      <p:sp>
        <p:nvSpPr>
          <p:cNvPr id="12" name="Sous-titre 2">
            <a:extLst>
              <a:ext uri="{FF2B5EF4-FFF2-40B4-BE49-F238E27FC236}">
                <a16:creationId xmlns:a16="http://schemas.microsoft.com/office/drawing/2014/main" id="{06A5EA46-90E6-204C-912C-1DD302B1842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400300" y="1913863"/>
            <a:ext cx="7391398" cy="285892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indent="0" algn="l">
              <a:buNone/>
              <a:defRPr lang="fr-FR" sz="1200" b="1" i="1" kern="1200" baseline="0" smtClean="0">
                <a:solidFill>
                  <a:srgbClr val="014E9F"/>
                </a:solidFill>
                <a:latin typeface="Arial Black" panose="020B0604020202020204" pitchFamily="34" charset="0"/>
                <a:ea typeface="+mn-ea"/>
                <a:cs typeface="Arial Black" panose="020B0604020202020204" pitchFamily="34" charset="0"/>
              </a:defRPr>
            </a:lvl1pPr>
            <a:lvl2pPr marL="4571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2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5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6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8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9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noProof="0"/>
              <a:t>SOUS TITRE / SUBTITLE</a:t>
            </a:r>
          </a:p>
        </p:txBody>
      </p:sp>
      <p:sp>
        <p:nvSpPr>
          <p:cNvPr id="13" name="Espace réservé du contenu 3">
            <a:extLst>
              <a:ext uri="{FF2B5EF4-FFF2-40B4-BE49-F238E27FC236}">
                <a16:creationId xmlns:a16="http://schemas.microsoft.com/office/drawing/2014/main" id="{C7B4B5D1-35BE-4A47-A3BA-84E419D507A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400300" y="2419547"/>
            <a:ext cx="7391398" cy="3442551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rgbClr val="014E9F"/>
              </a:buClr>
              <a:buFont typeface="Wingdings" charset="2"/>
              <a:buChar char=""/>
              <a:defRPr sz="2000" b="1" i="0" baseline="0">
                <a:solidFill>
                  <a:srgbClr val="014E9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buClr>
                <a:srgbClr val="014E9F"/>
              </a:buClr>
              <a:buSzPct val="100000"/>
              <a:buFont typeface="Lucida Grande"/>
              <a:buChar char="●"/>
              <a:defRPr sz="1800" b="1" i="0" baseline="0">
                <a:solidFill>
                  <a:srgbClr val="014E9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Clr>
                <a:srgbClr val="014E9F"/>
              </a:buClr>
              <a:buFont typeface="Wingdings" pitchFamily="2" charset="2"/>
              <a:buChar char="§"/>
              <a:defRPr sz="1800" b="0" i="0" baseline="0">
                <a:solidFill>
                  <a:srgbClr val="014E9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Clr>
                <a:srgbClr val="014E9F"/>
              </a:buClr>
              <a:buFont typeface="Lucida Grande"/>
              <a:buChar char="▸"/>
              <a:defRPr sz="1400">
                <a:solidFill>
                  <a:srgbClr val="014E9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Clr>
                <a:srgbClr val="014E9F"/>
              </a:buClr>
              <a:buFont typeface="Wingdings" pitchFamily="2" charset="2"/>
              <a:buChar char="v"/>
              <a:defRPr sz="1200">
                <a:solidFill>
                  <a:srgbClr val="014E9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noProof="0"/>
              <a:t>CLICK TO MODIFY THE TEXT OF THE MASK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pic>
        <p:nvPicPr>
          <p:cNvPr id="7" name="Image 8">
            <a:extLst>
              <a:ext uri="{FF2B5EF4-FFF2-40B4-BE49-F238E27FC236}">
                <a16:creationId xmlns:a16="http://schemas.microsoft.com/office/drawing/2014/main" id="{02157FCA-EA24-404E-84D3-5DFB3D93954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760878" y="5777151"/>
            <a:ext cx="1431122" cy="751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4371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Disposition personnalisé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6A5AC64-4348-4441-B0FC-BCFD2C1238B4}"/>
              </a:ext>
            </a:extLst>
          </p:cNvPr>
          <p:cNvSpPr/>
          <p:nvPr userDrawn="1"/>
        </p:nvSpPr>
        <p:spPr>
          <a:xfrm>
            <a:off x="-2" y="0"/>
            <a:ext cx="12192000" cy="276999"/>
          </a:xfrm>
          <a:prstGeom prst="rect">
            <a:avLst/>
          </a:prstGeom>
          <a:solidFill>
            <a:srgbClr val="014E9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" panose="02000000000000000000" pitchFamily="2" charset="0"/>
            </a:endParaRPr>
          </a:p>
        </p:txBody>
      </p:sp>
      <p:sp>
        <p:nvSpPr>
          <p:cNvPr id="26" name="Titre 3">
            <a:extLst>
              <a:ext uri="{FF2B5EF4-FFF2-40B4-BE49-F238E27FC236}">
                <a16:creationId xmlns:a16="http://schemas.microsoft.com/office/drawing/2014/main" id="{3821C1D1-B53B-9548-AA89-CA0B744EC1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9913" y="1413287"/>
            <a:ext cx="2785473" cy="716142"/>
          </a:xfrm>
          <a:prstGeom prst="rect">
            <a:avLst/>
          </a:prstGeom>
          <a:noFill/>
        </p:spPr>
        <p:txBody>
          <a:bodyPr anchor="ctr"/>
          <a:lstStyle>
            <a:lvl1pPr algn="ctr">
              <a:lnSpc>
                <a:spcPct val="100000"/>
              </a:lnSpc>
              <a:defRPr sz="4000" b="1" i="1">
                <a:solidFill>
                  <a:srgbClr val="014E9F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r>
              <a:rPr lang="en-GB" noProof="0"/>
              <a:t>01.</a:t>
            </a:r>
          </a:p>
        </p:txBody>
      </p:sp>
      <p:sp>
        <p:nvSpPr>
          <p:cNvPr id="39" name="Espace réservé du texte 2">
            <a:extLst>
              <a:ext uri="{FF2B5EF4-FFF2-40B4-BE49-F238E27FC236}">
                <a16:creationId xmlns:a16="http://schemas.microsoft.com/office/drawing/2014/main" id="{91D0E328-5673-4F44-A7E6-846385DADEE8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8396611" y="2128525"/>
            <a:ext cx="2785473" cy="618901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1600" b="1" i="1">
                <a:solidFill>
                  <a:srgbClr val="014E9F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GB" noProof="0"/>
              <a:t>SOUS TITRE / SUBTITLE</a:t>
            </a:r>
          </a:p>
        </p:txBody>
      </p:sp>
      <p:sp>
        <p:nvSpPr>
          <p:cNvPr id="40" name="Espace réservé du texte 2">
            <a:extLst>
              <a:ext uri="{FF2B5EF4-FFF2-40B4-BE49-F238E27FC236}">
                <a16:creationId xmlns:a16="http://schemas.microsoft.com/office/drawing/2014/main" id="{CBCCFA41-8490-F247-8163-02180CD336DF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8396612" y="1413288"/>
            <a:ext cx="2785473" cy="71614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 b="1" i="1">
                <a:solidFill>
                  <a:srgbClr val="014E9F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GB" noProof="0"/>
              <a:t>03.</a:t>
            </a:r>
          </a:p>
        </p:txBody>
      </p:sp>
      <p:sp>
        <p:nvSpPr>
          <p:cNvPr id="41" name="Espace réservé du texte 2">
            <a:extLst>
              <a:ext uri="{FF2B5EF4-FFF2-40B4-BE49-F238E27FC236}">
                <a16:creationId xmlns:a16="http://schemas.microsoft.com/office/drawing/2014/main" id="{975CC523-812C-684C-8D76-CE842299C04F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703262" y="1413287"/>
            <a:ext cx="2785473" cy="71614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 b="1" i="1">
                <a:solidFill>
                  <a:srgbClr val="014E9F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GB" noProof="0"/>
              <a:t>02.</a:t>
            </a:r>
          </a:p>
        </p:txBody>
      </p:sp>
      <p:sp>
        <p:nvSpPr>
          <p:cNvPr id="44" name="Espace réservé du texte 2">
            <a:extLst>
              <a:ext uri="{FF2B5EF4-FFF2-40B4-BE49-F238E27FC236}">
                <a16:creationId xmlns:a16="http://schemas.microsoft.com/office/drawing/2014/main" id="{BC4A025C-DBDA-B44B-8569-4CA2FA2B4E53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4703262" y="2129429"/>
            <a:ext cx="2785473" cy="618901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1600" b="1" i="1">
                <a:solidFill>
                  <a:srgbClr val="014E9F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GB" noProof="0"/>
              <a:t>SOUS TITRE / SUBTITLE</a:t>
            </a:r>
          </a:p>
        </p:txBody>
      </p:sp>
      <p:sp>
        <p:nvSpPr>
          <p:cNvPr id="45" name="Espace réservé du texte 2">
            <a:extLst>
              <a:ext uri="{FF2B5EF4-FFF2-40B4-BE49-F238E27FC236}">
                <a16:creationId xmlns:a16="http://schemas.microsoft.com/office/drawing/2014/main" id="{BF8AB068-2DAD-5546-ABE5-286A1FB0167F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009913" y="2129429"/>
            <a:ext cx="2785473" cy="618901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1600" b="1" i="1">
                <a:solidFill>
                  <a:srgbClr val="014E9F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GB" noProof="0"/>
              <a:t>SOUS TITRE / SUBTITLE</a:t>
            </a:r>
          </a:p>
        </p:txBody>
      </p:sp>
      <p:sp>
        <p:nvSpPr>
          <p:cNvPr id="16" name="Espace réservé du texte 2">
            <a:extLst>
              <a:ext uri="{FF2B5EF4-FFF2-40B4-BE49-F238E27FC236}">
                <a16:creationId xmlns:a16="http://schemas.microsoft.com/office/drawing/2014/main" id="{7AB02803-6917-1840-B4C2-BA26D7BE32D8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009913" y="2898919"/>
            <a:ext cx="2785473" cy="3006581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200" b="0" i="0">
                <a:solidFill>
                  <a:srgbClr val="27509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noProof="0"/>
              <a:t>Use this slide to insert text / utiliser </a:t>
            </a:r>
            <a:r>
              <a:rPr lang="en-GB" noProof="0" err="1"/>
              <a:t>cette</a:t>
            </a:r>
            <a:r>
              <a:rPr lang="en-GB" noProof="0"/>
              <a:t> diapositive pour </a:t>
            </a:r>
            <a:r>
              <a:rPr lang="en-GB" noProof="0" err="1"/>
              <a:t>insérer</a:t>
            </a:r>
            <a:r>
              <a:rPr lang="en-GB" noProof="0"/>
              <a:t> du </a:t>
            </a:r>
            <a:r>
              <a:rPr lang="en-GB" noProof="0" err="1"/>
              <a:t>texte</a:t>
            </a:r>
            <a:endParaRPr lang="en-GB" noProof="0"/>
          </a:p>
        </p:txBody>
      </p:sp>
      <p:sp>
        <p:nvSpPr>
          <p:cNvPr id="17" name="Espace réservé du texte 2">
            <a:extLst>
              <a:ext uri="{FF2B5EF4-FFF2-40B4-BE49-F238E27FC236}">
                <a16:creationId xmlns:a16="http://schemas.microsoft.com/office/drawing/2014/main" id="{DE04819E-10CA-F24E-BC07-0C8571D21EA4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4703262" y="2898919"/>
            <a:ext cx="2785473" cy="3006581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200" b="0" i="0">
                <a:solidFill>
                  <a:srgbClr val="27509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noProof="0"/>
              <a:t>Use this slide to insert text / utiliser </a:t>
            </a:r>
            <a:r>
              <a:rPr lang="en-GB" noProof="0" err="1"/>
              <a:t>cette</a:t>
            </a:r>
            <a:r>
              <a:rPr lang="en-GB" noProof="0"/>
              <a:t> diapositive pour </a:t>
            </a:r>
            <a:r>
              <a:rPr lang="en-GB" noProof="0" err="1"/>
              <a:t>insérer</a:t>
            </a:r>
            <a:r>
              <a:rPr lang="en-GB" noProof="0"/>
              <a:t> du </a:t>
            </a:r>
            <a:r>
              <a:rPr lang="en-GB" noProof="0" err="1"/>
              <a:t>texte</a:t>
            </a:r>
            <a:endParaRPr lang="en-GB" noProof="0"/>
          </a:p>
        </p:txBody>
      </p:sp>
      <p:sp>
        <p:nvSpPr>
          <p:cNvPr id="18" name="Espace réservé du texte 2">
            <a:extLst>
              <a:ext uri="{FF2B5EF4-FFF2-40B4-BE49-F238E27FC236}">
                <a16:creationId xmlns:a16="http://schemas.microsoft.com/office/drawing/2014/main" id="{482A39BB-C65B-264C-B106-09FDFCD2976E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8396610" y="2898919"/>
            <a:ext cx="2785473" cy="3006581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200" b="0" i="0">
                <a:solidFill>
                  <a:srgbClr val="27509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noProof="0"/>
              <a:t>Use this slide to insert text / utiliser </a:t>
            </a:r>
            <a:r>
              <a:rPr lang="en-GB" noProof="0" err="1"/>
              <a:t>cette</a:t>
            </a:r>
            <a:r>
              <a:rPr lang="en-GB" noProof="0"/>
              <a:t> diapositive pour </a:t>
            </a:r>
            <a:r>
              <a:rPr lang="en-GB" noProof="0" err="1"/>
              <a:t>insérer</a:t>
            </a:r>
            <a:r>
              <a:rPr lang="en-GB" noProof="0"/>
              <a:t> du </a:t>
            </a:r>
            <a:r>
              <a:rPr lang="en-GB" noProof="0" err="1"/>
              <a:t>texte</a:t>
            </a:r>
            <a:endParaRPr lang="en-GB" noProof="0"/>
          </a:p>
        </p:txBody>
      </p:sp>
      <p:pic>
        <p:nvPicPr>
          <p:cNvPr id="14" name="Image 8">
            <a:extLst>
              <a:ext uri="{FF2B5EF4-FFF2-40B4-BE49-F238E27FC236}">
                <a16:creationId xmlns:a16="http://schemas.microsoft.com/office/drawing/2014/main" id="{EF52E018-D62C-104C-B02B-993015D184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760878" y="5777151"/>
            <a:ext cx="1431122" cy="751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7932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Disposition personnalisé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 12">
            <a:extLst>
              <a:ext uri="{FF2B5EF4-FFF2-40B4-BE49-F238E27FC236}">
                <a16:creationId xmlns:a16="http://schemas.microsoft.com/office/drawing/2014/main" id="{9949E325-96BB-CA42-9F2A-811E07DBBD9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850900"/>
          </a:xfrm>
          <a:prstGeom prst="rect">
            <a:avLst/>
          </a:prstGeom>
        </p:spPr>
      </p:pic>
      <p:sp>
        <p:nvSpPr>
          <p:cNvPr id="15" name="Titre 3">
            <a:extLst>
              <a:ext uri="{FF2B5EF4-FFF2-40B4-BE49-F238E27FC236}">
                <a16:creationId xmlns:a16="http://schemas.microsoft.com/office/drawing/2014/main" id="{0408222E-4A4A-7C4D-AC7E-DF106C9BC6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9913" y="1413287"/>
            <a:ext cx="2785473" cy="716142"/>
          </a:xfrm>
          <a:prstGeom prst="rect">
            <a:avLst/>
          </a:prstGeom>
          <a:noFill/>
        </p:spPr>
        <p:txBody>
          <a:bodyPr anchor="ctr"/>
          <a:lstStyle>
            <a:lvl1pPr algn="ctr">
              <a:lnSpc>
                <a:spcPct val="100000"/>
              </a:lnSpc>
              <a:defRPr sz="4000" b="1" i="1">
                <a:solidFill>
                  <a:srgbClr val="014E9F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r>
              <a:rPr lang="en-GB" noProof="0"/>
              <a:t>01.</a:t>
            </a:r>
          </a:p>
        </p:txBody>
      </p:sp>
      <p:sp>
        <p:nvSpPr>
          <p:cNvPr id="16" name="Espace réservé du texte 2">
            <a:extLst>
              <a:ext uri="{FF2B5EF4-FFF2-40B4-BE49-F238E27FC236}">
                <a16:creationId xmlns:a16="http://schemas.microsoft.com/office/drawing/2014/main" id="{506A5A34-7F4F-7C46-BE3A-C425AFDBF7B6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8396611" y="2128525"/>
            <a:ext cx="2785473" cy="618901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1600" b="1" i="1">
                <a:solidFill>
                  <a:srgbClr val="014E9F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GB" noProof="0"/>
              <a:t>SOUS TITRE / SUBTITLE</a:t>
            </a:r>
          </a:p>
        </p:txBody>
      </p:sp>
      <p:sp>
        <p:nvSpPr>
          <p:cNvPr id="17" name="Espace réservé du texte 2">
            <a:extLst>
              <a:ext uri="{FF2B5EF4-FFF2-40B4-BE49-F238E27FC236}">
                <a16:creationId xmlns:a16="http://schemas.microsoft.com/office/drawing/2014/main" id="{B66CA9CD-AC26-5942-83F7-7FEA862EF0E0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8396612" y="1413288"/>
            <a:ext cx="2785473" cy="71614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 b="1" i="1">
                <a:solidFill>
                  <a:srgbClr val="014E9F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GB" noProof="0"/>
              <a:t>03.</a:t>
            </a:r>
          </a:p>
        </p:txBody>
      </p:sp>
      <p:sp>
        <p:nvSpPr>
          <p:cNvPr id="27" name="Espace réservé du texte 2">
            <a:extLst>
              <a:ext uri="{FF2B5EF4-FFF2-40B4-BE49-F238E27FC236}">
                <a16:creationId xmlns:a16="http://schemas.microsoft.com/office/drawing/2014/main" id="{4B3F9A30-4401-B341-BBD4-693BB935FDE3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703262" y="1413287"/>
            <a:ext cx="2785473" cy="71614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 b="1" i="1">
                <a:solidFill>
                  <a:srgbClr val="014E9F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GB" noProof="0"/>
              <a:t>02.</a:t>
            </a:r>
          </a:p>
        </p:txBody>
      </p:sp>
      <p:sp>
        <p:nvSpPr>
          <p:cNvPr id="28" name="Espace réservé du texte 2">
            <a:extLst>
              <a:ext uri="{FF2B5EF4-FFF2-40B4-BE49-F238E27FC236}">
                <a16:creationId xmlns:a16="http://schemas.microsoft.com/office/drawing/2014/main" id="{A833BA34-7A43-2643-A084-B464ED4555C8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4703262" y="2129429"/>
            <a:ext cx="2785473" cy="618901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1600" b="1" i="1">
                <a:solidFill>
                  <a:srgbClr val="014E9F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GB" noProof="0"/>
              <a:t>SOUS TITRE / SUBTITLE</a:t>
            </a:r>
          </a:p>
        </p:txBody>
      </p:sp>
      <p:sp>
        <p:nvSpPr>
          <p:cNvPr id="29" name="Espace réservé du texte 2">
            <a:extLst>
              <a:ext uri="{FF2B5EF4-FFF2-40B4-BE49-F238E27FC236}">
                <a16:creationId xmlns:a16="http://schemas.microsoft.com/office/drawing/2014/main" id="{20BBC612-9FA1-E342-9488-90753A3C0B38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009913" y="2129429"/>
            <a:ext cx="2785473" cy="618901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1600" b="1" i="1">
                <a:solidFill>
                  <a:srgbClr val="014E9F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GB" noProof="0"/>
              <a:t>SOUS TITRE / SUBTITLE</a:t>
            </a:r>
          </a:p>
        </p:txBody>
      </p:sp>
      <p:sp>
        <p:nvSpPr>
          <p:cNvPr id="30" name="Espace réservé du texte 2">
            <a:extLst>
              <a:ext uri="{FF2B5EF4-FFF2-40B4-BE49-F238E27FC236}">
                <a16:creationId xmlns:a16="http://schemas.microsoft.com/office/drawing/2014/main" id="{38F2FB9F-1E98-1F44-8DEB-79555E426252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009913" y="2898919"/>
            <a:ext cx="2785473" cy="3006581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200" b="0" i="0">
                <a:solidFill>
                  <a:srgbClr val="27509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noProof="0"/>
              <a:t>Use this slide to insert text / utiliser </a:t>
            </a:r>
            <a:r>
              <a:rPr lang="en-GB" noProof="0" err="1"/>
              <a:t>cette</a:t>
            </a:r>
            <a:r>
              <a:rPr lang="en-GB" noProof="0"/>
              <a:t> diapositive pour </a:t>
            </a:r>
            <a:r>
              <a:rPr lang="en-GB" noProof="0" err="1"/>
              <a:t>insérer</a:t>
            </a:r>
            <a:r>
              <a:rPr lang="en-GB" noProof="0"/>
              <a:t> du </a:t>
            </a:r>
            <a:r>
              <a:rPr lang="en-GB" noProof="0" err="1"/>
              <a:t>texte</a:t>
            </a:r>
            <a:endParaRPr lang="en-GB" noProof="0"/>
          </a:p>
        </p:txBody>
      </p:sp>
      <p:sp>
        <p:nvSpPr>
          <p:cNvPr id="31" name="Espace réservé du texte 2">
            <a:extLst>
              <a:ext uri="{FF2B5EF4-FFF2-40B4-BE49-F238E27FC236}">
                <a16:creationId xmlns:a16="http://schemas.microsoft.com/office/drawing/2014/main" id="{12EEEE3A-E152-814D-AA15-A64E4CB675FB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4703262" y="2898919"/>
            <a:ext cx="2785473" cy="3006581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200" b="0" i="0">
                <a:solidFill>
                  <a:srgbClr val="27509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noProof="0"/>
              <a:t>Use this slide to insert text / utiliser </a:t>
            </a:r>
            <a:r>
              <a:rPr lang="en-GB" noProof="0" err="1"/>
              <a:t>cette</a:t>
            </a:r>
            <a:r>
              <a:rPr lang="en-GB" noProof="0"/>
              <a:t> diapositive pour </a:t>
            </a:r>
            <a:r>
              <a:rPr lang="en-GB" noProof="0" err="1"/>
              <a:t>insérer</a:t>
            </a:r>
            <a:r>
              <a:rPr lang="en-GB" noProof="0"/>
              <a:t> du </a:t>
            </a:r>
            <a:r>
              <a:rPr lang="en-GB" noProof="0" err="1"/>
              <a:t>texte</a:t>
            </a:r>
            <a:endParaRPr lang="en-GB" noProof="0"/>
          </a:p>
        </p:txBody>
      </p:sp>
      <p:sp>
        <p:nvSpPr>
          <p:cNvPr id="32" name="Espace réservé du texte 2">
            <a:extLst>
              <a:ext uri="{FF2B5EF4-FFF2-40B4-BE49-F238E27FC236}">
                <a16:creationId xmlns:a16="http://schemas.microsoft.com/office/drawing/2014/main" id="{988D9B87-4D44-C641-A046-2BFA4B37387B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8396610" y="2898919"/>
            <a:ext cx="2785473" cy="3006581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200" b="0" i="0">
                <a:solidFill>
                  <a:srgbClr val="27509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noProof="0"/>
              <a:t>Use this slide to insert text / utiliser </a:t>
            </a:r>
            <a:r>
              <a:rPr lang="en-GB" noProof="0" err="1"/>
              <a:t>cette</a:t>
            </a:r>
            <a:r>
              <a:rPr lang="en-GB" noProof="0"/>
              <a:t> diapositive pour </a:t>
            </a:r>
            <a:r>
              <a:rPr lang="en-GB" noProof="0" err="1"/>
              <a:t>insérer</a:t>
            </a:r>
            <a:r>
              <a:rPr lang="en-GB" noProof="0"/>
              <a:t> du </a:t>
            </a:r>
            <a:r>
              <a:rPr lang="en-GB" noProof="0" err="1"/>
              <a:t>texte</a:t>
            </a:r>
            <a:endParaRPr lang="en-GB" noProof="0"/>
          </a:p>
        </p:txBody>
      </p:sp>
      <p:pic>
        <p:nvPicPr>
          <p:cNvPr id="14" name="Image 8">
            <a:extLst>
              <a:ext uri="{FF2B5EF4-FFF2-40B4-BE49-F238E27FC236}">
                <a16:creationId xmlns:a16="http://schemas.microsoft.com/office/drawing/2014/main" id="{A4E5031E-4176-CE4A-B943-308E2FDF566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760878" y="5777151"/>
            <a:ext cx="1431122" cy="751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8163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apositive de tit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 25">
            <a:extLst>
              <a:ext uri="{FF2B5EF4-FFF2-40B4-BE49-F238E27FC236}">
                <a16:creationId xmlns:a16="http://schemas.microsoft.com/office/drawing/2014/main" id="{89A94041-F71A-9640-80CF-0F0F0E50C54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850900"/>
          </a:xfrm>
          <a:prstGeom prst="rect">
            <a:avLst/>
          </a:prstGeom>
        </p:spPr>
      </p:pic>
      <p:sp>
        <p:nvSpPr>
          <p:cNvPr id="11" name="Espace réservé du texte 2">
            <a:extLst>
              <a:ext uri="{FF2B5EF4-FFF2-40B4-BE49-F238E27FC236}">
                <a16:creationId xmlns:a16="http://schemas.microsoft.com/office/drawing/2014/main" id="{A788E230-FFFB-5848-94B5-BA42A1648BF1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403684" y="4911820"/>
            <a:ext cx="6350766" cy="2182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200" b="0" i="1">
                <a:solidFill>
                  <a:srgbClr val="27509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noProof="0"/>
              <a:t>Name of the Author, Title / Nom de </a:t>
            </a:r>
            <a:r>
              <a:rPr lang="en-GB" noProof="0" err="1"/>
              <a:t>l’auteur</a:t>
            </a:r>
            <a:r>
              <a:rPr lang="en-GB" noProof="0"/>
              <a:t>, Titre</a:t>
            </a:r>
          </a:p>
        </p:txBody>
      </p:sp>
      <p:sp>
        <p:nvSpPr>
          <p:cNvPr id="15" name="Espace réservé du texte 2">
            <a:extLst>
              <a:ext uri="{FF2B5EF4-FFF2-40B4-BE49-F238E27FC236}">
                <a16:creationId xmlns:a16="http://schemas.microsoft.com/office/drawing/2014/main" id="{09B9ECD0-A17E-0144-8A94-4290645E47CC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444245" y="1946180"/>
            <a:ext cx="1250332" cy="100281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9600" b="1" i="0">
                <a:solidFill>
                  <a:srgbClr val="014E9F"/>
                </a:solidFill>
                <a:latin typeface="Arial" panose="02000000000000000000" pitchFamily="2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algn="ctr"/>
            <a:r>
              <a:rPr lang="en-GB" sz="9600" b="1" i="0">
                <a:latin typeface="Arial" panose="02000000000000000000" pitchFamily="2" charset="0"/>
                <a:cs typeface="Arial" panose="020B0604020202020204" pitchFamily="34" charset="0"/>
              </a:rPr>
              <a:t>”</a:t>
            </a:r>
          </a:p>
        </p:txBody>
      </p:sp>
      <p:sp>
        <p:nvSpPr>
          <p:cNvPr id="16" name="Espace réservé du texte 2">
            <a:extLst>
              <a:ext uri="{FF2B5EF4-FFF2-40B4-BE49-F238E27FC236}">
                <a16:creationId xmlns:a16="http://schemas.microsoft.com/office/drawing/2014/main" id="{D45E7E23-A8F6-C546-8502-2A8EE6D79926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7410373" y="4460266"/>
            <a:ext cx="1250332" cy="100281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9600" b="1" i="0">
                <a:solidFill>
                  <a:srgbClr val="014E9F"/>
                </a:solidFill>
                <a:latin typeface="Arial" panose="02000000000000000000" pitchFamily="2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algn="ctr"/>
            <a:r>
              <a:rPr lang="en-GB" sz="9600" b="1" i="0">
                <a:latin typeface="Arial" panose="02000000000000000000" pitchFamily="2" charset="0"/>
                <a:cs typeface="Arial" panose="020B0604020202020204" pitchFamily="34" charset="0"/>
              </a:rPr>
              <a:t>”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516BC5B5-C401-7C4A-9FC7-5946095A361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03684" y="2166034"/>
            <a:ext cx="6350766" cy="2644505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="1" i="1">
                <a:solidFill>
                  <a:srgbClr val="014E9F"/>
                </a:solidFill>
                <a:latin typeface="Arial Black" panose="020B0604020202020204" pitchFamily="34" charset="0"/>
                <a:cs typeface="Arial Black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noProof="0"/>
              <a:t>USE THIS SLIDE TO INSERT QUOTES / UTILISER CETTE DIAPOSITIVE POUR INSÉRER DES CITATIONS / USE THIS SLIDE TO INSERT QUOTES / UTILISER CETTE DIAPOSITIVE POUR INSÉRER DES CITATIONS</a:t>
            </a:r>
            <a:endParaRPr lang="en-US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D30415C0-68C1-6F4B-B694-21A4F21C6A1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760878" y="5777151"/>
            <a:ext cx="1431122" cy="751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444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BFC352D-6588-494B-AC77-BE6C2038DAE9}"/>
              </a:ext>
            </a:extLst>
          </p:cNvPr>
          <p:cNvSpPr/>
          <p:nvPr userDrawn="1"/>
        </p:nvSpPr>
        <p:spPr>
          <a:xfrm>
            <a:off x="0" y="6529199"/>
            <a:ext cx="12192000" cy="3288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Arial" panose="02000000000000000000" pitchFamily="2" charset="0"/>
            </a:endParaRPr>
          </a:p>
        </p:txBody>
      </p:sp>
      <p:sp>
        <p:nvSpPr>
          <p:cNvPr id="14" name="Espace réservé de la date 3">
            <a:extLst>
              <a:ext uri="{FF2B5EF4-FFF2-40B4-BE49-F238E27FC236}">
                <a16:creationId xmlns:a16="http://schemas.microsoft.com/office/drawing/2014/main" id="{D2AC89D1-60A2-0C48-9C16-B62F55BF1DA6}"/>
              </a:ext>
            </a:extLst>
          </p:cNvPr>
          <p:cNvSpPr txBox="1">
            <a:spLocks/>
          </p:cNvSpPr>
          <p:nvPr userDrawn="1"/>
        </p:nvSpPr>
        <p:spPr>
          <a:xfrm>
            <a:off x="2628014" y="6556244"/>
            <a:ext cx="2202712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0" i="0" noProof="0" dirty="0">
                <a:solidFill>
                  <a:srgbClr val="9191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Prepared by </a:t>
            </a:r>
            <a:r>
              <a:rPr lang="en-GB" b="0" i="0" noProof="0" dirty="0" err="1">
                <a:solidFill>
                  <a:srgbClr val="9191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Jean Somogyi</a:t>
            </a:r>
            <a:r>
              <a:rPr lang="en-GB" b="0" i="0" noProof="0" dirty="0">
                <a:solidFill>
                  <a:srgbClr val="9191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:</a:t>
            </a:r>
          </a:p>
        </p:txBody>
      </p:sp>
      <p:sp>
        <p:nvSpPr>
          <p:cNvPr id="15" name="Espace réservé de la date 3">
            <a:extLst>
              <a:ext uri="{FF2B5EF4-FFF2-40B4-BE49-F238E27FC236}">
                <a16:creationId xmlns:a16="http://schemas.microsoft.com/office/drawing/2014/main" id="{D923C651-DA8B-B04C-BA90-B02F16FBBBF8}"/>
              </a:ext>
            </a:extLst>
          </p:cNvPr>
          <p:cNvSpPr txBox="1">
            <a:spLocks/>
          </p:cNvSpPr>
          <p:nvPr userDrawn="1"/>
        </p:nvSpPr>
        <p:spPr>
          <a:xfrm>
            <a:off x="5055782" y="6564868"/>
            <a:ext cx="2202712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0" i="0" noProof="0" dirty="0">
                <a:solidFill>
                  <a:srgbClr val="9191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</a:t>
            </a:r>
            <a:r>
              <a:rPr lang="en-GB" b="0" i="0" noProof="0" dirty="0" err="1">
                <a:solidFill>
                  <a:srgbClr val="9191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Oct/2026</a:t>
            </a:r>
            <a:r>
              <a:rPr lang="en-GB" b="0" i="0" noProof="0" dirty="0">
                <a:solidFill>
                  <a:srgbClr val="9191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: </a:t>
            </a:r>
          </a:p>
        </p:txBody>
      </p:sp>
      <p:sp>
        <p:nvSpPr>
          <p:cNvPr id="16" name="Espace réservé de la date 3">
            <a:extLst>
              <a:ext uri="{FF2B5EF4-FFF2-40B4-BE49-F238E27FC236}">
                <a16:creationId xmlns:a16="http://schemas.microsoft.com/office/drawing/2014/main" id="{819ABCCC-2701-F84B-8AC1-6D803F31C4D1}"/>
              </a:ext>
            </a:extLst>
          </p:cNvPr>
          <p:cNvSpPr txBox="1">
            <a:spLocks/>
          </p:cNvSpPr>
          <p:nvPr userDrawn="1"/>
        </p:nvSpPr>
        <p:spPr>
          <a:xfrm>
            <a:off x="7361274" y="6555076"/>
            <a:ext cx="2202712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0" i="0" noProof="0" dirty="0">
                <a:solidFill>
                  <a:srgbClr val="9191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Personal document</a:t>
            </a:r>
          </a:p>
        </p:txBody>
      </p:sp>
      <p:sp>
        <p:nvSpPr>
          <p:cNvPr id="17" name="Espace réservé de la date 3">
            <a:extLst>
              <a:ext uri="{FF2B5EF4-FFF2-40B4-BE49-F238E27FC236}">
                <a16:creationId xmlns:a16="http://schemas.microsoft.com/office/drawing/2014/main" id="{A9708D21-0DCF-7C4E-8F1B-5E3EB54275AD}"/>
              </a:ext>
            </a:extLst>
          </p:cNvPr>
          <p:cNvSpPr txBox="1">
            <a:spLocks/>
          </p:cNvSpPr>
          <p:nvPr userDrawn="1"/>
        </p:nvSpPr>
        <p:spPr>
          <a:xfrm>
            <a:off x="8976436" y="6529198"/>
            <a:ext cx="1380659" cy="328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0" i="0" noProof="0" dirty="0">
                <a:solidFill>
                  <a:srgbClr val="9191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Personal use</a:t>
            </a:r>
          </a:p>
        </p:txBody>
      </p:sp>
      <p:sp>
        <p:nvSpPr>
          <p:cNvPr id="21" name="Espace réservé de la date 3">
            <a:extLst>
              <a:ext uri="{FF2B5EF4-FFF2-40B4-BE49-F238E27FC236}">
                <a16:creationId xmlns:a16="http://schemas.microsoft.com/office/drawing/2014/main" id="{F1CF65C7-F3FA-5F43-953E-FAB018C07D4E}"/>
              </a:ext>
            </a:extLst>
          </p:cNvPr>
          <p:cNvSpPr txBox="1">
            <a:spLocks/>
          </p:cNvSpPr>
          <p:nvPr userDrawn="1"/>
        </p:nvSpPr>
        <p:spPr>
          <a:xfrm>
            <a:off x="0" y="6529198"/>
            <a:ext cx="2402958" cy="328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0" i="0" noProof="0" dirty="0" err="1">
                <a:solidFill>
                  <a:srgbClr val="9191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</a:t>
            </a:r>
            <a:r>
              <a:rPr lang="en-GB" b="0" i="0" noProof="0" dirty="0">
                <a:solidFill>
                  <a:srgbClr val="9191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.: Personal portfolio</a:t>
            </a:r>
          </a:p>
        </p:txBody>
      </p:sp>
    </p:spTree>
    <p:extLst>
      <p:ext uri="{BB962C8B-B14F-4D97-AF65-F5344CB8AC3E}">
        <p14:creationId xmlns:p14="http://schemas.microsoft.com/office/powerpoint/2010/main" val="104470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61" r:id="rId2"/>
    <p:sldLayoutId id="2147483699" r:id="rId3"/>
    <p:sldLayoutId id="2147483684" r:id="rId4"/>
    <p:sldLayoutId id="2147483701" r:id="rId5"/>
    <p:sldLayoutId id="2147483662" r:id="rId6"/>
    <p:sldLayoutId id="2147483663" r:id="rId7"/>
    <p:sldLayoutId id="2147483686" r:id="rId8"/>
    <p:sldLayoutId id="2147483689" r:id="rId9"/>
    <p:sldLayoutId id="2147483657" r:id="rId10"/>
    <p:sldLayoutId id="2147483719" r:id="rId11"/>
    <p:sldLayoutId id="214748372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>
            <a:extLst>
              <a:ext uri="{FF2B5EF4-FFF2-40B4-BE49-F238E27FC236}">
                <a16:creationId xmlns:a16="http://schemas.microsoft.com/office/drawing/2014/main" id="{C78F2F6E-E87F-3C47-A8DC-B8EA816A236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2891" b="40568"/>
          <a:stretch/>
        </p:blipFill>
        <p:spPr>
          <a:xfrm>
            <a:off x="-1" y="644880"/>
            <a:ext cx="4377027" cy="5878583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710C214F-90DE-0B4A-8A22-8A919B86CDD9}"/>
              </a:ext>
            </a:extLst>
          </p:cNvPr>
          <p:cNvSpPr txBox="1"/>
          <p:nvPr userDrawn="1"/>
        </p:nvSpPr>
        <p:spPr>
          <a:xfrm>
            <a:off x="200246" y="5936121"/>
            <a:ext cx="3882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21A9E20A-4BD6-B345-889F-8D42769A2BD8}" type="slidenum">
              <a:rPr lang="fr-FR" sz="1200" b="1" i="1" smtClean="0">
                <a:solidFill>
                  <a:srgbClr val="014E9F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‹nº›</a:t>
            </a:fld>
            <a:endParaRPr lang="fr-FR" sz="1200" b="1" i="1" dirty="0">
              <a:solidFill>
                <a:srgbClr val="014E9F"/>
              </a:solidFill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ED53629-A01F-284D-B629-1A035FB40CAB}"/>
              </a:ext>
            </a:extLst>
          </p:cNvPr>
          <p:cNvSpPr/>
          <p:nvPr userDrawn="1"/>
        </p:nvSpPr>
        <p:spPr>
          <a:xfrm>
            <a:off x="0" y="6529199"/>
            <a:ext cx="12192000" cy="3288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Arial" panose="02000000000000000000" pitchFamily="2" charset="0"/>
            </a:endParaRPr>
          </a:p>
        </p:txBody>
      </p:sp>
      <p:sp>
        <p:nvSpPr>
          <p:cNvPr id="14" name="Espace réservé de la date 3">
            <a:extLst>
              <a:ext uri="{FF2B5EF4-FFF2-40B4-BE49-F238E27FC236}">
                <a16:creationId xmlns:a16="http://schemas.microsoft.com/office/drawing/2014/main" id="{9D0B695B-97FB-5A4E-9C4A-A1DB26476450}"/>
              </a:ext>
            </a:extLst>
          </p:cNvPr>
          <p:cNvSpPr txBox="1">
            <a:spLocks/>
          </p:cNvSpPr>
          <p:nvPr userDrawn="1"/>
        </p:nvSpPr>
        <p:spPr>
          <a:xfrm>
            <a:off x="2628014" y="6536985"/>
            <a:ext cx="2202712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0" i="0" noProof="0" dirty="0">
                <a:solidFill>
                  <a:srgbClr val="9191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Prepared by </a:t>
            </a:r>
            <a:r>
              <a:rPr lang="en-GB" b="0" i="0" noProof="0" dirty="0" err="1">
                <a:solidFill>
                  <a:srgbClr val="9191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Jean Somogyi</a:t>
            </a:r>
            <a:r>
              <a:rPr lang="en-GB" b="0" i="0" noProof="0" dirty="0">
                <a:solidFill>
                  <a:srgbClr val="9191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:</a:t>
            </a:r>
          </a:p>
        </p:txBody>
      </p:sp>
      <p:sp>
        <p:nvSpPr>
          <p:cNvPr id="15" name="Espace réservé de la date 3">
            <a:extLst>
              <a:ext uri="{FF2B5EF4-FFF2-40B4-BE49-F238E27FC236}">
                <a16:creationId xmlns:a16="http://schemas.microsoft.com/office/drawing/2014/main" id="{44CF3A1E-2826-3247-9E5B-4C3F9EB5B73C}"/>
              </a:ext>
            </a:extLst>
          </p:cNvPr>
          <p:cNvSpPr txBox="1">
            <a:spLocks/>
          </p:cNvSpPr>
          <p:nvPr userDrawn="1"/>
        </p:nvSpPr>
        <p:spPr>
          <a:xfrm>
            <a:off x="5055782" y="6536985"/>
            <a:ext cx="2202712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0" i="0" noProof="0" dirty="0">
                <a:solidFill>
                  <a:srgbClr val="9191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</a:t>
            </a:r>
            <a:r>
              <a:rPr lang="en-GB" b="0" i="0" noProof="0" dirty="0" err="1">
                <a:solidFill>
                  <a:srgbClr val="9191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Oct/2026</a:t>
            </a:r>
            <a:r>
              <a:rPr lang="en-GB" b="0" i="0" noProof="0" dirty="0">
                <a:solidFill>
                  <a:srgbClr val="9191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: </a:t>
            </a:r>
          </a:p>
        </p:txBody>
      </p:sp>
      <p:sp>
        <p:nvSpPr>
          <p:cNvPr id="16" name="Espace réservé de la date 3">
            <a:extLst>
              <a:ext uri="{FF2B5EF4-FFF2-40B4-BE49-F238E27FC236}">
                <a16:creationId xmlns:a16="http://schemas.microsoft.com/office/drawing/2014/main" id="{731A772A-0452-1F49-903D-A0BA3F9815C6}"/>
              </a:ext>
            </a:extLst>
          </p:cNvPr>
          <p:cNvSpPr txBox="1">
            <a:spLocks/>
          </p:cNvSpPr>
          <p:nvPr userDrawn="1"/>
        </p:nvSpPr>
        <p:spPr>
          <a:xfrm>
            <a:off x="7483550" y="6529199"/>
            <a:ext cx="2202712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0" i="0" noProof="0" dirty="0">
                <a:solidFill>
                  <a:srgbClr val="9191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Personal document</a:t>
            </a:r>
          </a:p>
        </p:txBody>
      </p:sp>
      <p:sp>
        <p:nvSpPr>
          <p:cNvPr id="17" name="Espace réservé de la date 3">
            <a:extLst>
              <a:ext uri="{FF2B5EF4-FFF2-40B4-BE49-F238E27FC236}">
                <a16:creationId xmlns:a16="http://schemas.microsoft.com/office/drawing/2014/main" id="{29BDB2FA-1541-AF43-9EE0-2055A092CEAF}"/>
              </a:ext>
            </a:extLst>
          </p:cNvPr>
          <p:cNvSpPr txBox="1">
            <a:spLocks/>
          </p:cNvSpPr>
          <p:nvPr userDrawn="1"/>
        </p:nvSpPr>
        <p:spPr>
          <a:xfrm>
            <a:off x="9911318" y="6529199"/>
            <a:ext cx="2202712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0" i="0" noProof="0" dirty="0">
                <a:solidFill>
                  <a:srgbClr val="9191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Personal use</a:t>
            </a:r>
          </a:p>
        </p:txBody>
      </p:sp>
      <p:sp>
        <p:nvSpPr>
          <p:cNvPr id="22" name="Espace réservé de la date 3">
            <a:extLst>
              <a:ext uri="{FF2B5EF4-FFF2-40B4-BE49-F238E27FC236}">
                <a16:creationId xmlns:a16="http://schemas.microsoft.com/office/drawing/2014/main" id="{12D4092A-42A9-3245-89CD-EFCF11FD4227}"/>
              </a:ext>
            </a:extLst>
          </p:cNvPr>
          <p:cNvSpPr txBox="1">
            <a:spLocks/>
          </p:cNvSpPr>
          <p:nvPr userDrawn="1"/>
        </p:nvSpPr>
        <p:spPr>
          <a:xfrm>
            <a:off x="200246" y="6529199"/>
            <a:ext cx="2202712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0" i="0" noProof="0" dirty="0" err="1">
                <a:solidFill>
                  <a:srgbClr val="9191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</a:t>
            </a:r>
            <a:r>
              <a:rPr lang="en-GB" b="0" i="0" noProof="0" dirty="0">
                <a:solidFill>
                  <a:srgbClr val="9191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.: Personal portfolio</a:t>
            </a:r>
          </a:p>
        </p:txBody>
      </p:sp>
    </p:spTree>
    <p:extLst>
      <p:ext uri="{BB962C8B-B14F-4D97-AF65-F5344CB8AC3E}">
        <p14:creationId xmlns:p14="http://schemas.microsoft.com/office/powerpoint/2010/main" val="2785879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78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ZoneTexte 11">
            <a:extLst>
              <a:ext uri="{FF2B5EF4-FFF2-40B4-BE49-F238E27FC236}">
                <a16:creationId xmlns:a16="http://schemas.microsoft.com/office/drawing/2014/main" id="{710C214F-90DE-0B4A-8A22-8A919B86CDD9}"/>
              </a:ext>
            </a:extLst>
          </p:cNvPr>
          <p:cNvSpPr txBox="1"/>
          <p:nvPr userDrawn="1"/>
        </p:nvSpPr>
        <p:spPr>
          <a:xfrm>
            <a:off x="200246" y="6100027"/>
            <a:ext cx="3882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21A9E20A-4BD6-B345-889F-8D42769A2BD8}" type="slidenum">
              <a:rPr lang="fr-FR" sz="1200" b="1" i="1" smtClean="0">
                <a:solidFill>
                  <a:srgbClr val="014E9F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‹nº›</a:t>
            </a:fld>
            <a:endParaRPr lang="fr-FR" sz="1200" b="1" i="1">
              <a:solidFill>
                <a:srgbClr val="014E9F"/>
              </a:solidFill>
              <a:latin typeface="Arial Black" panose="020B0604020202020204" pitchFamily="34" charset="0"/>
              <a:cs typeface="Arial Black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BFC352D-6588-494B-AC77-BE6C2038DAE9}"/>
              </a:ext>
            </a:extLst>
          </p:cNvPr>
          <p:cNvSpPr/>
          <p:nvPr userDrawn="1"/>
        </p:nvSpPr>
        <p:spPr>
          <a:xfrm>
            <a:off x="0" y="6529199"/>
            <a:ext cx="12192000" cy="3288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Arial" panose="02000000000000000000" pitchFamily="2" charset="0"/>
            </a:endParaRPr>
          </a:p>
        </p:txBody>
      </p:sp>
      <p:sp>
        <p:nvSpPr>
          <p:cNvPr id="14" name="Espace réservé de la date 3">
            <a:extLst>
              <a:ext uri="{FF2B5EF4-FFF2-40B4-BE49-F238E27FC236}">
                <a16:creationId xmlns:a16="http://schemas.microsoft.com/office/drawing/2014/main" id="{D2AC89D1-60A2-0C48-9C16-B62F55BF1DA6}"/>
              </a:ext>
            </a:extLst>
          </p:cNvPr>
          <p:cNvSpPr txBox="1">
            <a:spLocks/>
          </p:cNvSpPr>
          <p:nvPr userDrawn="1"/>
        </p:nvSpPr>
        <p:spPr>
          <a:xfrm>
            <a:off x="2628014" y="6536985"/>
            <a:ext cx="2202712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0" i="0" noProof="0">
                <a:solidFill>
                  <a:srgbClr val="9191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Prepared by </a:t>
            </a:r>
            <a:r>
              <a:rPr lang="en-GB" b="0" i="0" noProof="0" err="1">
                <a:solidFill>
                  <a:srgbClr val="9191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Jean Somogyi</a:t>
            </a:r>
            <a:r>
              <a:rPr lang="en-GB" b="0" i="0" noProof="0">
                <a:solidFill>
                  <a:srgbClr val="9191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:</a:t>
            </a:r>
          </a:p>
        </p:txBody>
      </p:sp>
      <p:sp>
        <p:nvSpPr>
          <p:cNvPr id="15" name="Espace réservé de la date 3">
            <a:extLst>
              <a:ext uri="{FF2B5EF4-FFF2-40B4-BE49-F238E27FC236}">
                <a16:creationId xmlns:a16="http://schemas.microsoft.com/office/drawing/2014/main" id="{D923C651-DA8B-B04C-BA90-B02F16FBBBF8}"/>
              </a:ext>
            </a:extLst>
          </p:cNvPr>
          <p:cNvSpPr txBox="1">
            <a:spLocks/>
          </p:cNvSpPr>
          <p:nvPr userDrawn="1"/>
        </p:nvSpPr>
        <p:spPr>
          <a:xfrm>
            <a:off x="5055782" y="6536985"/>
            <a:ext cx="2202712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0" i="0" noProof="0">
                <a:solidFill>
                  <a:srgbClr val="9191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</a:t>
            </a:r>
            <a:r>
              <a:rPr lang="en-GB" b="0" i="0" noProof="0" err="1">
                <a:solidFill>
                  <a:srgbClr val="9191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Oct/2026</a:t>
            </a:r>
            <a:r>
              <a:rPr lang="en-GB" b="0" i="0" noProof="0">
                <a:solidFill>
                  <a:srgbClr val="9191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: </a:t>
            </a:r>
          </a:p>
        </p:txBody>
      </p:sp>
      <p:sp>
        <p:nvSpPr>
          <p:cNvPr id="16" name="Espace réservé de la date 3">
            <a:extLst>
              <a:ext uri="{FF2B5EF4-FFF2-40B4-BE49-F238E27FC236}">
                <a16:creationId xmlns:a16="http://schemas.microsoft.com/office/drawing/2014/main" id="{819ABCCC-2701-F84B-8AC1-6D803F31C4D1}"/>
              </a:ext>
            </a:extLst>
          </p:cNvPr>
          <p:cNvSpPr txBox="1">
            <a:spLocks/>
          </p:cNvSpPr>
          <p:nvPr userDrawn="1"/>
        </p:nvSpPr>
        <p:spPr>
          <a:xfrm>
            <a:off x="7483550" y="6529199"/>
            <a:ext cx="2202712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0" i="0" noProof="0">
                <a:solidFill>
                  <a:srgbClr val="9191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Personal document</a:t>
            </a:r>
          </a:p>
        </p:txBody>
      </p:sp>
      <p:sp>
        <p:nvSpPr>
          <p:cNvPr id="17" name="Espace réservé de la date 3">
            <a:extLst>
              <a:ext uri="{FF2B5EF4-FFF2-40B4-BE49-F238E27FC236}">
                <a16:creationId xmlns:a16="http://schemas.microsoft.com/office/drawing/2014/main" id="{A9708D21-0DCF-7C4E-8F1B-5E3EB54275AD}"/>
              </a:ext>
            </a:extLst>
          </p:cNvPr>
          <p:cNvSpPr txBox="1">
            <a:spLocks/>
          </p:cNvSpPr>
          <p:nvPr userDrawn="1"/>
        </p:nvSpPr>
        <p:spPr>
          <a:xfrm>
            <a:off x="9911318" y="6529199"/>
            <a:ext cx="2202712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0" i="0" noProof="0">
                <a:solidFill>
                  <a:srgbClr val="9191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Personal use</a:t>
            </a:r>
          </a:p>
        </p:txBody>
      </p:sp>
      <p:sp>
        <p:nvSpPr>
          <p:cNvPr id="21" name="Espace réservé de la date 3">
            <a:extLst>
              <a:ext uri="{FF2B5EF4-FFF2-40B4-BE49-F238E27FC236}">
                <a16:creationId xmlns:a16="http://schemas.microsoft.com/office/drawing/2014/main" id="{F1CF65C7-F3FA-5F43-953E-FAB018C07D4E}"/>
              </a:ext>
            </a:extLst>
          </p:cNvPr>
          <p:cNvSpPr txBox="1">
            <a:spLocks/>
          </p:cNvSpPr>
          <p:nvPr userDrawn="1"/>
        </p:nvSpPr>
        <p:spPr>
          <a:xfrm>
            <a:off x="200246" y="6529199"/>
            <a:ext cx="2202712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0" i="0" noProof="0" err="1">
                <a:solidFill>
                  <a:srgbClr val="9191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</a:t>
            </a:r>
            <a:r>
              <a:rPr lang="en-GB" b="0" i="0" noProof="0">
                <a:solidFill>
                  <a:srgbClr val="91919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.: Personal portfolio</a:t>
            </a:r>
          </a:p>
        </p:txBody>
      </p:sp>
    </p:spTree>
    <p:extLst>
      <p:ext uri="{BB962C8B-B14F-4D97-AF65-F5344CB8AC3E}">
        <p14:creationId xmlns:p14="http://schemas.microsoft.com/office/powerpoint/2010/main" val="2345559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0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1.png"/><Relationship Id="rId4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6.png"/><Relationship Id="rId11" Type="http://schemas.openxmlformats.org/officeDocument/2006/relationships/image" Target="../media/image42.png"/><Relationship Id="rId5" Type="http://schemas.openxmlformats.org/officeDocument/2006/relationships/image" Target="../media/image45.png"/><Relationship Id="rId10" Type="http://schemas.openxmlformats.org/officeDocument/2006/relationships/image" Target="../media/image50.png"/><Relationship Id="rId4" Type="http://schemas.openxmlformats.org/officeDocument/2006/relationships/image" Target="../media/image44.png"/><Relationship Id="rId9" Type="http://schemas.openxmlformats.org/officeDocument/2006/relationships/image" Target="../media/image4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61.png"/><Relationship Id="rId5" Type="http://schemas.openxmlformats.org/officeDocument/2006/relationships/image" Target="../media/image57.png"/><Relationship Id="rId4" Type="http://schemas.openxmlformats.org/officeDocument/2006/relationships/image" Target="../media/image60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svg"/><Relationship Id="rId7" Type="http://schemas.openxmlformats.org/officeDocument/2006/relationships/image" Target="../media/image66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65.svg"/><Relationship Id="rId5" Type="http://schemas.openxmlformats.org/officeDocument/2006/relationships/image" Target="../media/image64.svg"/><Relationship Id="rId4" Type="http://schemas.openxmlformats.org/officeDocument/2006/relationships/image" Target="../media/image63.sv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image" Target="../media/image67.png"/><Relationship Id="rId7" Type="http://schemas.openxmlformats.org/officeDocument/2006/relationships/image" Target="../media/image7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Relationship Id="rId6" Type="http://schemas.openxmlformats.org/officeDocument/2006/relationships/chart" Target="../charts/chart1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Relationship Id="rId9" Type="http://schemas.openxmlformats.org/officeDocument/2006/relationships/image" Target="../media/image7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6" Type="http://schemas.openxmlformats.org/officeDocument/2006/relationships/chart" Target="../charts/chart2.xml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3" Type="http://schemas.openxmlformats.org/officeDocument/2006/relationships/chart" Target="../charts/chart3.xml"/><Relationship Id="rId7" Type="http://schemas.openxmlformats.org/officeDocument/2006/relationships/image" Target="../media/image7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76.png"/><Relationship Id="rId5" Type="http://schemas.openxmlformats.org/officeDocument/2006/relationships/image" Target="../media/image32.png"/><Relationship Id="rId4" Type="http://schemas.openxmlformats.org/officeDocument/2006/relationships/image" Target="../media/image3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7" Type="http://schemas.openxmlformats.org/officeDocument/2006/relationships/image" Target="../media/image7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4" Type="http://schemas.openxmlformats.org/officeDocument/2006/relationships/image" Target="../media/image3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7" Type="http://schemas.openxmlformats.org/officeDocument/2006/relationships/image" Target="../media/image7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4" Type="http://schemas.openxmlformats.org/officeDocument/2006/relationships/image" Target="../media/image33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7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84.png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svg"/><Relationship Id="rId13" Type="http://schemas.openxmlformats.org/officeDocument/2006/relationships/image" Target="../media/image95.svg"/><Relationship Id="rId3" Type="http://schemas.openxmlformats.org/officeDocument/2006/relationships/image" Target="../media/image85.svg"/><Relationship Id="rId7" Type="http://schemas.openxmlformats.org/officeDocument/2006/relationships/image" Target="../media/image89.svg"/><Relationship Id="rId12" Type="http://schemas.openxmlformats.org/officeDocument/2006/relationships/image" Target="../media/image94.svg"/><Relationship Id="rId17" Type="http://schemas.openxmlformats.org/officeDocument/2006/relationships/image" Target="../media/image99.svg"/><Relationship Id="rId2" Type="http://schemas.openxmlformats.org/officeDocument/2006/relationships/notesSlide" Target="../notesSlides/notesSlide25.xml"/><Relationship Id="rId16" Type="http://schemas.openxmlformats.org/officeDocument/2006/relationships/image" Target="../media/image98.sv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88.png"/><Relationship Id="rId11" Type="http://schemas.openxmlformats.org/officeDocument/2006/relationships/image" Target="../media/image93.png"/><Relationship Id="rId5" Type="http://schemas.openxmlformats.org/officeDocument/2006/relationships/image" Target="../media/image87.svg"/><Relationship Id="rId15" Type="http://schemas.openxmlformats.org/officeDocument/2006/relationships/image" Target="../media/image97.svg"/><Relationship Id="rId10" Type="http://schemas.openxmlformats.org/officeDocument/2006/relationships/image" Target="../media/image92.svg"/><Relationship Id="rId4" Type="http://schemas.openxmlformats.org/officeDocument/2006/relationships/image" Target="../media/image86.png"/><Relationship Id="rId9" Type="http://schemas.openxmlformats.org/officeDocument/2006/relationships/image" Target="../media/image91.png"/><Relationship Id="rId14" Type="http://schemas.openxmlformats.org/officeDocument/2006/relationships/image" Target="../media/image96.sv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91FA04-5924-3549-82D5-A4AC967FE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4780" y="69954"/>
            <a:ext cx="7391400" cy="1187003"/>
          </a:xfrm>
        </p:spPr>
        <p:txBody>
          <a:bodyPr/>
          <a:lstStyle/>
          <a:p>
            <a:r>
              <a:rPr lang="en-GB" sz="3600" dirty="0">
                <a:latin typeface="Arial" panose="02000000000000000000"/>
                <a:cs typeface="+mj-cs"/>
              </a:rPr>
              <a:t>PPA :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2EF46C3-9486-4E45-9E73-569477015D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74782" y="859229"/>
            <a:ext cx="7391398" cy="549180"/>
          </a:xfrm>
        </p:spPr>
        <p:txBody>
          <a:bodyPr/>
          <a:lstStyle/>
          <a:p>
            <a:r>
              <a:rPr lang="en-GB" sz="3200" dirty="0">
                <a:latin typeface="Arial" panose="02000000000000000000"/>
                <a:ea typeface="+mj-ea"/>
                <a:cs typeface="+mj-cs"/>
              </a:rPr>
              <a:t>Purchasing Portfolio Assessment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171952E-D95D-7C4E-BFF9-340634BAD79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2400" i="1" dirty="0">
                <a:latin typeface="Arial" panose="02000000000000000000"/>
                <a:ea typeface="+mj-ea"/>
                <a:cs typeface="+mj-cs"/>
              </a:rPr>
              <a:t>MAINTENANCE</a:t>
            </a:r>
          </a:p>
          <a:p>
            <a:pPr marL="0" indent="0">
              <a:buNone/>
            </a:pPr>
            <a:r>
              <a:rPr lang="en-GB" sz="2400" i="1" dirty="0">
                <a:latin typeface="Arial" panose="02000000000000000000"/>
                <a:ea typeface="+mj-ea"/>
                <a:cs typeface="+mj-cs"/>
              </a:rPr>
              <a:t>SOUTH AMERICA PURCHASING</a:t>
            </a:r>
          </a:p>
          <a:p>
            <a:pPr marL="0" indent="0">
              <a:buNone/>
            </a:pPr>
            <a:r>
              <a:rPr lang="en-GB" sz="2400" i="1" dirty="0" err="1">
                <a:latin typeface="Arial" panose="02000000000000000000"/>
                <a:ea typeface="+mj-ea"/>
                <a:cs typeface="+mj-cs"/>
              </a:rPr>
              <a:t>October</a:t>
            </a:r>
            <a:r>
              <a:rPr lang="en-GB" sz="2400" i="1" dirty="0">
                <a:latin typeface="Arial" panose="02000000000000000000"/>
                <a:ea typeface="+mj-ea"/>
                <a:cs typeface="+mj-cs"/>
              </a:rPr>
              <a:t>/2026</a:t>
            </a:r>
          </a:p>
        </p:txBody>
      </p:sp>
    </p:spTree>
    <p:extLst>
      <p:ext uri="{BB962C8B-B14F-4D97-AF65-F5344CB8AC3E}">
        <p14:creationId xmlns:p14="http://schemas.microsoft.com/office/powerpoint/2010/main" val="37349215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82F10-1983-E637-9AD6-FBE13710B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919E105-2DFF-C0D7-D149-6FB02C674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2829" y="189303"/>
            <a:ext cx="7391400" cy="1187003"/>
          </a:xfrm>
        </p:spPr>
        <p:txBody>
          <a:bodyPr lIns="91440" tIns="45720" rIns="91440" bIns="45720" anchor="ctr"/>
          <a:lstStyle/>
          <a:p>
            <a:r>
              <a:rPr lang="en-GB" sz="3600">
                <a:latin typeface="Arial" panose="02000000000000000000"/>
                <a:cs typeface="+mj-cs"/>
              </a:rPr>
              <a:t>PPA: AGENDA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5D92BB9-4C4A-19EA-0C36-FBD41148BF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28948" y="1570443"/>
            <a:ext cx="5959206" cy="3442551"/>
          </a:xfrm>
        </p:spPr>
        <p:txBody>
          <a:bodyPr lIns="91440" tIns="45720" rIns="91440" bIns="45720" anchor="t"/>
          <a:lstStyle/>
          <a:p>
            <a:r>
              <a:rPr lang="en-GB" sz="2400" i="1" dirty="0" err="1">
                <a:latin typeface="Arial" panose="02000000000000000000"/>
                <a:ea typeface="+mj-ea"/>
                <a:cs typeface="+mj-cs"/>
              </a:rPr>
              <a:t>Buyer</a:t>
            </a:r>
            <a:r>
              <a:rPr lang="en-GB" sz="2400" i="1" dirty="0">
                <a:latin typeface="Arial" panose="02000000000000000000"/>
                <a:ea typeface="+mj-ea"/>
                <a:cs typeface="+mj-cs"/>
              </a:rPr>
              <a:t> Introduction</a:t>
            </a:r>
            <a:endParaRPr lang="en-US" dirty="0">
              <a:ea typeface="+mj-ea"/>
              <a:cs typeface="+mj-cs"/>
            </a:endParaRPr>
          </a:p>
          <a:p>
            <a:r>
              <a:rPr lang="en-GB" sz="2400" i="1" dirty="0">
                <a:latin typeface="Arial" panose="02000000000000000000"/>
                <a:ea typeface="+mj-ea"/>
                <a:cs typeface="+mj-cs"/>
              </a:rPr>
              <a:t>What </a:t>
            </a:r>
            <a:r>
              <a:rPr lang="en-GB" sz="2400" i="1" dirty="0" err="1">
                <a:latin typeface="Arial" panose="02000000000000000000"/>
                <a:ea typeface="+mj-ea"/>
                <a:cs typeface="+mj-cs"/>
              </a:rPr>
              <a:t>is</a:t>
            </a:r>
            <a:r>
              <a:rPr lang="en-GB" sz="2400" i="1" dirty="0">
                <a:latin typeface="Arial" panose="02000000000000000000"/>
                <a:ea typeface="+mj-ea"/>
                <a:cs typeface="+mj-cs"/>
              </a:rPr>
              <a:t> Maintenance</a:t>
            </a:r>
          </a:p>
          <a:p>
            <a:r>
              <a:rPr lang="en-GB" sz="2400" i="1" dirty="0" err="1">
                <a:latin typeface="Arial" panose="02000000000000000000"/>
                <a:ea typeface="+mj-ea"/>
                <a:cs typeface="+mj-cs"/>
              </a:rPr>
              <a:t>Executive</a:t>
            </a:r>
            <a:r>
              <a:rPr lang="en-GB" sz="2400" i="1" dirty="0">
                <a:latin typeface="Arial" panose="02000000000000000000"/>
                <a:ea typeface="+mj-ea"/>
                <a:cs typeface="+mj-cs"/>
              </a:rPr>
              <a:t> </a:t>
            </a:r>
            <a:r>
              <a:rPr lang="en-GB" sz="2400" i="1" dirty="0" err="1">
                <a:latin typeface="Arial" panose="02000000000000000000"/>
                <a:ea typeface="+mj-ea"/>
                <a:cs typeface="+mj-cs"/>
              </a:rPr>
              <a:t>Summary</a:t>
            </a:r>
            <a:endParaRPr lang="en-GB" sz="2400" i="1" dirty="0">
              <a:latin typeface="Arial" panose="02000000000000000000"/>
              <a:ea typeface="+mj-ea"/>
              <a:cs typeface="Arial"/>
            </a:endParaRPr>
          </a:p>
          <a:p>
            <a:r>
              <a:rPr lang="en-GB" sz="2400" i="1" dirty="0" err="1">
                <a:latin typeface="Arial" panose="02000000000000000000"/>
                <a:ea typeface="+mj-ea"/>
                <a:cs typeface="+mj-cs"/>
              </a:rPr>
              <a:t>National</a:t>
            </a:r>
            <a:r>
              <a:rPr lang="en-GB" sz="2400" i="1" dirty="0">
                <a:latin typeface="Arial" panose="02000000000000000000"/>
                <a:ea typeface="+mj-ea"/>
                <a:cs typeface="+mj-cs"/>
              </a:rPr>
              <a:t> Market Analysis</a:t>
            </a:r>
          </a:p>
          <a:p>
            <a:r>
              <a:rPr lang="en-GB" sz="2400" i="1" dirty="0" err="1">
                <a:latin typeface="Arial" panose="02000000000000000000"/>
                <a:ea typeface="+mj-ea"/>
                <a:cs typeface="+mj-cs"/>
              </a:rPr>
              <a:t>Internal</a:t>
            </a:r>
            <a:r>
              <a:rPr lang="en-GB" sz="2400" i="1" dirty="0">
                <a:latin typeface="Arial" panose="02000000000000000000"/>
                <a:ea typeface="+mj-ea"/>
                <a:cs typeface="+mj-cs"/>
              </a:rPr>
              <a:t> </a:t>
            </a:r>
            <a:r>
              <a:rPr lang="en-GB" sz="2400" i="1" dirty="0" err="1">
                <a:latin typeface="Arial" panose="02000000000000000000"/>
                <a:ea typeface="+mj-ea"/>
                <a:cs typeface="+mj-cs"/>
              </a:rPr>
              <a:t>Analysis</a:t>
            </a:r>
            <a:endParaRPr lang="en-GB" sz="2400" i="1" dirty="0">
              <a:latin typeface="Arial" panose="02000000000000000000"/>
              <a:ea typeface="+mj-ea"/>
              <a:cs typeface="+mj-cs"/>
            </a:endParaRPr>
          </a:p>
          <a:p>
            <a:r>
              <a:rPr lang="en-GB" sz="2400" i="1" dirty="0" err="1">
                <a:latin typeface="Arial" panose="02000000000000000000"/>
                <a:ea typeface="+mj-ea"/>
                <a:cs typeface="+mj-cs"/>
              </a:rPr>
              <a:t>Conclusion</a:t>
            </a:r>
            <a:endParaRPr lang="en-GB" sz="2400" i="1" dirty="0">
              <a:latin typeface="Arial" panose="0200000000000000000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4396178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39A936A-FD67-9214-2303-67170D9F7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8948" y="496831"/>
            <a:ext cx="6455009" cy="1187003"/>
          </a:xfrm>
        </p:spPr>
        <p:txBody>
          <a:bodyPr lIns="91440" tIns="45720" rIns="91440" bIns="45720" anchor="ctr">
            <a:normAutofit/>
          </a:bodyPr>
          <a:lstStyle/>
          <a:p>
            <a:pPr algn="ctr"/>
            <a:r>
              <a:rPr lang="en-US" sz="3700" dirty="0" err="1"/>
              <a:t>Sênior</a:t>
            </a:r>
            <a:r>
              <a:rPr lang="en-US" sz="3700" dirty="0"/>
              <a:t> Buyer</a:t>
            </a: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EFD35B0E-B43F-8B29-B048-4B2746A48A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6911" y="2096180"/>
            <a:ext cx="2778394" cy="344255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055846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BB3A6-4037-B5F7-6523-93AB5C2AE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2">
            <a:extLst>
              <a:ext uri="{FF2B5EF4-FFF2-40B4-BE49-F238E27FC236}">
                <a16:creationId xmlns:a16="http://schemas.microsoft.com/office/drawing/2014/main" id="{4B3C7B80-F6AA-C27A-71E4-62806892FA5F}"/>
              </a:ext>
            </a:extLst>
          </p:cNvPr>
          <p:cNvSpPr/>
          <p:nvPr/>
        </p:nvSpPr>
        <p:spPr>
          <a:xfrm>
            <a:off x="234564" y="941832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Introducing </a:t>
            </a:r>
            <a:r>
              <a:rPr lang="en-US" sz="28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Purchasing Families</a:t>
            </a:r>
            <a:endParaRPr lang="en-US" sz="2800" dirty="0"/>
          </a:p>
        </p:txBody>
      </p:sp>
      <p:sp>
        <p:nvSpPr>
          <p:cNvPr id="25" name="Text 3">
            <a:extLst>
              <a:ext uri="{FF2B5EF4-FFF2-40B4-BE49-F238E27FC236}">
                <a16:creationId xmlns:a16="http://schemas.microsoft.com/office/drawing/2014/main" id="{A92200FE-E3FA-8B93-1FDC-B0A17115AA55}"/>
              </a:ext>
            </a:extLst>
          </p:cNvPr>
          <p:cNvSpPr/>
          <p:nvPr/>
        </p:nvSpPr>
        <p:spPr>
          <a:xfrm>
            <a:off x="252852" y="1687068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family is analyzed independently — no cross-correlation between them. </a:t>
            </a: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edition focuses on Families 1, 2 and 3.</a:t>
            </a:r>
            <a:endParaRPr lang="en-US" sz="1250" dirty="0"/>
          </a:p>
        </p:txBody>
      </p:sp>
      <p:sp>
        <p:nvSpPr>
          <p:cNvPr id="37" name="Shape 5">
            <a:extLst>
              <a:ext uri="{FF2B5EF4-FFF2-40B4-BE49-F238E27FC236}">
                <a16:creationId xmlns:a16="http://schemas.microsoft.com/office/drawing/2014/main" id="{F19C124F-1397-AE0B-F6A9-8B140C5DDD37}"/>
              </a:ext>
            </a:extLst>
          </p:cNvPr>
          <p:cNvSpPr/>
          <p:nvPr/>
        </p:nvSpPr>
        <p:spPr>
          <a:xfrm>
            <a:off x="425196" y="2185416"/>
            <a:ext cx="2093976" cy="3730752"/>
          </a:xfrm>
          <a:prstGeom prst="roundRect">
            <a:avLst>
              <a:gd name="adj" fmla="val 43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9" name="Image 2" descr="Family 4">
            <a:extLst>
              <a:ext uri="{FF2B5EF4-FFF2-40B4-BE49-F238E27FC236}">
                <a16:creationId xmlns:a16="http://schemas.microsoft.com/office/drawing/2014/main" id="{7B33ABF5-4979-6D75-32E2-D02CEB2024E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16636" y="2276856"/>
            <a:ext cx="1911096" cy="1417320"/>
          </a:xfrm>
          <a:prstGeom prst="rect">
            <a:avLst/>
          </a:prstGeom>
        </p:spPr>
      </p:pic>
      <p:sp>
        <p:nvSpPr>
          <p:cNvPr id="41" name="Shape 6">
            <a:extLst>
              <a:ext uri="{FF2B5EF4-FFF2-40B4-BE49-F238E27FC236}">
                <a16:creationId xmlns:a16="http://schemas.microsoft.com/office/drawing/2014/main" id="{28793396-9236-546A-534E-190BBD1B245D}"/>
              </a:ext>
            </a:extLst>
          </p:cNvPr>
          <p:cNvSpPr/>
          <p:nvPr/>
        </p:nvSpPr>
        <p:spPr>
          <a:xfrm>
            <a:off x="516636" y="3813048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27509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7">
            <a:extLst>
              <a:ext uri="{FF2B5EF4-FFF2-40B4-BE49-F238E27FC236}">
                <a16:creationId xmlns:a16="http://schemas.microsoft.com/office/drawing/2014/main" id="{C6C82D66-A987-6FCA-1E00-1CB9C83DE37D}"/>
              </a:ext>
            </a:extLst>
          </p:cNvPr>
          <p:cNvSpPr/>
          <p:nvPr/>
        </p:nvSpPr>
        <p:spPr>
          <a:xfrm>
            <a:off x="516636" y="381304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Family 4</a:t>
            </a:r>
            <a:endParaRPr lang="en-US" sz="1150" dirty="0"/>
          </a:p>
        </p:txBody>
      </p:sp>
      <p:sp>
        <p:nvSpPr>
          <p:cNvPr id="45" name="Text 8">
            <a:extLst>
              <a:ext uri="{FF2B5EF4-FFF2-40B4-BE49-F238E27FC236}">
                <a16:creationId xmlns:a16="http://schemas.microsoft.com/office/drawing/2014/main" id="{483F03DF-AE09-1F1A-7C78-A657B3DDC6B9}"/>
              </a:ext>
            </a:extLst>
          </p:cNvPr>
          <p:cNvSpPr/>
          <p:nvPr/>
        </p:nvSpPr>
        <p:spPr>
          <a:xfrm>
            <a:off x="534924" y="4233672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F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Mechanical / Hydraulic Parts Repair</a:t>
            </a:r>
            <a:endParaRPr lang="en-US" sz="1200" dirty="0"/>
          </a:p>
        </p:txBody>
      </p:sp>
      <p:sp>
        <p:nvSpPr>
          <p:cNvPr id="47" name="Text 9">
            <a:extLst>
              <a:ext uri="{FF2B5EF4-FFF2-40B4-BE49-F238E27FC236}">
                <a16:creationId xmlns:a16="http://schemas.microsoft.com/office/drawing/2014/main" id="{5B9B385A-7829-77CA-02D0-0FB0B7D02959}"/>
              </a:ext>
            </a:extLst>
          </p:cNvPr>
          <p:cNvSpPr/>
          <p:nvPr/>
        </p:nvSpPr>
        <p:spPr>
          <a:xfrm>
            <a:off x="534924" y="4910328"/>
            <a:ext cx="1874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and hydraulic parts repair.</a:t>
            </a:r>
            <a:endParaRPr lang="en-US" sz="1000" dirty="0"/>
          </a:p>
        </p:txBody>
      </p:sp>
      <p:sp>
        <p:nvSpPr>
          <p:cNvPr id="49" name="Shape 10">
            <a:extLst>
              <a:ext uri="{FF2B5EF4-FFF2-40B4-BE49-F238E27FC236}">
                <a16:creationId xmlns:a16="http://schemas.microsoft.com/office/drawing/2014/main" id="{44A4CD4E-8F04-F4E9-BAC2-EB156A9594E9}"/>
              </a:ext>
            </a:extLst>
          </p:cNvPr>
          <p:cNvSpPr/>
          <p:nvPr/>
        </p:nvSpPr>
        <p:spPr>
          <a:xfrm>
            <a:off x="534924" y="5532120"/>
            <a:ext cx="1874520" cy="0"/>
          </a:xfrm>
          <a:prstGeom prst="line">
            <a:avLst/>
          </a:prstGeom>
          <a:noFill/>
          <a:ln w="12700">
            <a:solidFill>
              <a:srgbClr val="D8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11">
            <a:extLst>
              <a:ext uri="{FF2B5EF4-FFF2-40B4-BE49-F238E27FC236}">
                <a16:creationId xmlns:a16="http://schemas.microsoft.com/office/drawing/2014/main" id="{9EAB97EC-42CA-BF1D-5CE8-10ABE3631EC3}"/>
              </a:ext>
            </a:extLst>
          </p:cNvPr>
          <p:cNvSpPr/>
          <p:nvPr/>
        </p:nvSpPr>
        <p:spPr>
          <a:xfrm>
            <a:off x="534924" y="558698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analyzed in this edition</a:t>
            </a:r>
            <a:endParaRPr lang="en-US" sz="900" dirty="0"/>
          </a:p>
        </p:txBody>
      </p:sp>
      <p:sp>
        <p:nvSpPr>
          <p:cNvPr id="53" name="Shape 12">
            <a:extLst>
              <a:ext uri="{FF2B5EF4-FFF2-40B4-BE49-F238E27FC236}">
                <a16:creationId xmlns:a16="http://schemas.microsoft.com/office/drawing/2014/main" id="{62948E64-1D9F-D52A-C819-2B7FE1A65AD7}"/>
              </a:ext>
            </a:extLst>
          </p:cNvPr>
          <p:cNvSpPr/>
          <p:nvPr/>
        </p:nvSpPr>
        <p:spPr>
          <a:xfrm>
            <a:off x="2702052" y="2185416"/>
            <a:ext cx="2093976" cy="3730752"/>
          </a:xfrm>
          <a:prstGeom prst="roundRect">
            <a:avLst>
              <a:gd name="adj" fmla="val 4367"/>
            </a:avLst>
          </a:prstGeom>
          <a:solidFill>
            <a:srgbClr val="EEF0FA"/>
          </a:solidFill>
          <a:ln w="19050">
            <a:solidFill>
              <a:srgbClr val="27509B"/>
            </a:solidFill>
            <a:prstDash val="solid"/>
          </a:ln>
          <a:effectLst>
            <a:outerShdw blurRad="88900" dist="25400" dir="5400000" algn="bl" rotWithShape="0">
              <a:srgbClr val="94A3B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5" name="Image 3" descr="Family 1">
            <a:extLst>
              <a:ext uri="{FF2B5EF4-FFF2-40B4-BE49-F238E27FC236}">
                <a16:creationId xmlns:a16="http://schemas.microsoft.com/office/drawing/2014/main" id="{4E456D08-C1E8-AB07-9951-789217BF6F2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793492" y="2276856"/>
            <a:ext cx="1911096" cy="1417320"/>
          </a:xfrm>
          <a:prstGeom prst="rect">
            <a:avLst/>
          </a:prstGeom>
        </p:spPr>
      </p:pic>
      <p:sp>
        <p:nvSpPr>
          <p:cNvPr id="57" name="Shape 13">
            <a:extLst>
              <a:ext uri="{FF2B5EF4-FFF2-40B4-BE49-F238E27FC236}">
                <a16:creationId xmlns:a16="http://schemas.microsoft.com/office/drawing/2014/main" id="{F18185A7-19EC-5B78-1C8B-1E7E78B9F644}"/>
              </a:ext>
            </a:extLst>
          </p:cNvPr>
          <p:cNvSpPr/>
          <p:nvPr/>
        </p:nvSpPr>
        <p:spPr>
          <a:xfrm>
            <a:off x="2793492" y="3813048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14">
            <a:extLst>
              <a:ext uri="{FF2B5EF4-FFF2-40B4-BE49-F238E27FC236}">
                <a16:creationId xmlns:a16="http://schemas.microsoft.com/office/drawing/2014/main" id="{38B6F264-C746-BC52-65D3-E2EBCC956DF9}"/>
              </a:ext>
            </a:extLst>
          </p:cNvPr>
          <p:cNvSpPr/>
          <p:nvPr/>
        </p:nvSpPr>
        <p:spPr>
          <a:xfrm>
            <a:off x="2793492" y="381304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Family 1</a:t>
            </a:r>
            <a:endParaRPr lang="en-US" sz="1150" dirty="0"/>
          </a:p>
        </p:txBody>
      </p:sp>
      <p:sp>
        <p:nvSpPr>
          <p:cNvPr id="61" name="Shape 15">
            <a:extLst>
              <a:ext uri="{FF2B5EF4-FFF2-40B4-BE49-F238E27FC236}">
                <a16:creationId xmlns:a16="http://schemas.microsoft.com/office/drawing/2014/main" id="{60E82EEA-2219-DCAB-7D47-39B0E94F0A2C}"/>
              </a:ext>
            </a:extLst>
          </p:cNvPr>
          <p:cNvSpPr/>
          <p:nvPr/>
        </p:nvSpPr>
        <p:spPr>
          <a:xfrm>
            <a:off x="3625596" y="3813048"/>
            <a:ext cx="1078992" cy="310896"/>
          </a:xfrm>
          <a:prstGeom prst="roundRect">
            <a:avLst>
              <a:gd name="adj" fmla="val 50000"/>
            </a:avLst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16">
            <a:extLst>
              <a:ext uri="{FF2B5EF4-FFF2-40B4-BE49-F238E27FC236}">
                <a16:creationId xmlns:a16="http://schemas.microsoft.com/office/drawing/2014/main" id="{EB2DAFAC-E701-A324-1F3C-26262CC9A6FA}"/>
              </a:ext>
            </a:extLst>
          </p:cNvPr>
          <p:cNvSpPr/>
          <p:nvPr/>
        </p:nvSpPr>
        <p:spPr>
          <a:xfrm>
            <a:off x="3625596" y="3813048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</a:t>
            </a:r>
            <a:endParaRPr lang="en-US" sz="850" dirty="0"/>
          </a:p>
        </p:txBody>
      </p:sp>
      <p:sp>
        <p:nvSpPr>
          <p:cNvPr id="65" name="Text 17">
            <a:extLst>
              <a:ext uri="{FF2B5EF4-FFF2-40B4-BE49-F238E27FC236}">
                <a16:creationId xmlns:a16="http://schemas.microsoft.com/office/drawing/2014/main" id="{580EA7F5-BD27-A87A-BB6F-5C9E6A58CEFA}"/>
              </a:ext>
            </a:extLst>
          </p:cNvPr>
          <p:cNvSpPr/>
          <p:nvPr/>
        </p:nvSpPr>
        <p:spPr>
          <a:xfrm>
            <a:off x="2811780" y="4233672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F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Electrical / Electronic Parts Repair</a:t>
            </a:r>
            <a:endParaRPr lang="en-US" sz="1200" dirty="0"/>
          </a:p>
        </p:txBody>
      </p:sp>
      <p:sp>
        <p:nvSpPr>
          <p:cNvPr id="67" name="Text 18">
            <a:extLst>
              <a:ext uri="{FF2B5EF4-FFF2-40B4-BE49-F238E27FC236}">
                <a16:creationId xmlns:a16="http://schemas.microsoft.com/office/drawing/2014/main" id="{64081D4D-19DE-C466-B7B8-987AD759618F}"/>
              </a:ext>
            </a:extLst>
          </p:cNvPr>
          <p:cNvSpPr/>
          <p:nvPr/>
        </p:nvSpPr>
        <p:spPr>
          <a:xfrm>
            <a:off x="2811780" y="4910328"/>
            <a:ext cx="1874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 and electronic parts repair.</a:t>
            </a:r>
            <a:endParaRPr lang="en-US" sz="1000" dirty="0"/>
          </a:p>
        </p:txBody>
      </p:sp>
      <p:sp>
        <p:nvSpPr>
          <p:cNvPr id="69" name="Shape 19">
            <a:extLst>
              <a:ext uri="{FF2B5EF4-FFF2-40B4-BE49-F238E27FC236}">
                <a16:creationId xmlns:a16="http://schemas.microsoft.com/office/drawing/2014/main" id="{DC94B700-81D7-F8AD-720D-A6B3F1AB3B2B}"/>
              </a:ext>
            </a:extLst>
          </p:cNvPr>
          <p:cNvSpPr/>
          <p:nvPr/>
        </p:nvSpPr>
        <p:spPr>
          <a:xfrm>
            <a:off x="2811780" y="5532120"/>
            <a:ext cx="1874520" cy="0"/>
          </a:xfrm>
          <a:prstGeom prst="line">
            <a:avLst/>
          </a:prstGeom>
          <a:noFill/>
          <a:ln w="12700">
            <a:solidFill>
              <a:srgbClr val="D8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20">
            <a:extLst>
              <a:ext uri="{FF2B5EF4-FFF2-40B4-BE49-F238E27FC236}">
                <a16:creationId xmlns:a16="http://schemas.microsoft.com/office/drawing/2014/main" id="{92B864B9-6E56-4220-D4B4-7A53D1FDD213}"/>
              </a:ext>
            </a:extLst>
          </p:cNvPr>
          <p:cNvSpPr/>
          <p:nvPr/>
        </p:nvSpPr>
        <p:spPr>
          <a:xfrm>
            <a:off x="2811780" y="558698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275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Pareto + ABC Curve</a:t>
            </a:r>
            <a:endParaRPr lang="en-US" sz="900" dirty="0"/>
          </a:p>
        </p:txBody>
      </p:sp>
      <p:sp>
        <p:nvSpPr>
          <p:cNvPr id="73" name="Shape 21">
            <a:extLst>
              <a:ext uri="{FF2B5EF4-FFF2-40B4-BE49-F238E27FC236}">
                <a16:creationId xmlns:a16="http://schemas.microsoft.com/office/drawing/2014/main" id="{C2868D78-CB10-F071-1E4E-59429DDED66D}"/>
              </a:ext>
            </a:extLst>
          </p:cNvPr>
          <p:cNvSpPr/>
          <p:nvPr/>
        </p:nvSpPr>
        <p:spPr>
          <a:xfrm>
            <a:off x="4978908" y="2185416"/>
            <a:ext cx="2093976" cy="3730752"/>
          </a:xfrm>
          <a:prstGeom prst="roundRect">
            <a:avLst>
              <a:gd name="adj" fmla="val 43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5" name="Image 4" descr="Family 5">
            <a:extLst>
              <a:ext uri="{FF2B5EF4-FFF2-40B4-BE49-F238E27FC236}">
                <a16:creationId xmlns:a16="http://schemas.microsoft.com/office/drawing/2014/main" id="{FF62872F-560B-1C05-69F9-C055C8C2C7C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070348" y="2185416"/>
            <a:ext cx="1911096" cy="1508760"/>
          </a:xfrm>
          <a:prstGeom prst="rect">
            <a:avLst/>
          </a:prstGeom>
        </p:spPr>
      </p:pic>
      <p:sp>
        <p:nvSpPr>
          <p:cNvPr id="77" name="Shape 22">
            <a:extLst>
              <a:ext uri="{FF2B5EF4-FFF2-40B4-BE49-F238E27FC236}">
                <a16:creationId xmlns:a16="http://schemas.microsoft.com/office/drawing/2014/main" id="{649900A8-7AEA-EDB4-7C00-F6640B99A1FB}"/>
              </a:ext>
            </a:extLst>
          </p:cNvPr>
          <p:cNvSpPr/>
          <p:nvPr/>
        </p:nvSpPr>
        <p:spPr>
          <a:xfrm>
            <a:off x="5070348" y="3813048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27509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Text 23">
            <a:extLst>
              <a:ext uri="{FF2B5EF4-FFF2-40B4-BE49-F238E27FC236}">
                <a16:creationId xmlns:a16="http://schemas.microsoft.com/office/drawing/2014/main" id="{2409286C-5B52-020E-1035-9F3EA61D9983}"/>
              </a:ext>
            </a:extLst>
          </p:cNvPr>
          <p:cNvSpPr/>
          <p:nvPr/>
        </p:nvSpPr>
        <p:spPr>
          <a:xfrm>
            <a:off x="5070348" y="381304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Family 5</a:t>
            </a:r>
            <a:endParaRPr lang="en-US" sz="1150" dirty="0"/>
          </a:p>
        </p:txBody>
      </p:sp>
      <p:sp>
        <p:nvSpPr>
          <p:cNvPr id="81" name="Text 24">
            <a:extLst>
              <a:ext uri="{FF2B5EF4-FFF2-40B4-BE49-F238E27FC236}">
                <a16:creationId xmlns:a16="http://schemas.microsoft.com/office/drawing/2014/main" id="{1CECE7A9-E831-05D9-F36B-CBA81266A8E6}"/>
              </a:ext>
            </a:extLst>
          </p:cNvPr>
          <p:cNvSpPr/>
          <p:nvPr/>
        </p:nvSpPr>
        <p:spPr>
          <a:xfrm>
            <a:off x="5088636" y="4233672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F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Equipment Maintenance</a:t>
            </a:r>
            <a:endParaRPr lang="en-US" sz="1200" dirty="0"/>
          </a:p>
        </p:txBody>
      </p:sp>
      <p:sp>
        <p:nvSpPr>
          <p:cNvPr id="83" name="Text 25">
            <a:extLst>
              <a:ext uri="{FF2B5EF4-FFF2-40B4-BE49-F238E27FC236}">
                <a16:creationId xmlns:a16="http://schemas.microsoft.com/office/drawing/2014/main" id="{F3B87913-C2BF-785E-6BD5-42B3F4462B0C}"/>
              </a:ext>
            </a:extLst>
          </p:cNvPr>
          <p:cNvSpPr/>
          <p:nvPr/>
        </p:nvSpPr>
        <p:spPr>
          <a:xfrm>
            <a:off x="5088636" y="4910328"/>
            <a:ext cx="1874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of production handling equipment.</a:t>
            </a:r>
            <a:endParaRPr lang="en-US" sz="1000" dirty="0"/>
          </a:p>
        </p:txBody>
      </p:sp>
      <p:sp>
        <p:nvSpPr>
          <p:cNvPr id="85" name="Shape 26">
            <a:extLst>
              <a:ext uri="{FF2B5EF4-FFF2-40B4-BE49-F238E27FC236}">
                <a16:creationId xmlns:a16="http://schemas.microsoft.com/office/drawing/2014/main" id="{6F9AB2E3-76D5-2B6C-C369-4FA7D392EF85}"/>
              </a:ext>
            </a:extLst>
          </p:cNvPr>
          <p:cNvSpPr/>
          <p:nvPr/>
        </p:nvSpPr>
        <p:spPr>
          <a:xfrm>
            <a:off x="5088636" y="5532120"/>
            <a:ext cx="1874520" cy="0"/>
          </a:xfrm>
          <a:prstGeom prst="line">
            <a:avLst/>
          </a:prstGeom>
          <a:noFill/>
          <a:ln w="12700">
            <a:solidFill>
              <a:srgbClr val="D8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27">
            <a:extLst>
              <a:ext uri="{FF2B5EF4-FFF2-40B4-BE49-F238E27FC236}">
                <a16:creationId xmlns:a16="http://schemas.microsoft.com/office/drawing/2014/main" id="{21DB6C6D-0FEB-C29D-162E-D53704BC3D85}"/>
              </a:ext>
            </a:extLst>
          </p:cNvPr>
          <p:cNvSpPr/>
          <p:nvPr/>
        </p:nvSpPr>
        <p:spPr>
          <a:xfrm>
            <a:off x="5088636" y="558698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A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analyzed in this edition</a:t>
            </a:r>
            <a:endParaRPr lang="en-US" sz="900" dirty="0"/>
          </a:p>
        </p:txBody>
      </p:sp>
      <p:sp>
        <p:nvSpPr>
          <p:cNvPr id="89" name="Shape 28">
            <a:extLst>
              <a:ext uri="{FF2B5EF4-FFF2-40B4-BE49-F238E27FC236}">
                <a16:creationId xmlns:a16="http://schemas.microsoft.com/office/drawing/2014/main" id="{07AD868D-E1B4-244F-11EA-0AE570E2F2FD}"/>
              </a:ext>
            </a:extLst>
          </p:cNvPr>
          <p:cNvSpPr/>
          <p:nvPr/>
        </p:nvSpPr>
        <p:spPr>
          <a:xfrm>
            <a:off x="7255764" y="2185416"/>
            <a:ext cx="2093976" cy="3730752"/>
          </a:xfrm>
          <a:prstGeom prst="roundRect">
            <a:avLst>
              <a:gd name="adj" fmla="val 4367"/>
            </a:avLst>
          </a:prstGeom>
          <a:solidFill>
            <a:srgbClr val="EEF0FA"/>
          </a:solidFill>
          <a:ln w="19050">
            <a:solidFill>
              <a:srgbClr val="27509B"/>
            </a:solidFill>
            <a:prstDash val="solid"/>
          </a:ln>
          <a:effectLst>
            <a:outerShdw blurRad="88900" dist="25400" dir="5400000" algn="bl" rotWithShape="0">
              <a:srgbClr val="94A3B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1" name="Image 5" descr="Family 3">
            <a:extLst>
              <a:ext uri="{FF2B5EF4-FFF2-40B4-BE49-F238E27FC236}">
                <a16:creationId xmlns:a16="http://schemas.microsoft.com/office/drawing/2014/main" id="{6F169D1D-1528-17CE-4EB1-03CD82A057B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347204" y="2276856"/>
            <a:ext cx="1911096" cy="1417320"/>
          </a:xfrm>
          <a:prstGeom prst="rect">
            <a:avLst/>
          </a:prstGeom>
        </p:spPr>
      </p:pic>
      <p:sp>
        <p:nvSpPr>
          <p:cNvPr id="93" name="Shape 29">
            <a:extLst>
              <a:ext uri="{FF2B5EF4-FFF2-40B4-BE49-F238E27FC236}">
                <a16:creationId xmlns:a16="http://schemas.microsoft.com/office/drawing/2014/main" id="{9B11E567-DC0A-8E45-D7C1-B2286CC14714}"/>
              </a:ext>
            </a:extLst>
          </p:cNvPr>
          <p:cNvSpPr/>
          <p:nvPr/>
        </p:nvSpPr>
        <p:spPr>
          <a:xfrm>
            <a:off x="7347204" y="3813048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5" name="Text 30">
            <a:extLst>
              <a:ext uri="{FF2B5EF4-FFF2-40B4-BE49-F238E27FC236}">
                <a16:creationId xmlns:a16="http://schemas.microsoft.com/office/drawing/2014/main" id="{FCF06F93-2642-6E47-91CD-409B50FDF04D}"/>
              </a:ext>
            </a:extLst>
          </p:cNvPr>
          <p:cNvSpPr/>
          <p:nvPr/>
        </p:nvSpPr>
        <p:spPr>
          <a:xfrm>
            <a:off x="7347204" y="381304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Family 3</a:t>
            </a:r>
            <a:endParaRPr lang="en-US" sz="1150" dirty="0"/>
          </a:p>
        </p:txBody>
      </p:sp>
      <p:sp>
        <p:nvSpPr>
          <p:cNvPr id="97" name="Shape 31">
            <a:extLst>
              <a:ext uri="{FF2B5EF4-FFF2-40B4-BE49-F238E27FC236}">
                <a16:creationId xmlns:a16="http://schemas.microsoft.com/office/drawing/2014/main" id="{A09F18A2-2512-EE58-131D-E01867A149EC}"/>
              </a:ext>
            </a:extLst>
          </p:cNvPr>
          <p:cNvSpPr/>
          <p:nvPr/>
        </p:nvSpPr>
        <p:spPr>
          <a:xfrm>
            <a:off x="8179308" y="3813048"/>
            <a:ext cx="1078992" cy="310896"/>
          </a:xfrm>
          <a:prstGeom prst="roundRect">
            <a:avLst>
              <a:gd name="adj" fmla="val 50000"/>
            </a:avLst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9" name="Text 32">
            <a:extLst>
              <a:ext uri="{FF2B5EF4-FFF2-40B4-BE49-F238E27FC236}">
                <a16:creationId xmlns:a16="http://schemas.microsoft.com/office/drawing/2014/main" id="{FC8A9A33-7808-4451-FA7F-CE56B7E23D7B}"/>
              </a:ext>
            </a:extLst>
          </p:cNvPr>
          <p:cNvSpPr/>
          <p:nvPr/>
        </p:nvSpPr>
        <p:spPr>
          <a:xfrm>
            <a:off x="8179308" y="3813048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</a:t>
            </a:r>
            <a:endParaRPr lang="en-US" sz="850" dirty="0"/>
          </a:p>
        </p:txBody>
      </p:sp>
      <p:sp>
        <p:nvSpPr>
          <p:cNvPr id="101" name="Text 33">
            <a:extLst>
              <a:ext uri="{FF2B5EF4-FFF2-40B4-BE49-F238E27FC236}">
                <a16:creationId xmlns:a16="http://schemas.microsoft.com/office/drawing/2014/main" id="{862D57F4-460C-0134-AC86-62C88C7D7DBB}"/>
              </a:ext>
            </a:extLst>
          </p:cNvPr>
          <p:cNvSpPr/>
          <p:nvPr/>
        </p:nvSpPr>
        <p:spPr>
          <a:xfrm>
            <a:off x="7365492" y="4233672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F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Industrial Services</a:t>
            </a:r>
            <a:endParaRPr lang="en-US" sz="1200" dirty="0"/>
          </a:p>
        </p:txBody>
      </p:sp>
      <p:sp>
        <p:nvSpPr>
          <p:cNvPr id="103" name="Text 34">
            <a:extLst>
              <a:ext uri="{FF2B5EF4-FFF2-40B4-BE49-F238E27FC236}">
                <a16:creationId xmlns:a16="http://schemas.microsoft.com/office/drawing/2014/main" id="{888DE06A-F6C6-49C8-8FA4-52402D25E104}"/>
              </a:ext>
            </a:extLst>
          </p:cNvPr>
          <p:cNvSpPr/>
          <p:nvPr/>
        </p:nvSpPr>
        <p:spPr>
          <a:xfrm>
            <a:off x="7365492" y="4910328"/>
            <a:ext cx="1874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industrial services.</a:t>
            </a:r>
            <a:endParaRPr lang="en-US" sz="1000" dirty="0"/>
          </a:p>
        </p:txBody>
      </p:sp>
      <p:sp>
        <p:nvSpPr>
          <p:cNvPr id="105" name="Shape 35">
            <a:extLst>
              <a:ext uri="{FF2B5EF4-FFF2-40B4-BE49-F238E27FC236}">
                <a16:creationId xmlns:a16="http://schemas.microsoft.com/office/drawing/2014/main" id="{A6555FBF-DFEA-8250-587E-E0A23E66130D}"/>
              </a:ext>
            </a:extLst>
          </p:cNvPr>
          <p:cNvSpPr/>
          <p:nvPr/>
        </p:nvSpPr>
        <p:spPr>
          <a:xfrm>
            <a:off x="7365492" y="5532120"/>
            <a:ext cx="1874520" cy="0"/>
          </a:xfrm>
          <a:prstGeom prst="line">
            <a:avLst/>
          </a:prstGeom>
          <a:noFill/>
          <a:ln w="12700">
            <a:solidFill>
              <a:srgbClr val="D8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Text 36">
            <a:extLst>
              <a:ext uri="{FF2B5EF4-FFF2-40B4-BE49-F238E27FC236}">
                <a16:creationId xmlns:a16="http://schemas.microsoft.com/office/drawing/2014/main" id="{A87E4298-A119-A656-3DD0-C8FF0B4ECDDB}"/>
              </a:ext>
            </a:extLst>
          </p:cNvPr>
          <p:cNvSpPr/>
          <p:nvPr/>
        </p:nvSpPr>
        <p:spPr>
          <a:xfrm>
            <a:off x="7365492" y="558698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275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Pareto + ABC Curve</a:t>
            </a:r>
            <a:endParaRPr lang="en-US" sz="900" dirty="0"/>
          </a:p>
        </p:txBody>
      </p:sp>
      <p:sp>
        <p:nvSpPr>
          <p:cNvPr id="109" name="Shape 37">
            <a:extLst>
              <a:ext uri="{FF2B5EF4-FFF2-40B4-BE49-F238E27FC236}">
                <a16:creationId xmlns:a16="http://schemas.microsoft.com/office/drawing/2014/main" id="{9E9547FA-6658-A27C-DD11-FD95E74D4889}"/>
              </a:ext>
            </a:extLst>
          </p:cNvPr>
          <p:cNvSpPr/>
          <p:nvPr/>
        </p:nvSpPr>
        <p:spPr>
          <a:xfrm>
            <a:off x="9532620" y="2185416"/>
            <a:ext cx="2093976" cy="3730752"/>
          </a:xfrm>
          <a:prstGeom prst="roundRect">
            <a:avLst>
              <a:gd name="adj" fmla="val 4367"/>
            </a:avLst>
          </a:prstGeom>
          <a:solidFill>
            <a:srgbClr val="EEF0FA"/>
          </a:solidFill>
          <a:ln w="19050">
            <a:solidFill>
              <a:srgbClr val="27509B"/>
            </a:solidFill>
            <a:prstDash val="solid"/>
          </a:ln>
          <a:effectLst>
            <a:outerShdw blurRad="88900" dist="25400" dir="5400000" algn="bl" rotWithShape="0">
              <a:srgbClr val="94A3B8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1" name="Image 6" descr="Family 2">
            <a:extLst>
              <a:ext uri="{FF2B5EF4-FFF2-40B4-BE49-F238E27FC236}">
                <a16:creationId xmlns:a16="http://schemas.microsoft.com/office/drawing/2014/main" id="{950C4916-A1B2-F6FF-EEF8-5898E7FD7D5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624060" y="2276856"/>
            <a:ext cx="1911096" cy="1417320"/>
          </a:xfrm>
          <a:prstGeom prst="rect">
            <a:avLst/>
          </a:prstGeom>
        </p:spPr>
      </p:pic>
      <p:sp>
        <p:nvSpPr>
          <p:cNvPr id="113" name="Shape 38">
            <a:extLst>
              <a:ext uri="{FF2B5EF4-FFF2-40B4-BE49-F238E27FC236}">
                <a16:creationId xmlns:a16="http://schemas.microsoft.com/office/drawing/2014/main" id="{BC7E5C4C-09F8-C24D-E890-8C48051EEA62}"/>
              </a:ext>
            </a:extLst>
          </p:cNvPr>
          <p:cNvSpPr/>
          <p:nvPr/>
        </p:nvSpPr>
        <p:spPr>
          <a:xfrm>
            <a:off x="9624060" y="3813048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E457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5" name="Text 39">
            <a:extLst>
              <a:ext uri="{FF2B5EF4-FFF2-40B4-BE49-F238E27FC236}">
                <a16:creationId xmlns:a16="http://schemas.microsoft.com/office/drawing/2014/main" id="{2B3A3D69-A1BE-3BA6-809D-5EE7AF5EA948}"/>
              </a:ext>
            </a:extLst>
          </p:cNvPr>
          <p:cNvSpPr/>
          <p:nvPr/>
        </p:nvSpPr>
        <p:spPr>
          <a:xfrm>
            <a:off x="9624060" y="381304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Family 2</a:t>
            </a:r>
            <a:endParaRPr lang="en-US" sz="1150" dirty="0"/>
          </a:p>
        </p:txBody>
      </p:sp>
      <p:sp>
        <p:nvSpPr>
          <p:cNvPr id="117" name="Shape 40">
            <a:extLst>
              <a:ext uri="{FF2B5EF4-FFF2-40B4-BE49-F238E27FC236}">
                <a16:creationId xmlns:a16="http://schemas.microsoft.com/office/drawing/2014/main" id="{24141CA2-D48D-BC89-9E30-4635A43DA648}"/>
              </a:ext>
            </a:extLst>
          </p:cNvPr>
          <p:cNvSpPr/>
          <p:nvPr/>
        </p:nvSpPr>
        <p:spPr>
          <a:xfrm>
            <a:off x="10456164" y="3813048"/>
            <a:ext cx="1078992" cy="310896"/>
          </a:xfrm>
          <a:prstGeom prst="roundRect">
            <a:avLst>
              <a:gd name="adj" fmla="val 50000"/>
            </a:avLst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9" name="Text 41">
            <a:extLst>
              <a:ext uri="{FF2B5EF4-FFF2-40B4-BE49-F238E27FC236}">
                <a16:creationId xmlns:a16="http://schemas.microsoft.com/office/drawing/2014/main" id="{7A6C73F9-D0E1-F0B5-9361-01A2264C2614}"/>
              </a:ext>
            </a:extLst>
          </p:cNvPr>
          <p:cNvSpPr/>
          <p:nvPr/>
        </p:nvSpPr>
        <p:spPr>
          <a:xfrm>
            <a:off x="10456164" y="3813048"/>
            <a:ext cx="1078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</a:t>
            </a:r>
            <a:endParaRPr lang="en-US" sz="850" dirty="0"/>
          </a:p>
        </p:txBody>
      </p:sp>
      <p:sp>
        <p:nvSpPr>
          <p:cNvPr id="121" name="Text 42">
            <a:extLst>
              <a:ext uri="{FF2B5EF4-FFF2-40B4-BE49-F238E27FC236}">
                <a16:creationId xmlns:a16="http://schemas.microsoft.com/office/drawing/2014/main" id="{9709E7D1-5F04-96F6-1C98-B4E756C7E9BF}"/>
              </a:ext>
            </a:extLst>
          </p:cNvPr>
          <p:cNvSpPr/>
          <p:nvPr/>
        </p:nvSpPr>
        <p:spPr>
          <a:xfrm>
            <a:off x="9642348" y="4233672"/>
            <a:ext cx="1874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F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Facilities &amp; Utilities Maintenance</a:t>
            </a:r>
            <a:endParaRPr lang="en-US" sz="1200" dirty="0"/>
          </a:p>
        </p:txBody>
      </p:sp>
      <p:sp>
        <p:nvSpPr>
          <p:cNvPr id="123" name="Text 43">
            <a:extLst>
              <a:ext uri="{FF2B5EF4-FFF2-40B4-BE49-F238E27FC236}">
                <a16:creationId xmlns:a16="http://schemas.microsoft.com/office/drawing/2014/main" id="{A6EB433D-F18E-12B5-BF07-DB9CC5A92368}"/>
              </a:ext>
            </a:extLst>
          </p:cNvPr>
          <p:cNvSpPr/>
          <p:nvPr/>
        </p:nvSpPr>
        <p:spPr>
          <a:xfrm>
            <a:off x="9642348" y="4910328"/>
            <a:ext cx="1874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and utilities maintenance.</a:t>
            </a:r>
            <a:endParaRPr lang="en-US" sz="1000" dirty="0"/>
          </a:p>
        </p:txBody>
      </p:sp>
      <p:sp>
        <p:nvSpPr>
          <p:cNvPr id="125" name="Shape 44">
            <a:extLst>
              <a:ext uri="{FF2B5EF4-FFF2-40B4-BE49-F238E27FC236}">
                <a16:creationId xmlns:a16="http://schemas.microsoft.com/office/drawing/2014/main" id="{ABA0C37E-2B95-8CFC-B172-86D9F3401D3F}"/>
              </a:ext>
            </a:extLst>
          </p:cNvPr>
          <p:cNvSpPr/>
          <p:nvPr/>
        </p:nvSpPr>
        <p:spPr>
          <a:xfrm>
            <a:off x="9642348" y="5532120"/>
            <a:ext cx="1874520" cy="0"/>
          </a:xfrm>
          <a:prstGeom prst="line">
            <a:avLst/>
          </a:prstGeom>
          <a:noFill/>
          <a:ln w="12700">
            <a:solidFill>
              <a:srgbClr val="D8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7" name="Text 45">
            <a:extLst>
              <a:ext uri="{FF2B5EF4-FFF2-40B4-BE49-F238E27FC236}">
                <a16:creationId xmlns:a16="http://schemas.microsoft.com/office/drawing/2014/main" id="{9A689CBE-EE5D-9BC9-B1B8-555DE5D7BF61}"/>
              </a:ext>
            </a:extLst>
          </p:cNvPr>
          <p:cNvSpPr/>
          <p:nvPr/>
        </p:nvSpPr>
        <p:spPr>
          <a:xfrm>
            <a:off x="9642348" y="5586984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275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Pareto + ABC Curve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0547591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5142" y="900608"/>
            <a:ext cx="10869017" cy="452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800" b="1" kern="0" spc="-85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Acronyms Glossary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61493" y="1425674"/>
            <a:ext cx="11478617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8000"/>
              </a:lnSpc>
            </a:pPr>
            <a:r>
              <a:rPr lang="en-US" sz="1133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Quick reference for the technical terms used in this integrated analysis.</a:t>
            </a:r>
            <a:endParaRPr lang="en-US" sz="1133" dirty="0"/>
          </a:p>
        </p:txBody>
      </p:sp>
      <p:sp>
        <p:nvSpPr>
          <p:cNvPr id="4" name="Shape 2"/>
          <p:cNvSpPr/>
          <p:nvPr/>
        </p:nvSpPr>
        <p:spPr>
          <a:xfrm>
            <a:off x="661493" y="1689497"/>
            <a:ext cx="10869017" cy="4563269"/>
          </a:xfrm>
          <a:prstGeom prst="roundRect">
            <a:avLst>
              <a:gd name="adj" fmla="val 1332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" name="Shape 3"/>
          <p:cNvSpPr/>
          <p:nvPr/>
        </p:nvSpPr>
        <p:spPr>
          <a:xfrm>
            <a:off x="667842" y="1695848"/>
            <a:ext cx="10856317" cy="35004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812601" y="1768674"/>
            <a:ext cx="2488307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8000"/>
              </a:lnSpc>
            </a:pPr>
            <a:r>
              <a:rPr lang="en-US" sz="1133" b="1" kern="0" spc="-2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Acronym</a:t>
            </a:r>
            <a:endParaRPr lang="en-US" sz="1133" dirty="0"/>
          </a:p>
        </p:txBody>
      </p:sp>
      <p:sp>
        <p:nvSpPr>
          <p:cNvPr id="7" name="Text 5"/>
          <p:cNvSpPr/>
          <p:nvPr/>
        </p:nvSpPr>
        <p:spPr>
          <a:xfrm>
            <a:off x="2986980" y="1768674"/>
            <a:ext cx="9002117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8000"/>
              </a:lnSpc>
            </a:pPr>
            <a:r>
              <a:rPr lang="en-US" sz="1133" b="1" kern="0" spc="-2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Definition</a:t>
            </a:r>
            <a:endParaRPr lang="en-US" sz="1133" dirty="0"/>
          </a:p>
        </p:txBody>
      </p:sp>
      <p:sp>
        <p:nvSpPr>
          <p:cNvPr id="8" name="Shape 6"/>
          <p:cNvSpPr/>
          <p:nvPr/>
        </p:nvSpPr>
        <p:spPr>
          <a:xfrm>
            <a:off x="667842" y="2045890"/>
            <a:ext cx="10856317" cy="35004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9" name="Text 7"/>
          <p:cNvSpPr/>
          <p:nvPr/>
        </p:nvSpPr>
        <p:spPr>
          <a:xfrm>
            <a:off x="812601" y="2118717"/>
            <a:ext cx="2488307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8000"/>
              </a:lnSpc>
            </a:pPr>
            <a:r>
              <a:rPr lang="en-US" sz="1133" b="1" kern="0" spc="-2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MRO</a:t>
            </a:r>
            <a:endParaRPr lang="en-US" sz="1133" dirty="0"/>
          </a:p>
        </p:txBody>
      </p:sp>
      <p:sp>
        <p:nvSpPr>
          <p:cNvPr id="10" name="Text 8"/>
          <p:cNvSpPr/>
          <p:nvPr/>
        </p:nvSpPr>
        <p:spPr>
          <a:xfrm>
            <a:off x="2986980" y="2118717"/>
            <a:ext cx="9002117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8000"/>
              </a:lnSpc>
            </a:pPr>
            <a:r>
              <a:rPr lang="en-US" sz="1133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Maintenance, Repair and Operations</a:t>
            </a:r>
            <a:endParaRPr lang="en-US" sz="1133" dirty="0"/>
          </a:p>
        </p:txBody>
      </p:sp>
      <p:sp>
        <p:nvSpPr>
          <p:cNvPr id="11" name="Shape 9"/>
          <p:cNvSpPr/>
          <p:nvPr/>
        </p:nvSpPr>
        <p:spPr>
          <a:xfrm>
            <a:off x="667842" y="2395934"/>
            <a:ext cx="10856317" cy="35004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2" name="Text 10"/>
          <p:cNvSpPr/>
          <p:nvPr/>
        </p:nvSpPr>
        <p:spPr>
          <a:xfrm>
            <a:off x="812601" y="2468761"/>
            <a:ext cx="2488307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8000"/>
              </a:lnSpc>
            </a:pPr>
            <a:r>
              <a:rPr lang="en-US" sz="1133" b="1" kern="0" spc="-2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PdM</a:t>
            </a:r>
            <a:endParaRPr lang="en-US" sz="1133" dirty="0"/>
          </a:p>
        </p:txBody>
      </p:sp>
      <p:sp>
        <p:nvSpPr>
          <p:cNvPr id="13" name="Text 11"/>
          <p:cNvSpPr/>
          <p:nvPr/>
        </p:nvSpPr>
        <p:spPr>
          <a:xfrm>
            <a:off x="2986980" y="2468761"/>
            <a:ext cx="9002117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8000"/>
              </a:lnSpc>
            </a:pPr>
            <a:r>
              <a:rPr lang="en-US" sz="1133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Predictive Maintenance — condition-based maintenance</a:t>
            </a:r>
            <a:endParaRPr lang="en-US" sz="1133" dirty="0"/>
          </a:p>
        </p:txBody>
      </p:sp>
      <p:sp>
        <p:nvSpPr>
          <p:cNvPr id="14" name="Shape 12"/>
          <p:cNvSpPr/>
          <p:nvPr/>
        </p:nvSpPr>
        <p:spPr>
          <a:xfrm>
            <a:off x="667842" y="2745978"/>
            <a:ext cx="10856317" cy="35004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5" name="Text 13"/>
          <p:cNvSpPr/>
          <p:nvPr/>
        </p:nvSpPr>
        <p:spPr>
          <a:xfrm>
            <a:off x="812601" y="2818805"/>
            <a:ext cx="2488307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8000"/>
              </a:lnSpc>
            </a:pPr>
            <a:r>
              <a:rPr lang="en-US" sz="1133" b="1" kern="0" spc="-2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CAGR</a:t>
            </a:r>
            <a:endParaRPr lang="en-US" sz="1133" dirty="0"/>
          </a:p>
        </p:txBody>
      </p:sp>
      <p:sp>
        <p:nvSpPr>
          <p:cNvPr id="16" name="Text 14"/>
          <p:cNvSpPr/>
          <p:nvPr/>
        </p:nvSpPr>
        <p:spPr>
          <a:xfrm>
            <a:off x="2986980" y="2818805"/>
            <a:ext cx="9002117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8000"/>
              </a:lnSpc>
            </a:pPr>
            <a:r>
              <a:rPr lang="en-US" sz="1133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Compound Annual Growth Rate</a:t>
            </a:r>
            <a:endParaRPr lang="en-US" sz="1133" dirty="0"/>
          </a:p>
        </p:txBody>
      </p:sp>
      <p:sp>
        <p:nvSpPr>
          <p:cNvPr id="17" name="Shape 15"/>
          <p:cNvSpPr/>
          <p:nvPr/>
        </p:nvSpPr>
        <p:spPr>
          <a:xfrm>
            <a:off x="667842" y="3096022"/>
            <a:ext cx="10856317" cy="35004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8" name="Text 16"/>
          <p:cNvSpPr/>
          <p:nvPr/>
        </p:nvSpPr>
        <p:spPr>
          <a:xfrm>
            <a:off x="812601" y="3168849"/>
            <a:ext cx="2488307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8000"/>
              </a:lnSpc>
            </a:pPr>
            <a:r>
              <a:rPr lang="en-US" sz="1133" b="1" kern="0" spc="-2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GDP</a:t>
            </a:r>
            <a:endParaRPr lang="en-US" sz="1133" dirty="0"/>
          </a:p>
        </p:txBody>
      </p:sp>
      <p:sp>
        <p:nvSpPr>
          <p:cNvPr id="19" name="Text 17"/>
          <p:cNvSpPr/>
          <p:nvPr/>
        </p:nvSpPr>
        <p:spPr>
          <a:xfrm>
            <a:off x="2986980" y="3168849"/>
            <a:ext cx="9002117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8000"/>
              </a:lnSpc>
            </a:pPr>
            <a:r>
              <a:rPr lang="en-US" sz="1133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Gross Domestic Product</a:t>
            </a:r>
            <a:endParaRPr lang="en-US" sz="1133" dirty="0"/>
          </a:p>
        </p:txBody>
      </p:sp>
      <p:sp>
        <p:nvSpPr>
          <p:cNvPr id="20" name="Shape 18"/>
          <p:cNvSpPr/>
          <p:nvPr/>
        </p:nvSpPr>
        <p:spPr>
          <a:xfrm>
            <a:off x="667842" y="3446066"/>
            <a:ext cx="10856317" cy="35004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1" name="Text 19"/>
          <p:cNvSpPr/>
          <p:nvPr/>
        </p:nvSpPr>
        <p:spPr>
          <a:xfrm>
            <a:off x="812601" y="3518893"/>
            <a:ext cx="2488307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8000"/>
              </a:lnSpc>
            </a:pPr>
            <a:r>
              <a:rPr lang="en-US" sz="1133" b="1" kern="0" spc="-2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 / IoT</a:t>
            </a:r>
            <a:endParaRPr lang="en-US" sz="1133" dirty="0"/>
          </a:p>
        </p:txBody>
      </p:sp>
      <p:sp>
        <p:nvSpPr>
          <p:cNvPr id="22" name="Text 20"/>
          <p:cNvSpPr/>
          <p:nvPr/>
        </p:nvSpPr>
        <p:spPr>
          <a:xfrm>
            <a:off x="2986980" y="3518893"/>
            <a:ext cx="9002117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8000"/>
              </a:lnSpc>
            </a:pPr>
            <a:r>
              <a:rPr lang="en-US" sz="1133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Artificial Intelligence / Internet of Things</a:t>
            </a:r>
            <a:endParaRPr lang="en-US" sz="1133" dirty="0"/>
          </a:p>
        </p:txBody>
      </p:sp>
      <p:sp>
        <p:nvSpPr>
          <p:cNvPr id="23" name="Shape 21"/>
          <p:cNvSpPr/>
          <p:nvPr/>
        </p:nvSpPr>
        <p:spPr>
          <a:xfrm>
            <a:off x="667842" y="3796110"/>
            <a:ext cx="10856317" cy="35004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4" name="Text 22"/>
          <p:cNvSpPr/>
          <p:nvPr/>
        </p:nvSpPr>
        <p:spPr>
          <a:xfrm>
            <a:off x="812601" y="3868936"/>
            <a:ext cx="2488307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8000"/>
              </a:lnSpc>
            </a:pPr>
            <a:r>
              <a:rPr lang="en-US" sz="1133" b="1" kern="0" spc="-2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CMMS</a:t>
            </a:r>
            <a:endParaRPr lang="en-US" sz="1133" dirty="0"/>
          </a:p>
        </p:txBody>
      </p:sp>
      <p:sp>
        <p:nvSpPr>
          <p:cNvPr id="25" name="Text 23"/>
          <p:cNvSpPr/>
          <p:nvPr/>
        </p:nvSpPr>
        <p:spPr>
          <a:xfrm>
            <a:off x="2986980" y="3868936"/>
            <a:ext cx="9002117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8000"/>
              </a:lnSpc>
            </a:pPr>
            <a:r>
              <a:rPr lang="en-US" sz="1133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Computerized Maintenance Management System</a:t>
            </a:r>
            <a:endParaRPr lang="en-US" sz="1133" dirty="0"/>
          </a:p>
        </p:txBody>
      </p:sp>
      <p:sp>
        <p:nvSpPr>
          <p:cNvPr id="26" name="Shape 24"/>
          <p:cNvSpPr/>
          <p:nvPr/>
        </p:nvSpPr>
        <p:spPr>
          <a:xfrm>
            <a:off x="667842" y="4146153"/>
            <a:ext cx="10856317" cy="35004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7" name="Text 25"/>
          <p:cNvSpPr/>
          <p:nvPr/>
        </p:nvSpPr>
        <p:spPr>
          <a:xfrm>
            <a:off x="812601" y="4218980"/>
            <a:ext cx="2488307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8000"/>
              </a:lnSpc>
            </a:pPr>
            <a:r>
              <a:rPr lang="en-US" sz="1133" b="1" kern="0" spc="-2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RCM</a:t>
            </a:r>
            <a:endParaRPr lang="en-US" sz="1133" dirty="0"/>
          </a:p>
        </p:txBody>
      </p:sp>
      <p:sp>
        <p:nvSpPr>
          <p:cNvPr id="28" name="Text 26"/>
          <p:cNvSpPr/>
          <p:nvPr/>
        </p:nvSpPr>
        <p:spPr>
          <a:xfrm>
            <a:off x="2986980" y="4218980"/>
            <a:ext cx="9002117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8000"/>
              </a:lnSpc>
            </a:pPr>
            <a:r>
              <a:rPr lang="en-US" sz="1133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Reliability-Centered Maintenance</a:t>
            </a:r>
            <a:endParaRPr lang="en-US" sz="1133" dirty="0"/>
          </a:p>
        </p:txBody>
      </p:sp>
      <p:sp>
        <p:nvSpPr>
          <p:cNvPr id="29" name="Shape 27"/>
          <p:cNvSpPr/>
          <p:nvPr/>
        </p:nvSpPr>
        <p:spPr>
          <a:xfrm>
            <a:off x="667842" y="4496197"/>
            <a:ext cx="10856317" cy="35004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0" name="Text 28"/>
          <p:cNvSpPr/>
          <p:nvPr/>
        </p:nvSpPr>
        <p:spPr>
          <a:xfrm>
            <a:off x="812601" y="4569024"/>
            <a:ext cx="2488307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8000"/>
              </a:lnSpc>
            </a:pPr>
            <a:r>
              <a:rPr lang="en-US" sz="1133" b="1" kern="0" spc="-2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TCO</a:t>
            </a:r>
            <a:endParaRPr lang="en-US" sz="1133" dirty="0"/>
          </a:p>
        </p:txBody>
      </p:sp>
      <p:sp>
        <p:nvSpPr>
          <p:cNvPr id="31" name="Text 29"/>
          <p:cNvSpPr/>
          <p:nvPr/>
        </p:nvSpPr>
        <p:spPr>
          <a:xfrm>
            <a:off x="2986980" y="4569024"/>
            <a:ext cx="9002117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8000"/>
              </a:lnSpc>
            </a:pPr>
            <a:r>
              <a:rPr lang="en-US" sz="1133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Cost of Ownership</a:t>
            </a:r>
            <a:endParaRPr lang="en-US" sz="1133" dirty="0"/>
          </a:p>
        </p:txBody>
      </p:sp>
      <p:sp>
        <p:nvSpPr>
          <p:cNvPr id="33" name="Text 31"/>
          <p:cNvSpPr/>
          <p:nvPr/>
        </p:nvSpPr>
        <p:spPr>
          <a:xfrm>
            <a:off x="812601" y="4919068"/>
            <a:ext cx="2488307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8000"/>
              </a:lnSpc>
            </a:pPr>
            <a:r>
              <a:rPr lang="en-US" sz="1133" b="1" kern="0" spc="-2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ROI / YoY</a:t>
            </a:r>
            <a:endParaRPr lang="en-US" sz="1133" dirty="0"/>
          </a:p>
        </p:txBody>
      </p:sp>
      <p:sp>
        <p:nvSpPr>
          <p:cNvPr id="34" name="Text 32"/>
          <p:cNvSpPr/>
          <p:nvPr/>
        </p:nvSpPr>
        <p:spPr>
          <a:xfrm>
            <a:off x="2986980" y="4919068"/>
            <a:ext cx="9002117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8000"/>
              </a:lnSpc>
            </a:pPr>
            <a:r>
              <a:rPr lang="en-US" sz="1133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on Investment / Year over Year</a:t>
            </a:r>
            <a:endParaRPr lang="en-US" sz="1133" dirty="0"/>
          </a:p>
        </p:txBody>
      </p:sp>
      <p:sp>
        <p:nvSpPr>
          <p:cNvPr id="35" name="Shape 33"/>
          <p:cNvSpPr/>
          <p:nvPr/>
        </p:nvSpPr>
        <p:spPr>
          <a:xfrm>
            <a:off x="667842" y="5196285"/>
            <a:ext cx="10856317" cy="35004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6" name="Text 34"/>
          <p:cNvSpPr/>
          <p:nvPr/>
        </p:nvSpPr>
        <p:spPr>
          <a:xfrm>
            <a:off x="812601" y="5269112"/>
            <a:ext cx="2488307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8000"/>
              </a:lnSpc>
            </a:pPr>
            <a:r>
              <a:rPr lang="en-US" sz="1133" b="1" kern="0" spc="-2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MFE / PO / OE</a:t>
            </a:r>
            <a:endParaRPr lang="en-US" sz="1133" dirty="0"/>
          </a:p>
        </p:txBody>
      </p:sp>
      <p:sp>
        <p:nvSpPr>
          <p:cNvPr id="37" name="Text 35"/>
          <p:cNvSpPr/>
          <p:nvPr/>
        </p:nvSpPr>
        <p:spPr>
          <a:xfrm>
            <a:off x="2986980" y="5269112"/>
            <a:ext cx="9002117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8000"/>
              </a:lnSpc>
            </a:pPr>
            <a:r>
              <a:rPr lang="en-US" sz="1133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Maintenance, Facilities &amp; Engineering / Purchase Order / O Empreiteiro (magazine)</a:t>
            </a:r>
            <a:endParaRPr lang="en-US" sz="1133" dirty="0"/>
          </a:p>
        </p:txBody>
      </p:sp>
      <p:sp>
        <p:nvSpPr>
          <p:cNvPr id="38" name="Shape 36"/>
          <p:cNvSpPr/>
          <p:nvPr/>
        </p:nvSpPr>
        <p:spPr>
          <a:xfrm>
            <a:off x="667842" y="5546329"/>
            <a:ext cx="10856317" cy="35004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9" name="Text 37"/>
          <p:cNvSpPr/>
          <p:nvPr/>
        </p:nvSpPr>
        <p:spPr>
          <a:xfrm>
            <a:off x="812601" y="5619156"/>
            <a:ext cx="2488307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8000"/>
              </a:lnSpc>
            </a:pPr>
            <a:r>
              <a:rPr lang="en-US" sz="1133" b="1" kern="0" spc="-2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BRL / IT</a:t>
            </a:r>
            <a:endParaRPr lang="en-US" sz="1133" dirty="0"/>
          </a:p>
        </p:txBody>
      </p:sp>
      <p:sp>
        <p:nvSpPr>
          <p:cNvPr id="40" name="Text 38"/>
          <p:cNvSpPr/>
          <p:nvPr/>
        </p:nvSpPr>
        <p:spPr>
          <a:xfrm>
            <a:off x="2986980" y="5619156"/>
            <a:ext cx="9002117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8000"/>
              </a:lnSpc>
            </a:pPr>
            <a:r>
              <a:rPr lang="en-US" sz="1133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Brazilian Real (currency) / Information Technology</a:t>
            </a:r>
            <a:endParaRPr lang="en-US" sz="1133" dirty="0"/>
          </a:p>
        </p:txBody>
      </p:sp>
      <p:sp>
        <p:nvSpPr>
          <p:cNvPr id="41" name="Shape 39"/>
          <p:cNvSpPr/>
          <p:nvPr/>
        </p:nvSpPr>
        <p:spPr>
          <a:xfrm>
            <a:off x="667842" y="5896372"/>
            <a:ext cx="10856317" cy="35004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2" name="Text 40"/>
          <p:cNvSpPr/>
          <p:nvPr/>
        </p:nvSpPr>
        <p:spPr>
          <a:xfrm>
            <a:off x="812601" y="5969198"/>
            <a:ext cx="2488307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8000"/>
              </a:lnSpc>
            </a:pPr>
            <a:r>
              <a:rPr lang="en-US" sz="1133" b="1" kern="0" spc="-2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PwC / Deloitte</a:t>
            </a:r>
            <a:endParaRPr lang="en-US" sz="1133" dirty="0"/>
          </a:p>
        </p:txBody>
      </p:sp>
      <p:sp>
        <p:nvSpPr>
          <p:cNvPr id="43" name="Text 41"/>
          <p:cNvSpPr/>
          <p:nvPr/>
        </p:nvSpPr>
        <p:spPr>
          <a:xfrm>
            <a:off x="2986980" y="5969198"/>
            <a:ext cx="9002117" cy="204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8000"/>
              </a:lnSpc>
            </a:pPr>
            <a:r>
              <a:rPr lang="en-US" sz="1133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PricewaterhouseCoopers / Deloitte — global consultancies referenced in the benchmark</a:t>
            </a:r>
            <a:endParaRPr lang="en-US" sz="1133" dirty="0"/>
          </a:p>
        </p:txBody>
      </p:sp>
      <p:sp>
        <p:nvSpPr>
          <p:cNvPr id="44" name="Text 42"/>
          <p:cNvSpPr/>
          <p:nvPr/>
        </p:nvSpPr>
        <p:spPr>
          <a:xfrm>
            <a:off x="11213605" y="6559452"/>
            <a:ext cx="846137" cy="158751"/>
          </a:xfrm>
          <a:prstGeom prst="rect">
            <a:avLst/>
          </a:prstGeom>
          <a:noFill/>
          <a:ln/>
        </p:spPr>
        <p:txBody>
          <a:bodyPr wrap="none" lIns="0" tIns="59543" rIns="99237" bIns="0" rtlCol="0" anchor="t"/>
          <a:lstStyle/>
          <a:p>
            <a:pPr algn="r"/>
            <a:r>
              <a:rPr lang="en-US" sz="100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2">
            <a:extLst>
              <a:ext uri="{FF2B5EF4-FFF2-40B4-BE49-F238E27FC236}">
                <a16:creationId xmlns:a16="http://schemas.microsoft.com/office/drawing/2014/main" id="{68357476-75CB-EC73-E8AC-A8CF66A232D1}"/>
              </a:ext>
            </a:extLst>
          </p:cNvPr>
          <p:cNvSpPr/>
          <p:nvPr/>
        </p:nvSpPr>
        <p:spPr>
          <a:xfrm>
            <a:off x="214685" y="914400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 &amp; </a:t>
            </a:r>
            <a:r>
              <a:rPr lang="en-US" sz="28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2800" dirty="0"/>
          </a:p>
        </p:txBody>
      </p:sp>
      <p:sp>
        <p:nvSpPr>
          <p:cNvPr id="34" name="Shape 4">
            <a:extLst>
              <a:ext uri="{FF2B5EF4-FFF2-40B4-BE49-F238E27FC236}">
                <a16:creationId xmlns:a16="http://schemas.microsoft.com/office/drawing/2014/main" id="{2DF18CB2-83CC-CAFC-982D-09C5B9AB971A}"/>
              </a:ext>
            </a:extLst>
          </p:cNvPr>
          <p:cNvSpPr/>
          <p:nvPr/>
        </p:nvSpPr>
        <p:spPr>
          <a:xfrm>
            <a:off x="228600" y="1472184"/>
            <a:ext cx="5120640" cy="365760"/>
          </a:xfrm>
          <a:prstGeom prst="roundRect">
            <a:avLst>
              <a:gd name="adj" fmla="val 50000"/>
            </a:avLst>
          </a:prstGeom>
          <a:solidFill>
            <a:srgbClr val="27509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5">
            <a:extLst>
              <a:ext uri="{FF2B5EF4-FFF2-40B4-BE49-F238E27FC236}">
                <a16:creationId xmlns:a16="http://schemas.microsoft.com/office/drawing/2014/main" id="{DB99382B-71CB-4354-511F-3674854EC097}"/>
              </a:ext>
            </a:extLst>
          </p:cNvPr>
          <p:cNvSpPr/>
          <p:nvPr/>
        </p:nvSpPr>
        <p:spPr>
          <a:xfrm>
            <a:off x="0" y="14630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EDITION'S FOCUS · 3 FAMILIES: 1 · 2 · 3</a:t>
            </a:r>
            <a:endParaRPr lang="en-US" sz="1150" dirty="0"/>
          </a:p>
        </p:txBody>
      </p:sp>
      <p:sp>
        <p:nvSpPr>
          <p:cNvPr id="38" name="Text 6">
            <a:extLst>
              <a:ext uri="{FF2B5EF4-FFF2-40B4-BE49-F238E27FC236}">
                <a16:creationId xmlns:a16="http://schemas.microsoft.com/office/drawing/2014/main" id="{617B81E5-2C90-9525-FE3A-07ED22A48AD2}"/>
              </a:ext>
            </a:extLst>
          </p:cNvPr>
          <p:cNvSpPr/>
          <p:nvPr/>
        </p:nvSpPr>
        <p:spPr>
          <a:xfrm>
            <a:off x="384048" y="21214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75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DATA SOURCES</a:t>
            </a:r>
            <a:endParaRPr lang="en-US" sz="1200" dirty="0"/>
          </a:p>
        </p:txBody>
      </p:sp>
      <p:sp>
        <p:nvSpPr>
          <p:cNvPr id="40" name="Shape 7">
            <a:extLst>
              <a:ext uri="{FF2B5EF4-FFF2-40B4-BE49-F238E27FC236}">
                <a16:creationId xmlns:a16="http://schemas.microsoft.com/office/drawing/2014/main" id="{C52BDC76-DB25-EB0F-A1C5-E4CA77649041}"/>
              </a:ext>
            </a:extLst>
          </p:cNvPr>
          <p:cNvSpPr/>
          <p:nvPr/>
        </p:nvSpPr>
        <p:spPr>
          <a:xfrm>
            <a:off x="384048" y="2450592"/>
            <a:ext cx="5532120" cy="1024128"/>
          </a:xfrm>
          <a:prstGeom prst="roundRect">
            <a:avLst>
              <a:gd name="adj" fmla="val 8036"/>
            </a:avLst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8">
            <a:extLst>
              <a:ext uri="{FF2B5EF4-FFF2-40B4-BE49-F238E27FC236}">
                <a16:creationId xmlns:a16="http://schemas.microsoft.com/office/drawing/2014/main" id="{DD354B2A-BA60-4E30-A271-F8ABEB2E7833}"/>
              </a:ext>
            </a:extLst>
          </p:cNvPr>
          <p:cNvSpPr/>
          <p:nvPr/>
        </p:nvSpPr>
        <p:spPr>
          <a:xfrm>
            <a:off x="530352" y="259689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A4A8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4" name="Image 2" descr="preencoded.png">
            <a:extLst>
              <a:ext uri="{FF2B5EF4-FFF2-40B4-BE49-F238E27FC236}">
                <a16:creationId xmlns:a16="http://schemas.microsoft.com/office/drawing/2014/main" id="{14C6FC97-AD53-1802-3871-CA35C30E0F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2688336"/>
            <a:ext cx="274320" cy="274320"/>
          </a:xfrm>
          <a:prstGeom prst="rect">
            <a:avLst/>
          </a:prstGeom>
        </p:spPr>
      </p:pic>
      <p:sp>
        <p:nvSpPr>
          <p:cNvPr id="46" name="Text 9">
            <a:extLst>
              <a:ext uri="{FF2B5EF4-FFF2-40B4-BE49-F238E27FC236}">
                <a16:creationId xmlns:a16="http://schemas.microsoft.com/office/drawing/2014/main" id="{87AD04D8-5B10-296E-8C06-C3F2A54D72E1}"/>
              </a:ext>
            </a:extLst>
          </p:cNvPr>
          <p:cNvSpPr/>
          <p:nvPr/>
        </p:nvSpPr>
        <p:spPr>
          <a:xfrm>
            <a:off x="1133856" y="2542032"/>
            <a:ext cx="46177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analytics — Total Spend</a:t>
            </a:r>
            <a:endParaRPr lang="en-US" sz="1250" dirty="0"/>
          </a:p>
          <a:p>
            <a:pPr marL="0" indent="0">
              <a:buNone/>
            </a:pPr>
            <a:r>
              <a:rPr lang="en-US" sz="950" dirty="0">
                <a:solidFill>
                  <a:srgbClr val="C7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114,114 Purchase Order lines extracted from corporate ERP — complete spend base (internal, Sep/2026 extraction).</a:t>
            </a:r>
            <a:endParaRPr lang="en-US" sz="1250" dirty="0"/>
          </a:p>
        </p:txBody>
      </p:sp>
      <p:sp>
        <p:nvSpPr>
          <p:cNvPr id="48" name="Shape 10">
            <a:extLst>
              <a:ext uri="{FF2B5EF4-FFF2-40B4-BE49-F238E27FC236}">
                <a16:creationId xmlns:a16="http://schemas.microsoft.com/office/drawing/2014/main" id="{24480914-88E4-1F89-A432-144B5E76C0C4}"/>
              </a:ext>
            </a:extLst>
          </p:cNvPr>
          <p:cNvSpPr/>
          <p:nvPr/>
        </p:nvSpPr>
        <p:spPr>
          <a:xfrm>
            <a:off x="384048" y="3584448"/>
            <a:ext cx="5532120" cy="1024128"/>
          </a:xfrm>
          <a:prstGeom prst="roundRect">
            <a:avLst>
              <a:gd name="adj" fmla="val 8036"/>
            </a:avLst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11">
            <a:extLst>
              <a:ext uri="{FF2B5EF4-FFF2-40B4-BE49-F238E27FC236}">
                <a16:creationId xmlns:a16="http://schemas.microsoft.com/office/drawing/2014/main" id="{87829A56-599C-8319-0EBD-87443F3D0F88}"/>
              </a:ext>
            </a:extLst>
          </p:cNvPr>
          <p:cNvSpPr/>
          <p:nvPr/>
        </p:nvSpPr>
        <p:spPr>
          <a:xfrm>
            <a:off x="530352" y="373075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A4A8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2" name="Image 3" descr="preencoded.png">
            <a:extLst>
              <a:ext uri="{FF2B5EF4-FFF2-40B4-BE49-F238E27FC236}">
                <a16:creationId xmlns:a16="http://schemas.microsoft.com/office/drawing/2014/main" id="{C056630B-5691-4FF6-F5BB-2607779CF4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3822192"/>
            <a:ext cx="274320" cy="274320"/>
          </a:xfrm>
          <a:prstGeom prst="rect">
            <a:avLst/>
          </a:prstGeom>
        </p:spPr>
      </p:pic>
      <p:sp>
        <p:nvSpPr>
          <p:cNvPr id="54" name="Text 12">
            <a:extLst>
              <a:ext uri="{FF2B5EF4-FFF2-40B4-BE49-F238E27FC236}">
                <a16:creationId xmlns:a16="http://schemas.microsoft.com/office/drawing/2014/main" id="{5FDAD8FC-2E7E-B449-A8D1-75A389B1B485}"/>
              </a:ext>
            </a:extLst>
          </p:cNvPr>
          <p:cNvSpPr/>
          <p:nvPr/>
        </p:nvSpPr>
        <p:spPr>
          <a:xfrm>
            <a:off x="1133856" y="3675888"/>
            <a:ext cx="46177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analytics — Maintenance</a:t>
            </a:r>
            <a:endParaRPr lang="en-US" sz="1250" dirty="0"/>
          </a:p>
          <a:p>
            <a:pPr marL="0" indent="0">
              <a:buNone/>
            </a:pPr>
            <a:r>
              <a:rPr lang="en-US" sz="950" dirty="0">
                <a:solidFill>
                  <a:srgbClr val="C7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8,326 PO lines from maintenance families (7.3% of total spend) — base for the individual family Paretos.</a:t>
            </a:r>
            <a:endParaRPr lang="en-US" sz="1250" dirty="0"/>
          </a:p>
        </p:txBody>
      </p:sp>
      <p:sp>
        <p:nvSpPr>
          <p:cNvPr id="56" name="Shape 13">
            <a:extLst>
              <a:ext uri="{FF2B5EF4-FFF2-40B4-BE49-F238E27FC236}">
                <a16:creationId xmlns:a16="http://schemas.microsoft.com/office/drawing/2014/main" id="{3EC682CA-6810-0570-D832-078A9FE5BAF2}"/>
              </a:ext>
            </a:extLst>
          </p:cNvPr>
          <p:cNvSpPr/>
          <p:nvPr/>
        </p:nvSpPr>
        <p:spPr>
          <a:xfrm>
            <a:off x="384048" y="4718304"/>
            <a:ext cx="5532120" cy="1024128"/>
          </a:xfrm>
          <a:prstGeom prst="roundRect">
            <a:avLst>
              <a:gd name="adj" fmla="val 8036"/>
            </a:avLst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14">
            <a:extLst>
              <a:ext uri="{FF2B5EF4-FFF2-40B4-BE49-F238E27FC236}">
                <a16:creationId xmlns:a16="http://schemas.microsoft.com/office/drawing/2014/main" id="{45892BFB-B9F2-FD2A-F8C8-D81AFAE547F4}"/>
              </a:ext>
            </a:extLst>
          </p:cNvPr>
          <p:cNvSpPr/>
          <p:nvPr/>
        </p:nvSpPr>
        <p:spPr>
          <a:xfrm>
            <a:off x="530352" y="486460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A4A8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0" name="Image 4" descr="preencoded.png">
            <a:extLst>
              <a:ext uri="{FF2B5EF4-FFF2-40B4-BE49-F238E27FC236}">
                <a16:creationId xmlns:a16="http://schemas.microsoft.com/office/drawing/2014/main" id="{5084C5E4-D02A-E57F-E03F-4DB0FAC890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4956048"/>
            <a:ext cx="274320" cy="274320"/>
          </a:xfrm>
          <a:prstGeom prst="rect">
            <a:avLst/>
          </a:prstGeom>
        </p:spPr>
      </p:pic>
      <p:sp>
        <p:nvSpPr>
          <p:cNvPr id="62" name="Text 15">
            <a:extLst>
              <a:ext uri="{FF2B5EF4-FFF2-40B4-BE49-F238E27FC236}">
                <a16:creationId xmlns:a16="http://schemas.microsoft.com/office/drawing/2014/main" id="{3F7031FA-8C0D-8FB9-C5C3-A10A3F41C7CE}"/>
              </a:ext>
            </a:extLst>
          </p:cNvPr>
          <p:cNvSpPr/>
          <p:nvPr/>
        </p:nvSpPr>
        <p:spPr>
          <a:xfrm>
            <a:off x="1133856" y="4809744"/>
            <a:ext cx="46177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 2025 Ranking (OE-602)</a:t>
            </a:r>
            <a:endParaRPr lang="en-US" sz="1250" dirty="0"/>
          </a:p>
          <a:p>
            <a:pPr marL="0" indent="0">
              <a:buNone/>
            </a:pPr>
            <a:r>
              <a:rPr lang="en-US" sz="950" dirty="0">
                <a:solidFill>
                  <a:srgbClr val="C7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ranking by O Empreiteiro magazine — 500 largest engineering companies. Accuracy confirmed via revistaoe.com.br, CBSI, Alfa Engenharia and Engenharia Odebrecht (Oct/2025).</a:t>
            </a:r>
            <a:endParaRPr lang="en-US" sz="1250" dirty="0"/>
          </a:p>
        </p:txBody>
      </p:sp>
      <p:sp>
        <p:nvSpPr>
          <p:cNvPr id="64" name="Text 16">
            <a:extLst>
              <a:ext uri="{FF2B5EF4-FFF2-40B4-BE49-F238E27FC236}">
                <a16:creationId xmlns:a16="http://schemas.microsoft.com/office/drawing/2014/main" id="{EF26E4E4-6123-CC1D-73CB-1F8CDF5D19F2}"/>
              </a:ext>
            </a:extLst>
          </p:cNvPr>
          <p:cNvSpPr/>
          <p:nvPr/>
        </p:nvSpPr>
        <p:spPr>
          <a:xfrm>
            <a:off x="6035040" y="21214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75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SOURCES &amp; BENCHMARK</a:t>
            </a:r>
            <a:endParaRPr lang="en-US" sz="1200" dirty="0"/>
          </a:p>
        </p:txBody>
      </p:sp>
      <p:sp>
        <p:nvSpPr>
          <p:cNvPr id="66" name="Shape 17">
            <a:extLst>
              <a:ext uri="{FF2B5EF4-FFF2-40B4-BE49-F238E27FC236}">
                <a16:creationId xmlns:a16="http://schemas.microsoft.com/office/drawing/2014/main" id="{384F992B-64DF-0B08-9065-D0A71818082F}"/>
              </a:ext>
            </a:extLst>
          </p:cNvPr>
          <p:cNvSpPr/>
          <p:nvPr/>
        </p:nvSpPr>
        <p:spPr>
          <a:xfrm>
            <a:off x="6035040" y="2450592"/>
            <a:ext cx="5532120" cy="1024128"/>
          </a:xfrm>
          <a:prstGeom prst="roundRect">
            <a:avLst>
              <a:gd name="adj" fmla="val 8036"/>
            </a:avLst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Shape 18">
            <a:extLst>
              <a:ext uri="{FF2B5EF4-FFF2-40B4-BE49-F238E27FC236}">
                <a16:creationId xmlns:a16="http://schemas.microsoft.com/office/drawing/2014/main" id="{8833F8F6-52D5-436E-55FC-1072D0020633}"/>
              </a:ext>
            </a:extLst>
          </p:cNvPr>
          <p:cNvSpPr/>
          <p:nvPr/>
        </p:nvSpPr>
        <p:spPr>
          <a:xfrm>
            <a:off x="6181344" y="259689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A4A8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0" name="Image 5" descr="preencoded.png">
            <a:extLst>
              <a:ext uri="{FF2B5EF4-FFF2-40B4-BE49-F238E27FC236}">
                <a16:creationId xmlns:a16="http://schemas.microsoft.com/office/drawing/2014/main" id="{570A655E-9F5E-D7C2-1508-529962B333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2784" y="2688336"/>
            <a:ext cx="274320" cy="274320"/>
          </a:xfrm>
          <a:prstGeom prst="rect">
            <a:avLst/>
          </a:prstGeom>
        </p:spPr>
      </p:pic>
      <p:sp>
        <p:nvSpPr>
          <p:cNvPr id="72" name="Text 19">
            <a:extLst>
              <a:ext uri="{FF2B5EF4-FFF2-40B4-BE49-F238E27FC236}">
                <a16:creationId xmlns:a16="http://schemas.microsoft.com/office/drawing/2014/main" id="{6634A31C-CAFF-D199-22BA-6E0D9818C908}"/>
              </a:ext>
            </a:extLst>
          </p:cNvPr>
          <p:cNvSpPr/>
          <p:nvPr/>
        </p:nvSpPr>
        <p:spPr>
          <a:xfrm>
            <a:off x="6784848" y="2542032"/>
            <a:ext cx="46177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Market</a:t>
            </a:r>
            <a:endParaRPr lang="en-US" sz="1250" dirty="0"/>
          </a:p>
          <a:p>
            <a:pPr marL="0" indent="0">
              <a:buNone/>
            </a:pPr>
            <a:r>
              <a:rPr lang="en-US" sz="950" dirty="0">
                <a:solidFill>
                  <a:srgbClr val="C7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Mordor Intelligence, Fortune Business Insights, Deloitte, PwC and Infraspeak — MRO and PdM market data (CAGR ~21–30% through 2030–2034).</a:t>
            </a:r>
            <a:endParaRPr lang="en-US" sz="1250" dirty="0"/>
          </a:p>
        </p:txBody>
      </p:sp>
      <p:sp>
        <p:nvSpPr>
          <p:cNvPr id="74" name="Shape 20">
            <a:extLst>
              <a:ext uri="{FF2B5EF4-FFF2-40B4-BE49-F238E27FC236}">
                <a16:creationId xmlns:a16="http://schemas.microsoft.com/office/drawing/2014/main" id="{13299A15-737D-E75A-8C8A-04DD84D92496}"/>
              </a:ext>
            </a:extLst>
          </p:cNvPr>
          <p:cNvSpPr/>
          <p:nvPr/>
        </p:nvSpPr>
        <p:spPr>
          <a:xfrm>
            <a:off x="6035040" y="3584448"/>
            <a:ext cx="5532120" cy="1481328"/>
          </a:xfrm>
          <a:prstGeom prst="roundRect">
            <a:avLst>
              <a:gd name="adj" fmla="val 5556"/>
            </a:avLst>
          </a:prstGeom>
          <a:solidFill>
            <a:srgbClr val="E8EBF8"/>
          </a:solidFill>
          <a:ln w="15875">
            <a:solidFill>
              <a:srgbClr val="2750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21">
            <a:extLst>
              <a:ext uri="{FF2B5EF4-FFF2-40B4-BE49-F238E27FC236}">
                <a16:creationId xmlns:a16="http://schemas.microsoft.com/office/drawing/2014/main" id="{4A22731C-0368-9560-ED67-1C70C030BAE6}"/>
              </a:ext>
            </a:extLst>
          </p:cNvPr>
          <p:cNvSpPr/>
          <p:nvPr/>
        </p:nvSpPr>
        <p:spPr>
          <a:xfrm>
            <a:off x="6236208" y="37124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75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78" name="Text 22">
            <a:extLst>
              <a:ext uri="{FF2B5EF4-FFF2-40B4-BE49-F238E27FC236}">
                <a16:creationId xmlns:a16="http://schemas.microsoft.com/office/drawing/2014/main" id="{A602C68F-6391-0005-ABDF-765ADF1E79C0}"/>
              </a:ext>
            </a:extLst>
          </p:cNvPr>
          <p:cNvSpPr/>
          <p:nvPr/>
        </p:nvSpPr>
        <p:spPr>
          <a:xfrm>
            <a:off x="6236208" y="3968496"/>
            <a:ext cx="516636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Pareto analysis for each of the 3 analyzed families (Family 1, Family 2, Family 3).</a:t>
            </a:r>
            <a:endParaRPr lang="en-US" sz="100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 classification by supplier (Class A = 80% of cumulative spend).</a:t>
            </a:r>
            <a:endParaRPr lang="en-US" sz="1000" dirty="0"/>
          </a:p>
          <a:p>
            <a:pPr marL="101600" indent="-1016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comparison: Jan–Dec 2025 × Jan–Sep 2026.</a:t>
            </a:r>
            <a:endParaRPr lang="en-US" sz="1000" dirty="0"/>
          </a:p>
        </p:txBody>
      </p:sp>
      <p:sp>
        <p:nvSpPr>
          <p:cNvPr id="80" name="Shape 23">
            <a:extLst>
              <a:ext uri="{FF2B5EF4-FFF2-40B4-BE49-F238E27FC236}">
                <a16:creationId xmlns:a16="http://schemas.microsoft.com/office/drawing/2014/main" id="{240731B2-8586-5795-4570-3C96B528A4BB}"/>
              </a:ext>
            </a:extLst>
          </p:cNvPr>
          <p:cNvSpPr/>
          <p:nvPr/>
        </p:nvSpPr>
        <p:spPr>
          <a:xfrm>
            <a:off x="6035040" y="5212080"/>
            <a:ext cx="5532120" cy="658368"/>
          </a:xfrm>
          <a:prstGeom prst="roundRect">
            <a:avLst>
              <a:gd name="adj" fmla="val 12500"/>
            </a:avLst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Text 24">
            <a:extLst>
              <a:ext uri="{FF2B5EF4-FFF2-40B4-BE49-F238E27FC236}">
                <a16:creationId xmlns:a16="http://schemas.microsoft.com/office/drawing/2014/main" id="{D62BBDCF-3FCC-5F8F-8340-992A4CC228BC}"/>
              </a:ext>
            </a:extLst>
          </p:cNvPr>
          <p:cNvSpPr/>
          <p:nvPr/>
        </p:nvSpPr>
        <p:spPr>
          <a:xfrm>
            <a:off x="6236208" y="5285232"/>
            <a:ext cx="5166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BASE — </a:t>
            </a:r>
            <a:r>
              <a:rPr lang="en-US" sz="950" dirty="0">
                <a:solidFill>
                  <a:srgbClr val="C7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Standard PO Analysis (internal analytics, internal base), late-Sep/2026 extraction. Periods: Jan–Dec 2025 and Jan–Sep 2026.</a:t>
            </a:r>
            <a:endParaRPr lang="en-US" sz="950" dirty="0"/>
          </a:p>
        </p:txBody>
      </p:sp>
      <p:sp>
        <p:nvSpPr>
          <p:cNvPr id="84" name="Shape 25">
            <a:extLst>
              <a:ext uri="{FF2B5EF4-FFF2-40B4-BE49-F238E27FC236}">
                <a16:creationId xmlns:a16="http://schemas.microsoft.com/office/drawing/2014/main" id="{2D10411F-2105-C3DC-4721-545C20CB78CA}"/>
              </a:ext>
            </a:extLst>
          </p:cNvPr>
          <p:cNvSpPr/>
          <p:nvPr/>
        </p:nvSpPr>
        <p:spPr>
          <a:xfrm>
            <a:off x="384048" y="5344469"/>
            <a:ext cx="5532120" cy="658368"/>
          </a:xfrm>
          <a:prstGeom prst="roundRect">
            <a:avLst>
              <a:gd name="adj" fmla="val 12500"/>
            </a:avLst>
          </a:prstGeom>
          <a:solidFill>
            <a:srgbClr val="EEF0FA"/>
          </a:solidFill>
          <a:ln w="12700">
            <a:solidFill>
              <a:srgbClr val="D8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26">
            <a:extLst>
              <a:ext uri="{FF2B5EF4-FFF2-40B4-BE49-F238E27FC236}">
                <a16:creationId xmlns:a16="http://schemas.microsoft.com/office/drawing/2014/main" id="{BDC04644-BF21-7646-79AB-A392D6163178}"/>
              </a:ext>
            </a:extLst>
          </p:cNvPr>
          <p:cNvSpPr/>
          <p:nvPr/>
        </p:nvSpPr>
        <p:spPr>
          <a:xfrm>
            <a:off x="585216" y="5285232"/>
            <a:ext cx="5166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— </a:t>
            </a: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4 and Family 5 monitored in the overview; detailed Pareto in this edition for Family 1, Family 2 and Family 3 only.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2">
            <a:extLst>
              <a:ext uri="{FF2B5EF4-FFF2-40B4-BE49-F238E27FC236}">
                <a16:creationId xmlns:a16="http://schemas.microsoft.com/office/drawing/2014/main" id="{6F20E753-D399-F069-EB5F-21C62130D2AD}"/>
              </a:ext>
            </a:extLst>
          </p:cNvPr>
          <p:cNvSpPr/>
          <p:nvPr/>
        </p:nvSpPr>
        <p:spPr>
          <a:xfrm>
            <a:off x="225552" y="996696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</a:t>
            </a:r>
            <a:r>
              <a:rPr lang="en-US" sz="28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2800" dirty="0"/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7ADF1797-87A9-1A39-745E-B7223F6CADBB}"/>
              </a:ext>
            </a:extLst>
          </p:cNvPr>
          <p:cNvSpPr/>
          <p:nvPr/>
        </p:nvSpPr>
        <p:spPr>
          <a:xfrm>
            <a:off x="210312" y="16093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275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CONTEXT</a:t>
            </a:r>
            <a:endParaRPr lang="en-US" sz="1150" dirty="0"/>
          </a:p>
        </p:txBody>
      </p:sp>
      <p:sp>
        <p:nvSpPr>
          <p:cNvPr id="17" name="Shape 5">
            <a:extLst>
              <a:ext uri="{FF2B5EF4-FFF2-40B4-BE49-F238E27FC236}">
                <a16:creationId xmlns:a16="http://schemas.microsoft.com/office/drawing/2014/main" id="{BD6C5974-C62F-CBDE-6170-291565A94F20}"/>
              </a:ext>
            </a:extLst>
          </p:cNvPr>
          <p:cNvSpPr/>
          <p:nvPr/>
        </p:nvSpPr>
        <p:spPr>
          <a:xfrm>
            <a:off x="210312" y="1920240"/>
            <a:ext cx="3657600" cy="1280160"/>
          </a:xfrm>
          <a:prstGeom prst="roundRect">
            <a:avLst>
              <a:gd name="adj" fmla="val 6429"/>
            </a:avLst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6">
            <a:extLst>
              <a:ext uri="{FF2B5EF4-FFF2-40B4-BE49-F238E27FC236}">
                <a16:creationId xmlns:a16="http://schemas.microsoft.com/office/drawing/2014/main" id="{3C043F68-A521-65E3-67CE-C5AA3FDCA97D}"/>
              </a:ext>
            </a:extLst>
          </p:cNvPr>
          <p:cNvSpPr/>
          <p:nvPr/>
        </p:nvSpPr>
        <p:spPr>
          <a:xfrm>
            <a:off x="356616" y="2048256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2A4A8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2" descr="preencoded.png">
            <a:extLst>
              <a:ext uri="{FF2B5EF4-FFF2-40B4-BE49-F238E27FC236}">
                <a16:creationId xmlns:a16="http://schemas.microsoft.com/office/drawing/2014/main" id="{97D292AF-9F04-AF6A-5801-2BCDEEC100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2130552"/>
            <a:ext cx="256032" cy="256032"/>
          </a:xfrm>
          <a:prstGeom prst="rect">
            <a:avLst/>
          </a:prstGeom>
        </p:spPr>
      </p:pic>
      <p:sp>
        <p:nvSpPr>
          <p:cNvPr id="29" name="Text 7">
            <a:extLst>
              <a:ext uri="{FF2B5EF4-FFF2-40B4-BE49-F238E27FC236}">
                <a16:creationId xmlns:a16="http://schemas.microsoft.com/office/drawing/2014/main" id="{E1A890DB-384E-31CA-7B89-7D5301C9AF87}"/>
              </a:ext>
            </a:extLst>
          </p:cNvPr>
          <p:cNvSpPr/>
          <p:nvPr/>
        </p:nvSpPr>
        <p:spPr>
          <a:xfrm>
            <a:off x="896112" y="2011680"/>
            <a:ext cx="283464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Unique, customized purchases</a:t>
            </a:r>
            <a:endParaRPr lang="en-US" sz="1150" dirty="0"/>
          </a:p>
          <a:p>
            <a:pPr marL="0" indent="0">
              <a:buNone/>
            </a:pPr>
            <a:r>
              <a:rPr lang="en-US" sz="900" dirty="0">
                <a:solidFill>
                  <a:srgbClr val="C7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plant and equipment varies in age, criticality and regional challenges — processes can be longer, with less scale leverage.</a:t>
            </a:r>
            <a:endParaRPr lang="en-US" sz="1150" dirty="0"/>
          </a:p>
        </p:txBody>
      </p:sp>
      <p:sp>
        <p:nvSpPr>
          <p:cNvPr id="31" name="Shape 8">
            <a:extLst>
              <a:ext uri="{FF2B5EF4-FFF2-40B4-BE49-F238E27FC236}">
                <a16:creationId xmlns:a16="http://schemas.microsoft.com/office/drawing/2014/main" id="{86D9A018-70BA-3980-0446-98A977C25E87}"/>
              </a:ext>
            </a:extLst>
          </p:cNvPr>
          <p:cNvSpPr/>
          <p:nvPr/>
        </p:nvSpPr>
        <p:spPr>
          <a:xfrm>
            <a:off x="210312" y="3310128"/>
            <a:ext cx="3657600" cy="1280160"/>
          </a:xfrm>
          <a:prstGeom prst="roundRect">
            <a:avLst>
              <a:gd name="adj" fmla="val 6429"/>
            </a:avLst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9">
            <a:extLst>
              <a:ext uri="{FF2B5EF4-FFF2-40B4-BE49-F238E27FC236}">
                <a16:creationId xmlns:a16="http://schemas.microsoft.com/office/drawing/2014/main" id="{33F4079E-19A6-2D0C-E9BE-C2107AD1BFBB}"/>
              </a:ext>
            </a:extLst>
          </p:cNvPr>
          <p:cNvSpPr/>
          <p:nvPr/>
        </p:nvSpPr>
        <p:spPr>
          <a:xfrm>
            <a:off x="356616" y="3438144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2A4A8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5" name="Image 3" descr="preencoded.png">
            <a:extLst>
              <a:ext uri="{FF2B5EF4-FFF2-40B4-BE49-F238E27FC236}">
                <a16:creationId xmlns:a16="http://schemas.microsoft.com/office/drawing/2014/main" id="{47CD1CAF-D29F-06CB-6ABE-2DAE89CA14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3520440"/>
            <a:ext cx="256032" cy="256032"/>
          </a:xfrm>
          <a:prstGeom prst="rect">
            <a:avLst/>
          </a:prstGeom>
        </p:spPr>
      </p:pic>
      <p:sp>
        <p:nvSpPr>
          <p:cNvPr id="37" name="Text 10">
            <a:extLst>
              <a:ext uri="{FF2B5EF4-FFF2-40B4-BE49-F238E27FC236}">
                <a16:creationId xmlns:a16="http://schemas.microsoft.com/office/drawing/2014/main" id="{2E29E80E-8640-01EF-E96A-EC760DE15BF1}"/>
              </a:ext>
            </a:extLst>
          </p:cNvPr>
          <p:cNvSpPr/>
          <p:nvPr/>
        </p:nvSpPr>
        <p:spPr>
          <a:xfrm>
            <a:off x="896112" y="3401568"/>
            <a:ext cx="283464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contracts</a:t>
            </a:r>
            <a:endParaRPr lang="en-US" sz="1150" dirty="0"/>
          </a:p>
          <a:p>
            <a:pPr marL="0" indent="0">
              <a:buNone/>
            </a:pPr>
            <a:r>
              <a:rPr lang="en-US" sz="900" dirty="0">
                <a:solidFill>
                  <a:srgbClr val="C7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purchasing principles and ethics throughout the contract term — downtime directly impacts production.</a:t>
            </a:r>
            <a:endParaRPr lang="en-US" sz="1150" dirty="0"/>
          </a:p>
        </p:txBody>
      </p:sp>
      <p:sp>
        <p:nvSpPr>
          <p:cNvPr id="39" name="Shape 11">
            <a:extLst>
              <a:ext uri="{FF2B5EF4-FFF2-40B4-BE49-F238E27FC236}">
                <a16:creationId xmlns:a16="http://schemas.microsoft.com/office/drawing/2014/main" id="{D247E96A-30D4-446E-DA93-9A3CFC9B5EC2}"/>
              </a:ext>
            </a:extLst>
          </p:cNvPr>
          <p:cNvSpPr/>
          <p:nvPr/>
        </p:nvSpPr>
        <p:spPr>
          <a:xfrm>
            <a:off x="210312" y="4700016"/>
            <a:ext cx="3657600" cy="1280160"/>
          </a:xfrm>
          <a:prstGeom prst="roundRect">
            <a:avLst>
              <a:gd name="adj" fmla="val 6429"/>
            </a:avLst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12">
            <a:extLst>
              <a:ext uri="{FF2B5EF4-FFF2-40B4-BE49-F238E27FC236}">
                <a16:creationId xmlns:a16="http://schemas.microsoft.com/office/drawing/2014/main" id="{0CB831BD-0BA1-3E75-26E1-24F1F0094129}"/>
              </a:ext>
            </a:extLst>
          </p:cNvPr>
          <p:cNvSpPr/>
          <p:nvPr/>
        </p:nvSpPr>
        <p:spPr>
          <a:xfrm>
            <a:off x="356616" y="4828032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2A4A8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3" name="Image 4" descr="preencoded.png">
            <a:extLst>
              <a:ext uri="{FF2B5EF4-FFF2-40B4-BE49-F238E27FC236}">
                <a16:creationId xmlns:a16="http://schemas.microsoft.com/office/drawing/2014/main" id="{F3137172-AE15-6989-5DB0-6C535A1858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" y="4910328"/>
            <a:ext cx="256032" cy="256032"/>
          </a:xfrm>
          <a:prstGeom prst="rect">
            <a:avLst/>
          </a:prstGeom>
        </p:spPr>
      </p:pic>
      <p:sp>
        <p:nvSpPr>
          <p:cNvPr id="45" name="Text 13">
            <a:extLst>
              <a:ext uri="{FF2B5EF4-FFF2-40B4-BE49-F238E27FC236}">
                <a16:creationId xmlns:a16="http://schemas.microsoft.com/office/drawing/2014/main" id="{77693C9C-637C-1590-0DC4-491ECD8C63C7}"/>
              </a:ext>
            </a:extLst>
          </p:cNvPr>
          <p:cNvSpPr/>
          <p:nvPr/>
        </p:nvSpPr>
        <p:spPr>
          <a:xfrm>
            <a:off x="896112" y="4791456"/>
            <a:ext cx="283464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category</a:t>
            </a:r>
            <a:endParaRPr lang="en-US" sz="1150" dirty="0"/>
          </a:p>
          <a:p>
            <a:pPr marL="0" indent="0">
              <a:buNone/>
            </a:pPr>
            <a:r>
              <a:rPr lang="en-US" sz="900" dirty="0">
                <a:solidFill>
                  <a:srgbClr val="C7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Safety, quality, unplanned stoppages, compliance and labor relations — supplier management essential in critical contracts.</a:t>
            </a:r>
            <a:endParaRPr lang="en-US" sz="1150" dirty="0"/>
          </a:p>
        </p:txBody>
      </p:sp>
      <p:sp>
        <p:nvSpPr>
          <p:cNvPr id="47" name="Text 14">
            <a:extLst>
              <a:ext uri="{FF2B5EF4-FFF2-40B4-BE49-F238E27FC236}">
                <a16:creationId xmlns:a16="http://schemas.microsoft.com/office/drawing/2014/main" id="{8AD3306D-0CB2-125C-16BA-1FBBE64487DD}"/>
              </a:ext>
            </a:extLst>
          </p:cNvPr>
          <p:cNvSpPr/>
          <p:nvPr/>
        </p:nvSpPr>
        <p:spPr>
          <a:xfrm>
            <a:off x="4023360" y="16093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275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TYPES</a:t>
            </a:r>
            <a:endParaRPr lang="en-US" sz="1150" dirty="0"/>
          </a:p>
        </p:txBody>
      </p:sp>
      <p:sp>
        <p:nvSpPr>
          <p:cNvPr id="49" name="Shape 15">
            <a:extLst>
              <a:ext uri="{FF2B5EF4-FFF2-40B4-BE49-F238E27FC236}">
                <a16:creationId xmlns:a16="http://schemas.microsoft.com/office/drawing/2014/main" id="{9EC988A7-13E0-8DF2-2ACA-46BE2C901283}"/>
              </a:ext>
            </a:extLst>
          </p:cNvPr>
          <p:cNvSpPr/>
          <p:nvPr/>
        </p:nvSpPr>
        <p:spPr>
          <a:xfrm>
            <a:off x="4023360" y="1920240"/>
            <a:ext cx="365760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2" name="Shape 16">
            <a:extLst>
              <a:ext uri="{FF2B5EF4-FFF2-40B4-BE49-F238E27FC236}">
                <a16:creationId xmlns:a16="http://schemas.microsoft.com/office/drawing/2014/main" id="{75E75096-4AE8-DE2F-6EAC-519C750EE18A}"/>
              </a:ext>
            </a:extLst>
          </p:cNvPr>
          <p:cNvSpPr/>
          <p:nvPr/>
        </p:nvSpPr>
        <p:spPr>
          <a:xfrm>
            <a:off x="4169664" y="2048256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FDECE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6" name="Image 5" descr="preencoded.png">
            <a:extLst>
              <a:ext uri="{FF2B5EF4-FFF2-40B4-BE49-F238E27FC236}">
                <a16:creationId xmlns:a16="http://schemas.microsoft.com/office/drawing/2014/main" id="{86529C1E-68D6-A229-3C74-183E685EAF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51960" y="2130552"/>
            <a:ext cx="256032" cy="256032"/>
          </a:xfrm>
          <a:prstGeom prst="rect">
            <a:avLst/>
          </a:prstGeom>
        </p:spPr>
      </p:pic>
      <p:sp>
        <p:nvSpPr>
          <p:cNvPr id="60" name="Text 17">
            <a:extLst>
              <a:ext uri="{FF2B5EF4-FFF2-40B4-BE49-F238E27FC236}">
                <a16:creationId xmlns:a16="http://schemas.microsoft.com/office/drawing/2014/main" id="{AC8FF9A6-F4EF-6B0F-14E5-D8F8DB91745F}"/>
              </a:ext>
            </a:extLst>
          </p:cNvPr>
          <p:cNvSpPr/>
          <p:nvPr/>
        </p:nvSpPr>
        <p:spPr>
          <a:xfrm>
            <a:off x="4709160" y="2011680"/>
            <a:ext cx="283464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Corrective</a:t>
            </a:r>
            <a:endParaRPr lang="en-US" sz="1250" dirty="0"/>
          </a:p>
          <a:p>
            <a:pPr marL="0" indent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 after failure — planned or emergency. Higher cost: downtime, overtime and risks. Suited for non-critical assets with redundancy.</a:t>
            </a:r>
            <a:endParaRPr lang="en-US" sz="1250" dirty="0"/>
          </a:p>
        </p:txBody>
      </p:sp>
      <p:sp>
        <p:nvSpPr>
          <p:cNvPr id="64" name="Shape 18">
            <a:extLst>
              <a:ext uri="{FF2B5EF4-FFF2-40B4-BE49-F238E27FC236}">
                <a16:creationId xmlns:a16="http://schemas.microsoft.com/office/drawing/2014/main" id="{E912625A-FD48-4818-F6C7-7EEEF1CD7B9D}"/>
              </a:ext>
            </a:extLst>
          </p:cNvPr>
          <p:cNvSpPr/>
          <p:nvPr/>
        </p:nvSpPr>
        <p:spPr>
          <a:xfrm>
            <a:off x="4023360" y="3310128"/>
            <a:ext cx="365760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8" name="Shape 19">
            <a:extLst>
              <a:ext uri="{FF2B5EF4-FFF2-40B4-BE49-F238E27FC236}">
                <a16:creationId xmlns:a16="http://schemas.microsoft.com/office/drawing/2014/main" id="{F07F5E81-F130-F286-A063-0014F9537B46}"/>
              </a:ext>
            </a:extLst>
          </p:cNvPr>
          <p:cNvSpPr/>
          <p:nvPr/>
        </p:nvSpPr>
        <p:spPr>
          <a:xfrm>
            <a:off x="4169664" y="3438144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FEF6E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2" name="Image 6" descr="preencoded.png">
            <a:extLst>
              <a:ext uri="{FF2B5EF4-FFF2-40B4-BE49-F238E27FC236}">
                <a16:creationId xmlns:a16="http://schemas.microsoft.com/office/drawing/2014/main" id="{AC4A88C2-0F3E-101A-16FF-F1738FD0F69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51960" y="3520440"/>
            <a:ext cx="256032" cy="256032"/>
          </a:xfrm>
          <a:prstGeom prst="rect">
            <a:avLst/>
          </a:prstGeom>
        </p:spPr>
      </p:pic>
      <p:sp>
        <p:nvSpPr>
          <p:cNvPr id="75" name="Text 20">
            <a:extLst>
              <a:ext uri="{FF2B5EF4-FFF2-40B4-BE49-F238E27FC236}">
                <a16:creationId xmlns:a16="http://schemas.microsoft.com/office/drawing/2014/main" id="{F0462555-38D8-82B1-7633-0191E7E953C7}"/>
              </a:ext>
            </a:extLst>
          </p:cNvPr>
          <p:cNvSpPr/>
          <p:nvPr/>
        </p:nvSpPr>
        <p:spPr>
          <a:xfrm>
            <a:off x="4709160" y="3401568"/>
            <a:ext cx="283464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Preventive</a:t>
            </a:r>
            <a:endParaRPr lang="en-US" sz="1250" dirty="0"/>
          </a:p>
          <a:p>
            <a:pPr marL="0" indent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intervention by time or usage, regardless of actual condition. Enables planning of stoppages, parts and labor — the starting point for most plants.</a:t>
            </a:r>
            <a:endParaRPr lang="en-US" sz="1250" dirty="0"/>
          </a:p>
        </p:txBody>
      </p:sp>
      <p:sp>
        <p:nvSpPr>
          <p:cNvPr id="77" name="Shape 21">
            <a:extLst>
              <a:ext uri="{FF2B5EF4-FFF2-40B4-BE49-F238E27FC236}">
                <a16:creationId xmlns:a16="http://schemas.microsoft.com/office/drawing/2014/main" id="{5069F12A-0224-011E-EAFE-C466FC90C719}"/>
              </a:ext>
            </a:extLst>
          </p:cNvPr>
          <p:cNvSpPr/>
          <p:nvPr/>
        </p:nvSpPr>
        <p:spPr>
          <a:xfrm>
            <a:off x="4023360" y="4700016"/>
            <a:ext cx="365760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9" name="Shape 22">
            <a:extLst>
              <a:ext uri="{FF2B5EF4-FFF2-40B4-BE49-F238E27FC236}">
                <a16:creationId xmlns:a16="http://schemas.microsoft.com/office/drawing/2014/main" id="{A8334A29-1B1F-4631-A3F9-A8C33FF74796}"/>
              </a:ext>
            </a:extLst>
          </p:cNvPr>
          <p:cNvSpPr/>
          <p:nvPr/>
        </p:nvSpPr>
        <p:spPr>
          <a:xfrm>
            <a:off x="4169664" y="4828032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E7F6E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1" name="Image 7" descr="preencoded.png">
            <a:extLst>
              <a:ext uri="{FF2B5EF4-FFF2-40B4-BE49-F238E27FC236}">
                <a16:creationId xmlns:a16="http://schemas.microsoft.com/office/drawing/2014/main" id="{7818582D-1FEC-70B4-BCC7-0BD5B6700B7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51960" y="4910328"/>
            <a:ext cx="256032" cy="256032"/>
          </a:xfrm>
          <a:prstGeom prst="rect">
            <a:avLst/>
          </a:prstGeom>
        </p:spPr>
      </p:pic>
      <p:sp>
        <p:nvSpPr>
          <p:cNvPr id="83" name="Text 23">
            <a:extLst>
              <a:ext uri="{FF2B5EF4-FFF2-40B4-BE49-F238E27FC236}">
                <a16:creationId xmlns:a16="http://schemas.microsoft.com/office/drawing/2014/main" id="{8B2FBFB0-645E-0FF7-BF23-DAAAF0292876}"/>
              </a:ext>
            </a:extLst>
          </p:cNvPr>
          <p:cNvSpPr/>
          <p:nvPr/>
        </p:nvSpPr>
        <p:spPr>
          <a:xfrm>
            <a:off x="4709160" y="4791456"/>
            <a:ext cx="283464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E9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</a:t>
            </a:r>
            <a:endParaRPr lang="en-US" sz="1250" dirty="0"/>
          </a:p>
          <a:p>
            <a:pPr marL="0" indent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monitoring with sensors, AI and IIoT (vibration, temperature, ultrasound). Intervention only when needed — optimizes cost, availability and asset life.</a:t>
            </a:r>
            <a:endParaRPr lang="en-US" sz="1250" dirty="0"/>
          </a:p>
        </p:txBody>
      </p:sp>
      <p:sp>
        <p:nvSpPr>
          <p:cNvPr id="85" name="Text 24">
            <a:extLst>
              <a:ext uri="{FF2B5EF4-FFF2-40B4-BE49-F238E27FC236}">
                <a16:creationId xmlns:a16="http://schemas.microsoft.com/office/drawing/2014/main" id="{429658C1-2626-01F9-5733-9FE87D52EC2B}"/>
              </a:ext>
            </a:extLst>
          </p:cNvPr>
          <p:cNvSpPr/>
          <p:nvPr/>
        </p:nvSpPr>
        <p:spPr>
          <a:xfrm>
            <a:off x="7836408" y="16093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275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SCENARIO</a:t>
            </a:r>
            <a:endParaRPr lang="en-US" sz="1150" dirty="0"/>
          </a:p>
        </p:txBody>
      </p:sp>
      <p:sp>
        <p:nvSpPr>
          <p:cNvPr id="87" name="Shape 25">
            <a:extLst>
              <a:ext uri="{FF2B5EF4-FFF2-40B4-BE49-F238E27FC236}">
                <a16:creationId xmlns:a16="http://schemas.microsoft.com/office/drawing/2014/main" id="{F49E5C51-005B-730F-962E-EDE15F83F63F}"/>
              </a:ext>
            </a:extLst>
          </p:cNvPr>
          <p:cNvSpPr/>
          <p:nvPr/>
        </p:nvSpPr>
        <p:spPr>
          <a:xfrm>
            <a:off x="7836408" y="1920240"/>
            <a:ext cx="3575304" cy="914400"/>
          </a:xfrm>
          <a:prstGeom prst="roundRect">
            <a:avLst>
              <a:gd name="adj" fmla="val 9000"/>
            </a:avLst>
          </a:prstGeom>
          <a:solidFill>
            <a:srgbClr val="EEF0FA"/>
          </a:solidFill>
          <a:ln w="12700">
            <a:solidFill>
              <a:srgbClr val="D8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 26">
            <a:extLst>
              <a:ext uri="{FF2B5EF4-FFF2-40B4-BE49-F238E27FC236}">
                <a16:creationId xmlns:a16="http://schemas.microsoft.com/office/drawing/2014/main" id="{C7A6A390-37E1-B5A8-529F-FCF5D2803E9A}"/>
              </a:ext>
            </a:extLst>
          </p:cNvPr>
          <p:cNvSpPr/>
          <p:nvPr/>
        </p:nvSpPr>
        <p:spPr>
          <a:xfrm>
            <a:off x="7982712" y="1993392"/>
            <a:ext cx="3291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1E9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US$ 13.65B</a:t>
            </a:r>
            <a:endParaRPr lang="en-US" sz="2100" dirty="0"/>
          </a:p>
          <a:p>
            <a:pPr marL="0" indent="0">
              <a:buNone/>
            </a:pPr>
            <a:r>
              <a:rPr lang="en-US" sz="8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 in 2025 — → US$ 97.4B by 2034 (CAGR 24.3%)</a:t>
            </a:r>
            <a:endParaRPr lang="en-US" sz="2100" dirty="0"/>
          </a:p>
        </p:txBody>
      </p:sp>
      <p:sp>
        <p:nvSpPr>
          <p:cNvPr id="91" name="Shape 27">
            <a:extLst>
              <a:ext uri="{FF2B5EF4-FFF2-40B4-BE49-F238E27FC236}">
                <a16:creationId xmlns:a16="http://schemas.microsoft.com/office/drawing/2014/main" id="{84E9866A-4AC3-F80F-DDE4-884898E2CF77}"/>
              </a:ext>
            </a:extLst>
          </p:cNvPr>
          <p:cNvSpPr/>
          <p:nvPr/>
        </p:nvSpPr>
        <p:spPr>
          <a:xfrm>
            <a:off x="7836408" y="2944368"/>
            <a:ext cx="3575304" cy="914400"/>
          </a:xfrm>
          <a:prstGeom prst="roundRect">
            <a:avLst>
              <a:gd name="adj" fmla="val 9000"/>
            </a:avLst>
          </a:prstGeom>
          <a:solidFill>
            <a:srgbClr val="EEF0FA"/>
          </a:solidFill>
          <a:ln w="12700">
            <a:solidFill>
              <a:srgbClr val="D8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 28">
            <a:extLst>
              <a:ext uri="{FF2B5EF4-FFF2-40B4-BE49-F238E27FC236}">
                <a16:creationId xmlns:a16="http://schemas.microsoft.com/office/drawing/2014/main" id="{D46E9B80-8BE1-6BF9-8094-AB6CA737C317}"/>
              </a:ext>
            </a:extLst>
          </p:cNvPr>
          <p:cNvSpPr/>
          <p:nvPr/>
        </p:nvSpPr>
        <p:spPr>
          <a:xfrm>
            <a:off x="7982712" y="3017520"/>
            <a:ext cx="3291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275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US$ 711B</a:t>
            </a:r>
            <a:endParaRPr lang="en-US" sz="2100" dirty="0"/>
          </a:p>
          <a:p>
            <a:pPr marL="0" indent="0">
              <a:buNone/>
            </a:pPr>
            <a:r>
              <a:rPr lang="en-US" sz="8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MRO in 2025 — → US$ 865B by 2030 (CAGR 4.1%)</a:t>
            </a:r>
            <a:endParaRPr lang="en-US" sz="2100" dirty="0"/>
          </a:p>
        </p:txBody>
      </p:sp>
      <p:sp>
        <p:nvSpPr>
          <p:cNvPr id="95" name="Shape 29">
            <a:extLst>
              <a:ext uri="{FF2B5EF4-FFF2-40B4-BE49-F238E27FC236}">
                <a16:creationId xmlns:a16="http://schemas.microsoft.com/office/drawing/2014/main" id="{8BD8C8B3-A35F-75A3-E98F-3A4371E5A035}"/>
              </a:ext>
            </a:extLst>
          </p:cNvPr>
          <p:cNvSpPr/>
          <p:nvPr/>
        </p:nvSpPr>
        <p:spPr>
          <a:xfrm>
            <a:off x="7836408" y="3968496"/>
            <a:ext cx="3575304" cy="841248"/>
          </a:xfrm>
          <a:prstGeom prst="roundRect">
            <a:avLst>
              <a:gd name="adj" fmla="val 9783"/>
            </a:avLst>
          </a:prstGeom>
          <a:solidFill>
            <a:srgbClr val="FEF6E7"/>
          </a:solidFill>
          <a:ln w="12700">
            <a:solidFill>
              <a:srgbClr val="F2D9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7" name="Image 8" descr="preencoded.png">
            <a:extLst>
              <a:ext uri="{FF2B5EF4-FFF2-40B4-BE49-F238E27FC236}">
                <a16:creationId xmlns:a16="http://schemas.microsoft.com/office/drawing/2014/main" id="{1F0B2C3A-DC0F-5FC6-1174-A3BC4C7E715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82712" y="4114800"/>
            <a:ext cx="237744" cy="237744"/>
          </a:xfrm>
          <a:prstGeom prst="rect">
            <a:avLst/>
          </a:prstGeom>
        </p:spPr>
      </p:pic>
      <p:sp>
        <p:nvSpPr>
          <p:cNvPr id="99" name="Text 30">
            <a:extLst>
              <a:ext uri="{FF2B5EF4-FFF2-40B4-BE49-F238E27FC236}">
                <a16:creationId xmlns:a16="http://schemas.microsoft.com/office/drawing/2014/main" id="{60BC9F28-64BF-08B9-BB0F-588D8C31AE37}"/>
              </a:ext>
            </a:extLst>
          </p:cNvPr>
          <p:cNvSpPr/>
          <p:nvPr/>
        </p:nvSpPr>
        <p:spPr>
          <a:xfrm>
            <a:off x="8321040" y="4041648"/>
            <a:ext cx="2999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7A4A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Brazil: shortage of skilled technical labor pressures deadlines, costs and quality — a critical hurdle for Industry 4.0.</a:t>
            </a:r>
            <a:endParaRPr lang="en-US" sz="880" dirty="0"/>
          </a:p>
        </p:txBody>
      </p:sp>
      <p:sp>
        <p:nvSpPr>
          <p:cNvPr id="101" name="Shape 31">
            <a:extLst>
              <a:ext uri="{FF2B5EF4-FFF2-40B4-BE49-F238E27FC236}">
                <a16:creationId xmlns:a16="http://schemas.microsoft.com/office/drawing/2014/main" id="{5D31835F-9429-2CEF-5483-17AC0B2164B0}"/>
              </a:ext>
            </a:extLst>
          </p:cNvPr>
          <p:cNvSpPr/>
          <p:nvPr/>
        </p:nvSpPr>
        <p:spPr>
          <a:xfrm>
            <a:off x="7836408" y="4919472"/>
            <a:ext cx="3575304" cy="1060704"/>
          </a:xfrm>
          <a:prstGeom prst="roundRect">
            <a:avLst>
              <a:gd name="adj" fmla="val 7759"/>
            </a:avLst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3" name="Shape 32">
            <a:extLst>
              <a:ext uri="{FF2B5EF4-FFF2-40B4-BE49-F238E27FC236}">
                <a16:creationId xmlns:a16="http://schemas.microsoft.com/office/drawing/2014/main" id="{933A6B87-3E81-658C-94E3-B1CAF8645249}"/>
              </a:ext>
            </a:extLst>
          </p:cNvPr>
          <p:cNvSpPr/>
          <p:nvPr/>
        </p:nvSpPr>
        <p:spPr>
          <a:xfrm>
            <a:off x="7982712" y="5047488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2A4A8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5" name="Image 9" descr="preencoded.png">
            <a:extLst>
              <a:ext uri="{FF2B5EF4-FFF2-40B4-BE49-F238E27FC236}">
                <a16:creationId xmlns:a16="http://schemas.microsoft.com/office/drawing/2014/main" id="{DA1913F0-905E-5D3D-74B9-DA1E5949DFB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65008" y="5129784"/>
            <a:ext cx="237744" cy="237744"/>
          </a:xfrm>
          <a:prstGeom prst="rect">
            <a:avLst/>
          </a:prstGeom>
        </p:spPr>
      </p:pic>
      <p:sp>
        <p:nvSpPr>
          <p:cNvPr id="107" name="Text 33">
            <a:extLst>
              <a:ext uri="{FF2B5EF4-FFF2-40B4-BE49-F238E27FC236}">
                <a16:creationId xmlns:a16="http://schemas.microsoft.com/office/drawing/2014/main" id="{D16CB5A5-22FF-4E64-79DE-7B892D784E0C}"/>
              </a:ext>
            </a:extLst>
          </p:cNvPr>
          <p:cNvSpPr/>
          <p:nvPr/>
        </p:nvSpPr>
        <p:spPr>
          <a:xfrm>
            <a:off x="8503920" y="4992624"/>
            <a:ext cx="27889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DIRECTION</a:t>
            </a:r>
            <a:endParaRPr lang="en-US" sz="1000" dirty="0"/>
          </a:p>
          <a:p>
            <a:pPr marL="0" indent="0">
              <a:buNone/>
            </a:pPr>
            <a:r>
              <a:rPr lang="en-US" sz="880" dirty="0">
                <a:solidFill>
                  <a:srgbClr val="C7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migration from reactive to predictive: focus on critical assets, digital maturity and training. Data-driven supplier management with availability KPIs.</a:t>
            </a:r>
            <a:endParaRPr lang="en-US" sz="1000" dirty="0"/>
          </a:p>
        </p:txBody>
      </p:sp>
      <p:sp>
        <p:nvSpPr>
          <p:cNvPr id="109" name="Shape 34">
            <a:extLst>
              <a:ext uri="{FF2B5EF4-FFF2-40B4-BE49-F238E27FC236}">
                <a16:creationId xmlns:a16="http://schemas.microsoft.com/office/drawing/2014/main" id="{43C1EDC3-623F-FF3F-7F26-8074BECA525D}"/>
              </a:ext>
            </a:extLst>
          </p:cNvPr>
          <p:cNvSpPr/>
          <p:nvPr/>
        </p:nvSpPr>
        <p:spPr>
          <a:xfrm>
            <a:off x="210312" y="5541264"/>
            <a:ext cx="7470648" cy="566928"/>
          </a:xfrm>
          <a:prstGeom prst="roundRect">
            <a:avLst>
              <a:gd name="adj" fmla="val 14516"/>
            </a:avLst>
          </a:prstGeom>
          <a:solidFill>
            <a:srgbClr val="E8EBF8"/>
          </a:solidFill>
          <a:ln w="12700">
            <a:solidFill>
              <a:srgbClr val="2750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Text 35">
            <a:extLst>
              <a:ext uri="{FF2B5EF4-FFF2-40B4-BE49-F238E27FC236}">
                <a16:creationId xmlns:a16="http://schemas.microsoft.com/office/drawing/2014/main" id="{66DF3EB0-D4AE-32E7-84CC-5DC5547A8D48}"/>
              </a:ext>
            </a:extLst>
          </p:cNvPr>
          <p:cNvSpPr/>
          <p:nvPr/>
        </p:nvSpPr>
        <p:spPr>
          <a:xfrm>
            <a:off x="411480" y="5614416"/>
            <a:ext cx="7132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BASE — </a:t>
            </a: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8,326 maintenance POs (7.3% of MFE) · 3 families analyzed (Family 1/Family 2/Family 3): R$ 77.8M in 2025 → R$ 64.6M in Jan–Sep 2026 · 506 suppliers.</a:t>
            </a:r>
            <a:endParaRPr lang="en-US" sz="950" dirty="0"/>
          </a:p>
        </p:txBody>
      </p:sp>
      <p:sp>
        <p:nvSpPr>
          <p:cNvPr id="113" name="Text 42">
            <a:extLst>
              <a:ext uri="{FF2B5EF4-FFF2-40B4-BE49-F238E27FC236}">
                <a16:creationId xmlns:a16="http://schemas.microsoft.com/office/drawing/2014/main" id="{F91FD0D9-6F16-5462-E6A1-F3C322C136D2}"/>
              </a:ext>
            </a:extLst>
          </p:cNvPr>
          <p:cNvSpPr/>
          <p:nvPr/>
        </p:nvSpPr>
        <p:spPr>
          <a:xfrm>
            <a:off x="210312" y="6144768"/>
            <a:ext cx="7470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sources: Fortune Business Insights (PdM 2025–2034) · The Business Research Company (MRO 2025–2030) · Internal base: internal analytics internal base (Sep/2026).</a:t>
            </a:r>
            <a:endParaRPr lang="en-US" sz="750" dirty="0"/>
          </a:p>
        </p:txBody>
      </p:sp>
    </p:spTree>
    <p:extLst>
      <p:ext uri="{BB962C8B-B14F-4D97-AF65-F5344CB8AC3E}">
        <p14:creationId xmlns:p14="http://schemas.microsoft.com/office/powerpoint/2010/main" val="27699954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313C2D-A0F2-B241-8839-352E9B0BE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6324" y="756103"/>
            <a:ext cx="5879841" cy="781318"/>
          </a:xfrm>
        </p:spPr>
        <p:txBody>
          <a:bodyPr/>
          <a:lstStyle/>
          <a:p>
            <a:r>
              <a:rPr lang="en-GB" sz="3600" dirty="0">
                <a:latin typeface="Arial" panose="02000000000000000000"/>
                <a:cs typeface="+mj-cs"/>
              </a:rPr>
              <a:t>National Market Analysis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7A61478-303B-9645-B395-FF07627A8D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75569" y="1146762"/>
            <a:ext cx="4915857" cy="5114890"/>
          </a:xfrm>
        </p:spPr>
        <p:txBody>
          <a:bodyPr/>
          <a:lstStyle/>
          <a:p>
            <a:endParaRPr lang="en-US" sz="2000" i="1" dirty="0">
              <a:latin typeface="Arial" panose="02000000000000000000"/>
              <a:ea typeface="+mj-ea"/>
              <a:cs typeface="+mj-cs"/>
            </a:endParaRPr>
          </a:p>
          <a:p>
            <a:endParaRPr lang="en-US" sz="2000" i="1" dirty="0">
              <a:latin typeface="Arial" panose="02000000000000000000"/>
              <a:ea typeface="+mj-ea"/>
              <a:cs typeface="+mj-cs"/>
            </a:endParaRPr>
          </a:p>
          <a:p>
            <a:endParaRPr lang="en-US" sz="2000" i="1" dirty="0">
              <a:latin typeface="Arial" panose="02000000000000000000"/>
              <a:ea typeface="+mj-ea"/>
              <a:cs typeface="+mj-cs"/>
            </a:endParaRPr>
          </a:p>
          <a:p>
            <a:r>
              <a:rPr lang="en-US" sz="2000" i="1" dirty="0">
                <a:latin typeface="Arial" panose="02000000000000000000"/>
                <a:ea typeface="+mj-ea"/>
                <a:cs typeface="+mj-cs"/>
              </a:rPr>
              <a:t>Market size</a:t>
            </a:r>
          </a:p>
          <a:p>
            <a:r>
              <a:rPr lang="en-US" sz="2000" i="1" dirty="0">
                <a:latin typeface="Arial" panose="02000000000000000000"/>
                <a:ea typeface="+mj-ea"/>
                <a:cs typeface="+mj-cs"/>
              </a:rPr>
              <a:t>Market drivers</a:t>
            </a:r>
          </a:p>
          <a:p>
            <a:r>
              <a:rPr lang="en-US" sz="2000" i="1" dirty="0">
                <a:latin typeface="Arial" panose="02000000000000000000"/>
                <a:ea typeface="+mj-ea"/>
                <a:cs typeface="+mj-cs"/>
              </a:rPr>
              <a:t>Regulations</a:t>
            </a:r>
          </a:p>
          <a:p>
            <a:r>
              <a:rPr lang="en-US" sz="2000" i="1" dirty="0">
                <a:latin typeface="Arial" panose="02000000000000000000"/>
                <a:ea typeface="+mj-ea"/>
                <a:cs typeface="+mj-cs"/>
              </a:rPr>
              <a:t>Market players</a:t>
            </a:r>
            <a:endParaRPr lang="en-GB" sz="2000" i="1" dirty="0">
              <a:latin typeface="Arial" panose="0200000000000000000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3184579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ext 2">
            <a:extLst>
              <a:ext uri="{FF2B5EF4-FFF2-40B4-BE49-F238E27FC236}">
                <a16:creationId xmlns:a16="http://schemas.microsoft.com/office/drawing/2014/main" id="{ABE0897F-8171-51AD-E5FE-921CE03C2773}"/>
              </a:ext>
            </a:extLst>
          </p:cNvPr>
          <p:cNvSpPr/>
          <p:nvPr/>
        </p:nvSpPr>
        <p:spPr>
          <a:xfrm>
            <a:off x="75537" y="80467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Maintenance Market </a:t>
            </a:r>
            <a:r>
              <a:rPr lang="en-US" sz="27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MRO × Predictive (PdM)</a:t>
            </a:r>
            <a:endParaRPr lang="en-US" sz="2700" dirty="0"/>
          </a:p>
        </p:txBody>
      </p:sp>
      <p:sp>
        <p:nvSpPr>
          <p:cNvPr id="123" name="Shape 3">
            <a:extLst>
              <a:ext uri="{FF2B5EF4-FFF2-40B4-BE49-F238E27FC236}">
                <a16:creationId xmlns:a16="http://schemas.microsoft.com/office/drawing/2014/main" id="{35C90589-7CE9-CDDA-F5EF-3818B43CC4E8}"/>
              </a:ext>
            </a:extLst>
          </p:cNvPr>
          <p:cNvSpPr/>
          <p:nvPr/>
        </p:nvSpPr>
        <p:spPr>
          <a:xfrm>
            <a:off x="75537" y="1408176"/>
            <a:ext cx="5486400" cy="3291840"/>
          </a:xfrm>
          <a:prstGeom prst="roundRect">
            <a:avLst>
              <a:gd name="adj" fmla="val 3333"/>
            </a:avLst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5" name="Shape 4">
            <a:extLst>
              <a:ext uri="{FF2B5EF4-FFF2-40B4-BE49-F238E27FC236}">
                <a16:creationId xmlns:a16="http://schemas.microsoft.com/office/drawing/2014/main" id="{84242996-30D5-1C37-9D27-FFCB816D1C50}"/>
              </a:ext>
            </a:extLst>
          </p:cNvPr>
          <p:cNvSpPr/>
          <p:nvPr/>
        </p:nvSpPr>
        <p:spPr>
          <a:xfrm>
            <a:off x="304137" y="1609344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A4A8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7" name="Image 1" descr="preencoded.png">
            <a:extLst>
              <a:ext uri="{FF2B5EF4-FFF2-40B4-BE49-F238E27FC236}">
                <a16:creationId xmlns:a16="http://schemas.microsoft.com/office/drawing/2014/main" id="{5C56C998-565A-401F-78B6-297C269DA7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77" y="1700784"/>
            <a:ext cx="274320" cy="274320"/>
          </a:xfrm>
          <a:prstGeom prst="rect">
            <a:avLst/>
          </a:prstGeom>
        </p:spPr>
      </p:pic>
      <p:sp>
        <p:nvSpPr>
          <p:cNvPr id="129" name="Text 5">
            <a:extLst>
              <a:ext uri="{FF2B5EF4-FFF2-40B4-BE49-F238E27FC236}">
                <a16:creationId xmlns:a16="http://schemas.microsoft.com/office/drawing/2014/main" id="{12D40372-A86F-B9D6-6BFE-9B894C20180B}"/>
              </a:ext>
            </a:extLst>
          </p:cNvPr>
          <p:cNvSpPr/>
          <p:nvPr/>
        </p:nvSpPr>
        <p:spPr>
          <a:xfrm>
            <a:off x="898497" y="164592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MRO MARKET</a:t>
            </a:r>
            <a:endParaRPr lang="en-US" sz="1200" dirty="0"/>
          </a:p>
        </p:txBody>
      </p:sp>
      <p:sp>
        <p:nvSpPr>
          <p:cNvPr id="131" name="Text 6">
            <a:extLst>
              <a:ext uri="{FF2B5EF4-FFF2-40B4-BE49-F238E27FC236}">
                <a16:creationId xmlns:a16="http://schemas.microsoft.com/office/drawing/2014/main" id="{5362DB60-A300-460E-87DB-2E7CD2AA1A2E}"/>
              </a:ext>
            </a:extLst>
          </p:cNvPr>
          <p:cNvSpPr/>
          <p:nvPr/>
        </p:nvSpPr>
        <p:spPr>
          <a:xfrm>
            <a:off x="304137" y="2212848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US$ 711B</a:t>
            </a:r>
            <a:endParaRPr lang="en-US" sz="4000" dirty="0"/>
          </a:p>
          <a:p>
            <a:pPr marL="0" indent="0">
              <a:buNone/>
            </a:pPr>
            <a:r>
              <a:rPr lang="en-US" sz="1050" dirty="0">
                <a:solidFill>
                  <a:srgbClr val="C7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MRO market 2025 — updated (TBRC).</a:t>
            </a:r>
            <a:endParaRPr lang="en-US" sz="4000" dirty="0"/>
          </a:p>
        </p:txBody>
      </p:sp>
      <p:sp>
        <p:nvSpPr>
          <p:cNvPr id="133" name="Text 7">
            <a:extLst>
              <a:ext uri="{FF2B5EF4-FFF2-40B4-BE49-F238E27FC236}">
                <a16:creationId xmlns:a16="http://schemas.microsoft.com/office/drawing/2014/main" id="{88947D40-9CA8-A383-4C7E-4589812FA0D0}"/>
              </a:ext>
            </a:extLst>
          </p:cNvPr>
          <p:cNvSpPr/>
          <p:nvPr/>
        </p:nvSpPr>
        <p:spPr>
          <a:xfrm>
            <a:off x="304137" y="331012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3B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US$ 865B by 2030</a:t>
            </a:r>
            <a:r>
              <a:rPr lang="en-US" sz="1200" dirty="0">
                <a:solidFill>
                  <a:srgbClr val="C7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4.1% CAGR per year</a:t>
            </a:r>
            <a:endParaRPr lang="en-US" sz="1400" dirty="0"/>
          </a:p>
        </p:txBody>
      </p:sp>
      <p:sp>
        <p:nvSpPr>
          <p:cNvPr id="135" name="Shape 8">
            <a:extLst>
              <a:ext uri="{FF2B5EF4-FFF2-40B4-BE49-F238E27FC236}">
                <a16:creationId xmlns:a16="http://schemas.microsoft.com/office/drawing/2014/main" id="{13C89AC9-4A52-A949-4C91-45FAC2433D95}"/>
              </a:ext>
            </a:extLst>
          </p:cNvPr>
          <p:cNvSpPr/>
          <p:nvPr/>
        </p:nvSpPr>
        <p:spPr>
          <a:xfrm>
            <a:off x="304137" y="3803904"/>
            <a:ext cx="1572768" cy="713232"/>
          </a:xfrm>
          <a:prstGeom prst="roundRect">
            <a:avLst>
              <a:gd name="adj" fmla="val 10256"/>
            </a:avLst>
          </a:prstGeom>
          <a:solidFill>
            <a:srgbClr val="2A4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7" name="Text 9">
            <a:extLst>
              <a:ext uri="{FF2B5EF4-FFF2-40B4-BE49-F238E27FC236}">
                <a16:creationId xmlns:a16="http://schemas.microsoft.com/office/drawing/2014/main" id="{27B29D5A-8201-EE86-19DB-A9D6EB42C3BD}"/>
              </a:ext>
            </a:extLst>
          </p:cNvPr>
          <p:cNvSpPr/>
          <p:nvPr/>
        </p:nvSpPr>
        <p:spPr>
          <a:xfrm>
            <a:off x="395577" y="3858768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46.5%</a:t>
            </a:r>
            <a:endParaRPr lang="en-US" sz="1350" dirty="0"/>
          </a:p>
          <a:p>
            <a:pPr marL="0" indent="0">
              <a:buNone/>
            </a:pPr>
            <a:r>
              <a:rPr lang="en-US" sz="760" dirty="0">
                <a:solidFill>
                  <a:srgbClr val="C7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Preventive — dominant strategy globally</a:t>
            </a:r>
            <a:endParaRPr lang="en-US" sz="1350" dirty="0"/>
          </a:p>
        </p:txBody>
      </p:sp>
      <p:sp>
        <p:nvSpPr>
          <p:cNvPr id="139" name="Shape 10">
            <a:extLst>
              <a:ext uri="{FF2B5EF4-FFF2-40B4-BE49-F238E27FC236}">
                <a16:creationId xmlns:a16="http://schemas.microsoft.com/office/drawing/2014/main" id="{C9CBEAC1-5444-07BC-3BCD-540EA1DEC04E}"/>
              </a:ext>
            </a:extLst>
          </p:cNvPr>
          <p:cNvSpPr/>
          <p:nvPr/>
        </p:nvSpPr>
        <p:spPr>
          <a:xfrm>
            <a:off x="2014065" y="3803904"/>
            <a:ext cx="1572768" cy="713232"/>
          </a:xfrm>
          <a:prstGeom prst="roundRect">
            <a:avLst>
              <a:gd name="adj" fmla="val 10256"/>
            </a:avLst>
          </a:prstGeom>
          <a:solidFill>
            <a:srgbClr val="2A4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1" name="Text 11">
            <a:extLst>
              <a:ext uri="{FF2B5EF4-FFF2-40B4-BE49-F238E27FC236}">
                <a16:creationId xmlns:a16="http://schemas.microsoft.com/office/drawing/2014/main" id="{63788E69-FA69-5219-3D08-76E56A6320B5}"/>
              </a:ext>
            </a:extLst>
          </p:cNvPr>
          <p:cNvSpPr/>
          <p:nvPr/>
        </p:nvSpPr>
        <p:spPr>
          <a:xfrm>
            <a:off x="2105505" y="3858768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33.3%</a:t>
            </a:r>
            <a:endParaRPr lang="en-US" sz="1350" dirty="0"/>
          </a:p>
          <a:p>
            <a:pPr marL="0" indent="0">
              <a:buNone/>
            </a:pPr>
            <a:r>
              <a:rPr lang="en-US" sz="760" dirty="0">
                <a:solidFill>
                  <a:srgbClr val="C7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America in global PdM (2025)</a:t>
            </a:r>
            <a:endParaRPr lang="en-US" sz="1350" dirty="0"/>
          </a:p>
        </p:txBody>
      </p:sp>
      <p:sp>
        <p:nvSpPr>
          <p:cNvPr id="143" name="Shape 12">
            <a:extLst>
              <a:ext uri="{FF2B5EF4-FFF2-40B4-BE49-F238E27FC236}">
                <a16:creationId xmlns:a16="http://schemas.microsoft.com/office/drawing/2014/main" id="{061D9116-5D6F-B4CC-F7DF-380FC3839402}"/>
              </a:ext>
            </a:extLst>
          </p:cNvPr>
          <p:cNvSpPr/>
          <p:nvPr/>
        </p:nvSpPr>
        <p:spPr>
          <a:xfrm>
            <a:off x="3723993" y="3803904"/>
            <a:ext cx="1572768" cy="713232"/>
          </a:xfrm>
          <a:prstGeom prst="roundRect">
            <a:avLst>
              <a:gd name="adj" fmla="val 10256"/>
            </a:avLst>
          </a:prstGeom>
          <a:solidFill>
            <a:srgbClr val="2A4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5" name="Text 13">
            <a:extLst>
              <a:ext uri="{FF2B5EF4-FFF2-40B4-BE49-F238E27FC236}">
                <a16:creationId xmlns:a16="http://schemas.microsoft.com/office/drawing/2014/main" id="{B46A4BD0-DFC9-2AC0-A0D4-3EEA75FC0B84}"/>
              </a:ext>
            </a:extLst>
          </p:cNvPr>
          <p:cNvSpPr/>
          <p:nvPr/>
        </p:nvSpPr>
        <p:spPr>
          <a:xfrm>
            <a:off x="3815433" y="3858768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LatAm</a:t>
            </a:r>
            <a:endParaRPr lang="en-US" sz="1350" dirty="0"/>
          </a:p>
          <a:p>
            <a:pPr marL="0" indent="0">
              <a:buNone/>
            </a:pPr>
            <a:r>
              <a:rPr lang="en-US" sz="760" dirty="0">
                <a:solidFill>
                  <a:srgbClr val="C7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modest volumes, growing with automation</a:t>
            </a:r>
            <a:endParaRPr lang="en-US" sz="1350" dirty="0"/>
          </a:p>
        </p:txBody>
      </p:sp>
      <p:sp>
        <p:nvSpPr>
          <p:cNvPr id="147" name="Shape 14">
            <a:extLst>
              <a:ext uri="{FF2B5EF4-FFF2-40B4-BE49-F238E27FC236}">
                <a16:creationId xmlns:a16="http://schemas.microsoft.com/office/drawing/2014/main" id="{9A841974-C44A-73E2-D536-BD338F3391B4}"/>
              </a:ext>
            </a:extLst>
          </p:cNvPr>
          <p:cNvSpPr/>
          <p:nvPr/>
        </p:nvSpPr>
        <p:spPr>
          <a:xfrm>
            <a:off x="5772249" y="1408176"/>
            <a:ext cx="5486400" cy="3291840"/>
          </a:xfrm>
          <a:prstGeom prst="roundRect">
            <a:avLst>
              <a:gd name="adj" fmla="val 3333"/>
            </a:avLst>
          </a:prstGeom>
          <a:solidFill>
            <a:srgbClr val="EEF0FA"/>
          </a:solidFill>
          <a:ln w="15875">
            <a:solidFill>
              <a:srgbClr val="2750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9" name="Shape 15">
            <a:extLst>
              <a:ext uri="{FF2B5EF4-FFF2-40B4-BE49-F238E27FC236}">
                <a16:creationId xmlns:a16="http://schemas.microsoft.com/office/drawing/2014/main" id="{ABA4B190-59E7-421D-DCAB-F8C0C98AC0E3}"/>
              </a:ext>
            </a:extLst>
          </p:cNvPr>
          <p:cNvSpPr/>
          <p:nvPr/>
        </p:nvSpPr>
        <p:spPr>
          <a:xfrm>
            <a:off x="6000849" y="1609344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7509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1" name="Image 2" descr="preencoded.png">
            <a:extLst>
              <a:ext uri="{FF2B5EF4-FFF2-40B4-BE49-F238E27FC236}">
                <a16:creationId xmlns:a16="http://schemas.microsoft.com/office/drawing/2014/main" id="{EE5E60DC-C754-8CA6-B372-13ED4D84F0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2289" y="1700784"/>
            <a:ext cx="274320" cy="274320"/>
          </a:xfrm>
          <a:prstGeom prst="rect">
            <a:avLst/>
          </a:prstGeom>
        </p:spPr>
      </p:pic>
      <p:sp>
        <p:nvSpPr>
          <p:cNvPr id="153" name="Text 16">
            <a:extLst>
              <a:ext uri="{FF2B5EF4-FFF2-40B4-BE49-F238E27FC236}">
                <a16:creationId xmlns:a16="http://schemas.microsoft.com/office/drawing/2014/main" id="{2A35ADE3-9BEB-8567-8134-8E4872EB12E9}"/>
              </a:ext>
            </a:extLst>
          </p:cNvPr>
          <p:cNvSpPr/>
          <p:nvPr/>
        </p:nvSpPr>
        <p:spPr>
          <a:xfrm>
            <a:off x="6595209" y="164592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 (PdM)</a:t>
            </a:r>
            <a:endParaRPr lang="en-US" sz="1200" dirty="0"/>
          </a:p>
        </p:txBody>
      </p:sp>
      <p:sp>
        <p:nvSpPr>
          <p:cNvPr id="155" name="Text 17">
            <a:extLst>
              <a:ext uri="{FF2B5EF4-FFF2-40B4-BE49-F238E27FC236}">
                <a16:creationId xmlns:a16="http://schemas.microsoft.com/office/drawing/2014/main" id="{564D6521-A998-A344-EE33-C936C19AE8A5}"/>
              </a:ext>
            </a:extLst>
          </p:cNvPr>
          <p:cNvSpPr/>
          <p:nvPr/>
        </p:nvSpPr>
        <p:spPr>
          <a:xfrm>
            <a:off x="6000849" y="2212848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1E9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US$ 13.65B</a:t>
            </a:r>
            <a:endParaRPr lang="en-US" sz="4000" dirty="0"/>
          </a:p>
          <a:p>
            <a:pPr marL="0" indent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PdM 2025 (Fortune Business Insights).</a:t>
            </a:r>
            <a:endParaRPr lang="en-US" sz="4000" dirty="0"/>
          </a:p>
        </p:txBody>
      </p:sp>
      <p:sp>
        <p:nvSpPr>
          <p:cNvPr id="157" name="Text 18">
            <a:extLst>
              <a:ext uri="{FF2B5EF4-FFF2-40B4-BE49-F238E27FC236}">
                <a16:creationId xmlns:a16="http://schemas.microsoft.com/office/drawing/2014/main" id="{7A95E259-D2A3-D164-EF03-6D06D3692AAF}"/>
              </a:ext>
            </a:extLst>
          </p:cNvPr>
          <p:cNvSpPr/>
          <p:nvPr/>
        </p:nvSpPr>
        <p:spPr>
          <a:xfrm>
            <a:off x="6000849" y="331012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9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US$ 97.4B by 2034</a:t>
            </a: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24.3% CAGR per year</a:t>
            </a:r>
            <a:endParaRPr lang="en-US" sz="1400" dirty="0"/>
          </a:p>
        </p:txBody>
      </p:sp>
      <p:sp>
        <p:nvSpPr>
          <p:cNvPr id="159" name="Shape 19">
            <a:extLst>
              <a:ext uri="{FF2B5EF4-FFF2-40B4-BE49-F238E27FC236}">
                <a16:creationId xmlns:a16="http://schemas.microsoft.com/office/drawing/2014/main" id="{A0E370C6-FA97-6B6E-AB56-B55CA43C141E}"/>
              </a:ext>
            </a:extLst>
          </p:cNvPr>
          <p:cNvSpPr/>
          <p:nvPr/>
        </p:nvSpPr>
        <p:spPr>
          <a:xfrm>
            <a:off x="6000849" y="3803904"/>
            <a:ext cx="1572768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8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1" name="Text 20">
            <a:extLst>
              <a:ext uri="{FF2B5EF4-FFF2-40B4-BE49-F238E27FC236}">
                <a16:creationId xmlns:a16="http://schemas.microsoft.com/office/drawing/2014/main" id="{02078BA6-4559-B20D-7980-6C7D66A316C1}"/>
              </a:ext>
            </a:extLst>
          </p:cNvPr>
          <p:cNvSpPr/>
          <p:nvPr/>
        </p:nvSpPr>
        <p:spPr>
          <a:xfrm>
            <a:off x="6092289" y="3858768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US$ 1.06B</a:t>
            </a:r>
            <a:endParaRPr lang="en-US" sz="1350" dirty="0"/>
          </a:p>
          <a:p>
            <a:pPr marL="0" indent="0">
              <a:buNone/>
            </a:pPr>
            <a:r>
              <a:rPr lang="en-US" sz="76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Latin America PdM — 7.8% of the global market</a:t>
            </a:r>
            <a:endParaRPr lang="en-US" sz="1350" dirty="0"/>
          </a:p>
        </p:txBody>
      </p:sp>
      <p:sp>
        <p:nvSpPr>
          <p:cNvPr id="163" name="Shape 21">
            <a:extLst>
              <a:ext uri="{FF2B5EF4-FFF2-40B4-BE49-F238E27FC236}">
                <a16:creationId xmlns:a16="http://schemas.microsoft.com/office/drawing/2014/main" id="{A3079AED-B60C-FA5F-40D6-0B18402BA568}"/>
              </a:ext>
            </a:extLst>
          </p:cNvPr>
          <p:cNvSpPr/>
          <p:nvPr/>
        </p:nvSpPr>
        <p:spPr>
          <a:xfrm>
            <a:off x="7710777" y="3803904"/>
            <a:ext cx="1572768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8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5" name="Text 22">
            <a:extLst>
              <a:ext uri="{FF2B5EF4-FFF2-40B4-BE49-F238E27FC236}">
                <a16:creationId xmlns:a16="http://schemas.microsoft.com/office/drawing/2014/main" id="{2D091343-A7B7-1290-1998-65EEA1766CDD}"/>
              </a:ext>
            </a:extLst>
          </p:cNvPr>
          <p:cNvSpPr/>
          <p:nvPr/>
        </p:nvSpPr>
        <p:spPr>
          <a:xfrm>
            <a:off x="7802217" y="3858768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+83%</a:t>
            </a:r>
            <a:endParaRPr lang="en-US" sz="1350" dirty="0"/>
          </a:p>
          <a:p>
            <a:pPr marL="0" indent="0">
              <a:buNone/>
            </a:pPr>
            <a:r>
              <a:rPr lang="en-US" sz="76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 in IT automation (2024/25 adoption)</a:t>
            </a:r>
            <a:endParaRPr lang="en-US" sz="1350" dirty="0"/>
          </a:p>
        </p:txBody>
      </p:sp>
      <p:sp>
        <p:nvSpPr>
          <p:cNvPr id="167" name="Shape 23">
            <a:extLst>
              <a:ext uri="{FF2B5EF4-FFF2-40B4-BE49-F238E27FC236}">
                <a16:creationId xmlns:a16="http://schemas.microsoft.com/office/drawing/2014/main" id="{CEE36AFF-6E6C-F874-A6C0-C045773ED8F5}"/>
              </a:ext>
            </a:extLst>
          </p:cNvPr>
          <p:cNvSpPr/>
          <p:nvPr/>
        </p:nvSpPr>
        <p:spPr>
          <a:xfrm>
            <a:off x="9420705" y="3803904"/>
            <a:ext cx="1572768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8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9" name="Text 24">
            <a:extLst>
              <a:ext uri="{FF2B5EF4-FFF2-40B4-BE49-F238E27FC236}">
                <a16:creationId xmlns:a16="http://schemas.microsoft.com/office/drawing/2014/main" id="{DF749441-3C29-4BB6-25B4-3CD7D54B3849}"/>
              </a:ext>
            </a:extLst>
          </p:cNvPr>
          <p:cNvSpPr/>
          <p:nvPr/>
        </p:nvSpPr>
        <p:spPr>
          <a:xfrm>
            <a:off x="9512145" y="3858768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+77%</a:t>
            </a:r>
            <a:endParaRPr lang="en-US" sz="1350" dirty="0"/>
          </a:p>
          <a:p>
            <a:pPr marL="0" indent="0">
              <a:buNone/>
            </a:pPr>
            <a:r>
              <a:rPr lang="en-US" sz="76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 in industrial AI (2024/25 adoption)</a:t>
            </a:r>
            <a:endParaRPr lang="en-US" sz="1350" dirty="0"/>
          </a:p>
        </p:txBody>
      </p:sp>
      <p:sp>
        <p:nvSpPr>
          <p:cNvPr id="171" name="Text 25">
            <a:extLst>
              <a:ext uri="{FF2B5EF4-FFF2-40B4-BE49-F238E27FC236}">
                <a16:creationId xmlns:a16="http://schemas.microsoft.com/office/drawing/2014/main" id="{0E946D6A-854C-0ACA-07CE-30565F472707}"/>
              </a:ext>
            </a:extLst>
          </p:cNvPr>
          <p:cNvSpPr/>
          <p:nvPr/>
        </p:nvSpPr>
        <p:spPr>
          <a:xfrm>
            <a:off x="75537" y="486460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275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PdM IMPACT AND ROI INDICATORS</a:t>
            </a:r>
            <a:endParaRPr lang="en-US" sz="1150" dirty="0"/>
          </a:p>
        </p:txBody>
      </p:sp>
      <p:sp>
        <p:nvSpPr>
          <p:cNvPr id="173" name="Shape 26">
            <a:extLst>
              <a:ext uri="{FF2B5EF4-FFF2-40B4-BE49-F238E27FC236}">
                <a16:creationId xmlns:a16="http://schemas.microsoft.com/office/drawing/2014/main" id="{A1147F80-09B4-8A74-4AB7-74F41FA4B0D6}"/>
              </a:ext>
            </a:extLst>
          </p:cNvPr>
          <p:cNvSpPr/>
          <p:nvPr/>
        </p:nvSpPr>
        <p:spPr>
          <a:xfrm>
            <a:off x="75537" y="5175504"/>
            <a:ext cx="2715768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5" name="Image 3" descr="preencoded.png">
            <a:extLst>
              <a:ext uri="{FF2B5EF4-FFF2-40B4-BE49-F238E27FC236}">
                <a16:creationId xmlns:a16="http://schemas.microsoft.com/office/drawing/2014/main" id="{6AB2A454-847B-1D94-777E-CA4A4B6A61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1841" y="5321808"/>
            <a:ext cx="292608" cy="292608"/>
          </a:xfrm>
          <a:prstGeom prst="rect">
            <a:avLst/>
          </a:prstGeom>
        </p:spPr>
      </p:pic>
      <p:sp>
        <p:nvSpPr>
          <p:cNvPr id="177" name="Text 27">
            <a:extLst>
              <a:ext uri="{FF2B5EF4-FFF2-40B4-BE49-F238E27FC236}">
                <a16:creationId xmlns:a16="http://schemas.microsoft.com/office/drawing/2014/main" id="{73C18085-8C86-E915-0ECC-8115B29D2D95}"/>
              </a:ext>
            </a:extLst>
          </p:cNvPr>
          <p:cNvSpPr/>
          <p:nvPr/>
        </p:nvSpPr>
        <p:spPr>
          <a:xfrm>
            <a:off x="221841" y="5687568"/>
            <a:ext cx="2423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in 14 Months</a:t>
            </a:r>
            <a:endParaRPr lang="en-US" sz="1200" dirty="0"/>
          </a:p>
          <a:p>
            <a:pPr marL="0" indent="0">
              <a:buNone/>
            </a:pPr>
            <a:r>
              <a:rPr lang="en-US" sz="86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return on PdM investment — fast payback justifies immediate adoption.</a:t>
            </a:r>
            <a:endParaRPr lang="en-US" sz="1200" dirty="0"/>
          </a:p>
        </p:txBody>
      </p:sp>
      <p:sp>
        <p:nvSpPr>
          <p:cNvPr id="179" name="Shape 28">
            <a:extLst>
              <a:ext uri="{FF2B5EF4-FFF2-40B4-BE49-F238E27FC236}">
                <a16:creationId xmlns:a16="http://schemas.microsoft.com/office/drawing/2014/main" id="{4F278E6A-0752-91AD-7F0C-0ACF22F8F437}"/>
              </a:ext>
            </a:extLst>
          </p:cNvPr>
          <p:cNvSpPr/>
          <p:nvPr/>
        </p:nvSpPr>
        <p:spPr>
          <a:xfrm>
            <a:off x="2974185" y="5175504"/>
            <a:ext cx="2715768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1" name="Image 4" descr="preencoded.png">
            <a:extLst>
              <a:ext uri="{FF2B5EF4-FFF2-40B4-BE49-F238E27FC236}">
                <a16:creationId xmlns:a16="http://schemas.microsoft.com/office/drawing/2014/main" id="{446D7836-CCB6-F151-8571-F4624F2D286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20489" y="5321808"/>
            <a:ext cx="292608" cy="292608"/>
          </a:xfrm>
          <a:prstGeom prst="rect">
            <a:avLst/>
          </a:prstGeom>
        </p:spPr>
      </p:pic>
      <p:sp>
        <p:nvSpPr>
          <p:cNvPr id="183" name="Text 29">
            <a:extLst>
              <a:ext uri="{FF2B5EF4-FFF2-40B4-BE49-F238E27FC236}">
                <a16:creationId xmlns:a16="http://schemas.microsoft.com/office/drawing/2014/main" id="{EC1A56AF-2AC9-4E54-96D8-D929B57559A2}"/>
              </a:ext>
            </a:extLst>
          </p:cNvPr>
          <p:cNvSpPr/>
          <p:nvPr/>
        </p:nvSpPr>
        <p:spPr>
          <a:xfrm>
            <a:off x="3120489" y="5687568"/>
            <a:ext cx="2423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+20% Asset Life</a:t>
            </a:r>
            <a:endParaRPr lang="en-US" sz="1200" dirty="0"/>
          </a:p>
          <a:p>
            <a:pPr marL="0" indent="0">
              <a:buNone/>
            </a:pPr>
            <a:r>
              <a:rPr lang="en-US" sz="86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asset life extension with condition-based maintenance.</a:t>
            </a:r>
            <a:endParaRPr lang="en-US" sz="1200" dirty="0"/>
          </a:p>
        </p:txBody>
      </p:sp>
      <p:sp>
        <p:nvSpPr>
          <p:cNvPr id="185" name="Shape 30">
            <a:extLst>
              <a:ext uri="{FF2B5EF4-FFF2-40B4-BE49-F238E27FC236}">
                <a16:creationId xmlns:a16="http://schemas.microsoft.com/office/drawing/2014/main" id="{6AFFF075-C2B5-630D-8BDE-FE743AD5AB68}"/>
              </a:ext>
            </a:extLst>
          </p:cNvPr>
          <p:cNvSpPr/>
          <p:nvPr/>
        </p:nvSpPr>
        <p:spPr>
          <a:xfrm>
            <a:off x="5872833" y="5175504"/>
            <a:ext cx="2715768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7" name="Image 5" descr="preencoded.png">
            <a:extLst>
              <a:ext uri="{FF2B5EF4-FFF2-40B4-BE49-F238E27FC236}">
                <a16:creationId xmlns:a16="http://schemas.microsoft.com/office/drawing/2014/main" id="{8B07766A-1FEE-8B76-C268-11C0F1A1D50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19137" y="5321808"/>
            <a:ext cx="292608" cy="292608"/>
          </a:xfrm>
          <a:prstGeom prst="rect">
            <a:avLst/>
          </a:prstGeom>
        </p:spPr>
      </p:pic>
      <p:sp>
        <p:nvSpPr>
          <p:cNvPr id="189" name="Text 31">
            <a:extLst>
              <a:ext uri="{FF2B5EF4-FFF2-40B4-BE49-F238E27FC236}">
                <a16:creationId xmlns:a16="http://schemas.microsoft.com/office/drawing/2014/main" id="{145C1ECF-A389-103D-E995-E81BE554C754}"/>
              </a:ext>
            </a:extLst>
          </p:cNvPr>
          <p:cNvSpPr/>
          <p:nvPr/>
        </p:nvSpPr>
        <p:spPr>
          <a:xfrm>
            <a:off x="6019137" y="5687568"/>
            <a:ext cx="2423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-12% in Costs</a:t>
            </a:r>
            <a:endParaRPr lang="en-US" sz="1200" dirty="0"/>
          </a:p>
          <a:p>
            <a:pPr marL="0" indent="0">
              <a:buNone/>
            </a:pPr>
            <a:r>
              <a:rPr lang="en-US" sz="86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PwC — documented reduction in maintenance costs with systematic PdM.</a:t>
            </a:r>
            <a:endParaRPr lang="en-US" sz="1200" dirty="0"/>
          </a:p>
        </p:txBody>
      </p:sp>
      <p:sp>
        <p:nvSpPr>
          <p:cNvPr id="191" name="Shape 32">
            <a:extLst>
              <a:ext uri="{FF2B5EF4-FFF2-40B4-BE49-F238E27FC236}">
                <a16:creationId xmlns:a16="http://schemas.microsoft.com/office/drawing/2014/main" id="{F02A20CF-C53E-8C26-8604-D0A1092B1DC7}"/>
              </a:ext>
            </a:extLst>
          </p:cNvPr>
          <p:cNvSpPr/>
          <p:nvPr/>
        </p:nvSpPr>
        <p:spPr>
          <a:xfrm>
            <a:off x="8771481" y="5175504"/>
            <a:ext cx="2157984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93" name="Image 6" descr="preencoded.png">
            <a:extLst>
              <a:ext uri="{FF2B5EF4-FFF2-40B4-BE49-F238E27FC236}">
                <a16:creationId xmlns:a16="http://schemas.microsoft.com/office/drawing/2014/main" id="{EEAAC341-2131-9543-2CBD-CBDD22BA89B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17785" y="5321808"/>
            <a:ext cx="292608" cy="292608"/>
          </a:xfrm>
          <a:prstGeom prst="rect">
            <a:avLst/>
          </a:prstGeom>
        </p:spPr>
      </p:pic>
      <p:sp>
        <p:nvSpPr>
          <p:cNvPr id="195" name="Text 33">
            <a:extLst>
              <a:ext uri="{FF2B5EF4-FFF2-40B4-BE49-F238E27FC236}">
                <a16:creationId xmlns:a16="http://schemas.microsoft.com/office/drawing/2014/main" id="{FED00D10-7091-BEE3-0C15-7325573C529A}"/>
              </a:ext>
            </a:extLst>
          </p:cNvPr>
          <p:cNvSpPr/>
          <p:nvPr/>
        </p:nvSpPr>
        <p:spPr>
          <a:xfrm>
            <a:off x="8917785" y="5687568"/>
            <a:ext cx="18836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 Reduce Downtime</a:t>
            </a:r>
            <a:endParaRPr lang="en-US" sz="1200" dirty="0"/>
          </a:p>
          <a:p>
            <a:pPr marL="0" indent="0">
              <a:buNone/>
            </a:pPr>
            <a:r>
              <a:rPr lang="en-US" sz="86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Deloitte — 91% of industries report fewer unplanned stoppages after PdM.</a:t>
            </a:r>
            <a:endParaRPr lang="en-US" sz="1200" dirty="0"/>
          </a:p>
        </p:txBody>
      </p:sp>
      <p:sp>
        <p:nvSpPr>
          <p:cNvPr id="197" name="Text 34">
            <a:extLst>
              <a:ext uri="{FF2B5EF4-FFF2-40B4-BE49-F238E27FC236}">
                <a16:creationId xmlns:a16="http://schemas.microsoft.com/office/drawing/2014/main" id="{5CC714E2-E595-960C-AA78-A023248DDDEF}"/>
              </a:ext>
            </a:extLst>
          </p:cNvPr>
          <p:cNvSpPr/>
          <p:nvPr/>
        </p:nvSpPr>
        <p:spPr>
          <a:xfrm>
            <a:off x="75537" y="6510528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The Business Research Company (MRO 2025–2030) · Fortune Business Insights (PdM 2025–2034) · PwC · Deloitte. MRO corrected from the old base (US$ 450B).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2">
            <a:extLst>
              <a:ext uri="{FF2B5EF4-FFF2-40B4-BE49-F238E27FC236}">
                <a16:creationId xmlns:a16="http://schemas.microsoft.com/office/drawing/2014/main" id="{9A3A1182-8802-2597-98DA-C760B01D340A}"/>
              </a:ext>
            </a:extLst>
          </p:cNvPr>
          <p:cNvSpPr/>
          <p:nvPr/>
        </p:nvSpPr>
        <p:spPr>
          <a:xfrm>
            <a:off x="338328" y="1032079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Context: Industrial Maintenance </a:t>
            </a:r>
            <a:r>
              <a:rPr lang="en-US" sz="27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Brazil</a:t>
            </a:r>
            <a:endParaRPr lang="en-US" sz="2700" dirty="0"/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A71A5763-0886-F266-6D9F-BC021511FAC3}"/>
              </a:ext>
            </a:extLst>
          </p:cNvPr>
          <p:cNvSpPr/>
          <p:nvPr/>
        </p:nvSpPr>
        <p:spPr>
          <a:xfrm>
            <a:off x="502920" y="2506649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Brazilian industrial maintenance sector is going through a significant transformation. </a:t>
            </a: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resumption of industrial investment and pressure for operational efficiency, large industrial companies face the challenge of building robust, highly qualified supply chains for 2025/2026.</a:t>
            </a:r>
            <a:endParaRPr lang="en-US" sz="1250" dirty="0"/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0B3310DA-1A20-F06D-71CF-5EF396754D1F}"/>
              </a:ext>
            </a:extLst>
          </p:cNvPr>
          <p:cNvSpPr/>
          <p:nvPr/>
        </p:nvSpPr>
        <p:spPr>
          <a:xfrm>
            <a:off x="502920" y="3814241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national market offers unique opportunities: </a:t>
            </a: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developing technical labor, advances in automation and growing adoption of predictive practices raise the bar required from suppliers.</a:t>
            </a:r>
            <a:endParaRPr lang="en-US" sz="1200" dirty="0"/>
          </a:p>
        </p:txBody>
      </p:sp>
      <p:sp>
        <p:nvSpPr>
          <p:cNvPr id="20" name="Shape 6">
            <a:extLst>
              <a:ext uri="{FF2B5EF4-FFF2-40B4-BE49-F238E27FC236}">
                <a16:creationId xmlns:a16="http://schemas.microsoft.com/office/drawing/2014/main" id="{B3EDAB5C-605F-8319-890B-618D58FCD490}"/>
              </a:ext>
            </a:extLst>
          </p:cNvPr>
          <p:cNvSpPr/>
          <p:nvPr/>
        </p:nvSpPr>
        <p:spPr>
          <a:xfrm>
            <a:off x="6156960" y="2017644"/>
            <a:ext cx="5532120" cy="1060704"/>
          </a:xfrm>
          <a:prstGeom prst="roundRect">
            <a:avLst>
              <a:gd name="adj" fmla="val 7759"/>
            </a:avLst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7">
            <a:extLst>
              <a:ext uri="{FF2B5EF4-FFF2-40B4-BE49-F238E27FC236}">
                <a16:creationId xmlns:a16="http://schemas.microsoft.com/office/drawing/2014/main" id="{03C77660-62BC-24FA-8055-831273418F39}"/>
              </a:ext>
            </a:extLst>
          </p:cNvPr>
          <p:cNvSpPr/>
          <p:nvPr/>
        </p:nvSpPr>
        <p:spPr>
          <a:xfrm>
            <a:off x="6303264" y="2163948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2A4A8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2" descr="preencoded.png">
            <a:extLst>
              <a:ext uri="{FF2B5EF4-FFF2-40B4-BE49-F238E27FC236}">
                <a16:creationId xmlns:a16="http://schemas.microsoft.com/office/drawing/2014/main" id="{E4595953-08C3-54A2-6FDF-A313102939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5560" y="2246244"/>
            <a:ext cx="256032" cy="256032"/>
          </a:xfrm>
          <a:prstGeom prst="rect">
            <a:avLst/>
          </a:prstGeom>
        </p:spPr>
      </p:pic>
      <p:sp>
        <p:nvSpPr>
          <p:cNvPr id="26" name="Text 8">
            <a:extLst>
              <a:ext uri="{FF2B5EF4-FFF2-40B4-BE49-F238E27FC236}">
                <a16:creationId xmlns:a16="http://schemas.microsoft.com/office/drawing/2014/main" id="{174875FB-DEC7-D9D6-65E6-8CC884A9AD8C}"/>
              </a:ext>
            </a:extLst>
          </p:cNvPr>
          <p:cNvSpPr/>
          <p:nvPr/>
        </p:nvSpPr>
        <p:spPr>
          <a:xfrm>
            <a:off x="6842760" y="2090796"/>
            <a:ext cx="47091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Growth</a:t>
            </a:r>
            <a:endParaRPr lang="en-US" sz="1150" dirty="0"/>
          </a:p>
          <a:p>
            <a:pPr marL="0" indent="0">
              <a:buNone/>
            </a:pPr>
            <a:r>
              <a:rPr lang="en-US" sz="880" dirty="0">
                <a:solidFill>
                  <a:srgbClr val="C7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ABIMAQ: the machinery and equipment sector posted R$ 298.9B revenue in 2025 (+7.3%), with a domestic market of R$ 221.6B (+8.4%) and 418k direct jobs. Industrial assembly: R$ 14.9B (+260% since 2018).</a:t>
            </a:r>
            <a:endParaRPr lang="en-US" sz="1150" dirty="0"/>
          </a:p>
        </p:txBody>
      </p:sp>
      <p:sp>
        <p:nvSpPr>
          <p:cNvPr id="28" name="Shape 9">
            <a:extLst>
              <a:ext uri="{FF2B5EF4-FFF2-40B4-BE49-F238E27FC236}">
                <a16:creationId xmlns:a16="http://schemas.microsoft.com/office/drawing/2014/main" id="{6F628182-2BF3-781F-6C5A-3FFF174DA795}"/>
              </a:ext>
            </a:extLst>
          </p:cNvPr>
          <p:cNvSpPr/>
          <p:nvPr/>
        </p:nvSpPr>
        <p:spPr>
          <a:xfrm>
            <a:off x="6156960" y="3188076"/>
            <a:ext cx="5532120" cy="1060704"/>
          </a:xfrm>
          <a:prstGeom prst="roundRect">
            <a:avLst>
              <a:gd name="adj" fmla="val 7759"/>
            </a:avLst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10">
            <a:extLst>
              <a:ext uri="{FF2B5EF4-FFF2-40B4-BE49-F238E27FC236}">
                <a16:creationId xmlns:a16="http://schemas.microsoft.com/office/drawing/2014/main" id="{713E0D12-0660-CE27-AB3B-BA78F68423F7}"/>
              </a:ext>
            </a:extLst>
          </p:cNvPr>
          <p:cNvSpPr/>
          <p:nvPr/>
        </p:nvSpPr>
        <p:spPr>
          <a:xfrm>
            <a:off x="6303264" y="3334380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2A4A8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3" descr="preencoded.png">
            <a:extLst>
              <a:ext uri="{FF2B5EF4-FFF2-40B4-BE49-F238E27FC236}">
                <a16:creationId xmlns:a16="http://schemas.microsoft.com/office/drawing/2014/main" id="{E45E1FC5-5EC5-C5F2-66C7-B244FF6448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5560" y="3416676"/>
            <a:ext cx="256032" cy="256032"/>
          </a:xfrm>
          <a:prstGeom prst="rect">
            <a:avLst/>
          </a:prstGeom>
        </p:spPr>
      </p:pic>
      <p:sp>
        <p:nvSpPr>
          <p:cNvPr id="34" name="Text 11">
            <a:extLst>
              <a:ext uri="{FF2B5EF4-FFF2-40B4-BE49-F238E27FC236}">
                <a16:creationId xmlns:a16="http://schemas.microsoft.com/office/drawing/2014/main" id="{9A38EB4C-E1AA-7A15-1FC7-C0AD13F6D9EF}"/>
              </a:ext>
            </a:extLst>
          </p:cNvPr>
          <p:cNvSpPr/>
          <p:nvPr/>
        </p:nvSpPr>
        <p:spPr>
          <a:xfrm>
            <a:off x="6842760" y="3261228"/>
            <a:ext cx="47091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Digitalization</a:t>
            </a:r>
            <a:endParaRPr lang="en-US" sz="1150" dirty="0"/>
          </a:p>
          <a:p>
            <a:pPr marL="0" indent="0">
              <a:buNone/>
            </a:pPr>
            <a:r>
              <a:rPr lang="en-US" sz="880" dirty="0">
                <a:solidFill>
                  <a:srgbClr val="C7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automation in Brazil: US$ 11.2B in 2025 → US$ 16.7B by 2031 (6.8% CAGR, Mordor). IoT and AI accelerate demand for suppliers specialized in predictive maintenance.</a:t>
            </a:r>
            <a:endParaRPr lang="en-US" sz="1150" dirty="0"/>
          </a:p>
        </p:txBody>
      </p:sp>
      <p:sp>
        <p:nvSpPr>
          <p:cNvPr id="36" name="Shape 12">
            <a:extLst>
              <a:ext uri="{FF2B5EF4-FFF2-40B4-BE49-F238E27FC236}">
                <a16:creationId xmlns:a16="http://schemas.microsoft.com/office/drawing/2014/main" id="{E4F2B2C7-9CA3-BA91-57BB-56F80337900F}"/>
              </a:ext>
            </a:extLst>
          </p:cNvPr>
          <p:cNvSpPr/>
          <p:nvPr/>
        </p:nvSpPr>
        <p:spPr>
          <a:xfrm>
            <a:off x="6156960" y="4358508"/>
            <a:ext cx="5532120" cy="1060704"/>
          </a:xfrm>
          <a:prstGeom prst="roundRect">
            <a:avLst>
              <a:gd name="adj" fmla="val 7759"/>
            </a:avLst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13">
            <a:extLst>
              <a:ext uri="{FF2B5EF4-FFF2-40B4-BE49-F238E27FC236}">
                <a16:creationId xmlns:a16="http://schemas.microsoft.com/office/drawing/2014/main" id="{051A0596-3335-9AEF-6E57-AD2CC085790D}"/>
              </a:ext>
            </a:extLst>
          </p:cNvPr>
          <p:cNvSpPr/>
          <p:nvPr/>
        </p:nvSpPr>
        <p:spPr>
          <a:xfrm>
            <a:off x="6303264" y="4504812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2A4A8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0" name="Image 4" descr="preencoded.png">
            <a:extLst>
              <a:ext uri="{FF2B5EF4-FFF2-40B4-BE49-F238E27FC236}">
                <a16:creationId xmlns:a16="http://schemas.microsoft.com/office/drawing/2014/main" id="{C881BC8E-6072-726F-BC75-B90A90AE86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5560" y="4587108"/>
            <a:ext cx="256032" cy="256032"/>
          </a:xfrm>
          <a:prstGeom prst="rect">
            <a:avLst/>
          </a:prstGeom>
        </p:spPr>
      </p:pic>
      <p:sp>
        <p:nvSpPr>
          <p:cNvPr id="42" name="Text 14">
            <a:extLst>
              <a:ext uri="{FF2B5EF4-FFF2-40B4-BE49-F238E27FC236}">
                <a16:creationId xmlns:a16="http://schemas.microsoft.com/office/drawing/2014/main" id="{6F796A98-5109-A04F-8E0A-32A3C5D6D13B}"/>
              </a:ext>
            </a:extLst>
          </p:cNvPr>
          <p:cNvSpPr/>
          <p:nvPr/>
        </p:nvSpPr>
        <p:spPr>
          <a:xfrm>
            <a:off x="6842760" y="4431660"/>
            <a:ext cx="470916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</a:t>
            </a:r>
            <a:endParaRPr lang="en-US" sz="1150" dirty="0"/>
          </a:p>
          <a:p>
            <a:pPr marL="0" indent="0">
              <a:buNone/>
            </a:pPr>
            <a:r>
              <a:rPr lang="en-US" sz="880" dirty="0">
                <a:solidFill>
                  <a:srgbClr val="C7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NR-12 and NR-13 standards require strict technical compliance from service providers — an entry barrier that values qualified suppliers.</a:t>
            </a:r>
            <a:endParaRPr lang="en-US" sz="1150" dirty="0"/>
          </a:p>
        </p:txBody>
      </p:sp>
      <p:sp>
        <p:nvSpPr>
          <p:cNvPr id="48" name="Text 17">
            <a:extLst>
              <a:ext uri="{FF2B5EF4-FFF2-40B4-BE49-F238E27FC236}">
                <a16:creationId xmlns:a16="http://schemas.microsoft.com/office/drawing/2014/main" id="{C19AB3DB-B2D7-0C20-A455-25CF80140325}"/>
              </a:ext>
            </a:extLst>
          </p:cNvPr>
          <p:cNvSpPr/>
          <p:nvPr/>
        </p:nvSpPr>
        <p:spPr>
          <a:xfrm>
            <a:off x="320040" y="5961491"/>
            <a:ext cx="11155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ABIMAQ (2025 report, Jan/2026) · Mordor Intelligence (Brazil automation 2026–2031) · O Empreiteiro magazine, Brazilian Engineering Ranking 2025 · Internal base: internal analytics internal base (Sep/2026).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 2">
            <a:extLst>
              <a:ext uri="{FF2B5EF4-FFF2-40B4-BE49-F238E27FC236}">
                <a16:creationId xmlns:a16="http://schemas.microsoft.com/office/drawing/2014/main" id="{EDBE0572-1348-4ACE-21F2-40389BD173B4}"/>
              </a:ext>
            </a:extLst>
          </p:cNvPr>
          <p:cNvSpPr/>
          <p:nvPr/>
        </p:nvSpPr>
        <p:spPr>
          <a:xfrm>
            <a:off x="457200" y="100584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Sourcing Channels </a:t>
            </a:r>
            <a:r>
              <a:rPr lang="en-US" sz="27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Initiatives</a:t>
            </a:r>
            <a:endParaRPr lang="en-US" sz="2700" dirty="0"/>
          </a:p>
        </p:txBody>
      </p:sp>
      <p:sp>
        <p:nvSpPr>
          <p:cNvPr id="52" name="Shape 4">
            <a:extLst>
              <a:ext uri="{FF2B5EF4-FFF2-40B4-BE49-F238E27FC236}">
                <a16:creationId xmlns:a16="http://schemas.microsoft.com/office/drawing/2014/main" id="{2FF93725-675C-526B-9311-158516EEDE9F}"/>
              </a:ext>
            </a:extLst>
          </p:cNvPr>
          <p:cNvSpPr/>
          <p:nvPr/>
        </p:nvSpPr>
        <p:spPr>
          <a:xfrm>
            <a:off x="502920" y="1847088"/>
            <a:ext cx="5532120" cy="1627632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Shape 5">
            <a:extLst>
              <a:ext uri="{FF2B5EF4-FFF2-40B4-BE49-F238E27FC236}">
                <a16:creationId xmlns:a16="http://schemas.microsoft.com/office/drawing/2014/main" id="{2901203A-357A-84F3-5F4F-4BBFEB7A7CD2}"/>
              </a:ext>
            </a:extLst>
          </p:cNvPr>
          <p:cNvSpPr/>
          <p:nvPr/>
        </p:nvSpPr>
        <p:spPr>
          <a:xfrm>
            <a:off x="667512" y="2011680"/>
            <a:ext cx="475488" cy="475488"/>
          </a:xfrm>
          <a:prstGeom prst="roundRect">
            <a:avLst>
              <a:gd name="adj" fmla="val 21154"/>
            </a:avLst>
          </a:prstGeom>
          <a:solidFill>
            <a:schemeClr val="accent1"/>
          </a:solidFill>
          <a:ln w="12700">
            <a:solidFill>
              <a:srgbClr val="D8DDF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56" name="Image 2" descr="preencoded.png">
            <a:extLst>
              <a:ext uri="{FF2B5EF4-FFF2-40B4-BE49-F238E27FC236}">
                <a16:creationId xmlns:a16="http://schemas.microsoft.com/office/drawing/2014/main" id="{0BE92D80-0C91-E681-B0EA-0E5201B4AB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121408"/>
            <a:ext cx="256032" cy="256032"/>
          </a:xfrm>
          <a:prstGeom prst="rect">
            <a:avLst/>
          </a:prstGeom>
        </p:spPr>
      </p:pic>
      <p:sp>
        <p:nvSpPr>
          <p:cNvPr id="58" name="Text 6">
            <a:extLst>
              <a:ext uri="{FF2B5EF4-FFF2-40B4-BE49-F238E27FC236}">
                <a16:creationId xmlns:a16="http://schemas.microsoft.com/office/drawing/2014/main" id="{16C5D850-F221-82E2-2113-9A660B391C3F}"/>
              </a:ext>
            </a:extLst>
          </p:cNvPr>
          <p:cNvSpPr/>
          <p:nvPr/>
        </p:nvSpPr>
        <p:spPr>
          <a:xfrm>
            <a:off x="1289304" y="1993392"/>
            <a:ext cx="4572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Presence at Events and Trade Fairs</a:t>
            </a:r>
            <a:endParaRPr lang="en-US" sz="1300" dirty="0"/>
          </a:p>
          <a:p>
            <a:pPr marL="0" indent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M&amp;T Expo, FEIMEC and ABM Week position the buyer as a strategic partner — direct contact with suppliers that are innovative and specialized in industrial maintenance.</a:t>
            </a:r>
            <a:endParaRPr lang="en-US" sz="1300" dirty="0"/>
          </a:p>
        </p:txBody>
      </p:sp>
      <p:sp>
        <p:nvSpPr>
          <p:cNvPr id="60" name="Shape 7">
            <a:extLst>
              <a:ext uri="{FF2B5EF4-FFF2-40B4-BE49-F238E27FC236}">
                <a16:creationId xmlns:a16="http://schemas.microsoft.com/office/drawing/2014/main" id="{B24F704C-EB7A-2D98-693F-26ABF7A678E6}"/>
              </a:ext>
            </a:extLst>
          </p:cNvPr>
          <p:cNvSpPr/>
          <p:nvPr/>
        </p:nvSpPr>
        <p:spPr>
          <a:xfrm>
            <a:off x="6217920" y="1847088"/>
            <a:ext cx="5532120" cy="1627632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2" name="Shape 8">
            <a:extLst>
              <a:ext uri="{FF2B5EF4-FFF2-40B4-BE49-F238E27FC236}">
                <a16:creationId xmlns:a16="http://schemas.microsoft.com/office/drawing/2014/main" id="{02CC2C75-314A-A9A9-437C-82C3DEB913F6}"/>
              </a:ext>
            </a:extLst>
          </p:cNvPr>
          <p:cNvSpPr/>
          <p:nvPr/>
        </p:nvSpPr>
        <p:spPr>
          <a:xfrm>
            <a:off x="6382512" y="2011680"/>
            <a:ext cx="475488" cy="475488"/>
          </a:xfrm>
          <a:prstGeom prst="roundRect">
            <a:avLst>
              <a:gd name="adj" fmla="val 21154"/>
            </a:avLst>
          </a:prstGeom>
          <a:solidFill>
            <a:schemeClr val="accent1"/>
          </a:solidFill>
          <a:ln w="12700">
            <a:solidFill>
              <a:srgbClr val="D8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4" name="Image 3" descr="preencoded.png">
            <a:extLst>
              <a:ext uri="{FF2B5EF4-FFF2-40B4-BE49-F238E27FC236}">
                <a16:creationId xmlns:a16="http://schemas.microsoft.com/office/drawing/2014/main" id="{6AA1A954-9967-9906-2C9A-7DF64AFFE7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2121408"/>
            <a:ext cx="256032" cy="256032"/>
          </a:xfrm>
          <a:prstGeom prst="rect">
            <a:avLst/>
          </a:prstGeom>
        </p:spPr>
      </p:pic>
      <p:sp>
        <p:nvSpPr>
          <p:cNvPr id="66" name="Text 9">
            <a:extLst>
              <a:ext uri="{FF2B5EF4-FFF2-40B4-BE49-F238E27FC236}">
                <a16:creationId xmlns:a16="http://schemas.microsoft.com/office/drawing/2014/main" id="{6B66E04C-A60F-BA5E-8567-4289610569DE}"/>
              </a:ext>
            </a:extLst>
          </p:cNvPr>
          <p:cNvSpPr/>
          <p:nvPr/>
        </p:nvSpPr>
        <p:spPr>
          <a:xfrm>
            <a:off x="7004304" y="1993392"/>
            <a:ext cx="4572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Partnerships with SENAI and Universities</a:t>
            </a:r>
            <a:endParaRPr lang="en-US" sz="1300" dirty="0"/>
          </a:p>
          <a:p>
            <a:pPr marL="0" indent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programs with technical institutions identify emerging companies and qualified professionals — a pipeline of suppliers trained to world-class standards.</a:t>
            </a:r>
            <a:endParaRPr lang="en-US" sz="1300" dirty="0"/>
          </a:p>
        </p:txBody>
      </p:sp>
      <p:sp>
        <p:nvSpPr>
          <p:cNvPr id="68" name="Shape 10">
            <a:extLst>
              <a:ext uri="{FF2B5EF4-FFF2-40B4-BE49-F238E27FC236}">
                <a16:creationId xmlns:a16="http://schemas.microsoft.com/office/drawing/2014/main" id="{271A1C9B-5C44-1AA0-CD7F-23D5D03B0AA3}"/>
              </a:ext>
            </a:extLst>
          </p:cNvPr>
          <p:cNvSpPr/>
          <p:nvPr/>
        </p:nvSpPr>
        <p:spPr>
          <a:xfrm>
            <a:off x="502920" y="3602736"/>
            <a:ext cx="5532120" cy="1627632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0" name="Shape 11">
            <a:extLst>
              <a:ext uri="{FF2B5EF4-FFF2-40B4-BE49-F238E27FC236}">
                <a16:creationId xmlns:a16="http://schemas.microsoft.com/office/drawing/2014/main" id="{F6D4502D-CEF3-F34D-9BDF-C5367282052C}"/>
              </a:ext>
            </a:extLst>
          </p:cNvPr>
          <p:cNvSpPr/>
          <p:nvPr/>
        </p:nvSpPr>
        <p:spPr>
          <a:xfrm>
            <a:off x="667512" y="3767328"/>
            <a:ext cx="475488" cy="475488"/>
          </a:xfrm>
          <a:prstGeom prst="roundRect">
            <a:avLst>
              <a:gd name="adj" fmla="val 21154"/>
            </a:avLst>
          </a:prstGeom>
          <a:solidFill>
            <a:schemeClr val="accent1"/>
          </a:solidFill>
          <a:ln w="12700">
            <a:solidFill>
              <a:srgbClr val="D8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2" name="Image 4" descr="preencoded.png">
            <a:extLst>
              <a:ext uri="{FF2B5EF4-FFF2-40B4-BE49-F238E27FC236}">
                <a16:creationId xmlns:a16="http://schemas.microsoft.com/office/drawing/2014/main" id="{8BF97DEA-E388-CD63-BF18-573ECBEABB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877056"/>
            <a:ext cx="256032" cy="256032"/>
          </a:xfrm>
          <a:prstGeom prst="rect">
            <a:avLst/>
          </a:prstGeom>
        </p:spPr>
      </p:pic>
      <p:sp>
        <p:nvSpPr>
          <p:cNvPr id="74" name="Text 12">
            <a:extLst>
              <a:ext uri="{FF2B5EF4-FFF2-40B4-BE49-F238E27FC236}">
                <a16:creationId xmlns:a16="http://schemas.microsoft.com/office/drawing/2014/main" id="{1E5218FC-5212-224D-258E-CF7542623B9C}"/>
              </a:ext>
            </a:extLst>
          </p:cNvPr>
          <p:cNvSpPr/>
          <p:nvPr/>
        </p:nvSpPr>
        <p:spPr>
          <a:xfrm>
            <a:off x="1289304" y="3749040"/>
            <a:ext cx="4572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Qualification Platforms</a:t>
            </a:r>
            <a:endParaRPr lang="en-US" sz="1300" dirty="0"/>
          </a:p>
          <a:p>
            <a:pPr marL="0" indent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registration and online qualification portal streamlines sourcing — suppliers from all over Brazil apply with agile, transparent technical and financial documentation.</a:t>
            </a:r>
            <a:endParaRPr lang="en-US" sz="1300" dirty="0"/>
          </a:p>
        </p:txBody>
      </p:sp>
      <p:sp>
        <p:nvSpPr>
          <p:cNvPr id="76" name="Shape 13">
            <a:extLst>
              <a:ext uri="{FF2B5EF4-FFF2-40B4-BE49-F238E27FC236}">
                <a16:creationId xmlns:a16="http://schemas.microsoft.com/office/drawing/2014/main" id="{D1FE4060-B32B-0DCA-A050-3FDC736F059C}"/>
              </a:ext>
            </a:extLst>
          </p:cNvPr>
          <p:cNvSpPr/>
          <p:nvPr/>
        </p:nvSpPr>
        <p:spPr>
          <a:xfrm>
            <a:off x="6217920" y="3602736"/>
            <a:ext cx="5532120" cy="1627632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94A3B8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8" name="Shape 14">
            <a:extLst>
              <a:ext uri="{FF2B5EF4-FFF2-40B4-BE49-F238E27FC236}">
                <a16:creationId xmlns:a16="http://schemas.microsoft.com/office/drawing/2014/main" id="{CE07B895-CA7C-3C7F-6F22-9D7823193309}"/>
              </a:ext>
            </a:extLst>
          </p:cNvPr>
          <p:cNvSpPr/>
          <p:nvPr/>
        </p:nvSpPr>
        <p:spPr>
          <a:xfrm>
            <a:off x="6382512" y="3767328"/>
            <a:ext cx="475488" cy="475488"/>
          </a:xfrm>
          <a:prstGeom prst="roundRect">
            <a:avLst>
              <a:gd name="adj" fmla="val 21154"/>
            </a:avLst>
          </a:prstGeom>
          <a:solidFill>
            <a:schemeClr val="accent1"/>
          </a:solidFill>
          <a:ln w="12700">
            <a:solidFill>
              <a:srgbClr val="D8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0" name="Image 5" descr="preencoded.png">
            <a:extLst>
              <a:ext uri="{FF2B5EF4-FFF2-40B4-BE49-F238E27FC236}">
                <a16:creationId xmlns:a16="http://schemas.microsoft.com/office/drawing/2014/main" id="{83405AA5-B8BA-3CFC-B724-AF87C162C9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3877056"/>
            <a:ext cx="256032" cy="256032"/>
          </a:xfrm>
          <a:prstGeom prst="rect">
            <a:avLst/>
          </a:prstGeom>
        </p:spPr>
      </p:pic>
      <p:sp>
        <p:nvSpPr>
          <p:cNvPr id="82" name="Text 15">
            <a:extLst>
              <a:ext uri="{FF2B5EF4-FFF2-40B4-BE49-F238E27FC236}">
                <a16:creationId xmlns:a16="http://schemas.microsoft.com/office/drawing/2014/main" id="{C8AAD0C8-72E9-36D1-FCAA-476CC8023AB7}"/>
              </a:ext>
            </a:extLst>
          </p:cNvPr>
          <p:cNvSpPr/>
          <p:nvPr/>
        </p:nvSpPr>
        <p:spPr>
          <a:xfrm>
            <a:off x="7004304" y="3749040"/>
            <a:ext cx="4572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Referral Program</a:t>
            </a:r>
            <a:endParaRPr lang="en-US" sz="1300" dirty="0"/>
          </a:p>
          <a:p>
            <a:pPr marL="0" indent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partners and the company employees refer trusted suppliers — fast screening leveraging the relationship networks of the national industrial ecosystem.</a:t>
            </a:r>
            <a:endParaRPr lang="en-US" sz="1300" dirty="0"/>
          </a:p>
        </p:txBody>
      </p:sp>
      <p:sp>
        <p:nvSpPr>
          <p:cNvPr id="84" name="Shape 16">
            <a:extLst>
              <a:ext uri="{FF2B5EF4-FFF2-40B4-BE49-F238E27FC236}">
                <a16:creationId xmlns:a16="http://schemas.microsoft.com/office/drawing/2014/main" id="{D84B3BAD-EBE2-447A-517E-9999E2D2055F}"/>
              </a:ext>
            </a:extLst>
          </p:cNvPr>
          <p:cNvSpPr/>
          <p:nvPr/>
        </p:nvSpPr>
        <p:spPr>
          <a:xfrm>
            <a:off x="393192" y="5493159"/>
            <a:ext cx="11183112" cy="658368"/>
          </a:xfrm>
          <a:prstGeom prst="roundRect">
            <a:avLst>
              <a:gd name="adj" fmla="val 12500"/>
            </a:avLst>
          </a:prstGeom>
          <a:solidFill>
            <a:srgbClr val="E8EBF8"/>
          </a:solidFill>
          <a:ln w="12700">
            <a:solidFill>
              <a:srgbClr val="2750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17">
            <a:extLst>
              <a:ext uri="{FF2B5EF4-FFF2-40B4-BE49-F238E27FC236}">
                <a16:creationId xmlns:a16="http://schemas.microsoft.com/office/drawing/2014/main" id="{8BDA4D40-B833-219E-57CA-0DE10D6BFFE6}"/>
              </a:ext>
            </a:extLst>
          </p:cNvPr>
          <p:cNvSpPr/>
          <p:nvPr/>
        </p:nvSpPr>
        <p:spPr>
          <a:xfrm>
            <a:off x="589788" y="5577840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TO THE ANALYSIS — </a:t>
            </a: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consolidated tail of the 3 families (47 · 118 · 318 suppliers outside the Top) is the natural target for sourcing: qualifying and grouping similar demands reduces transaction cost and local dependency.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71337CDA-2E62-7ED4-8CEB-0429BE888EC1}"/>
              </a:ext>
            </a:extLst>
          </p:cNvPr>
          <p:cNvSpPr/>
          <p:nvPr/>
        </p:nvSpPr>
        <p:spPr>
          <a:xfrm>
            <a:off x="402336" y="969264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Attract </a:t>
            </a:r>
            <a:r>
              <a:rPr lang="en-US" sz="27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Suppliers?</a:t>
            </a:r>
            <a:endParaRPr lang="en-US" sz="27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64494368-839F-F143-2F16-9BD4859C9FF9}"/>
              </a:ext>
            </a:extLst>
          </p:cNvPr>
          <p:cNvSpPr/>
          <p:nvPr/>
        </p:nvSpPr>
        <p:spPr>
          <a:xfrm>
            <a:off x="502920" y="1719072"/>
            <a:ext cx="5532120" cy="1755648"/>
          </a:xfrm>
          <a:prstGeom prst="roundRect">
            <a:avLst>
              <a:gd name="adj" fmla="val 5208"/>
            </a:avLst>
          </a:prstGeom>
          <a:solidFill>
            <a:srgbClr val="E7F6EF"/>
          </a:solidFill>
          <a:ln w="12700">
            <a:solidFill>
              <a:srgbClr val="BFE5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621DDD91-A1F1-92DC-ACE9-65E54FBB2DA7}"/>
              </a:ext>
            </a:extLst>
          </p:cNvPr>
          <p:cNvSpPr/>
          <p:nvPr/>
        </p:nvSpPr>
        <p:spPr>
          <a:xfrm>
            <a:off x="667512" y="1865376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BFE5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2" descr="preencoded.png">
            <a:extLst>
              <a:ext uri="{FF2B5EF4-FFF2-40B4-BE49-F238E27FC236}">
                <a16:creationId xmlns:a16="http://schemas.microsoft.com/office/drawing/2014/main" id="{EAF1C034-A920-B26E-94AB-22A6C344A2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1965960"/>
            <a:ext cx="256032" cy="256032"/>
          </a:xfrm>
          <a:prstGeom prst="rect">
            <a:avLst/>
          </a:prstGeom>
        </p:spPr>
      </p:pic>
      <p:sp>
        <p:nvSpPr>
          <p:cNvPr id="12" name="Text 6">
            <a:extLst>
              <a:ext uri="{FF2B5EF4-FFF2-40B4-BE49-F238E27FC236}">
                <a16:creationId xmlns:a16="http://schemas.microsoft.com/office/drawing/2014/main" id="{59128A3E-49AD-5BA4-80B6-10CA4FCB3B24}"/>
              </a:ext>
            </a:extLst>
          </p:cNvPr>
          <p:cNvSpPr/>
          <p:nvPr/>
        </p:nvSpPr>
        <p:spPr>
          <a:xfrm>
            <a:off x="1252728" y="1883664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9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</a:t>
            </a:r>
            <a:endParaRPr lang="en-US" sz="1500" dirty="0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6B95066A-1B3F-9731-66E6-51BF96C86AD4}"/>
              </a:ext>
            </a:extLst>
          </p:cNvPr>
          <p:cNvSpPr/>
          <p:nvPr/>
        </p:nvSpPr>
        <p:spPr>
          <a:xfrm>
            <a:off x="722376" y="2377440"/>
            <a:ext cx="51206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E9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Operational resilience — </a:t>
            </a: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diversification reduces disruption risk (today: Supplier A at R$ 20.7M in Family 2/Family 3).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1E9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Local development — </a:t>
            </a: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regional industrial ecosystem (ABIMAQ: R$ 298.9B in 2025, +7.3%).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1E9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Expanded base — </a:t>
            </a: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506 suppliers mapped across the 3 families; more qualified options per category.</a:t>
            </a:r>
            <a:endParaRPr lang="en-US" sz="950" dirty="0"/>
          </a:p>
        </p:txBody>
      </p:sp>
      <p:sp>
        <p:nvSpPr>
          <p:cNvPr id="17" name="Shape 8">
            <a:extLst>
              <a:ext uri="{FF2B5EF4-FFF2-40B4-BE49-F238E27FC236}">
                <a16:creationId xmlns:a16="http://schemas.microsoft.com/office/drawing/2014/main" id="{FE9E73DF-28BA-89BF-C7A2-8F1F1BE481D5}"/>
              </a:ext>
            </a:extLst>
          </p:cNvPr>
          <p:cNvSpPr/>
          <p:nvPr/>
        </p:nvSpPr>
        <p:spPr>
          <a:xfrm>
            <a:off x="6217920" y="1719072"/>
            <a:ext cx="5532120" cy="1755648"/>
          </a:xfrm>
          <a:prstGeom prst="roundRect">
            <a:avLst>
              <a:gd name="adj" fmla="val 5208"/>
            </a:avLst>
          </a:prstGeom>
          <a:solidFill>
            <a:srgbClr val="FEF6E7"/>
          </a:solidFill>
          <a:ln w="12700">
            <a:solidFill>
              <a:srgbClr val="F2D9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9">
            <a:extLst>
              <a:ext uri="{FF2B5EF4-FFF2-40B4-BE49-F238E27FC236}">
                <a16:creationId xmlns:a16="http://schemas.microsoft.com/office/drawing/2014/main" id="{D011352A-2C13-7187-2069-F6F483BD1209}"/>
              </a:ext>
            </a:extLst>
          </p:cNvPr>
          <p:cNvSpPr/>
          <p:nvPr/>
        </p:nvSpPr>
        <p:spPr>
          <a:xfrm>
            <a:off x="6382512" y="1865376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F2D9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>
            <a:extLst>
              <a:ext uri="{FF2B5EF4-FFF2-40B4-BE49-F238E27FC236}">
                <a16:creationId xmlns:a16="http://schemas.microsoft.com/office/drawing/2014/main" id="{D98AB2F4-486B-DE0C-6AB4-C15066FEFC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3096" y="1965960"/>
            <a:ext cx="256032" cy="256032"/>
          </a:xfrm>
          <a:prstGeom prst="rect">
            <a:avLst/>
          </a:prstGeom>
        </p:spPr>
      </p:pic>
      <p:sp>
        <p:nvSpPr>
          <p:cNvPr id="23" name="Text 10">
            <a:extLst>
              <a:ext uri="{FF2B5EF4-FFF2-40B4-BE49-F238E27FC236}">
                <a16:creationId xmlns:a16="http://schemas.microsoft.com/office/drawing/2014/main" id="{5EF3802C-97CB-CBD6-A944-33FEC86DBCE4}"/>
              </a:ext>
            </a:extLst>
          </p:cNvPr>
          <p:cNvSpPr/>
          <p:nvPr/>
        </p:nvSpPr>
        <p:spPr>
          <a:xfrm>
            <a:off x="6967728" y="1883664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WEAKNESSES</a:t>
            </a:r>
            <a:endParaRPr lang="en-US" sz="1500" dirty="0"/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B4317F19-3D59-ABA8-AECB-3E8384BB6C87}"/>
              </a:ext>
            </a:extLst>
          </p:cNvPr>
          <p:cNvSpPr/>
          <p:nvPr/>
        </p:nvSpPr>
        <p:spPr>
          <a:xfrm>
            <a:off x="6437376" y="2377440"/>
            <a:ext cx="51206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8A5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Costly qualification — </a:t>
            </a: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and cost of qualification raise the transaction cost.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8A5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Internal technical standards — </a:t>
            </a: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on restrictive specifications limits the candidate funnel.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8A5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Learning curve — </a:t>
            </a: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and suppliers need to absorb standards before full pace.</a:t>
            </a:r>
            <a:endParaRPr lang="en-US" sz="950" dirty="0"/>
          </a:p>
        </p:txBody>
      </p:sp>
      <p:sp>
        <p:nvSpPr>
          <p:cNvPr id="27" name="Shape 12">
            <a:extLst>
              <a:ext uri="{FF2B5EF4-FFF2-40B4-BE49-F238E27FC236}">
                <a16:creationId xmlns:a16="http://schemas.microsoft.com/office/drawing/2014/main" id="{1E5AA023-DC61-DAC1-FBB0-3F916070B176}"/>
              </a:ext>
            </a:extLst>
          </p:cNvPr>
          <p:cNvSpPr/>
          <p:nvPr/>
        </p:nvSpPr>
        <p:spPr>
          <a:xfrm>
            <a:off x="502920" y="3602736"/>
            <a:ext cx="5532120" cy="1755648"/>
          </a:xfrm>
          <a:prstGeom prst="roundRect">
            <a:avLst>
              <a:gd name="adj" fmla="val 5208"/>
            </a:avLst>
          </a:prstGeom>
          <a:solidFill>
            <a:srgbClr val="EEF0FA"/>
          </a:solidFill>
          <a:ln w="12700">
            <a:solidFill>
              <a:srgbClr val="2750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13">
            <a:extLst>
              <a:ext uri="{FF2B5EF4-FFF2-40B4-BE49-F238E27FC236}">
                <a16:creationId xmlns:a16="http://schemas.microsoft.com/office/drawing/2014/main" id="{63EB8829-FFF3-37CB-8545-28262E9C6219}"/>
              </a:ext>
            </a:extLst>
          </p:cNvPr>
          <p:cNvSpPr/>
          <p:nvPr/>
        </p:nvSpPr>
        <p:spPr>
          <a:xfrm>
            <a:off x="667512" y="374904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2750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4" descr="preencoded.png">
            <a:extLst>
              <a:ext uri="{FF2B5EF4-FFF2-40B4-BE49-F238E27FC236}">
                <a16:creationId xmlns:a16="http://schemas.microsoft.com/office/drawing/2014/main" id="{142C5076-C038-75BE-6258-FCFCF2DF80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" y="3849624"/>
            <a:ext cx="256032" cy="256032"/>
          </a:xfrm>
          <a:prstGeom prst="rect">
            <a:avLst/>
          </a:prstGeom>
        </p:spPr>
      </p:pic>
      <p:sp>
        <p:nvSpPr>
          <p:cNvPr id="33" name="Text 14">
            <a:extLst>
              <a:ext uri="{FF2B5EF4-FFF2-40B4-BE49-F238E27FC236}">
                <a16:creationId xmlns:a16="http://schemas.microsoft.com/office/drawing/2014/main" id="{65199B21-888D-C057-5CA8-BDF6930EE70E}"/>
              </a:ext>
            </a:extLst>
          </p:cNvPr>
          <p:cNvSpPr/>
          <p:nvPr/>
        </p:nvSpPr>
        <p:spPr>
          <a:xfrm>
            <a:off x="1252728" y="3767328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750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OPPORTUNITIES</a:t>
            </a:r>
            <a:endParaRPr lang="en-US" sz="1500" dirty="0"/>
          </a:p>
        </p:txBody>
      </p:sp>
      <p:sp>
        <p:nvSpPr>
          <p:cNvPr id="35" name="Text 15">
            <a:extLst>
              <a:ext uri="{FF2B5EF4-FFF2-40B4-BE49-F238E27FC236}">
                <a16:creationId xmlns:a16="http://schemas.microsoft.com/office/drawing/2014/main" id="{4457A1E2-F6BB-DD43-C566-2186966134DD}"/>
              </a:ext>
            </a:extLst>
          </p:cNvPr>
          <p:cNvSpPr/>
          <p:nvPr/>
        </p:nvSpPr>
        <p:spPr>
          <a:xfrm>
            <a:off x="722376" y="4261104"/>
            <a:ext cx="51206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275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PdM, IIoT and Industry 4.0 — </a:t>
            </a: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market of US$ 13.65B → US$ 97.4B by 2034 (24.3% CAGR); Brazil +83% automation / +77% AI.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275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Cost competitiveness — </a:t>
            </a: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players pressure the Top 3 of the 3 families in renegotiations.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275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TCO reduction — </a:t>
            </a: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standardization and competition: average PdM ROI in 14 months.</a:t>
            </a:r>
            <a:endParaRPr lang="en-US" sz="950" dirty="0"/>
          </a:p>
        </p:txBody>
      </p:sp>
      <p:sp>
        <p:nvSpPr>
          <p:cNvPr id="37" name="Shape 16">
            <a:extLst>
              <a:ext uri="{FF2B5EF4-FFF2-40B4-BE49-F238E27FC236}">
                <a16:creationId xmlns:a16="http://schemas.microsoft.com/office/drawing/2014/main" id="{6C7B89C0-F70E-4019-1A53-58EE543D85FB}"/>
              </a:ext>
            </a:extLst>
          </p:cNvPr>
          <p:cNvSpPr/>
          <p:nvPr/>
        </p:nvSpPr>
        <p:spPr>
          <a:xfrm>
            <a:off x="6217920" y="3602736"/>
            <a:ext cx="5532120" cy="1755648"/>
          </a:xfrm>
          <a:prstGeom prst="roundRect">
            <a:avLst>
              <a:gd name="adj" fmla="val 5208"/>
            </a:avLst>
          </a:prstGeom>
          <a:solidFill>
            <a:srgbClr val="FDECEC"/>
          </a:solidFill>
          <a:ln w="12700">
            <a:solidFill>
              <a:srgbClr val="F5C6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17">
            <a:extLst>
              <a:ext uri="{FF2B5EF4-FFF2-40B4-BE49-F238E27FC236}">
                <a16:creationId xmlns:a16="http://schemas.microsoft.com/office/drawing/2014/main" id="{9F1C0343-614A-05BF-3787-FC27D3969A0F}"/>
              </a:ext>
            </a:extLst>
          </p:cNvPr>
          <p:cNvSpPr/>
          <p:nvPr/>
        </p:nvSpPr>
        <p:spPr>
          <a:xfrm>
            <a:off x="6382512" y="374904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F5C6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1" name="Image 5" descr="preencoded.png">
            <a:extLst>
              <a:ext uri="{FF2B5EF4-FFF2-40B4-BE49-F238E27FC236}">
                <a16:creationId xmlns:a16="http://schemas.microsoft.com/office/drawing/2014/main" id="{6C265C11-33E0-DA30-2719-90E3976752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3096" y="3849624"/>
            <a:ext cx="256032" cy="256032"/>
          </a:xfrm>
          <a:prstGeom prst="rect">
            <a:avLst/>
          </a:prstGeom>
        </p:spPr>
      </p:pic>
      <p:sp>
        <p:nvSpPr>
          <p:cNvPr id="43" name="Text 18">
            <a:extLst>
              <a:ext uri="{FF2B5EF4-FFF2-40B4-BE49-F238E27FC236}">
                <a16:creationId xmlns:a16="http://schemas.microsoft.com/office/drawing/2014/main" id="{2960DBFD-44A6-0781-8BEA-C45A2EA705B3}"/>
              </a:ext>
            </a:extLst>
          </p:cNvPr>
          <p:cNvSpPr/>
          <p:nvPr/>
        </p:nvSpPr>
        <p:spPr>
          <a:xfrm>
            <a:off x="6967728" y="3767328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THREATS</a:t>
            </a:r>
            <a:endParaRPr lang="en-US" sz="1500" dirty="0"/>
          </a:p>
        </p:txBody>
      </p:sp>
      <p:sp>
        <p:nvSpPr>
          <p:cNvPr id="45" name="Text 19">
            <a:extLst>
              <a:ext uri="{FF2B5EF4-FFF2-40B4-BE49-F238E27FC236}">
                <a16:creationId xmlns:a16="http://schemas.microsoft.com/office/drawing/2014/main" id="{664BD9EB-80FB-1466-0DF7-0DDC6C79ADDA}"/>
              </a:ext>
            </a:extLst>
          </p:cNvPr>
          <p:cNvSpPr/>
          <p:nvPr/>
        </p:nvSpPr>
        <p:spPr>
          <a:xfrm>
            <a:off x="6437376" y="4261104"/>
            <a:ext cx="51206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Economic instability — </a:t>
            </a: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2025–2026 FX and record imports (US$ 32.1B; China = 32% of total).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Quality risks — </a:t>
            </a: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suppliers without track record require reinforced control (3-WAY).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▪ Long lead times — </a:t>
            </a: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times above the the company standard at non-consolidated suppliers.</a:t>
            </a:r>
            <a:endParaRPr lang="en-US" sz="950" dirty="0"/>
          </a:p>
        </p:txBody>
      </p:sp>
      <p:sp>
        <p:nvSpPr>
          <p:cNvPr id="47" name="Shape 20">
            <a:extLst>
              <a:ext uri="{FF2B5EF4-FFF2-40B4-BE49-F238E27FC236}">
                <a16:creationId xmlns:a16="http://schemas.microsoft.com/office/drawing/2014/main" id="{45451A43-EE61-5BE5-210D-3870E5A622DB}"/>
              </a:ext>
            </a:extLst>
          </p:cNvPr>
          <p:cNvSpPr/>
          <p:nvPr/>
        </p:nvSpPr>
        <p:spPr>
          <a:xfrm>
            <a:off x="251460" y="5522976"/>
            <a:ext cx="11183112" cy="566928"/>
          </a:xfrm>
          <a:prstGeom prst="roundRect">
            <a:avLst>
              <a:gd name="adj" fmla="val 14516"/>
            </a:avLst>
          </a:prstGeom>
          <a:solidFill>
            <a:srgbClr val="E8EBF8"/>
          </a:solidFill>
          <a:ln w="12700">
            <a:solidFill>
              <a:srgbClr val="2750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21">
            <a:extLst>
              <a:ext uri="{FF2B5EF4-FFF2-40B4-BE49-F238E27FC236}">
                <a16:creationId xmlns:a16="http://schemas.microsoft.com/office/drawing/2014/main" id="{F17CEFEC-E7E2-4207-63A5-94EF54CF3013}"/>
              </a:ext>
            </a:extLst>
          </p:cNvPr>
          <p:cNvSpPr/>
          <p:nvPr/>
        </p:nvSpPr>
        <p:spPr>
          <a:xfrm>
            <a:off x="452628" y="5596128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TO THE ANALYSIS — </a:t>
            </a: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sourcing targets the tails of the 3 families (47 · 118 · 318 suppliers outside the Top): more competition per lot, less local dependency and real negotiation leverage.</a:t>
            </a:r>
            <a:endParaRPr lang="en-US" sz="950" dirty="0"/>
          </a:p>
        </p:txBody>
      </p:sp>
      <p:sp>
        <p:nvSpPr>
          <p:cNvPr id="51" name="Text 28">
            <a:extLst>
              <a:ext uri="{FF2B5EF4-FFF2-40B4-BE49-F238E27FC236}">
                <a16:creationId xmlns:a16="http://schemas.microsoft.com/office/drawing/2014/main" id="{91B0C8E5-7626-5C6D-DB1E-AB4AE9FE4111}"/>
              </a:ext>
            </a:extLst>
          </p:cNvPr>
          <p:cNvSpPr/>
          <p:nvPr/>
        </p:nvSpPr>
        <p:spPr>
          <a:xfrm>
            <a:off x="251460" y="6217920"/>
            <a:ext cx="7470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Fortune Business Insights (PdM) · ABIMAQ (2025) · internal analytics internal base (Sep/2026).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 2">
            <a:extLst>
              <a:ext uri="{FF2B5EF4-FFF2-40B4-BE49-F238E27FC236}">
                <a16:creationId xmlns:a16="http://schemas.microsoft.com/office/drawing/2014/main" id="{B10FCD35-495B-3450-7892-802645D6B4E0}"/>
              </a:ext>
            </a:extLst>
          </p:cNvPr>
          <p:cNvSpPr/>
          <p:nvPr/>
        </p:nvSpPr>
        <p:spPr>
          <a:xfrm>
            <a:off x="194807" y="805467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Largest </a:t>
            </a:r>
            <a:r>
              <a:rPr lang="en-US" sz="27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Assembly Companies</a:t>
            </a:r>
            <a:endParaRPr lang="en-US" sz="2700" dirty="0"/>
          </a:p>
        </p:txBody>
      </p:sp>
      <p:sp>
        <p:nvSpPr>
          <p:cNvPr id="84" name="Text 3">
            <a:extLst>
              <a:ext uri="{FF2B5EF4-FFF2-40B4-BE49-F238E27FC236}">
                <a16:creationId xmlns:a16="http://schemas.microsoft.com/office/drawing/2014/main" id="{ABAE0C2D-5B06-094B-08C9-0F3ED2658997}"/>
              </a:ext>
            </a:extLst>
          </p:cNvPr>
          <p:cNvSpPr/>
          <p:nvPr/>
        </p:nvSpPr>
        <p:spPr>
          <a:xfrm>
            <a:off x="194807" y="1280955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Brazilian Engineering Ranking 2025</a:t>
            </a: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 Empreiteiro magazine (OE-602), pp. 316–318 · audited 2024 gross revenue.</a:t>
            </a:r>
            <a:endParaRPr lang="en-US" sz="1150" dirty="0"/>
          </a:p>
        </p:txBody>
      </p:sp>
      <p:graphicFrame>
        <p:nvGraphicFramePr>
          <p:cNvPr id="86" name="Table 0">
            <a:extLst>
              <a:ext uri="{FF2B5EF4-FFF2-40B4-BE49-F238E27FC236}">
                <a16:creationId xmlns:a16="http://schemas.microsoft.com/office/drawing/2014/main" id="{B2D51C06-5F0E-AFE7-F0EB-B86A60BD3C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4056455"/>
              </p:ext>
            </p:extLst>
          </p:nvPr>
        </p:nvGraphicFramePr>
        <p:xfrm>
          <a:off x="194807" y="1701579"/>
          <a:ext cx="11183112" cy="3685032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71907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2024 (R$ K)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YoY 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2023 (R$ K)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WORTH (R$ K)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TSE ENGENHARIA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2,190,364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E9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1,635,133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148,886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2,157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G·H·J·K·L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CBSI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1,614,517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E9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1,001,125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84,225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14,521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A–N (ALL)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KAEFER BRASIL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1,445,732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E9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1,439,697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285,979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7,599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A·C·E·G·H·J·K·L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MIP ENGENHARIA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1,323,833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E9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879,844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103,079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B·E·H·J·K·L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TELEMONT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1,188,597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1,274,682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86,201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MILPLAN ENGENHARIA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1,139,268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1,148,628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352,358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5,853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B·E·H·K·L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ENESA ENGENHARIA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918,264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1,386,532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219,026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45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MPE ENGENHARIA 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803,718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E9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653,568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E45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533,637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4,286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1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ALFA ENGENHARIA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713,387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E9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426,987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21,801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1,910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B·C·G·H·I·K·L·M·N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ESTRUTURAS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537,468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E9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393,050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66,009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1,347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H·I·K·L·N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TEMON TÉCNICA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494,732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E9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396,910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15,123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1,476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B·D·E·K·N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MONTCALM MONTAGENS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481,169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1E9E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355,037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120,662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E·H·K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88" name="Shape 4">
            <a:extLst>
              <a:ext uri="{FF2B5EF4-FFF2-40B4-BE49-F238E27FC236}">
                <a16:creationId xmlns:a16="http://schemas.microsoft.com/office/drawing/2014/main" id="{56A89ECB-B507-4D2F-ABA9-587CC8B2894D}"/>
              </a:ext>
            </a:extLst>
          </p:cNvPr>
          <p:cNvSpPr/>
          <p:nvPr/>
        </p:nvSpPr>
        <p:spPr>
          <a:xfrm>
            <a:off x="194807" y="5523771"/>
            <a:ext cx="10827689" cy="694944"/>
          </a:xfrm>
          <a:prstGeom prst="roundRect">
            <a:avLst>
              <a:gd name="adj" fmla="val 11842"/>
            </a:avLst>
          </a:prstGeom>
          <a:solidFill>
            <a:srgbClr val="E7F6EF"/>
          </a:solidFill>
          <a:ln w="12700">
            <a:solidFill>
              <a:srgbClr val="BFE5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0" name="Image 1" descr="preencoded.png">
            <a:extLst>
              <a:ext uri="{FF2B5EF4-FFF2-40B4-BE49-F238E27FC236}">
                <a16:creationId xmlns:a16="http://schemas.microsoft.com/office/drawing/2014/main" id="{94D3C73C-81B2-D317-B57E-35A64E4354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399" y="5752371"/>
            <a:ext cx="256032" cy="256032"/>
          </a:xfrm>
          <a:prstGeom prst="rect">
            <a:avLst/>
          </a:prstGeom>
        </p:spPr>
      </p:pic>
      <p:sp>
        <p:nvSpPr>
          <p:cNvPr id="92" name="Text 5">
            <a:extLst>
              <a:ext uri="{FF2B5EF4-FFF2-40B4-BE49-F238E27FC236}">
                <a16:creationId xmlns:a16="http://schemas.microsoft.com/office/drawing/2014/main" id="{E06E96EF-70BC-B478-95C3-1B358F9568B2}"/>
              </a:ext>
            </a:extLst>
          </p:cNvPr>
          <p:cNvSpPr/>
          <p:nvPr/>
        </p:nvSpPr>
        <p:spPr>
          <a:xfrm>
            <a:off x="734303" y="5578635"/>
            <a:ext cx="101987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9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MPE ENGENHARIA — </a:t>
            </a: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8th position (unchanged vs. previous edition) · +23% YoY · </a:t>
            </a:r>
            <a:r>
              <a:rPr lang="en-US" sz="950" b="1" dirty="0">
                <a:solidFill>
                  <a:srgbClr val="1E9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net worth in the ranking: R$ 533.6M</a:t>
            </a: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4,286 employees · 76% of revenue from </a:t>
            </a:r>
            <a:r>
              <a:rPr lang="en-US" sz="950" dirty="0" err="1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</a:t>
            </a: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(oil &amp; gas). </a:t>
            </a:r>
            <a:r>
              <a:rPr lang="en-US" sz="95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our base: largest supplier of Families 2 and 3 — R$ 20.7M combined (internal base).</a:t>
            </a:r>
            <a:endParaRPr lang="en-US" sz="950" dirty="0"/>
          </a:p>
        </p:txBody>
      </p:sp>
      <p:sp>
        <p:nvSpPr>
          <p:cNvPr id="94" name="Text 6">
            <a:extLst>
              <a:ext uri="{FF2B5EF4-FFF2-40B4-BE49-F238E27FC236}">
                <a16:creationId xmlns:a16="http://schemas.microsoft.com/office/drawing/2014/main" id="{D132FF92-CDD5-8683-AD5F-4D83F4B2CD7C}"/>
              </a:ext>
            </a:extLst>
          </p:cNvPr>
          <p:cNvSpPr/>
          <p:nvPr/>
        </p:nvSpPr>
        <p:spPr>
          <a:xfrm>
            <a:off x="194807" y="6273579"/>
            <a:ext cx="11155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 (OE-602 legend): H Oil/Petrochemical Facilities · K Industrial Plants · L Pipelines · G Transmission Lines · E Port Works · J Offshore Platforms · N/I Not Informed.</a:t>
            </a:r>
            <a:endParaRPr lang="en-US" sz="750" dirty="0"/>
          </a:p>
        </p:txBody>
      </p:sp>
      <p:sp>
        <p:nvSpPr>
          <p:cNvPr id="96" name="Text 7">
            <a:extLst>
              <a:ext uri="{FF2B5EF4-FFF2-40B4-BE49-F238E27FC236}">
                <a16:creationId xmlns:a16="http://schemas.microsoft.com/office/drawing/2014/main" id="{A7EED578-87D1-89A4-B727-674E8A5C7443}"/>
              </a:ext>
            </a:extLst>
          </p:cNvPr>
          <p:cNvSpPr/>
          <p:nvPr/>
        </p:nvSpPr>
        <p:spPr>
          <a:xfrm>
            <a:off x="208523" y="6422268"/>
            <a:ext cx="11155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O Empreiteiro magazine — Brazilian Engineering Ranking 2025, pp. 316–318 (Aug/Sep 2025 ed.) · Internal base: internal analytics internal base (Sep/2026).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2">
            <a:extLst>
              <a:ext uri="{FF2B5EF4-FFF2-40B4-BE49-F238E27FC236}">
                <a16:creationId xmlns:a16="http://schemas.microsoft.com/office/drawing/2014/main" id="{82088184-A24B-A53E-FD8E-331D497C9038}"/>
              </a:ext>
            </a:extLst>
          </p:cNvPr>
          <p:cNvSpPr/>
          <p:nvPr/>
        </p:nvSpPr>
        <p:spPr>
          <a:xfrm>
            <a:off x="206226" y="1002161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 Supplier </a:t>
            </a:r>
            <a:r>
              <a:rPr lang="en-US" sz="27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</a:t>
            </a:r>
            <a:endParaRPr lang="en-US" sz="2700" dirty="0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2B253107-9D56-9CFD-FAFC-03205F3D6C4B}"/>
              </a:ext>
            </a:extLst>
          </p:cNvPr>
          <p:cNvSpPr/>
          <p:nvPr/>
        </p:nvSpPr>
        <p:spPr>
          <a:xfrm>
            <a:off x="206226" y="1476179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purchasing team seeks partners combining technical excellence, cultural alignment and capacity to grow together.</a:t>
            </a:r>
            <a:endParaRPr lang="en-US" sz="1100" dirty="0"/>
          </a:p>
        </p:txBody>
      </p:sp>
      <p:sp>
        <p:nvSpPr>
          <p:cNvPr id="10" name="Shape 4">
            <a:extLst>
              <a:ext uri="{FF2B5EF4-FFF2-40B4-BE49-F238E27FC236}">
                <a16:creationId xmlns:a16="http://schemas.microsoft.com/office/drawing/2014/main" id="{E1F9724C-D678-3CE0-3212-C9C2545A0FD8}"/>
              </a:ext>
            </a:extLst>
          </p:cNvPr>
          <p:cNvSpPr/>
          <p:nvPr/>
        </p:nvSpPr>
        <p:spPr>
          <a:xfrm>
            <a:off x="92856" y="1813772"/>
            <a:ext cx="3840480" cy="310896"/>
          </a:xfrm>
          <a:prstGeom prst="roundRect">
            <a:avLst>
              <a:gd name="adj" fmla="val 50000"/>
            </a:avLst>
          </a:prstGeom>
          <a:solidFill>
            <a:srgbClr val="EEF0FA"/>
          </a:solidFill>
          <a:ln w="12700">
            <a:solidFill>
              <a:srgbClr val="D8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49FD93D9-5C30-FDD5-8DD3-3011419B1D2F}"/>
              </a:ext>
            </a:extLst>
          </p:cNvPr>
          <p:cNvSpPr/>
          <p:nvPr/>
        </p:nvSpPr>
        <p:spPr>
          <a:xfrm>
            <a:off x="92856" y="180462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75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CRITERIA · 3 MANDATORY + 3 DIFFERENTIALS · +1 NEW (PdM)</a:t>
            </a:r>
            <a:endParaRPr lang="en-US" sz="750" dirty="0"/>
          </a:p>
        </p:txBody>
      </p:sp>
      <p:sp>
        <p:nvSpPr>
          <p:cNvPr id="14" name="Shape 6">
            <a:extLst>
              <a:ext uri="{FF2B5EF4-FFF2-40B4-BE49-F238E27FC236}">
                <a16:creationId xmlns:a16="http://schemas.microsoft.com/office/drawing/2014/main" id="{0061DB11-059D-3FDF-74A3-D2886E1B7E6C}"/>
              </a:ext>
            </a:extLst>
          </p:cNvPr>
          <p:cNvSpPr/>
          <p:nvPr/>
        </p:nvSpPr>
        <p:spPr>
          <a:xfrm>
            <a:off x="5791381" y="2807208"/>
            <a:ext cx="21946" cy="1170432"/>
          </a:xfrm>
          <a:prstGeom prst="line">
            <a:avLst/>
          </a:prstGeom>
          <a:noFill/>
          <a:ln w="19050">
            <a:solidFill>
              <a:srgbClr val="A9B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9">
            <a:extLst>
              <a:ext uri="{FF2B5EF4-FFF2-40B4-BE49-F238E27FC236}">
                <a16:creationId xmlns:a16="http://schemas.microsoft.com/office/drawing/2014/main" id="{0C703A84-E2B1-D872-EBC2-BDFB1535B31A}"/>
              </a:ext>
            </a:extLst>
          </p:cNvPr>
          <p:cNvSpPr/>
          <p:nvPr/>
        </p:nvSpPr>
        <p:spPr>
          <a:xfrm>
            <a:off x="5802354" y="3977640"/>
            <a:ext cx="932202" cy="1054561"/>
          </a:xfrm>
          <a:prstGeom prst="line">
            <a:avLst/>
          </a:prstGeom>
          <a:noFill/>
          <a:ln w="19050">
            <a:solidFill>
              <a:srgbClr val="A9BC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13">
            <a:extLst>
              <a:ext uri="{FF2B5EF4-FFF2-40B4-BE49-F238E27FC236}">
                <a16:creationId xmlns:a16="http://schemas.microsoft.com/office/drawing/2014/main" id="{4C5F2594-4731-45C4-23C2-7110E58FE9B1}"/>
              </a:ext>
            </a:extLst>
          </p:cNvPr>
          <p:cNvSpPr/>
          <p:nvPr/>
        </p:nvSpPr>
        <p:spPr>
          <a:xfrm>
            <a:off x="5025114" y="3200400"/>
            <a:ext cx="1554480" cy="1554480"/>
          </a:xfrm>
          <a:prstGeom prst="ellipse">
            <a:avLst/>
          </a:prstGeom>
          <a:solidFill>
            <a:srgbClr val="1F3A6E"/>
          </a:solidFill>
          <a:ln w="317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0" name="Image 1" descr="preencoded.png">
            <a:extLst>
              <a:ext uri="{FF2B5EF4-FFF2-40B4-BE49-F238E27FC236}">
                <a16:creationId xmlns:a16="http://schemas.microsoft.com/office/drawing/2014/main" id="{DAB28C2C-8F8E-25F4-37A8-EB888066BB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7865" y="3414519"/>
            <a:ext cx="384048" cy="384048"/>
          </a:xfrm>
          <a:prstGeom prst="rect">
            <a:avLst/>
          </a:prstGeom>
        </p:spPr>
      </p:pic>
      <p:sp>
        <p:nvSpPr>
          <p:cNvPr id="32" name="Text 14">
            <a:extLst>
              <a:ext uri="{FF2B5EF4-FFF2-40B4-BE49-F238E27FC236}">
                <a16:creationId xmlns:a16="http://schemas.microsoft.com/office/drawing/2014/main" id="{BBC6F2D6-DB3C-9880-DDC8-B278F117769C}"/>
              </a:ext>
            </a:extLst>
          </p:cNvPr>
          <p:cNvSpPr/>
          <p:nvPr/>
        </p:nvSpPr>
        <p:spPr>
          <a:xfrm>
            <a:off x="5189706" y="3858768"/>
            <a:ext cx="1225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</a:t>
            </a:r>
            <a:endParaRPr lang="en-US" sz="1350" dirty="0"/>
          </a:p>
        </p:txBody>
      </p:sp>
      <p:sp>
        <p:nvSpPr>
          <p:cNvPr id="34" name="Text 15">
            <a:extLst>
              <a:ext uri="{FF2B5EF4-FFF2-40B4-BE49-F238E27FC236}">
                <a16:creationId xmlns:a16="http://schemas.microsoft.com/office/drawing/2014/main" id="{0A01C91B-D09C-3CA6-14E4-0DEA6FED959C}"/>
              </a:ext>
            </a:extLst>
          </p:cNvPr>
          <p:cNvSpPr/>
          <p:nvPr/>
        </p:nvSpPr>
        <p:spPr>
          <a:xfrm>
            <a:off x="5189706" y="4133088"/>
            <a:ext cx="1225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</a:t>
            </a:r>
            <a:endParaRPr lang="en-US" sz="1350" dirty="0"/>
          </a:p>
        </p:txBody>
      </p:sp>
      <p:sp>
        <p:nvSpPr>
          <p:cNvPr id="36" name="Shape 16">
            <a:extLst>
              <a:ext uri="{FF2B5EF4-FFF2-40B4-BE49-F238E27FC236}">
                <a16:creationId xmlns:a16="http://schemas.microsoft.com/office/drawing/2014/main" id="{CC4CF3AC-589C-1BFB-F630-7D9B6C965DA4}"/>
              </a:ext>
            </a:extLst>
          </p:cNvPr>
          <p:cNvSpPr/>
          <p:nvPr/>
        </p:nvSpPr>
        <p:spPr>
          <a:xfrm>
            <a:off x="5233316" y="2007326"/>
            <a:ext cx="1261872" cy="12618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17">
            <a:extLst>
              <a:ext uri="{FF2B5EF4-FFF2-40B4-BE49-F238E27FC236}">
                <a16:creationId xmlns:a16="http://schemas.microsoft.com/office/drawing/2014/main" id="{D215EE3B-104E-861B-FA81-5BADA9144ABB}"/>
              </a:ext>
            </a:extLst>
          </p:cNvPr>
          <p:cNvSpPr/>
          <p:nvPr/>
        </p:nvSpPr>
        <p:spPr>
          <a:xfrm>
            <a:off x="5279036" y="2053046"/>
            <a:ext cx="274320" cy="274320"/>
          </a:xfrm>
          <a:prstGeom prst="ellipse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18">
            <a:extLst>
              <a:ext uri="{FF2B5EF4-FFF2-40B4-BE49-F238E27FC236}">
                <a16:creationId xmlns:a16="http://schemas.microsoft.com/office/drawing/2014/main" id="{E00033F9-A766-C24A-29F0-7337F81B13AF}"/>
              </a:ext>
            </a:extLst>
          </p:cNvPr>
          <p:cNvSpPr/>
          <p:nvPr/>
        </p:nvSpPr>
        <p:spPr>
          <a:xfrm>
            <a:off x="5279036" y="202561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pic>
        <p:nvPicPr>
          <p:cNvPr id="42" name="Image 2" descr="preencoded.png">
            <a:extLst>
              <a:ext uri="{FF2B5EF4-FFF2-40B4-BE49-F238E27FC236}">
                <a16:creationId xmlns:a16="http://schemas.microsoft.com/office/drawing/2014/main" id="{3B7F83E9-9BB6-E0C6-CCE0-CF2C392681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0516" y="2071334"/>
            <a:ext cx="347472" cy="347472"/>
          </a:xfrm>
          <a:prstGeom prst="rect">
            <a:avLst/>
          </a:prstGeom>
        </p:spPr>
      </p:pic>
      <p:sp>
        <p:nvSpPr>
          <p:cNvPr id="44" name="Text 19">
            <a:extLst>
              <a:ext uri="{FF2B5EF4-FFF2-40B4-BE49-F238E27FC236}">
                <a16:creationId xmlns:a16="http://schemas.microsoft.com/office/drawing/2014/main" id="{4DA185EF-5432-C522-FAC7-EAB64127EEBC}"/>
              </a:ext>
            </a:extLst>
          </p:cNvPr>
          <p:cNvSpPr/>
          <p:nvPr/>
        </p:nvSpPr>
        <p:spPr>
          <a:xfrm>
            <a:off x="5297324" y="2473670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76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certifications</a:t>
            </a:r>
            <a:endParaRPr lang="en-US" sz="760" dirty="0"/>
          </a:p>
        </p:txBody>
      </p:sp>
      <p:sp>
        <p:nvSpPr>
          <p:cNvPr id="46" name="Text 20">
            <a:extLst>
              <a:ext uri="{FF2B5EF4-FFF2-40B4-BE49-F238E27FC236}">
                <a16:creationId xmlns:a16="http://schemas.microsoft.com/office/drawing/2014/main" id="{1660C4D1-EC03-E935-5EA2-42C04A386B32}"/>
              </a:ext>
            </a:extLst>
          </p:cNvPr>
          <p:cNvSpPr/>
          <p:nvPr/>
        </p:nvSpPr>
        <p:spPr>
          <a:xfrm>
            <a:off x="5297324" y="2784566"/>
            <a:ext cx="1133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9001 · 14001</a:t>
            </a:r>
            <a:endParaRPr lang="en-US" sz="680" dirty="0"/>
          </a:p>
          <a:p>
            <a:pPr marL="0" indent="0" algn="ctr">
              <a:buNone/>
            </a:pPr>
            <a:r>
              <a:rPr lang="en-US" sz="68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NR-12 · NR-13</a:t>
            </a:r>
            <a:endParaRPr lang="en-US" sz="680" dirty="0"/>
          </a:p>
        </p:txBody>
      </p:sp>
      <p:sp>
        <p:nvSpPr>
          <p:cNvPr id="48" name="Shape 21">
            <a:extLst>
              <a:ext uri="{FF2B5EF4-FFF2-40B4-BE49-F238E27FC236}">
                <a16:creationId xmlns:a16="http://schemas.microsoft.com/office/drawing/2014/main" id="{31C1EB08-FCD7-F92C-07E6-610B1DAD416A}"/>
              </a:ext>
            </a:extLst>
          </p:cNvPr>
          <p:cNvSpPr/>
          <p:nvPr/>
        </p:nvSpPr>
        <p:spPr>
          <a:xfrm>
            <a:off x="5384192" y="1760438"/>
            <a:ext cx="960120" cy="192024"/>
          </a:xfrm>
          <a:prstGeom prst="roundRect">
            <a:avLst>
              <a:gd name="adj" fmla="val 47619"/>
            </a:avLst>
          </a:prstGeom>
          <a:solidFill>
            <a:srgbClr val="E457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22">
            <a:extLst>
              <a:ext uri="{FF2B5EF4-FFF2-40B4-BE49-F238E27FC236}">
                <a16:creationId xmlns:a16="http://schemas.microsoft.com/office/drawing/2014/main" id="{C391E520-BACF-CEAC-02DB-59B59482554B}"/>
              </a:ext>
            </a:extLst>
          </p:cNvPr>
          <p:cNvSpPr/>
          <p:nvPr/>
        </p:nvSpPr>
        <p:spPr>
          <a:xfrm>
            <a:off x="5384192" y="1742150"/>
            <a:ext cx="9601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</a:t>
            </a:r>
            <a:endParaRPr lang="en-US" sz="660" dirty="0"/>
          </a:p>
        </p:txBody>
      </p:sp>
      <p:sp>
        <p:nvSpPr>
          <p:cNvPr id="52" name="Shape 23">
            <a:extLst>
              <a:ext uri="{FF2B5EF4-FFF2-40B4-BE49-F238E27FC236}">
                <a16:creationId xmlns:a16="http://schemas.microsoft.com/office/drawing/2014/main" id="{70D2ED65-442E-FBEA-8BD7-646020D086F5}"/>
              </a:ext>
            </a:extLst>
          </p:cNvPr>
          <p:cNvSpPr/>
          <p:nvPr/>
        </p:nvSpPr>
        <p:spPr>
          <a:xfrm>
            <a:off x="6692627" y="2109743"/>
            <a:ext cx="1261872" cy="12618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24">
            <a:extLst>
              <a:ext uri="{FF2B5EF4-FFF2-40B4-BE49-F238E27FC236}">
                <a16:creationId xmlns:a16="http://schemas.microsoft.com/office/drawing/2014/main" id="{E2270151-1B95-E5DE-209C-BEBF476276D6}"/>
              </a:ext>
            </a:extLst>
          </p:cNvPr>
          <p:cNvSpPr/>
          <p:nvPr/>
        </p:nvSpPr>
        <p:spPr>
          <a:xfrm>
            <a:off x="6738347" y="2155463"/>
            <a:ext cx="274320" cy="274320"/>
          </a:xfrm>
          <a:prstGeom prst="ellipse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25">
            <a:extLst>
              <a:ext uri="{FF2B5EF4-FFF2-40B4-BE49-F238E27FC236}">
                <a16:creationId xmlns:a16="http://schemas.microsoft.com/office/drawing/2014/main" id="{FF238EAC-0266-CEE3-321E-A9303BA4A589}"/>
              </a:ext>
            </a:extLst>
          </p:cNvPr>
          <p:cNvSpPr/>
          <p:nvPr/>
        </p:nvSpPr>
        <p:spPr>
          <a:xfrm>
            <a:off x="6738347" y="212803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pic>
        <p:nvPicPr>
          <p:cNvPr id="58" name="Image 3" descr="preencoded.png">
            <a:extLst>
              <a:ext uri="{FF2B5EF4-FFF2-40B4-BE49-F238E27FC236}">
                <a16:creationId xmlns:a16="http://schemas.microsoft.com/office/drawing/2014/main" id="{AE36005B-77E4-7563-7468-E6812AAB1D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9827" y="2173751"/>
            <a:ext cx="347472" cy="347472"/>
          </a:xfrm>
          <a:prstGeom prst="rect">
            <a:avLst/>
          </a:prstGeom>
        </p:spPr>
      </p:pic>
      <p:sp>
        <p:nvSpPr>
          <p:cNvPr id="60" name="Text 26">
            <a:extLst>
              <a:ext uri="{FF2B5EF4-FFF2-40B4-BE49-F238E27FC236}">
                <a16:creationId xmlns:a16="http://schemas.microsoft.com/office/drawing/2014/main" id="{386F604D-FDEC-C08C-AA4C-A7B25C568AA5}"/>
              </a:ext>
            </a:extLst>
          </p:cNvPr>
          <p:cNvSpPr/>
          <p:nvPr/>
        </p:nvSpPr>
        <p:spPr>
          <a:xfrm>
            <a:off x="6756635" y="2576087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76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response</a:t>
            </a:r>
            <a:endParaRPr lang="en-US" sz="760" dirty="0"/>
          </a:p>
        </p:txBody>
      </p:sp>
      <p:sp>
        <p:nvSpPr>
          <p:cNvPr id="62" name="Text 27">
            <a:extLst>
              <a:ext uri="{FF2B5EF4-FFF2-40B4-BE49-F238E27FC236}">
                <a16:creationId xmlns:a16="http://schemas.microsoft.com/office/drawing/2014/main" id="{800691B0-3443-09DD-2D2D-E613056DD62B}"/>
              </a:ext>
            </a:extLst>
          </p:cNvPr>
          <p:cNvSpPr/>
          <p:nvPr/>
        </p:nvSpPr>
        <p:spPr>
          <a:xfrm>
            <a:off x="6756635" y="2886983"/>
            <a:ext cx="1133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defined SLA</a:t>
            </a:r>
            <a:endParaRPr lang="en-US" sz="680" dirty="0"/>
          </a:p>
        </p:txBody>
      </p:sp>
      <p:sp>
        <p:nvSpPr>
          <p:cNvPr id="64" name="Shape 28">
            <a:extLst>
              <a:ext uri="{FF2B5EF4-FFF2-40B4-BE49-F238E27FC236}">
                <a16:creationId xmlns:a16="http://schemas.microsoft.com/office/drawing/2014/main" id="{08E1BDEC-6912-85C1-7F39-F4AE757DD14A}"/>
              </a:ext>
            </a:extLst>
          </p:cNvPr>
          <p:cNvSpPr/>
          <p:nvPr/>
        </p:nvSpPr>
        <p:spPr>
          <a:xfrm>
            <a:off x="6843503" y="1862855"/>
            <a:ext cx="960120" cy="192024"/>
          </a:xfrm>
          <a:prstGeom prst="roundRect">
            <a:avLst>
              <a:gd name="adj" fmla="val 47619"/>
            </a:avLst>
          </a:prstGeom>
          <a:solidFill>
            <a:srgbClr val="27509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29">
            <a:extLst>
              <a:ext uri="{FF2B5EF4-FFF2-40B4-BE49-F238E27FC236}">
                <a16:creationId xmlns:a16="http://schemas.microsoft.com/office/drawing/2014/main" id="{E58B6FDE-9F5C-94D1-9DE7-E4580D05CD29}"/>
              </a:ext>
            </a:extLst>
          </p:cNvPr>
          <p:cNvSpPr/>
          <p:nvPr/>
        </p:nvSpPr>
        <p:spPr>
          <a:xfrm>
            <a:off x="6843503" y="1844567"/>
            <a:ext cx="9601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</a:t>
            </a:r>
            <a:endParaRPr lang="en-US" sz="660" dirty="0"/>
          </a:p>
        </p:txBody>
      </p:sp>
      <p:sp>
        <p:nvSpPr>
          <p:cNvPr id="68" name="Shape 30">
            <a:extLst>
              <a:ext uri="{FF2B5EF4-FFF2-40B4-BE49-F238E27FC236}">
                <a16:creationId xmlns:a16="http://schemas.microsoft.com/office/drawing/2014/main" id="{7859663F-BCBE-0E46-AA8D-235931A4E1F3}"/>
              </a:ext>
            </a:extLst>
          </p:cNvPr>
          <p:cNvSpPr/>
          <p:nvPr/>
        </p:nvSpPr>
        <p:spPr>
          <a:xfrm>
            <a:off x="7127992" y="3398649"/>
            <a:ext cx="1261872" cy="12618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31">
            <a:extLst>
              <a:ext uri="{FF2B5EF4-FFF2-40B4-BE49-F238E27FC236}">
                <a16:creationId xmlns:a16="http://schemas.microsoft.com/office/drawing/2014/main" id="{9CCE7963-F115-4B3F-D691-E7205348E16A}"/>
              </a:ext>
            </a:extLst>
          </p:cNvPr>
          <p:cNvSpPr/>
          <p:nvPr/>
        </p:nvSpPr>
        <p:spPr>
          <a:xfrm>
            <a:off x="7173712" y="3444369"/>
            <a:ext cx="274320" cy="274320"/>
          </a:xfrm>
          <a:prstGeom prst="ellipse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Text 32">
            <a:extLst>
              <a:ext uri="{FF2B5EF4-FFF2-40B4-BE49-F238E27FC236}">
                <a16:creationId xmlns:a16="http://schemas.microsoft.com/office/drawing/2014/main" id="{6C77864F-E2B9-8454-26A6-2E806159AC14}"/>
              </a:ext>
            </a:extLst>
          </p:cNvPr>
          <p:cNvSpPr/>
          <p:nvPr/>
        </p:nvSpPr>
        <p:spPr>
          <a:xfrm>
            <a:off x="7173712" y="341693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pic>
        <p:nvPicPr>
          <p:cNvPr id="74" name="Image 4" descr="preencoded.png">
            <a:extLst>
              <a:ext uri="{FF2B5EF4-FFF2-40B4-BE49-F238E27FC236}">
                <a16:creationId xmlns:a16="http://schemas.microsoft.com/office/drawing/2014/main" id="{C224C7FE-7C16-2481-562A-AEEA02C5EE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5192" y="3462657"/>
            <a:ext cx="347472" cy="347472"/>
          </a:xfrm>
          <a:prstGeom prst="rect">
            <a:avLst/>
          </a:prstGeom>
        </p:spPr>
      </p:pic>
      <p:sp>
        <p:nvSpPr>
          <p:cNvPr id="76" name="Text 33">
            <a:extLst>
              <a:ext uri="{FF2B5EF4-FFF2-40B4-BE49-F238E27FC236}">
                <a16:creationId xmlns:a16="http://schemas.microsoft.com/office/drawing/2014/main" id="{313EF230-C3A7-E019-300A-8B5AEE223DCC}"/>
              </a:ext>
            </a:extLst>
          </p:cNvPr>
          <p:cNvSpPr/>
          <p:nvPr/>
        </p:nvSpPr>
        <p:spPr>
          <a:xfrm>
            <a:off x="7192000" y="3864993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76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technical</a:t>
            </a:r>
            <a:endParaRPr lang="en-US" sz="760" dirty="0"/>
          </a:p>
        </p:txBody>
      </p:sp>
      <p:sp>
        <p:nvSpPr>
          <p:cNvPr id="78" name="Text 34">
            <a:extLst>
              <a:ext uri="{FF2B5EF4-FFF2-40B4-BE49-F238E27FC236}">
                <a16:creationId xmlns:a16="http://schemas.microsoft.com/office/drawing/2014/main" id="{DC9F5B2E-A48C-4DF0-2A60-4E2DA88D58A4}"/>
              </a:ext>
            </a:extLst>
          </p:cNvPr>
          <p:cNvSpPr/>
          <p:nvPr/>
        </p:nvSpPr>
        <p:spPr>
          <a:xfrm>
            <a:off x="7192000" y="4175889"/>
            <a:ext cx="1133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680" dirty="0"/>
          </a:p>
        </p:txBody>
      </p:sp>
      <p:sp>
        <p:nvSpPr>
          <p:cNvPr id="80" name="Shape 35">
            <a:extLst>
              <a:ext uri="{FF2B5EF4-FFF2-40B4-BE49-F238E27FC236}">
                <a16:creationId xmlns:a16="http://schemas.microsoft.com/office/drawing/2014/main" id="{8DFBCB92-EA1E-7928-AE08-97C9934B5761}"/>
              </a:ext>
            </a:extLst>
          </p:cNvPr>
          <p:cNvSpPr/>
          <p:nvPr/>
        </p:nvSpPr>
        <p:spPr>
          <a:xfrm>
            <a:off x="7278868" y="4697097"/>
            <a:ext cx="960120" cy="192024"/>
          </a:xfrm>
          <a:prstGeom prst="roundRect">
            <a:avLst>
              <a:gd name="adj" fmla="val 47619"/>
            </a:avLst>
          </a:prstGeom>
          <a:solidFill>
            <a:srgbClr val="27509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Text 36">
            <a:extLst>
              <a:ext uri="{FF2B5EF4-FFF2-40B4-BE49-F238E27FC236}">
                <a16:creationId xmlns:a16="http://schemas.microsoft.com/office/drawing/2014/main" id="{3C341817-2A51-CDDB-3FD8-9051EBA1B772}"/>
              </a:ext>
            </a:extLst>
          </p:cNvPr>
          <p:cNvSpPr/>
          <p:nvPr/>
        </p:nvSpPr>
        <p:spPr>
          <a:xfrm>
            <a:off x="7278868" y="4678809"/>
            <a:ext cx="9601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</a:t>
            </a:r>
            <a:endParaRPr lang="en-US" sz="660" dirty="0"/>
          </a:p>
        </p:txBody>
      </p:sp>
      <p:sp>
        <p:nvSpPr>
          <p:cNvPr id="84" name="Shape 37">
            <a:extLst>
              <a:ext uri="{FF2B5EF4-FFF2-40B4-BE49-F238E27FC236}">
                <a16:creationId xmlns:a16="http://schemas.microsoft.com/office/drawing/2014/main" id="{98CBA89C-4D04-1EDD-B254-8C250C9187D9}"/>
              </a:ext>
            </a:extLst>
          </p:cNvPr>
          <p:cNvSpPr/>
          <p:nvPr/>
        </p:nvSpPr>
        <p:spPr>
          <a:xfrm>
            <a:off x="5996507" y="4440983"/>
            <a:ext cx="1261872" cy="12618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38">
            <a:extLst>
              <a:ext uri="{FF2B5EF4-FFF2-40B4-BE49-F238E27FC236}">
                <a16:creationId xmlns:a16="http://schemas.microsoft.com/office/drawing/2014/main" id="{3F71F21E-51EF-4006-C8E8-8A99CAE387C1}"/>
              </a:ext>
            </a:extLst>
          </p:cNvPr>
          <p:cNvSpPr/>
          <p:nvPr/>
        </p:nvSpPr>
        <p:spPr>
          <a:xfrm>
            <a:off x="6042227" y="4486703"/>
            <a:ext cx="274320" cy="274320"/>
          </a:xfrm>
          <a:prstGeom prst="ellipse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8" name="Text 39">
            <a:extLst>
              <a:ext uri="{FF2B5EF4-FFF2-40B4-BE49-F238E27FC236}">
                <a16:creationId xmlns:a16="http://schemas.microsoft.com/office/drawing/2014/main" id="{E3907CF8-5296-B41D-DB28-E9ADF4383B1E}"/>
              </a:ext>
            </a:extLst>
          </p:cNvPr>
          <p:cNvSpPr/>
          <p:nvPr/>
        </p:nvSpPr>
        <p:spPr>
          <a:xfrm>
            <a:off x="6042227" y="445927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pic>
        <p:nvPicPr>
          <p:cNvPr id="90" name="Image 5" descr="preencoded.png">
            <a:extLst>
              <a:ext uri="{FF2B5EF4-FFF2-40B4-BE49-F238E27FC236}">
                <a16:creationId xmlns:a16="http://schemas.microsoft.com/office/drawing/2014/main" id="{F23EF5C3-67BB-DA20-5E47-3A5A7563EFF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53707" y="4504991"/>
            <a:ext cx="347472" cy="347472"/>
          </a:xfrm>
          <a:prstGeom prst="rect">
            <a:avLst/>
          </a:prstGeom>
        </p:spPr>
      </p:pic>
      <p:sp>
        <p:nvSpPr>
          <p:cNvPr id="92" name="Text 40">
            <a:extLst>
              <a:ext uri="{FF2B5EF4-FFF2-40B4-BE49-F238E27FC236}">
                <a16:creationId xmlns:a16="http://schemas.microsoft.com/office/drawing/2014/main" id="{10DB743A-00F0-6B2F-7441-D8CA23081EE7}"/>
              </a:ext>
            </a:extLst>
          </p:cNvPr>
          <p:cNvSpPr/>
          <p:nvPr/>
        </p:nvSpPr>
        <p:spPr>
          <a:xfrm>
            <a:off x="6060515" y="4907327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76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</a:t>
            </a:r>
            <a:endParaRPr lang="en-US" sz="760" dirty="0"/>
          </a:p>
        </p:txBody>
      </p:sp>
      <p:sp>
        <p:nvSpPr>
          <p:cNvPr id="94" name="Text 41">
            <a:extLst>
              <a:ext uri="{FF2B5EF4-FFF2-40B4-BE49-F238E27FC236}">
                <a16:creationId xmlns:a16="http://schemas.microsoft.com/office/drawing/2014/main" id="{B83305E7-49DA-581A-FC95-F3F07BD6D6BA}"/>
              </a:ext>
            </a:extLst>
          </p:cNvPr>
          <p:cNvSpPr/>
          <p:nvPr/>
        </p:nvSpPr>
        <p:spPr>
          <a:xfrm>
            <a:off x="6060515" y="5218223"/>
            <a:ext cx="1133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680" dirty="0"/>
          </a:p>
        </p:txBody>
      </p:sp>
      <p:sp>
        <p:nvSpPr>
          <p:cNvPr id="96" name="Shape 42">
            <a:extLst>
              <a:ext uri="{FF2B5EF4-FFF2-40B4-BE49-F238E27FC236}">
                <a16:creationId xmlns:a16="http://schemas.microsoft.com/office/drawing/2014/main" id="{77BD8447-B4A8-4DD8-8B24-08D912BFDF28}"/>
              </a:ext>
            </a:extLst>
          </p:cNvPr>
          <p:cNvSpPr/>
          <p:nvPr/>
        </p:nvSpPr>
        <p:spPr>
          <a:xfrm>
            <a:off x="6147383" y="5739431"/>
            <a:ext cx="960120" cy="192024"/>
          </a:xfrm>
          <a:prstGeom prst="roundRect">
            <a:avLst>
              <a:gd name="adj" fmla="val 47619"/>
            </a:avLst>
          </a:prstGeom>
          <a:solidFill>
            <a:srgbClr val="27509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8" name="Text 43">
            <a:extLst>
              <a:ext uri="{FF2B5EF4-FFF2-40B4-BE49-F238E27FC236}">
                <a16:creationId xmlns:a16="http://schemas.microsoft.com/office/drawing/2014/main" id="{07B7C249-A1E7-1759-0B2C-1AE84A3E736C}"/>
              </a:ext>
            </a:extLst>
          </p:cNvPr>
          <p:cNvSpPr/>
          <p:nvPr/>
        </p:nvSpPr>
        <p:spPr>
          <a:xfrm>
            <a:off x="6147383" y="5721143"/>
            <a:ext cx="9601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</a:t>
            </a:r>
            <a:endParaRPr lang="en-US" sz="660" dirty="0"/>
          </a:p>
        </p:txBody>
      </p:sp>
      <p:sp>
        <p:nvSpPr>
          <p:cNvPr id="100" name="Shape 44">
            <a:extLst>
              <a:ext uri="{FF2B5EF4-FFF2-40B4-BE49-F238E27FC236}">
                <a16:creationId xmlns:a16="http://schemas.microsoft.com/office/drawing/2014/main" id="{DAF7A9A4-3DA8-7B61-944A-278ABBC71C90}"/>
              </a:ext>
            </a:extLst>
          </p:cNvPr>
          <p:cNvSpPr/>
          <p:nvPr/>
        </p:nvSpPr>
        <p:spPr>
          <a:xfrm>
            <a:off x="4378838" y="4422695"/>
            <a:ext cx="1261872" cy="12618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Shape 45">
            <a:extLst>
              <a:ext uri="{FF2B5EF4-FFF2-40B4-BE49-F238E27FC236}">
                <a16:creationId xmlns:a16="http://schemas.microsoft.com/office/drawing/2014/main" id="{242B7BD4-CE82-8C62-252E-259E0C13E233}"/>
              </a:ext>
            </a:extLst>
          </p:cNvPr>
          <p:cNvSpPr/>
          <p:nvPr/>
        </p:nvSpPr>
        <p:spPr>
          <a:xfrm>
            <a:off x="4424558" y="4468415"/>
            <a:ext cx="274320" cy="274320"/>
          </a:xfrm>
          <a:prstGeom prst="ellipse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4" name="Text 46">
            <a:extLst>
              <a:ext uri="{FF2B5EF4-FFF2-40B4-BE49-F238E27FC236}">
                <a16:creationId xmlns:a16="http://schemas.microsoft.com/office/drawing/2014/main" id="{E6159247-7E40-5423-281E-875290F2E7F4}"/>
              </a:ext>
            </a:extLst>
          </p:cNvPr>
          <p:cNvSpPr/>
          <p:nvPr/>
        </p:nvSpPr>
        <p:spPr>
          <a:xfrm>
            <a:off x="4424558" y="444098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pic>
        <p:nvPicPr>
          <p:cNvPr id="106" name="Image 6" descr="preencoded.png">
            <a:extLst>
              <a:ext uri="{FF2B5EF4-FFF2-40B4-BE49-F238E27FC236}">
                <a16:creationId xmlns:a16="http://schemas.microsoft.com/office/drawing/2014/main" id="{C1791C57-5A84-3BC5-2489-11BC5DCE10C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36038" y="4486703"/>
            <a:ext cx="347472" cy="347472"/>
          </a:xfrm>
          <a:prstGeom prst="rect">
            <a:avLst/>
          </a:prstGeom>
        </p:spPr>
      </p:pic>
      <p:sp>
        <p:nvSpPr>
          <p:cNvPr id="108" name="Text 47">
            <a:extLst>
              <a:ext uri="{FF2B5EF4-FFF2-40B4-BE49-F238E27FC236}">
                <a16:creationId xmlns:a16="http://schemas.microsoft.com/office/drawing/2014/main" id="{5F175EF8-2548-7476-F586-B141D397AEB8}"/>
              </a:ext>
            </a:extLst>
          </p:cNvPr>
          <p:cNvSpPr/>
          <p:nvPr/>
        </p:nvSpPr>
        <p:spPr>
          <a:xfrm>
            <a:off x="4442846" y="4834175"/>
            <a:ext cx="1133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76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and</a:t>
            </a:r>
            <a:endParaRPr lang="en-US" sz="760" dirty="0"/>
          </a:p>
          <a:p>
            <a:pPr marL="0" indent="0" algn="ctr">
              <a:lnSpc>
                <a:spcPts val="800"/>
              </a:lnSpc>
              <a:buNone/>
            </a:pPr>
            <a:r>
              <a:rPr lang="en-US" sz="76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760" dirty="0"/>
          </a:p>
        </p:txBody>
      </p:sp>
      <p:sp>
        <p:nvSpPr>
          <p:cNvPr id="110" name="Text 48">
            <a:extLst>
              <a:ext uri="{FF2B5EF4-FFF2-40B4-BE49-F238E27FC236}">
                <a16:creationId xmlns:a16="http://schemas.microsoft.com/office/drawing/2014/main" id="{5BC6EE57-3CC7-F601-1245-1D554860F591}"/>
              </a:ext>
            </a:extLst>
          </p:cNvPr>
          <p:cNvSpPr/>
          <p:nvPr/>
        </p:nvSpPr>
        <p:spPr>
          <a:xfrm>
            <a:off x="4442846" y="5273087"/>
            <a:ext cx="1133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NR-12 · NR-13</a:t>
            </a:r>
            <a:endParaRPr lang="en-US" sz="680" dirty="0"/>
          </a:p>
        </p:txBody>
      </p:sp>
      <p:sp>
        <p:nvSpPr>
          <p:cNvPr id="112" name="Shape 49">
            <a:extLst>
              <a:ext uri="{FF2B5EF4-FFF2-40B4-BE49-F238E27FC236}">
                <a16:creationId xmlns:a16="http://schemas.microsoft.com/office/drawing/2014/main" id="{D4F26D25-1AB4-3F6A-5BD0-0B27F8F099CD}"/>
              </a:ext>
            </a:extLst>
          </p:cNvPr>
          <p:cNvSpPr/>
          <p:nvPr/>
        </p:nvSpPr>
        <p:spPr>
          <a:xfrm>
            <a:off x="4529714" y="5721143"/>
            <a:ext cx="960120" cy="192024"/>
          </a:xfrm>
          <a:prstGeom prst="roundRect">
            <a:avLst>
              <a:gd name="adj" fmla="val 47619"/>
            </a:avLst>
          </a:prstGeom>
          <a:solidFill>
            <a:srgbClr val="E457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4" name="Text 50">
            <a:extLst>
              <a:ext uri="{FF2B5EF4-FFF2-40B4-BE49-F238E27FC236}">
                <a16:creationId xmlns:a16="http://schemas.microsoft.com/office/drawing/2014/main" id="{CC800B2F-B6BD-1223-6A38-1BFE6CE1ECC0}"/>
              </a:ext>
            </a:extLst>
          </p:cNvPr>
          <p:cNvSpPr/>
          <p:nvPr/>
        </p:nvSpPr>
        <p:spPr>
          <a:xfrm>
            <a:off x="4529714" y="5702855"/>
            <a:ext cx="9601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</a:t>
            </a:r>
            <a:endParaRPr lang="en-US" sz="660" dirty="0"/>
          </a:p>
        </p:txBody>
      </p:sp>
      <p:sp>
        <p:nvSpPr>
          <p:cNvPr id="116" name="Shape 51">
            <a:extLst>
              <a:ext uri="{FF2B5EF4-FFF2-40B4-BE49-F238E27FC236}">
                <a16:creationId xmlns:a16="http://schemas.microsoft.com/office/drawing/2014/main" id="{330F11DF-DF5B-BE8D-684D-BD89535308AB}"/>
              </a:ext>
            </a:extLst>
          </p:cNvPr>
          <p:cNvSpPr/>
          <p:nvPr/>
        </p:nvSpPr>
        <p:spPr>
          <a:xfrm>
            <a:off x="3076478" y="3607207"/>
            <a:ext cx="1261872" cy="12618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3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Shape 52">
            <a:extLst>
              <a:ext uri="{FF2B5EF4-FFF2-40B4-BE49-F238E27FC236}">
                <a16:creationId xmlns:a16="http://schemas.microsoft.com/office/drawing/2014/main" id="{1E544418-0090-A283-2291-9CA3E92A0F6D}"/>
              </a:ext>
            </a:extLst>
          </p:cNvPr>
          <p:cNvSpPr/>
          <p:nvPr/>
        </p:nvSpPr>
        <p:spPr>
          <a:xfrm>
            <a:off x="3122198" y="3652927"/>
            <a:ext cx="274320" cy="274320"/>
          </a:xfrm>
          <a:prstGeom prst="ellipse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0" name="Text 53">
            <a:extLst>
              <a:ext uri="{FF2B5EF4-FFF2-40B4-BE49-F238E27FC236}">
                <a16:creationId xmlns:a16="http://schemas.microsoft.com/office/drawing/2014/main" id="{EB26A342-ED5C-66F7-D850-50FCDD301FB7}"/>
              </a:ext>
            </a:extLst>
          </p:cNvPr>
          <p:cNvSpPr/>
          <p:nvPr/>
        </p:nvSpPr>
        <p:spPr>
          <a:xfrm>
            <a:off x="3122198" y="362549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pic>
        <p:nvPicPr>
          <p:cNvPr id="122" name="Image 7" descr="preencoded.png">
            <a:extLst>
              <a:ext uri="{FF2B5EF4-FFF2-40B4-BE49-F238E27FC236}">
                <a16:creationId xmlns:a16="http://schemas.microsoft.com/office/drawing/2014/main" id="{74237188-AFA5-78C9-C676-CC730E09B0C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33678" y="3671215"/>
            <a:ext cx="347472" cy="347472"/>
          </a:xfrm>
          <a:prstGeom prst="rect">
            <a:avLst/>
          </a:prstGeom>
        </p:spPr>
      </p:pic>
      <p:sp>
        <p:nvSpPr>
          <p:cNvPr id="124" name="Text 54">
            <a:extLst>
              <a:ext uri="{FF2B5EF4-FFF2-40B4-BE49-F238E27FC236}">
                <a16:creationId xmlns:a16="http://schemas.microsoft.com/office/drawing/2014/main" id="{C35DCC23-99B0-ABB4-4139-D914B77E4C75}"/>
              </a:ext>
            </a:extLst>
          </p:cNvPr>
          <p:cNvSpPr/>
          <p:nvPr/>
        </p:nvSpPr>
        <p:spPr>
          <a:xfrm>
            <a:off x="3140486" y="4073551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76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</a:t>
            </a:r>
            <a:endParaRPr lang="en-US" sz="760" dirty="0"/>
          </a:p>
        </p:txBody>
      </p:sp>
      <p:sp>
        <p:nvSpPr>
          <p:cNvPr id="126" name="Text 55">
            <a:extLst>
              <a:ext uri="{FF2B5EF4-FFF2-40B4-BE49-F238E27FC236}">
                <a16:creationId xmlns:a16="http://schemas.microsoft.com/office/drawing/2014/main" id="{DEB25E11-28C3-7DB0-169B-8F62CA8DFC8F}"/>
              </a:ext>
            </a:extLst>
          </p:cNvPr>
          <p:cNvSpPr/>
          <p:nvPr/>
        </p:nvSpPr>
        <p:spPr>
          <a:xfrm>
            <a:off x="3140486" y="4384447"/>
            <a:ext cx="1133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solidity</a:t>
            </a:r>
            <a:endParaRPr lang="en-US" sz="680" dirty="0"/>
          </a:p>
        </p:txBody>
      </p:sp>
      <p:sp>
        <p:nvSpPr>
          <p:cNvPr id="128" name="Shape 56">
            <a:extLst>
              <a:ext uri="{FF2B5EF4-FFF2-40B4-BE49-F238E27FC236}">
                <a16:creationId xmlns:a16="http://schemas.microsoft.com/office/drawing/2014/main" id="{67273BC0-182F-F13E-3C4E-E32FC7569D50}"/>
              </a:ext>
            </a:extLst>
          </p:cNvPr>
          <p:cNvSpPr/>
          <p:nvPr/>
        </p:nvSpPr>
        <p:spPr>
          <a:xfrm>
            <a:off x="3227354" y="4905655"/>
            <a:ext cx="960120" cy="192024"/>
          </a:xfrm>
          <a:prstGeom prst="roundRect">
            <a:avLst>
              <a:gd name="adj" fmla="val 47619"/>
            </a:avLst>
          </a:prstGeom>
          <a:solidFill>
            <a:srgbClr val="E457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0" name="Text 57">
            <a:extLst>
              <a:ext uri="{FF2B5EF4-FFF2-40B4-BE49-F238E27FC236}">
                <a16:creationId xmlns:a16="http://schemas.microsoft.com/office/drawing/2014/main" id="{647FBC5C-E47F-A720-96D3-E6BA6C14678B}"/>
              </a:ext>
            </a:extLst>
          </p:cNvPr>
          <p:cNvSpPr/>
          <p:nvPr/>
        </p:nvSpPr>
        <p:spPr>
          <a:xfrm>
            <a:off x="3227354" y="4887367"/>
            <a:ext cx="9601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</a:t>
            </a:r>
            <a:endParaRPr lang="en-US" sz="660" dirty="0"/>
          </a:p>
        </p:txBody>
      </p:sp>
      <p:sp>
        <p:nvSpPr>
          <p:cNvPr id="132" name="Shape 58">
            <a:extLst>
              <a:ext uri="{FF2B5EF4-FFF2-40B4-BE49-F238E27FC236}">
                <a16:creationId xmlns:a16="http://schemas.microsoft.com/office/drawing/2014/main" id="{ECE3D41A-AEF6-8CD7-B5A2-3778DCFDFEB1}"/>
              </a:ext>
            </a:extLst>
          </p:cNvPr>
          <p:cNvSpPr/>
          <p:nvPr/>
        </p:nvSpPr>
        <p:spPr>
          <a:xfrm>
            <a:off x="3747902" y="2369093"/>
            <a:ext cx="1261872" cy="126187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E9E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4" name="Shape 59">
            <a:extLst>
              <a:ext uri="{FF2B5EF4-FFF2-40B4-BE49-F238E27FC236}">
                <a16:creationId xmlns:a16="http://schemas.microsoft.com/office/drawing/2014/main" id="{8F148C40-D09C-BC3C-B3E8-4294DA0420FD}"/>
              </a:ext>
            </a:extLst>
          </p:cNvPr>
          <p:cNvSpPr/>
          <p:nvPr/>
        </p:nvSpPr>
        <p:spPr>
          <a:xfrm>
            <a:off x="3793622" y="2414813"/>
            <a:ext cx="274320" cy="274320"/>
          </a:xfrm>
          <a:prstGeom prst="ellipse">
            <a:avLst/>
          </a:prstGeom>
          <a:solidFill>
            <a:srgbClr val="1E9E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6" name="Text 60">
            <a:extLst>
              <a:ext uri="{FF2B5EF4-FFF2-40B4-BE49-F238E27FC236}">
                <a16:creationId xmlns:a16="http://schemas.microsoft.com/office/drawing/2014/main" id="{8BE37B10-75D8-1902-B2B1-A2BBEC66DF53}"/>
              </a:ext>
            </a:extLst>
          </p:cNvPr>
          <p:cNvSpPr/>
          <p:nvPr/>
        </p:nvSpPr>
        <p:spPr>
          <a:xfrm>
            <a:off x="3793622" y="238738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pic>
        <p:nvPicPr>
          <p:cNvPr id="138" name="Image 8" descr="preencoded.png">
            <a:extLst>
              <a:ext uri="{FF2B5EF4-FFF2-40B4-BE49-F238E27FC236}">
                <a16:creationId xmlns:a16="http://schemas.microsoft.com/office/drawing/2014/main" id="{ACB4E29E-B827-1980-AF19-E4487289AAA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05102" y="2433101"/>
            <a:ext cx="347472" cy="347472"/>
          </a:xfrm>
          <a:prstGeom prst="rect">
            <a:avLst/>
          </a:prstGeom>
        </p:spPr>
      </p:pic>
      <p:sp>
        <p:nvSpPr>
          <p:cNvPr id="140" name="Text 61">
            <a:extLst>
              <a:ext uri="{FF2B5EF4-FFF2-40B4-BE49-F238E27FC236}">
                <a16:creationId xmlns:a16="http://schemas.microsoft.com/office/drawing/2014/main" id="{7732C3E4-2CC4-E2F5-4B6D-2B4A7256633C}"/>
              </a:ext>
            </a:extLst>
          </p:cNvPr>
          <p:cNvSpPr/>
          <p:nvPr/>
        </p:nvSpPr>
        <p:spPr>
          <a:xfrm>
            <a:off x="3811910" y="2780573"/>
            <a:ext cx="1133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76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</a:t>
            </a:r>
            <a:endParaRPr lang="en-US" sz="760" dirty="0"/>
          </a:p>
          <a:p>
            <a:pPr marL="0" indent="0" algn="ctr">
              <a:lnSpc>
                <a:spcPts val="800"/>
              </a:lnSpc>
              <a:buNone/>
            </a:pPr>
            <a:r>
              <a:rPr lang="en-US" sz="76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760" dirty="0"/>
          </a:p>
        </p:txBody>
      </p:sp>
      <p:sp>
        <p:nvSpPr>
          <p:cNvPr id="142" name="Text 62">
            <a:extLst>
              <a:ext uri="{FF2B5EF4-FFF2-40B4-BE49-F238E27FC236}">
                <a16:creationId xmlns:a16="http://schemas.microsoft.com/office/drawing/2014/main" id="{5B3AB954-968B-5B7A-C56F-F5A831FBC2C0}"/>
              </a:ext>
            </a:extLst>
          </p:cNvPr>
          <p:cNvSpPr/>
          <p:nvPr/>
        </p:nvSpPr>
        <p:spPr>
          <a:xfrm>
            <a:off x="3811910" y="3219485"/>
            <a:ext cx="11338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8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· PdM</a:t>
            </a:r>
            <a:endParaRPr lang="en-US" sz="680" dirty="0"/>
          </a:p>
        </p:txBody>
      </p:sp>
      <p:sp>
        <p:nvSpPr>
          <p:cNvPr id="144" name="Shape 63">
            <a:extLst>
              <a:ext uri="{FF2B5EF4-FFF2-40B4-BE49-F238E27FC236}">
                <a16:creationId xmlns:a16="http://schemas.microsoft.com/office/drawing/2014/main" id="{F2512995-35D0-B958-82E0-AB573E3517FC}"/>
              </a:ext>
            </a:extLst>
          </p:cNvPr>
          <p:cNvSpPr/>
          <p:nvPr/>
        </p:nvSpPr>
        <p:spPr>
          <a:xfrm>
            <a:off x="3990218" y="2122205"/>
            <a:ext cx="777240" cy="192024"/>
          </a:xfrm>
          <a:prstGeom prst="roundRect">
            <a:avLst>
              <a:gd name="adj" fmla="val 47619"/>
            </a:avLst>
          </a:prstGeom>
          <a:solidFill>
            <a:srgbClr val="1E9E6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6" name="Text 64">
            <a:extLst>
              <a:ext uri="{FF2B5EF4-FFF2-40B4-BE49-F238E27FC236}">
                <a16:creationId xmlns:a16="http://schemas.microsoft.com/office/drawing/2014/main" id="{E78F55A7-F2C8-A088-AFED-9530EC6680E0}"/>
              </a:ext>
            </a:extLst>
          </p:cNvPr>
          <p:cNvSpPr/>
          <p:nvPr/>
        </p:nvSpPr>
        <p:spPr>
          <a:xfrm>
            <a:off x="3990218" y="2103917"/>
            <a:ext cx="7772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660" dirty="0"/>
          </a:p>
        </p:txBody>
      </p:sp>
      <p:sp>
        <p:nvSpPr>
          <p:cNvPr id="148" name="Shape 65">
            <a:extLst>
              <a:ext uri="{FF2B5EF4-FFF2-40B4-BE49-F238E27FC236}">
                <a16:creationId xmlns:a16="http://schemas.microsoft.com/office/drawing/2014/main" id="{DCEC806B-73C5-CE1B-5451-410EF127302C}"/>
              </a:ext>
            </a:extLst>
          </p:cNvPr>
          <p:cNvSpPr/>
          <p:nvPr/>
        </p:nvSpPr>
        <p:spPr>
          <a:xfrm>
            <a:off x="59922" y="5961888"/>
            <a:ext cx="10813487" cy="475488"/>
          </a:xfrm>
          <a:prstGeom prst="roundRect">
            <a:avLst>
              <a:gd name="adj" fmla="val 17308"/>
            </a:avLst>
          </a:prstGeom>
          <a:solidFill>
            <a:srgbClr val="E7F6EF"/>
          </a:solidFill>
          <a:ln w="12700">
            <a:solidFill>
              <a:srgbClr val="BFE5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0" name="Image 9" descr="preencoded.png">
            <a:extLst>
              <a:ext uri="{FF2B5EF4-FFF2-40B4-BE49-F238E27FC236}">
                <a16:creationId xmlns:a16="http://schemas.microsoft.com/office/drawing/2014/main" id="{B09AE6BA-2BEB-3FC9-F9A3-86E26F410F1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4514" y="6089904"/>
            <a:ext cx="237744" cy="237744"/>
          </a:xfrm>
          <a:prstGeom prst="rect">
            <a:avLst/>
          </a:prstGeom>
        </p:spPr>
      </p:pic>
      <p:sp>
        <p:nvSpPr>
          <p:cNvPr id="152" name="Text 66">
            <a:extLst>
              <a:ext uri="{FF2B5EF4-FFF2-40B4-BE49-F238E27FC236}">
                <a16:creationId xmlns:a16="http://schemas.microsoft.com/office/drawing/2014/main" id="{97ADA6FD-0441-32CF-806E-3E888D1BFCD3}"/>
              </a:ext>
            </a:extLst>
          </p:cNvPr>
          <p:cNvSpPr/>
          <p:nvPr/>
        </p:nvSpPr>
        <p:spPr>
          <a:xfrm>
            <a:off x="581130" y="5980176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 dirty="0">
                <a:solidFill>
                  <a:srgbClr val="1E9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TO THE ANALYSIS — </a:t>
            </a:r>
            <a:r>
              <a:rPr lang="en-US" sz="8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Solidity ↔ Supplier A dependency (R$ 20.7M)   ·   Fast response ↔ fragmented tails (47·118·318 suppliers)   ·   Safety/NR ↔ NR-12/NR-13   ·   PdM ↔ VISION 2026-2030.</a:t>
            </a:r>
            <a:endParaRPr lang="en-US" sz="860" dirty="0"/>
          </a:p>
        </p:txBody>
      </p:sp>
      <p:sp>
        <p:nvSpPr>
          <p:cNvPr id="154" name="Text 67">
            <a:extLst>
              <a:ext uri="{FF2B5EF4-FFF2-40B4-BE49-F238E27FC236}">
                <a16:creationId xmlns:a16="http://schemas.microsoft.com/office/drawing/2014/main" id="{7DC96455-0A86-BB8F-F66C-C178AB76850C}"/>
              </a:ext>
            </a:extLst>
          </p:cNvPr>
          <p:cNvSpPr/>
          <p:nvPr/>
        </p:nvSpPr>
        <p:spPr>
          <a:xfrm>
            <a:off x="197082" y="6472482"/>
            <a:ext cx="11155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Internal supplier qualification criteria — the company Maintenance Purchasing · Base: internal analytics internal base (Sep/2026).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2">
            <a:extLst>
              <a:ext uri="{FF2B5EF4-FFF2-40B4-BE49-F238E27FC236}">
                <a16:creationId xmlns:a16="http://schemas.microsoft.com/office/drawing/2014/main" id="{0F26DD15-B13D-B37E-6345-542943235D81}"/>
              </a:ext>
            </a:extLst>
          </p:cNvPr>
          <p:cNvSpPr/>
          <p:nvPr/>
        </p:nvSpPr>
        <p:spPr>
          <a:xfrm>
            <a:off x="347472" y="944615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Attraction Strategies: </a:t>
            </a:r>
            <a:r>
              <a:rPr lang="en-US" sz="26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Action Plan</a:t>
            </a:r>
            <a:endParaRPr lang="en-US" sz="2600" dirty="0"/>
          </a:p>
        </p:txBody>
      </p:sp>
      <p:sp>
        <p:nvSpPr>
          <p:cNvPr id="16" name="Shape 5">
            <a:extLst>
              <a:ext uri="{FF2B5EF4-FFF2-40B4-BE49-F238E27FC236}">
                <a16:creationId xmlns:a16="http://schemas.microsoft.com/office/drawing/2014/main" id="{523A6B0A-8197-D6E5-A207-7DD85B9BEF4B}"/>
              </a:ext>
            </a:extLst>
          </p:cNvPr>
          <p:cNvSpPr/>
          <p:nvPr/>
        </p:nvSpPr>
        <p:spPr>
          <a:xfrm>
            <a:off x="690372" y="2228551"/>
            <a:ext cx="2633472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6">
            <a:extLst>
              <a:ext uri="{FF2B5EF4-FFF2-40B4-BE49-F238E27FC236}">
                <a16:creationId xmlns:a16="http://schemas.microsoft.com/office/drawing/2014/main" id="{C3B183BE-E364-E40F-D026-EE40BB3CF312}"/>
              </a:ext>
            </a:extLst>
          </p:cNvPr>
          <p:cNvSpPr/>
          <p:nvPr/>
        </p:nvSpPr>
        <p:spPr>
          <a:xfrm>
            <a:off x="690372" y="2228551"/>
            <a:ext cx="82296" cy="2103120"/>
          </a:xfrm>
          <a:prstGeom prst="roundRect">
            <a:avLst>
              <a:gd name="adj" fmla="val 55556"/>
            </a:avLst>
          </a:prstGeom>
          <a:solidFill>
            <a:srgbClr val="E4572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>
            <a:extLst>
              <a:ext uri="{FF2B5EF4-FFF2-40B4-BE49-F238E27FC236}">
                <a16:creationId xmlns:a16="http://schemas.microsoft.com/office/drawing/2014/main" id="{FB7690F6-C842-5BF6-19A7-11B9195A4E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72" y="2438863"/>
            <a:ext cx="457200" cy="457200"/>
          </a:xfrm>
          <a:prstGeom prst="rect">
            <a:avLst/>
          </a:prstGeom>
        </p:spPr>
      </p:pic>
      <p:sp>
        <p:nvSpPr>
          <p:cNvPr id="22" name="Text 7">
            <a:extLst>
              <a:ext uri="{FF2B5EF4-FFF2-40B4-BE49-F238E27FC236}">
                <a16:creationId xmlns:a16="http://schemas.microsoft.com/office/drawing/2014/main" id="{BA4007AD-CCE3-D7C8-7D14-0AA91C6B77E2}"/>
              </a:ext>
            </a:extLst>
          </p:cNvPr>
          <p:cNvSpPr/>
          <p:nvPr/>
        </p:nvSpPr>
        <p:spPr>
          <a:xfrm>
            <a:off x="2546604" y="2393143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E8EB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0BE9B9B3-3CF4-DA68-E4B8-402C4527BC89}"/>
              </a:ext>
            </a:extLst>
          </p:cNvPr>
          <p:cNvSpPr/>
          <p:nvPr/>
        </p:nvSpPr>
        <p:spPr>
          <a:xfrm>
            <a:off x="918972" y="3078943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Qualification</a:t>
            </a:r>
            <a:endParaRPr lang="en-US" sz="1500" dirty="0"/>
          </a:p>
        </p:txBody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1912763E-D620-A63C-09CF-58DFE7A8D99A}"/>
              </a:ext>
            </a:extLst>
          </p:cNvPr>
          <p:cNvSpPr/>
          <p:nvPr/>
        </p:nvSpPr>
        <p:spPr>
          <a:xfrm>
            <a:off x="918972" y="3490423"/>
            <a:ext cx="2176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assessment and qualification process.</a:t>
            </a:r>
            <a:endParaRPr lang="en-US" sz="1000" dirty="0"/>
          </a:p>
        </p:txBody>
      </p:sp>
      <p:pic>
        <p:nvPicPr>
          <p:cNvPr id="28" name="Image 3" descr="preencoded.png">
            <a:extLst>
              <a:ext uri="{FF2B5EF4-FFF2-40B4-BE49-F238E27FC236}">
                <a16:creationId xmlns:a16="http://schemas.microsoft.com/office/drawing/2014/main" id="{90F2AB04-54E3-D020-9B4B-FF6BAB4577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3844" y="3170383"/>
            <a:ext cx="164592" cy="164592"/>
          </a:xfrm>
          <a:prstGeom prst="rect">
            <a:avLst/>
          </a:prstGeom>
        </p:spPr>
      </p:pic>
      <p:sp>
        <p:nvSpPr>
          <p:cNvPr id="30" name="Shape 10">
            <a:extLst>
              <a:ext uri="{FF2B5EF4-FFF2-40B4-BE49-F238E27FC236}">
                <a16:creationId xmlns:a16="http://schemas.microsoft.com/office/drawing/2014/main" id="{77117D71-241D-3467-FB4E-6E7C0CFC862B}"/>
              </a:ext>
            </a:extLst>
          </p:cNvPr>
          <p:cNvSpPr/>
          <p:nvPr/>
        </p:nvSpPr>
        <p:spPr>
          <a:xfrm>
            <a:off x="3488436" y="2228551"/>
            <a:ext cx="2633472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11">
            <a:extLst>
              <a:ext uri="{FF2B5EF4-FFF2-40B4-BE49-F238E27FC236}">
                <a16:creationId xmlns:a16="http://schemas.microsoft.com/office/drawing/2014/main" id="{D4B28942-A338-5CF1-1F94-46FE96552DE7}"/>
              </a:ext>
            </a:extLst>
          </p:cNvPr>
          <p:cNvSpPr/>
          <p:nvPr/>
        </p:nvSpPr>
        <p:spPr>
          <a:xfrm>
            <a:off x="3488436" y="2228551"/>
            <a:ext cx="82296" cy="2103120"/>
          </a:xfrm>
          <a:prstGeom prst="roundRect">
            <a:avLst>
              <a:gd name="adj" fmla="val 55556"/>
            </a:avLst>
          </a:prstGeom>
          <a:solidFill>
            <a:srgbClr val="E4572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4" name="Image 4" descr="preencoded.png">
            <a:extLst>
              <a:ext uri="{FF2B5EF4-FFF2-40B4-BE49-F238E27FC236}">
                <a16:creationId xmlns:a16="http://schemas.microsoft.com/office/drawing/2014/main" id="{64E4D365-57A9-DA32-6ACD-2EB60E1238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7036" y="2438863"/>
            <a:ext cx="457200" cy="457200"/>
          </a:xfrm>
          <a:prstGeom prst="rect">
            <a:avLst/>
          </a:prstGeom>
        </p:spPr>
      </p:pic>
      <p:sp>
        <p:nvSpPr>
          <p:cNvPr id="36" name="Text 12">
            <a:extLst>
              <a:ext uri="{FF2B5EF4-FFF2-40B4-BE49-F238E27FC236}">
                <a16:creationId xmlns:a16="http://schemas.microsoft.com/office/drawing/2014/main" id="{7A697DD7-C6C6-C725-AF36-2AAA88B2AD4D}"/>
              </a:ext>
            </a:extLst>
          </p:cNvPr>
          <p:cNvSpPr/>
          <p:nvPr/>
        </p:nvSpPr>
        <p:spPr>
          <a:xfrm>
            <a:off x="5344668" y="2393143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E8EB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38" name="Text 13">
            <a:extLst>
              <a:ext uri="{FF2B5EF4-FFF2-40B4-BE49-F238E27FC236}">
                <a16:creationId xmlns:a16="http://schemas.microsoft.com/office/drawing/2014/main" id="{C7F7E2DB-1EC3-4D99-3130-298F02A9E5B6}"/>
              </a:ext>
            </a:extLst>
          </p:cNvPr>
          <p:cNvSpPr/>
          <p:nvPr/>
        </p:nvSpPr>
        <p:spPr>
          <a:xfrm>
            <a:off x="3717036" y="3078943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</a:t>
            </a:r>
            <a:endParaRPr lang="en-US" sz="1500" dirty="0"/>
          </a:p>
        </p:txBody>
      </p:sp>
      <p:sp>
        <p:nvSpPr>
          <p:cNvPr id="40" name="Text 14">
            <a:extLst>
              <a:ext uri="{FF2B5EF4-FFF2-40B4-BE49-F238E27FC236}">
                <a16:creationId xmlns:a16="http://schemas.microsoft.com/office/drawing/2014/main" id="{8661208E-0C72-75D9-ACD6-E08CB767E71B}"/>
              </a:ext>
            </a:extLst>
          </p:cNvPr>
          <p:cNvSpPr/>
          <p:nvPr/>
        </p:nvSpPr>
        <p:spPr>
          <a:xfrm>
            <a:off x="3717036" y="3490423"/>
            <a:ext cx="2176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Training, mentoring and strategic alignment.</a:t>
            </a:r>
            <a:endParaRPr lang="en-US" sz="1000" dirty="0"/>
          </a:p>
        </p:txBody>
      </p:sp>
      <p:pic>
        <p:nvPicPr>
          <p:cNvPr id="42" name="Image 5" descr="preencoded.png">
            <a:extLst>
              <a:ext uri="{FF2B5EF4-FFF2-40B4-BE49-F238E27FC236}">
                <a16:creationId xmlns:a16="http://schemas.microsoft.com/office/drawing/2014/main" id="{BDA3D314-FF56-3AEC-C7AF-157D25BC83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1908" y="3170383"/>
            <a:ext cx="164592" cy="164592"/>
          </a:xfrm>
          <a:prstGeom prst="rect">
            <a:avLst/>
          </a:prstGeom>
        </p:spPr>
      </p:pic>
      <p:sp>
        <p:nvSpPr>
          <p:cNvPr id="44" name="Shape 15">
            <a:extLst>
              <a:ext uri="{FF2B5EF4-FFF2-40B4-BE49-F238E27FC236}">
                <a16:creationId xmlns:a16="http://schemas.microsoft.com/office/drawing/2014/main" id="{8F3C0E17-82E2-0E27-4417-1AABBB5BCD16}"/>
              </a:ext>
            </a:extLst>
          </p:cNvPr>
          <p:cNvSpPr/>
          <p:nvPr/>
        </p:nvSpPr>
        <p:spPr>
          <a:xfrm>
            <a:off x="6286500" y="2228551"/>
            <a:ext cx="2633472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16">
            <a:extLst>
              <a:ext uri="{FF2B5EF4-FFF2-40B4-BE49-F238E27FC236}">
                <a16:creationId xmlns:a16="http://schemas.microsoft.com/office/drawing/2014/main" id="{EF80A823-02D2-39E9-7F6C-382042E6DB63}"/>
              </a:ext>
            </a:extLst>
          </p:cNvPr>
          <p:cNvSpPr/>
          <p:nvPr/>
        </p:nvSpPr>
        <p:spPr>
          <a:xfrm>
            <a:off x="6286500" y="2228551"/>
            <a:ext cx="82296" cy="2103120"/>
          </a:xfrm>
          <a:prstGeom prst="roundRect">
            <a:avLst>
              <a:gd name="adj" fmla="val 55556"/>
            </a:avLst>
          </a:prstGeom>
          <a:solidFill>
            <a:srgbClr val="E4572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8" name="Image 6" descr="preencoded.png">
            <a:extLst>
              <a:ext uri="{FF2B5EF4-FFF2-40B4-BE49-F238E27FC236}">
                <a16:creationId xmlns:a16="http://schemas.microsoft.com/office/drawing/2014/main" id="{008BCA6F-6CD3-D698-1EE3-CB5EBE6165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5100" y="2438863"/>
            <a:ext cx="457200" cy="457200"/>
          </a:xfrm>
          <a:prstGeom prst="rect">
            <a:avLst/>
          </a:prstGeom>
        </p:spPr>
      </p:pic>
      <p:sp>
        <p:nvSpPr>
          <p:cNvPr id="50" name="Text 17">
            <a:extLst>
              <a:ext uri="{FF2B5EF4-FFF2-40B4-BE49-F238E27FC236}">
                <a16:creationId xmlns:a16="http://schemas.microsoft.com/office/drawing/2014/main" id="{08361CBE-004B-5DFD-536D-222348F17CA2}"/>
              </a:ext>
            </a:extLst>
          </p:cNvPr>
          <p:cNvSpPr/>
          <p:nvPr/>
        </p:nvSpPr>
        <p:spPr>
          <a:xfrm>
            <a:off x="8142732" y="2393143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E8EB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52" name="Text 18">
            <a:extLst>
              <a:ext uri="{FF2B5EF4-FFF2-40B4-BE49-F238E27FC236}">
                <a16:creationId xmlns:a16="http://schemas.microsoft.com/office/drawing/2014/main" id="{50B3A1F6-EE68-98B9-25D3-52364E579445}"/>
              </a:ext>
            </a:extLst>
          </p:cNvPr>
          <p:cNvSpPr/>
          <p:nvPr/>
        </p:nvSpPr>
        <p:spPr>
          <a:xfrm>
            <a:off x="6515100" y="3078943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Mapping</a:t>
            </a:r>
            <a:endParaRPr lang="en-US" sz="1500" dirty="0"/>
          </a:p>
        </p:txBody>
      </p:sp>
      <p:sp>
        <p:nvSpPr>
          <p:cNvPr id="54" name="Text 19">
            <a:extLst>
              <a:ext uri="{FF2B5EF4-FFF2-40B4-BE49-F238E27FC236}">
                <a16:creationId xmlns:a16="http://schemas.microsoft.com/office/drawing/2014/main" id="{CB37E0B4-F2D6-9DB2-24E8-4DCF5D1A3956}"/>
              </a:ext>
            </a:extLst>
          </p:cNvPr>
          <p:cNvSpPr/>
          <p:nvPr/>
        </p:nvSpPr>
        <p:spPr>
          <a:xfrm>
            <a:off x="6515100" y="3490423"/>
            <a:ext cx="2176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and prospect suppliers in Brazil.</a:t>
            </a:r>
            <a:endParaRPr lang="en-US" sz="1000" dirty="0"/>
          </a:p>
        </p:txBody>
      </p:sp>
      <p:pic>
        <p:nvPicPr>
          <p:cNvPr id="56" name="Image 7" descr="preencoded.png">
            <a:extLst>
              <a:ext uri="{FF2B5EF4-FFF2-40B4-BE49-F238E27FC236}">
                <a16:creationId xmlns:a16="http://schemas.microsoft.com/office/drawing/2014/main" id="{85F59426-AA95-996A-CAB5-4B22647159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9972" y="3170383"/>
            <a:ext cx="164592" cy="164592"/>
          </a:xfrm>
          <a:prstGeom prst="rect">
            <a:avLst/>
          </a:prstGeom>
        </p:spPr>
      </p:pic>
      <p:sp>
        <p:nvSpPr>
          <p:cNvPr id="58" name="Shape 20">
            <a:extLst>
              <a:ext uri="{FF2B5EF4-FFF2-40B4-BE49-F238E27FC236}">
                <a16:creationId xmlns:a16="http://schemas.microsoft.com/office/drawing/2014/main" id="{63748E12-0EBD-850A-3A6E-446DCF39B367}"/>
              </a:ext>
            </a:extLst>
          </p:cNvPr>
          <p:cNvSpPr/>
          <p:nvPr/>
        </p:nvSpPr>
        <p:spPr>
          <a:xfrm>
            <a:off x="9084564" y="2228551"/>
            <a:ext cx="2633472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21">
            <a:extLst>
              <a:ext uri="{FF2B5EF4-FFF2-40B4-BE49-F238E27FC236}">
                <a16:creationId xmlns:a16="http://schemas.microsoft.com/office/drawing/2014/main" id="{BD87610A-66C7-1E57-6EBD-E7145152902A}"/>
              </a:ext>
            </a:extLst>
          </p:cNvPr>
          <p:cNvSpPr/>
          <p:nvPr/>
        </p:nvSpPr>
        <p:spPr>
          <a:xfrm>
            <a:off x="9084564" y="2228551"/>
            <a:ext cx="82296" cy="2103120"/>
          </a:xfrm>
          <a:prstGeom prst="roundRect">
            <a:avLst>
              <a:gd name="adj" fmla="val 55556"/>
            </a:avLst>
          </a:prstGeom>
          <a:solidFill>
            <a:srgbClr val="E4572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2" name="Image 8" descr="preencoded.png">
            <a:extLst>
              <a:ext uri="{FF2B5EF4-FFF2-40B4-BE49-F238E27FC236}">
                <a16:creationId xmlns:a16="http://schemas.microsoft.com/office/drawing/2014/main" id="{8A924F2F-FD0E-5A48-7687-C69EAE7707D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13164" y="2438863"/>
            <a:ext cx="457200" cy="457200"/>
          </a:xfrm>
          <a:prstGeom prst="rect">
            <a:avLst/>
          </a:prstGeom>
        </p:spPr>
      </p:pic>
      <p:sp>
        <p:nvSpPr>
          <p:cNvPr id="64" name="Text 22">
            <a:extLst>
              <a:ext uri="{FF2B5EF4-FFF2-40B4-BE49-F238E27FC236}">
                <a16:creationId xmlns:a16="http://schemas.microsoft.com/office/drawing/2014/main" id="{9AAEAD24-A3DE-5B09-A3CF-0B8DD418DC89}"/>
              </a:ext>
            </a:extLst>
          </p:cNvPr>
          <p:cNvSpPr/>
          <p:nvPr/>
        </p:nvSpPr>
        <p:spPr>
          <a:xfrm>
            <a:off x="10940796" y="2393143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E8EB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66" name="Text 23">
            <a:extLst>
              <a:ext uri="{FF2B5EF4-FFF2-40B4-BE49-F238E27FC236}">
                <a16:creationId xmlns:a16="http://schemas.microsoft.com/office/drawing/2014/main" id="{FC679477-7526-B58E-710F-D97440EC5291}"/>
              </a:ext>
            </a:extLst>
          </p:cNvPr>
          <p:cNvSpPr/>
          <p:nvPr/>
        </p:nvSpPr>
        <p:spPr>
          <a:xfrm>
            <a:off x="9313164" y="3078943"/>
            <a:ext cx="2176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Partnership</a:t>
            </a:r>
            <a:endParaRPr lang="en-US" sz="1500" dirty="0"/>
          </a:p>
        </p:txBody>
      </p:sp>
      <p:sp>
        <p:nvSpPr>
          <p:cNvPr id="68" name="Text 24">
            <a:extLst>
              <a:ext uri="{FF2B5EF4-FFF2-40B4-BE49-F238E27FC236}">
                <a16:creationId xmlns:a16="http://schemas.microsoft.com/office/drawing/2014/main" id="{439D2E19-1B31-F0D1-06D8-F0C9C3F611AE}"/>
              </a:ext>
            </a:extLst>
          </p:cNvPr>
          <p:cNvSpPr/>
          <p:nvPr/>
        </p:nvSpPr>
        <p:spPr>
          <a:xfrm>
            <a:off x="9313164" y="3490423"/>
            <a:ext cx="2176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contracts and loyalty programs.</a:t>
            </a:r>
            <a:endParaRPr lang="en-US" sz="1000" dirty="0"/>
          </a:p>
        </p:txBody>
      </p:sp>
      <p:sp>
        <p:nvSpPr>
          <p:cNvPr id="70" name="Shape 25">
            <a:extLst>
              <a:ext uri="{FF2B5EF4-FFF2-40B4-BE49-F238E27FC236}">
                <a16:creationId xmlns:a16="http://schemas.microsoft.com/office/drawing/2014/main" id="{79FD2D66-3FD4-98A5-DAE5-CDF2454AB794}"/>
              </a:ext>
            </a:extLst>
          </p:cNvPr>
          <p:cNvSpPr/>
          <p:nvPr/>
        </p:nvSpPr>
        <p:spPr>
          <a:xfrm>
            <a:off x="118872" y="4942332"/>
            <a:ext cx="11183112" cy="960120"/>
          </a:xfrm>
          <a:prstGeom prst="roundRect">
            <a:avLst>
              <a:gd name="adj" fmla="val 8571"/>
            </a:avLst>
          </a:prstGeom>
          <a:solidFill>
            <a:srgbClr val="E7F6EF"/>
          </a:solidFill>
          <a:ln w="12700">
            <a:solidFill>
              <a:srgbClr val="BFE5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2" name="Image 9" descr="preencoded.png">
            <a:extLst>
              <a:ext uri="{FF2B5EF4-FFF2-40B4-BE49-F238E27FC236}">
                <a16:creationId xmlns:a16="http://schemas.microsoft.com/office/drawing/2014/main" id="{4615538A-E243-4D43-105D-5A3B69F99A2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5274898"/>
            <a:ext cx="274320" cy="274320"/>
          </a:xfrm>
          <a:prstGeom prst="rect">
            <a:avLst/>
          </a:prstGeom>
        </p:spPr>
      </p:pic>
      <p:sp>
        <p:nvSpPr>
          <p:cNvPr id="74" name="Text 26">
            <a:extLst>
              <a:ext uri="{FF2B5EF4-FFF2-40B4-BE49-F238E27FC236}">
                <a16:creationId xmlns:a16="http://schemas.microsoft.com/office/drawing/2014/main" id="{CDEC1543-32BE-48E8-2636-F274B14B5FCC}"/>
              </a:ext>
            </a:extLst>
          </p:cNvPr>
          <p:cNvSpPr/>
          <p:nvPr/>
        </p:nvSpPr>
        <p:spPr>
          <a:xfrm>
            <a:off x="850392" y="5029200"/>
            <a:ext cx="10424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9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TO THE ANALYSIS — </a:t>
            </a: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sourcing targets the fragmented tails (47·118·318 suppliers) and harvests the OE-602 Ranking (Top 20 assembly companies = R$ 14.9B); focus on suppliers with NR-10/NR-20 certification and predictive maintenance capability.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0557A-8D23-00B9-3E55-41230411A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2">
            <a:extLst>
              <a:ext uri="{FF2B5EF4-FFF2-40B4-BE49-F238E27FC236}">
                <a16:creationId xmlns:a16="http://schemas.microsoft.com/office/drawing/2014/main" id="{48AB38E5-6FF9-235F-C5D3-2E311F009C38}"/>
              </a:ext>
            </a:extLst>
          </p:cNvPr>
          <p:cNvSpPr/>
          <p:nvPr/>
        </p:nvSpPr>
        <p:spPr>
          <a:xfrm>
            <a:off x="145111" y="80467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Benchmark for Critical </a:t>
            </a:r>
            <a:r>
              <a:rPr lang="en-US" sz="26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Replacement — Substation</a:t>
            </a:r>
            <a:endParaRPr lang="en-US" sz="2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AEA96BB-0E20-1D71-0167-91890F04BEC7}"/>
              </a:ext>
            </a:extLst>
          </p:cNvPr>
          <p:cNvSpPr/>
          <p:nvPr/>
        </p:nvSpPr>
        <p:spPr>
          <a:xfrm>
            <a:off x="228600" y="1271016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highest-criticality category in the PPA: a substation failure stops the entire plant, involves electrical arc, explosion and fire, and requires NR-10/NR-20 + ABNT NBR. There is no quick plan B without operational risk — supplier failure here is the highest-impact one.</a:t>
            </a:r>
            <a:endParaRPr lang="en-US" sz="105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CB16DA15-99E2-811F-03C6-D9B4444EDFAD}"/>
              </a:ext>
            </a:extLst>
          </p:cNvPr>
          <p:cNvSpPr/>
          <p:nvPr/>
        </p:nvSpPr>
        <p:spPr>
          <a:xfrm>
            <a:off x="228600" y="161848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SUBSTATION IS CATEGORY #1</a:t>
            </a:r>
            <a:endParaRPr lang="en-US" sz="1200" dirty="0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E421B88C-F55C-2723-29BC-931CC81C0287}"/>
              </a:ext>
            </a:extLst>
          </p:cNvPr>
          <p:cNvSpPr/>
          <p:nvPr/>
        </p:nvSpPr>
        <p:spPr>
          <a:xfrm>
            <a:off x="228600" y="1956816"/>
            <a:ext cx="640080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BDB4E7EC-2037-FC91-2683-215BF88189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103120"/>
            <a:ext cx="347472" cy="347472"/>
          </a:xfrm>
          <a:prstGeom prst="rect">
            <a:avLst/>
          </a:prstGeom>
        </p:spPr>
      </p:pic>
      <p:sp>
        <p:nvSpPr>
          <p:cNvPr id="13" name="Text 6">
            <a:extLst>
              <a:ext uri="{FF2B5EF4-FFF2-40B4-BE49-F238E27FC236}">
                <a16:creationId xmlns:a16="http://schemas.microsoft.com/office/drawing/2014/main" id="{79541E13-F989-2C1F-798D-395AB2879CF0}"/>
              </a:ext>
            </a:extLst>
          </p:cNvPr>
          <p:cNvSpPr/>
          <p:nvPr/>
        </p:nvSpPr>
        <p:spPr>
          <a:xfrm>
            <a:off x="832104" y="2011680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risk</a:t>
            </a:r>
            <a:endParaRPr lang="en-US" sz="1100" dirty="0"/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2F8CE46D-6EEC-97FC-BBD2-0EF9CE8A6B71}"/>
              </a:ext>
            </a:extLst>
          </p:cNvPr>
          <p:cNvSpPr/>
          <p:nvPr/>
        </p:nvSpPr>
        <p:spPr>
          <a:xfrm>
            <a:off x="832104" y="226771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 arc, explosion and fire with immediate impact on people and facilities.</a:t>
            </a:r>
            <a:endParaRPr lang="en-US" sz="850" dirty="0"/>
          </a:p>
        </p:txBody>
      </p:sp>
      <p:sp>
        <p:nvSpPr>
          <p:cNvPr id="17" name="Shape 8">
            <a:extLst>
              <a:ext uri="{FF2B5EF4-FFF2-40B4-BE49-F238E27FC236}">
                <a16:creationId xmlns:a16="http://schemas.microsoft.com/office/drawing/2014/main" id="{A7C0851E-3DFA-3452-5DD2-0DF83B1483C0}"/>
              </a:ext>
            </a:extLst>
          </p:cNvPr>
          <p:cNvSpPr/>
          <p:nvPr/>
        </p:nvSpPr>
        <p:spPr>
          <a:xfrm>
            <a:off x="228600" y="2670048"/>
            <a:ext cx="640080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>
            <a:extLst>
              <a:ext uri="{FF2B5EF4-FFF2-40B4-BE49-F238E27FC236}">
                <a16:creationId xmlns:a16="http://schemas.microsoft.com/office/drawing/2014/main" id="{3BB86CD2-A6ED-957A-3602-C0F9121779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2816352"/>
            <a:ext cx="347472" cy="347472"/>
          </a:xfrm>
          <a:prstGeom prst="rect">
            <a:avLst/>
          </a:prstGeom>
        </p:spPr>
      </p:pic>
      <p:sp>
        <p:nvSpPr>
          <p:cNvPr id="21" name="Text 9">
            <a:extLst>
              <a:ext uri="{FF2B5EF4-FFF2-40B4-BE49-F238E27FC236}">
                <a16:creationId xmlns:a16="http://schemas.microsoft.com/office/drawing/2014/main" id="{B485510B-28D4-EBED-3603-FD3ADD52BA0F}"/>
              </a:ext>
            </a:extLst>
          </p:cNvPr>
          <p:cNvSpPr/>
          <p:nvPr/>
        </p:nvSpPr>
        <p:spPr>
          <a:xfrm>
            <a:off x="832104" y="2724912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plant stoppage</a:t>
            </a:r>
            <a:endParaRPr lang="en-US" sz="1100" dirty="0"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60A13701-57BA-6F28-EA22-7D3FE7FBF705}"/>
              </a:ext>
            </a:extLst>
          </p:cNvPr>
          <p:cNvSpPr/>
          <p:nvPr/>
        </p:nvSpPr>
        <p:spPr>
          <a:xfrm>
            <a:off x="832104" y="2980944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Substation down = 100% of tyre production interrupted; no fast redundancy.</a:t>
            </a:r>
            <a:endParaRPr lang="en-US" sz="850" dirty="0"/>
          </a:p>
        </p:txBody>
      </p:sp>
      <p:sp>
        <p:nvSpPr>
          <p:cNvPr id="25" name="Shape 11">
            <a:extLst>
              <a:ext uri="{FF2B5EF4-FFF2-40B4-BE49-F238E27FC236}">
                <a16:creationId xmlns:a16="http://schemas.microsoft.com/office/drawing/2014/main" id="{CEEBF10D-FCAE-EC0C-6715-53EBFD61EC8A}"/>
              </a:ext>
            </a:extLst>
          </p:cNvPr>
          <p:cNvSpPr/>
          <p:nvPr/>
        </p:nvSpPr>
        <p:spPr>
          <a:xfrm>
            <a:off x="228600" y="3383280"/>
            <a:ext cx="640080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3" descr="preencoded.png">
            <a:extLst>
              <a:ext uri="{FF2B5EF4-FFF2-40B4-BE49-F238E27FC236}">
                <a16:creationId xmlns:a16="http://schemas.microsoft.com/office/drawing/2014/main" id="{7C5562DD-B72D-7773-1DF3-1788E40422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3529584"/>
            <a:ext cx="347472" cy="347472"/>
          </a:xfrm>
          <a:prstGeom prst="rect">
            <a:avLst/>
          </a:prstGeom>
        </p:spPr>
      </p:pic>
      <p:sp>
        <p:nvSpPr>
          <p:cNvPr id="29" name="Text 12">
            <a:extLst>
              <a:ext uri="{FF2B5EF4-FFF2-40B4-BE49-F238E27FC236}">
                <a16:creationId xmlns:a16="http://schemas.microsoft.com/office/drawing/2014/main" id="{BE073121-AA2F-970E-6793-E5F7C7F4776A}"/>
              </a:ext>
            </a:extLst>
          </p:cNvPr>
          <p:cNvSpPr/>
          <p:nvPr/>
        </p:nvSpPr>
        <p:spPr>
          <a:xfrm>
            <a:off x="832104" y="3438144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Mandatory compliance</a:t>
            </a:r>
            <a:endParaRPr lang="en-US" sz="1100" dirty="0"/>
          </a:p>
        </p:txBody>
      </p:sp>
      <p:sp>
        <p:nvSpPr>
          <p:cNvPr id="31" name="Text 13">
            <a:extLst>
              <a:ext uri="{FF2B5EF4-FFF2-40B4-BE49-F238E27FC236}">
                <a16:creationId xmlns:a16="http://schemas.microsoft.com/office/drawing/2014/main" id="{1FE203E1-CF3C-E409-BDF9-48A3C91C2766}"/>
              </a:ext>
            </a:extLst>
          </p:cNvPr>
          <p:cNvSpPr/>
          <p:nvPr/>
        </p:nvSpPr>
        <p:spPr>
          <a:xfrm>
            <a:off x="832104" y="369417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NR-10, NR-20 and ABNT NBR as legal requirements — non-negotiable for any supplier.</a:t>
            </a:r>
            <a:endParaRPr lang="en-US" sz="850" dirty="0"/>
          </a:p>
        </p:txBody>
      </p:sp>
      <p:sp>
        <p:nvSpPr>
          <p:cNvPr id="33" name="Text 14">
            <a:extLst>
              <a:ext uri="{FF2B5EF4-FFF2-40B4-BE49-F238E27FC236}">
                <a16:creationId xmlns:a16="http://schemas.microsoft.com/office/drawing/2014/main" id="{8E4A9D51-B476-78AB-320C-74AB8C2CB435}"/>
              </a:ext>
            </a:extLst>
          </p:cNvPr>
          <p:cNvSpPr/>
          <p:nvPr/>
        </p:nvSpPr>
        <p:spPr>
          <a:xfrm>
            <a:off x="228600" y="4206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SUBSTATION INCIDENTS (2025–2026)</a:t>
            </a:r>
            <a:endParaRPr lang="en-US" sz="1200" dirty="0"/>
          </a:p>
        </p:txBody>
      </p:sp>
      <p:graphicFrame>
        <p:nvGraphicFramePr>
          <p:cNvPr id="35" name="Table 0">
            <a:extLst>
              <a:ext uri="{FF2B5EF4-FFF2-40B4-BE49-F238E27FC236}">
                <a16:creationId xmlns:a16="http://schemas.microsoft.com/office/drawing/2014/main" id="{E0E84F39-9C45-535E-0591-22B041AC42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8073844"/>
              </p:ext>
            </p:extLst>
          </p:nvPr>
        </p:nvGraphicFramePr>
        <p:xfrm>
          <a:off x="228600" y="4498848"/>
          <a:ext cx="6400800" cy="1865376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Bateias · PR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Oct/2025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Substation fire → nationwide blackout on the SIN grid (ANEEL/O Globo)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São Gonçalo · RJ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Dec/2025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Post-rain explosion → 6 cities without power (Enel)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Sobral · 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Mar/2026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Explosion + fire → neighborhoods without power (Enel)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Ipameri · GO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Aug/2026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Explosion/fire → transformer loss, 2 cities without power (Equatorial)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Interlagos · SP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Aug/2026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5B64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Explosion + fire at ISA Energia Brasil substation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7" name="Text 15">
            <a:extLst>
              <a:ext uri="{FF2B5EF4-FFF2-40B4-BE49-F238E27FC236}">
                <a16:creationId xmlns:a16="http://schemas.microsoft.com/office/drawing/2014/main" id="{6C5720EE-BEBC-254E-E104-05207D5C9782}"/>
              </a:ext>
            </a:extLst>
          </p:cNvPr>
          <p:cNvSpPr/>
          <p:nvPr/>
        </p:nvSpPr>
        <p:spPr>
          <a:xfrm>
            <a:off x="228600" y="6345936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G1 · O Globo · CBN · Agência Brasil (Brazilian press)</a:t>
            </a:r>
            <a:endParaRPr lang="en-US" sz="750" dirty="0"/>
          </a:p>
        </p:txBody>
      </p:sp>
      <p:sp>
        <p:nvSpPr>
          <p:cNvPr id="39" name="Text 16">
            <a:extLst>
              <a:ext uri="{FF2B5EF4-FFF2-40B4-BE49-F238E27FC236}">
                <a16:creationId xmlns:a16="http://schemas.microsoft.com/office/drawing/2014/main" id="{42DB3936-B791-402C-1D63-51C15E0BB78A}"/>
              </a:ext>
            </a:extLst>
          </p:cNvPr>
          <p:cNvSpPr/>
          <p:nvPr/>
        </p:nvSpPr>
        <p:spPr>
          <a:xfrm>
            <a:off x="6903720" y="1618488"/>
            <a:ext cx="4507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CRITERIA: INCUMBENT × MARKET</a:t>
            </a:r>
            <a:endParaRPr lang="en-US" sz="1200" dirty="0"/>
          </a:p>
        </p:txBody>
      </p:sp>
      <p:sp>
        <p:nvSpPr>
          <p:cNvPr id="41" name="Shape 17">
            <a:extLst>
              <a:ext uri="{FF2B5EF4-FFF2-40B4-BE49-F238E27FC236}">
                <a16:creationId xmlns:a16="http://schemas.microsoft.com/office/drawing/2014/main" id="{F7356579-8E83-2BD3-FADE-E790DAF8044D}"/>
              </a:ext>
            </a:extLst>
          </p:cNvPr>
          <p:cNvSpPr/>
          <p:nvPr/>
        </p:nvSpPr>
        <p:spPr>
          <a:xfrm>
            <a:off x="6903720" y="1956816"/>
            <a:ext cx="4507992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18">
            <a:extLst>
              <a:ext uri="{FF2B5EF4-FFF2-40B4-BE49-F238E27FC236}">
                <a16:creationId xmlns:a16="http://schemas.microsoft.com/office/drawing/2014/main" id="{8DFA975A-AA90-7309-FB9C-C1C0CB9E50F5}"/>
              </a:ext>
            </a:extLst>
          </p:cNvPr>
          <p:cNvSpPr/>
          <p:nvPr/>
        </p:nvSpPr>
        <p:spPr>
          <a:xfrm>
            <a:off x="6903720" y="1956816"/>
            <a:ext cx="82296" cy="640080"/>
          </a:xfrm>
          <a:prstGeom prst="roundRect">
            <a:avLst>
              <a:gd name="adj" fmla="val 55556"/>
            </a:avLst>
          </a:prstGeom>
          <a:solidFill>
            <a:srgbClr val="27509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19">
            <a:extLst>
              <a:ext uri="{FF2B5EF4-FFF2-40B4-BE49-F238E27FC236}">
                <a16:creationId xmlns:a16="http://schemas.microsoft.com/office/drawing/2014/main" id="{0AE6C74A-B3E6-E05A-2EBE-4E705C93B9B5}"/>
              </a:ext>
            </a:extLst>
          </p:cNvPr>
          <p:cNvSpPr/>
          <p:nvPr/>
        </p:nvSpPr>
        <p:spPr>
          <a:xfrm>
            <a:off x="7086600" y="2011680"/>
            <a:ext cx="4142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Certifications</a:t>
            </a:r>
            <a:endParaRPr lang="en-US" sz="1100" dirty="0"/>
          </a:p>
        </p:txBody>
      </p:sp>
      <p:sp>
        <p:nvSpPr>
          <p:cNvPr id="47" name="Text 20">
            <a:extLst>
              <a:ext uri="{FF2B5EF4-FFF2-40B4-BE49-F238E27FC236}">
                <a16:creationId xmlns:a16="http://schemas.microsoft.com/office/drawing/2014/main" id="{8FE19867-E110-11A6-A5B2-6FA1B9C6B1E3}"/>
              </a:ext>
            </a:extLst>
          </p:cNvPr>
          <p:cNvSpPr/>
          <p:nvPr/>
        </p:nvSpPr>
        <p:spPr>
          <a:xfrm>
            <a:off x="7086600" y="2267712"/>
            <a:ext cx="4142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NR-10, NR-20, ABNT NBR, VCB and auditable incident track record.</a:t>
            </a:r>
            <a:endParaRPr lang="en-US" sz="850" dirty="0"/>
          </a:p>
        </p:txBody>
      </p:sp>
      <p:sp>
        <p:nvSpPr>
          <p:cNvPr id="49" name="Shape 21">
            <a:extLst>
              <a:ext uri="{FF2B5EF4-FFF2-40B4-BE49-F238E27FC236}">
                <a16:creationId xmlns:a16="http://schemas.microsoft.com/office/drawing/2014/main" id="{0A671557-006E-1E8D-6F4C-7CE03E81A7D9}"/>
              </a:ext>
            </a:extLst>
          </p:cNvPr>
          <p:cNvSpPr/>
          <p:nvPr/>
        </p:nvSpPr>
        <p:spPr>
          <a:xfrm>
            <a:off x="6903720" y="2670048"/>
            <a:ext cx="4507992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22">
            <a:extLst>
              <a:ext uri="{FF2B5EF4-FFF2-40B4-BE49-F238E27FC236}">
                <a16:creationId xmlns:a16="http://schemas.microsoft.com/office/drawing/2014/main" id="{8EB2DC6E-0798-730B-B901-B1BAC2707B38}"/>
              </a:ext>
            </a:extLst>
          </p:cNvPr>
          <p:cNvSpPr/>
          <p:nvPr/>
        </p:nvSpPr>
        <p:spPr>
          <a:xfrm>
            <a:off x="6903720" y="2670048"/>
            <a:ext cx="82296" cy="640080"/>
          </a:xfrm>
          <a:prstGeom prst="roundRect">
            <a:avLst>
              <a:gd name="adj" fmla="val 55556"/>
            </a:avLst>
          </a:prstGeom>
          <a:solidFill>
            <a:srgbClr val="27509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23">
            <a:extLst>
              <a:ext uri="{FF2B5EF4-FFF2-40B4-BE49-F238E27FC236}">
                <a16:creationId xmlns:a16="http://schemas.microsoft.com/office/drawing/2014/main" id="{342BBBBD-3C33-2854-7793-5FD62FC6E8A6}"/>
              </a:ext>
            </a:extLst>
          </p:cNvPr>
          <p:cNvSpPr/>
          <p:nvPr/>
        </p:nvSpPr>
        <p:spPr>
          <a:xfrm>
            <a:off x="7086600" y="2724912"/>
            <a:ext cx="4142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 &amp; Lead Time</a:t>
            </a:r>
            <a:endParaRPr lang="en-US" sz="1100" dirty="0"/>
          </a:p>
        </p:txBody>
      </p:sp>
      <p:sp>
        <p:nvSpPr>
          <p:cNvPr id="55" name="Text 24">
            <a:extLst>
              <a:ext uri="{FF2B5EF4-FFF2-40B4-BE49-F238E27FC236}">
                <a16:creationId xmlns:a16="http://schemas.microsoft.com/office/drawing/2014/main" id="{74F16BFA-CAF9-150B-ACFB-F4BCCE5A95A3}"/>
              </a:ext>
            </a:extLst>
          </p:cNvPr>
          <p:cNvSpPr/>
          <p:nvPr/>
        </p:nvSpPr>
        <p:spPr>
          <a:xfrm>
            <a:off x="7086600" y="2980944"/>
            <a:ext cx="4142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time, parts replacement and 24/7 emergency service.</a:t>
            </a:r>
            <a:endParaRPr lang="en-US" sz="850" dirty="0"/>
          </a:p>
        </p:txBody>
      </p:sp>
      <p:sp>
        <p:nvSpPr>
          <p:cNvPr id="57" name="Shape 25">
            <a:extLst>
              <a:ext uri="{FF2B5EF4-FFF2-40B4-BE49-F238E27FC236}">
                <a16:creationId xmlns:a16="http://schemas.microsoft.com/office/drawing/2014/main" id="{953BE2E0-3CAC-2FE6-459E-ED649679DA40}"/>
              </a:ext>
            </a:extLst>
          </p:cNvPr>
          <p:cNvSpPr/>
          <p:nvPr/>
        </p:nvSpPr>
        <p:spPr>
          <a:xfrm>
            <a:off x="6903720" y="3383280"/>
            <a:ext cx="4507992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26">
            <a:extLst>
              <a:ext uri="{FF2B5EF4-FFF2-40B4-BE49-F238E27FC236}">
                <a16:creationId xmlns:a16="http://schemas.microsoft.com/office/drawing/2014/main" id="{BB5F3F9F-CE11-CA17-D182-AF58EFE17EBB}"/>
              </a:ext>
            </a:extLst>
          </p:cNvPr>
          <p:cNvSpPr/>
          <p:nvPr/>
        </p:nvSpPr>
        <p:spPr>
          <a:xfrm>
            <a:off x="6903720" y="3383280"/>
            <a:ext cx="82296" cy="640080"/>
          </a:xfrm>
          <a:prstGeom prst="roundRect">
            <a:avLst>
              <a:gd name="adj" fmla="val 55556"/>
            </a:avLst>
          </a:prstGeom>
          <a:solidFill>
            <a:srgbClr val="27509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27">
            <a:extLst>
              <a:ext uri="{FF2B5EF4-FFF2-40B4-BE49-F238E27FC236}">
                <a16:creationId xmlns:a16="http://schemas.microsoft.com/office/drawing/2014/main" id="{926E2BE2-1BD1-2F14-08F9-CE9770F126A6}"/>
              </a:ext>
            </a:extLst>
          </p:cNvPr>
          <p:cNvSpPr/>
          <p:nvPr/>
        </p:nvSpPr>
        <p:spPr>
          <a:xfrm>
            <a:off x="7086600" y="3438144"/>
            <a:ext cx="4142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 Resilience</a:t>
            </a:r>
            <a:endParaRPr lang="en-US" sz="1100" dirty="0"/>
          </a:p>
        </p:txBody>
      </p:sp>
      <p:sp>
        <p:nvSpPr>
          <p:cNvPr id="63" name="Text 28">
            <a:extLst>
              <a:ext uri="{FF2B5EF4-FFF2-40B4-BE49-F238E27FC236}">
                <a16:creationId xmlns:a16="http://schemas.microsoft.com/office/drawing/2014/main" id="{FF142865-1CD1-19A0-6BA1-30DAC9CC07C0}"/>
              </a:ext>
            </a:extLst>
          </p:cNvPr>
          <p:cNvSpPr/>
          <p:nvPr/>
        </p:nvSpPr>
        <p:spPr>
          <a:xfrm>
            <a:off x="7086600" y="3694176"/>
            <a:ext cx="4142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continuity plans and fire protection.</a:t>
            </a:r>
            <a:endParaRPr lang="en-US" sz="850" dirty="0"/>
          </a:p>
        </p:txBody>
      </p:sp>
      <p:sp>
        <p:nvSpPr>
          <p:cNvPr id="65" name="Shape 29">
            <a:extLst>
              <a:ext uri="{FF2B5EF4-FFF2-40B4-BE49-F238E27FC236}">
                <a16:creationId xmlns:a16="http://schemas.microsoft.com/office/drawing/2014/main" id="{5A3990D5-BC1F-7C04-549C-418D823D7936}"/>
              </a:ext>
            </a:extLst>
          </p:cNvPr>
          <p:cNvSpPr/>
          <p:nvPr/>
        </p:nvSpPr>
        <p:spPr>
          <a:xfrm>
            <a:off x="6903720" y="4096512"/>
            <a:ext cx="4507992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30">
            <a:extLst>
              <a:ext uri="{FF2B5EF4-FFF2-40B4-BE49-F238E27FC236}">
                <a16:creationId xmlns:a16="http://schemas.microsoft.com/office/drawing/2014/main" id="{9D8EC3C1-9F3D-39DC-807D-34A2189CC37E}"/>
              </a:ext>
            </a:extLst>
          </p:cNvPr>
          <p:cNvSpPr/>
          <p:nvPr/>
        </p:nvSpPr>
        <p:spPr>
          <a:xfrm>
            <a:off x="6903720" y="4096512"/>
            <a:ext cx="82296" cy="640080"/>
          </a:xfrm>
          <a:prstGeom prst="roundRect">
            <a:avLst>
              <a:gd name="adj" fmla="val 55556"/>
            </a:avLst>
          </a:prstGeom>
          <a:solidFill>
            <a:srgbClr val="27509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Text 31">
            <a:extLst>
              <a:ext uri="{FF2B5EF4-FFF2-40B4-BE49-F238E27FC236}">
                <a16:creationId xmlns:a16="http://schemas.microsoft.com/office/drawing/2014/main" id="{2D84EA0D-D572-3FA6-02C6-9FB2D9B2FB5A}"/>
              </a:ext>
            </a:extLst>
          </p:cNvPr>
          <p:cNvSpPr/>
          <p:nvPr/>
        </p:nvSpPr>
        <p:spPr>
          <a:xfrm>
            <a:off x="7086600" y="4151376"/>
            <a:ext cx="4142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TCO</a:t>
            </a:r>
            <a:endParaRPr lang="en-US" sz="1100" dirty="0"/>
          </a:p>
        </p:txBody>
      </p:sp>
      <p:sp>
        <p:nvSpPr>
          <p:cNvPr id="71" name="Text 32">
            <a:extLst>
              <a:ext uri="{FF2B5EF4-FFF2-40B4-BE49-F238E27FC236}">
                <a16:creationId xmlns:a16="http://schemas.microsoft.com/office/drawing/2014/main" id="{0E303841-A5F6-6091-0355-817AF4E07023}"/>
              </a:ext>
            </a:extLst>
          </p:cNvPr>
          <p:cNvSpPr/>
          <p:nvPr/>
        </p:nvSpPr>
        <p:spPr>
          <a:xfrm>
            <a:off x="7086600" y="4407408"/>
            <a:ext cx="4142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cost of ownership — not just contract price.</a:t>
            </a:r>
            <a:endParaRPr lang="en-US" sz="850" dirty="0"/>
          </a:p>
        </p:txBody>
      </p:sp>
      <p:sp>
        <p:nvSpPr>
          <p:cNvPr id="73" name="Shape 33">
            <a:extLst>
              <a:ext uri="{FF2B5EF4-FFF2-40B4-BE49-F238E27FC236}">
                <a16:creationId xmlns:a16="http://schemas.microsoft.com/office/drawing/2014/main" id="{0F4CB187-951D-326C-5CA9-EB33D11F506F}"/>
              </a:ext>
            </a:extLst>
          </p:cNvPr>
          <p:cNvSpPr/>
          <p:nvPr/>
        </p:nvSpPr>
        <p:spPr>
          <a:xfrm>
            <a:off x="6903720" y="4910328"/>
            <a:ext cx="4160520" cy="1435608"/>
          </a:xfrm>
          <a:prstGeom prst="roundRect">
            <a:avLst>
              <a:gd name="adj" fmla="val 5161"/>
            </a:avLst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Text 34">
            <a:extLst>
              <a:ext uri="{FF2B5EF4-FFF2-40B4-BE49-F238E27FC236}">
                <a16:creationId xmlns:a16="http://schemas.microsoft.com/office/drawing/2014/main" id="{C3E90BBB-4765-5389-1555-DEC244C8DF2B}"/>
              </a:ext>
            </a:extLst>
          </p:cNvPr>
          <p:cNvSpPr/>
          <p:nvPr/>
        </p:nvSpPr>
        <p:spPr>
          <a:xfrm>
            <a:off x="7086600" y="5047488"/>
            <a:ext cx="4142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OPERATION</a:t>
            </a:r>
            <a:endParaRPr lang="en-US" sz="1100" dirty="0"/>
          </a:p>
        </p:txBody>
      </p:sp>
      <p:sp>
        <p:nvSpPr>
          <p:cNvPr id="77" name="Text 35">
            <a:extLst>
              <a:ext uri="{FF2B5EF4-FFF2-40B4-BE49-F238E27FC236}">
                <a16:creationId xmlns:a16="http://schemas.microsoft.com/office/drawing/2014/main" id="{7DF17594-A708-7985-4D0B-2C74D3CA3F73}"/>
              </a:ext>
            </a:extLst>
          </p:cNvPr>
          <p:cNvSpPr/>
          <p:nvPr/>
        </p:nvSpPr>
        <p:spPr>
          <a:xfrm>
            <a:off x="7086600" y="5340096"/>
            <a:ext cx="389613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dependency measured in the internal base: </a:t>
            </a:r>
          </a:p>
          <a:p>
            <a:pPr marL="0" indent="0">
              <a:buNone/>
            </a:pPr>
            <a:r>
              <a:rPr lang="en-US" sz="900" dirty="0" err="1">
                <a:solidFill>
                  <a:srgbClr val="CF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Replacement</a:t>
            </a:r>
            <a:r>
              <a:rPr lang="en-US" sz="900" dirty="0">
                <a:solidFill>
                  <a:srgbClr val="CF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safely requires a transition plan with dual sourcing and SLA — the benchmark above is the evidence of why.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252588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7" grpId="0" animBg="1"/>
      <p:bldP spid="39" grpId="0" animBg="1"/>
      <p:bldP spid="41" grpId="0" animBg="1"/>
      <p:bldP spid="43" grpId="0" animBg="1"/>
      <p:bldP spid="45" grpId="0" animBg="1"/>
      <p:bldP spid="47" grpId="0" animBg="1"/>
      <p:bldP spid="49" grpId="0" animBg="1"/>
      <p:bldP spid="51" grpId="0" animBg="1"/>
      <p:bldP spid="53" grpId="0" animBg="1"/>
      <p:bldP spid="55" grpId="0" animBg="1"/>
      <p:bldP spid="57" grpId="0" animBg="1"/>
      <p:bldP spid="59" grpId="0" animBg="1"/>
      <p:bldP spid="61" grpId="0" animBg="1"/>
      <p:bldP spid="63" grpId="0" animBg="1"/>
      <p:bldP spid="65" grpId="0" animBg="1"/>
      <p:bldP spid="67" grpId="0" animBg="1"/>
      <p:bldP spid="69" grpId="0" animBg="1"/>
      <p:bldP spid="71" grpId="0" animBg="1"/>
      <p:bldP spid="73" grpId="0" animBg="1"/>
      <p:bldP spid="75" grpId="0" animBg="1"/>
      <p:bldP spid="7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36144-F06E-C927-7981-0155A6968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>
            <a:extLst>
              <a:ext uri="{FF2B5EF4-FFF2-40B4-BE49-F238E27FC236}">
                <a16:creationId xmlns:a16="http://schemas.microsoft.com/office/drawing/2014/main" id="{DF2D7A03-BC59-A3FD-9537-6662C959BAD8}"/>
              </a:ext>
            </a:extLst>
          </p:cNvPr>
          <p:cNvSpPr/>
          <p:nvPr/>
        </p:nvSpPr>
        <p:spPr>
          <a:xfrm>
            <a:off x="164990" y="83409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Failure: </a:t>
            </a:r>
            <a:r>
              <a:rPr lang="en-US" sz="26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Disruption and Transition Plan</a:t>
            </a:r>
            <a:endParaRPr lang="en-US" sz="2600" dirty="0"/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4655CA4E-2DFC-89D6-6D5D-C98A37F24062}"/>
              </a:ext>
            </a:extLst>
          </p:cNvPr>
          <p:cNvSpPr/>
          <p:nvPr/>
        </p:nvSpPr>
        <p:spPr>
          <a:xfrm>
            <a:off x="178706" y="1331247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supply disruption cases and the 5-phase plan to safely replace a critical substation supplier. </a:t>
            </a:r>
            <a:endParaRPr lang="en-US" sz="1050" dirty="0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853D0F75-BFC2-C64C-26CE-66B4FD8A0959}"/>
              </a:ext>
            </a:extLst>
          </p:cNvPr>
          <p:cNvSpPr/>
          <p:nvPr/>
        </p:nvSpPr>
        <p:spPr>
          <a:xfrm>
            <a:off x="164990" y="1691640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DISRUPTION IN CRITICAL INPUT SUPPLIERS</a:t>
            </a:r>
            <a:endParaRPr lang="en-US" sz="1200" dirty="0"/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1192C70D-BF35-3993-071A-27E1AD3AA724}"/>
              </a:ext>
            </a:extLst>
          </p:cNvPr>
          <p:cNvSpPr/>
          <p:nvPr/>
        </p:nvSpPr>
        <p:spPr>
          <a:xfrm>
            <a:off x="164990" y="1965960"/>
            <a:ext cx="3648456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FC3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68FDC166-E6B9-F598-9796-A52EE0F322C3}"/>
              </a:ext>
            </a:extLst>
          </p:cNvPr>
          <p:cNvSpPr/>
          <p:nvPr/>
        </p:nvSpPr>
        <p:spPr>
          <a:xfrm>
            <a:off x="164990" y="1965960"/>
            <a:ext cx="3648456" cy="292608"/>
          </a:xfrm>
          <a:prstGeom prst="roundRect">
            <a:avLst>
              <a:gd name="adj" fmla="val 25000"/>
            </a:avLst>
          </a:prstGeom>
          <a:solidFill>
            <a:srgbClr val="B91C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1EC2CA42-502C-CDA9-01C1-B95485E9FB1C}"/>
              </a:ext>
            </a:extLst>
          </p:cNvPr>
          <p:cNvSpPr/>
          <p:nvPr/>
        </p:nvSpPr>
        <p:spPr>
          <a:xfrm>
            <a:off x="302150" y="1965960"/>
            <a:ext cx="3374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MOOVE (COSAN LUBRICANTES)</a:t>
            </a:r>
            <a:endParaRPr lang="en-US" sz="900" dirty="0"/>
          </a:p>
        </p:txBody>
      </p:sp>
      <p:pic>
        <p:nvPicPr>
          <p:cNvPr id="8" name="Image 1" descr="/home/ethos/.assistant/workspace/tmp/logos/moove.png">
            <a:extLst>
              <a:ext uri="{FF2B5EF4-FFF2-40B4-BE49-F238E27FC236}">
                <a16:creationId xmlns:a16="http://schemas.microsoft.com/office/drawing/2014/main" id="{1EE8A283-D517-5585-BE1E-0BE0EB8AC0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150" y="2368296"/>
            <a:ext cx="1463040" cy="347472"/>
          </a:xfrm>
          <a:prstGeom prst="rect">
            <a:avLst/>
          </a:prstGeom>
        </p:spPr>
      </p:pic>
      <p:sp>
        <p:nvSpPr>
          <p:cNvPr id="9" name="Text 8">
            <a:extLst>
              <a:ext uri="{FF2B5EF4-FFF2-40B4-BE49-F238E27FC236}">
                <a16:creationId xmlns:a16="http://schemas.microsoft.com/office/drawing/2014/main" id="{E4C87454-28E0-2604-EDD1-E507FC14EDD3}"/>
              </a:ext>
            </a:extLst>
          </p:cNvPr>
          <p:cNvSpPr/>
          <p:nvPr/>
        </p:nvSpPr>
        <p:spPr>
          <a:xfrm>
            <a:off x="1902350" y="2313432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Feb/2025 · Ilha do Governador (RJ)</a:t>
            </a:r>
            <a:endParaRPr lang="en-US" sz="850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C0B9BF37-728A-BF1A-B9C8-5E30D40C6441}"/>
              </a:ext>
            </a:extLst>
          </p:cNvPr>
          <p:cNvSpPr/>
          <p:nvPr/>
        </p:nvSpPr>
        <p:spPr>
          <a:xfrm>
            <a:off x="1902350" y="2587752"/>
            <a:ext cx="17739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fire: 28–30h of firefighting, 100+ firefighters, MPRJ interdiction and leak into Guanabara Bay. Lubricant supply disruption.</a:t>
            </a:r>
            <a:endParaRPr lang="en-US" sz="760" dirty="0"/>
          </a:p>
        </p:txBody>
      </p:sp>
      <p:sp>
        <p:nvSpPr>
          <p:cNvPr id="11" name="Shape 10">
            <a:extLst>
              <a:ext uri="{FF2B5EF4-FFF2-40B4-BE49-F238E27FC236}">
                <a16:creationId xmlns:a16="http://schemas.microsoft.com/office/drawing/2014/main" id="{0C1B3EFA-A756-812F-9A14-942C26DB8F80}"/>
              </a:ext>
            </a:extLst>
          </p:cNvPr>
          <p:cNvSpPr/>
          <p:nvPr/>
        </p:nvSpPr>
        <p:spPr>
          <a:xfrm>
            <a:off x="3932318" y="1965960"/>
            <a:ext cx="3648456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FC3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1">
            <a:extLst>
              <a:ext uri="{FF2B5EF4-FFF2-40B4-BE49-F238E27FC236}">
                <a16:creationId xmlns:a16="http://schemas.microsoft.com/office/drawing/2014/main" id="{5F50887E-45F3-E57C-DFCD-3D391C74F0C0}"/>
              </a:ext>
            </a:extLst>
          </p:cNvPr>
          <p:cNvSpPr/>
          <p:nvPr/>
        </p:nvSpPr>
        <p:spPr>
          <a:xfrm>
            <a:off x="3932318" y="1965960"/>
            <a:ext cx="3648456" cy="292608"/>
          </a:xfrm>
          <a:prstGeom prst="roundRect">
            <a:avLst>
              <a:gd name="adj" fmla="val 25000"/>
            </a:avLst>
          </a:prstGeom>
          <a:solidFill>
            <a:srgbClr val="B91C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9D7ACB44-1DB5-C55D-49A8-B6D62202EF4F}"/>
              </a:ext>
            </a:extLst>
          </p:cNvPr>
          <p:cNvSpPr/>
          <p:nvPr/>
        </p:nvSpPr>
        <p:spPr>
          <a:xfrm>
            <a:off x="4069478" y="1965960"/>
            <a:ext cx="3374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MARLUVAS</a:t>
            </a:r>
            <a:endParaRPr lang="en-US" sz="900" dirty="0"/>
          </a:p>
        </p:txBody>
      </p:sp>
      <p:pic>
        <p:nvPicPr>
          <p:cNvPr id="14" name="Image 2" descr="/home/ethos/.assistant/workspace/tmp/logos/marluvas_li.png">
            <a:extLst>
              <a:ext uri="{FF2B5EF4-FFF2-40B4-BE49-F238E27FC236}">
                <a16:creationId xmlns:a16="http://schemas.microsoft.com/office/drawing/2014/main" id="{65E38014-09FC-3C56-1E7A-2AC2B5B62F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9478" y="2368296"/>
            <a:ext cx="365760" cy="365760"/>
          </a:xfrm>
          <a:prstGeom prst="rect">
            <a:avLst/>
          </a:prstGeom>
        </p:spPr>
      </p:pic>
      <p:sp>
        <p:nvSpPr>
          <p:cNvPr id="15" name="Text 13">
            <a:extLst>
              <a:ext uri="{FF2B5EF4-FFF2-40B4-BE49-F238E27FC236}">
                <a16:creationId xmlns:a16="http://schemas.microsoft.com/office/drawing/2014/main" id="{449327FB-8002-11AC-FB7B-B356F32E69C1}"/>
              </a:ext>
            </a:extLst>
          </p:cNvPr>
          <p:cNvSpPr/>
          <p:nvPr/>
        </p:nvSpPr>
        <p:spPr>
          <a:xfrm>
            <a:off x="4526678" y="2313432"/>
            <a:ext cx="2916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Sep/2020 · Dores de Campos (MG)</a:t>
            </a:r>
            <a:endParaRPr lang="en-US" sz="85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6B9AFB2E-264B-DA51-4C9C-8FDD17F42336}"/>
              </a:ext>
            </a:extLst>
          </p:cNvPr>
          <p:cNvSpPr/>
          <p:nvPr/>
        </p:nvSpPr>
        <p:spPr>
          <a:xfrm>
            <a:off x="4526678" y="2587752"/>
            <a:ext cx="29169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destroyed 3 warehouses (footwear and leather gloves — PPE), with explosion risk; cause: short circuit (G1). PPE supply disruption.</a:t>
            </a:r>
            <a:endParaRPr lang="en-US" sz="76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8BFD2028-05CE-C393-8B62-7134DDB7971F}"/>
              </a:ext>
            </a:extLst>
          </p:cNvPr>
          <p:cNvSpPr/>
          <p:nvPr/>
        </p:nvSpPr>
        <p:spPr>
          <a:xfrm>
            <a:off x="7699646" y="1965960"/>
            <a:ext cx="3648456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FC3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031CA83B-0842-36D8-6831-C8933191E072}"/>
              </a:ext>
            </a:extLst>
          </p:cNvPr>
          <p:cNvSpPr/>
          <p:nvPr/>
        </p:nvSpPr>
        <p:spPr>
          <a:xfrm>
            <a:off x="7699646" y="1965960"/>
            <a:ext cx="3648456" cy="292608"/>
          </a:xfrm>
          <a:prstGeom prst="roundRect">
            <a:avLst>
              <a:gd name="adj" fmla="val 25000"/>
            </a:avLst>
          </a:prstGeom>
          <a:solidFill>
            <a:srgbClr val="B91C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92036187-3C0A-C757-B031-79D2366DFFFF}"/>
              </a:ext>
            </a:extLst>
          </p:cNvPr>
          <p:cNvSpPr/>
          <p:nvPr/>
        </p:nvSpPr>
        <p:spPr>
          <a:xfrm>
            <a:off x="7836806" y="1965960"/>
            <a:ext cx="3374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GLOBO · NATIONWIDE BLACKOUT</a:t>
            </a:r>
            <a:endParaRPr lang="en-US" sz="900" dirty="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E95F8108-CFBF-105E-7B84-AE3268532C8E}"/>
              </a:ext>
            </a:extLst>
          </p:cNvPr>
          <p:cNvSpPr/>
          <p:nvPr/>
        </p:nvSpPr>
        <p:spPr>
          <a:xfrm>
            <a:off x="8294006" y="2313432"/>
            <a:ext cx="2916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Oct/2025 · Bateias (PR)</a:t>
            </a:r>
            <a:endParaRPr lang="en-US" sz="850" dirty="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96BAED21-D62C-B7C2-AD99-381497C08111}"/>
              </a:ext>
            </a:extLst>
          </p:cNvPr>
          <p:cNvSpPr/>
          <p:nvPr/>
        </p:nvSpPr>
        <p:spPr>
          <a:xfrm>
            <a:off x="8294006" y="2587752"/>
            <a:ext cx="29169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Substation fire knocked out the National Interconnected System — nationwide blackout (O Globo/CBN/ANEEL). Proves the systemic impact of a critical failure.</a:t>
            </a:r>
            <a:endParaRPr lang="en-US" sz="760" dirty="0"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0B78F111-CDAF-52EE-F6B7-FA961B98E7B9}"/>
              </a:ext>
            </a:extLst>
          </p:cNvPr>
          <p:cNvSpPr/>
          <p:nvPr/>
        </p:nvSpPr>
        <p:spPr>
          <a:xfrm>
            <a:off x="164990" y="3557016"/>
            <a:ext cx="11183112" cy="841248"/>
          </a:xfrm>
          <a:prstGeom prst="roundRect">
            <a:avLst>
              <a:gd name="adj" fmla="val 9783"/>
            </a:avLst>
          </a:prstGeom>
          <a:solidFill>
            <a:srgbClr val="E7F6EF"/>
          </a:solidFill>
          <a:ln w="12700">
            <a:solidFill>
              <a:srgbClr val="BFE5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4" descr="preencoded.png">
            <a:extLst>
              <a:ext uri="{FF2B5EF4-FFF2-40B4-BE49-F238E27FC236}">
                <a16:creationId xmlns:a16="http://schemas.microsoft.com/office/drawing/2014/main" id="{1CB7A48B-55C4-65FF-FADD-11A6CC138C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870" y="3813048"/>
            <a:ext cx="292608" cy="292608"/>
          </a:xfrm>
          <a:prstGeom prst="rect">
            <a:avLst/>
          </a:prstGeom>
        </p:spPr>
      </p:pic>
      <p:sp>
        <p:nvSpPr>
          <p:cNvPr id="25" name="Text 21">
            <a:extLst>
              <a:ext uri="{FF2B5EF4-FFF2-40B4-BE49-F238E27FC236}">
                <a16:creationId xmlns:a16="http://schemas.microsoft.com/office/drawing/2014/main" id="{8E486780-B1F5-F275-E54B-35A0118A4C96}"/>
              </a:ext>
            </a:extLst>
          </p:cNvPr>
          <p:cNvSpPr/>
          <p:nvPr/>
        </p:nvSpPr>
        <p:spPr>
          <a:xfrm>
            <a:off x="741062" y="3648456"/>
            <a:ext cx="10424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9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MITIGATES EXPLOSION RISK</a:t>
            </a:r>
            <a:endParaRPr lang="en-US" sz="1100" dirty="0"/>
          </a:p>
        </p:txBody>
      </p:sp>
      <p:sp>
        <p:nvSpPr>
          <p:cNvPr id="26" name="Text 22">
            <a:extLst>
              <a:ext uri="{FF2B5EF4-FFF2-40B4-BE49-F238E27FC236}">
                <a16:creationId xmlns:a16="http://schemas.microsoft.com/office/drawing/2014/main" id="{28634157-B336-BF8C-CBF7-2B2127FEDFCE}"/>
              </a:ext>
            </a:extLst>
          </p:cNvPr>
          <p:cNvSpPr/>
          <p:nvPr/>
        </p:nvSpPr>
        <p:spPr>
          <a:xfrm>
            <a:off x="741062" y="390448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000"/>
              </a:lnSpc>
              <a:buNone/>
            </a:pPr>
            <a:r>
              <a:rPr lang="en-US" sz="7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Predictive maintenance: thermography + oil analysis (DGA) detect failures before explosion• Electrical protection: differential/overcurrent relays with automatic tripping• Fire suppression (N2/FM-200/water mist) and physical isolation barriers• Grounding/LPS (NBR 5419), surge protection and periodic testing (dielectric strength, power factor)• NR-10/NR-20, release procedures and a trained emergency plan</a:t>
            </a:r>
            <a:endParaRPr lang="en-US" sz="760" dirty="0"/>
          </a:p>
        </p:txBody>
      </p:sp>
      <p:sp>
        <p:nvSpPr>
          <p:cNvPr id="27" name="Text 23">
            <a:extLst>
              <a:ext uri="{FF2B5EF4-FFF2-40B4-BE49-F238E27FC236}">
                <a16:creationId xmlns:a16="http://schemas.microsoft.com/office/drawing/2014/main" id="{B753E99A-F601-AAA1-25A5-344F67C650D5}"/>
              </a:ext>
            </a:extLst>
          </p:cNvPr>
          <p:cNvSpPr/>
          <p:nvPr/>
        </p:nvSpPr>
        <p:spPr>
          <a:xfrm>
            <a:off x="164990" y="4526280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TRANSITION PLAN — 5 PHASES</a:t>
            </a:r>
            <a:endParaRPr lang="en-US" sz="1200" dirty="0"/>
          </a:p>
        </p:txBody>
      </p:sp>
      <p:sp>
        <p:nvSpPr>
          <p:cNvPr id="28" name="Shape 24">
            <a:extLst>
              <a:ext uri="{FF2B5EF4-FFF2-40B4-BE49-F238E27FC236}">
                <a16:creationId xmlns:a16="http://schemas.microsoft.com/office/drawing/2014/main" id="{4CD7C700-D3A9-112E-E4BA-C327BAC54D2C}"/>
              </a:ext>
            </a:extLst>
          </p:cNvPr>
          <p:cNvSpPr/>
          <p:nvPr/>
        </p:nvSpPr>
        <p:spPr>
          <a:xfrm>
            <a:off x="164990" y="4782312"/>
            <a:ext cx="11183112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750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5">
            <a:extLst>
              <a:ext uri="{FF2B5EF4-FFF2-40B4-BE49-F238E27FC236}">
                <a16:creationId xmlns:a16="http://schemas.microsoft.com/office/drawing/2014/main" id="{ADDCE8DB-9E5F-F897-A9A6-CA9251B1DA7A}"/>
              </a:ext>
            </a:extLst>
          </p:cNvPr>
          <p:cNvSpPr/>
          <p:nvPr/>
        </p:nvSpPr>
        <p:spPr>
          <a:xfrm>
            <a:off x="283862" y="4832604"/>
            <a:ext cx="228600" cy="228600"/>
          </a:xfrm>
          <a:prstGeom prst="ellipse">
            <a:avLst/>
          </a:prstGeom>
          <a:solidFill>
            <a:srgbClr val="27509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6">
            <a:extLst>
              <a:ext uri="{FF2B5EF4-FFF2-40B4-BE49-F238E27FC236}">
                <a16:creationId xmlns:a16="http://schemas.microsoft.com/office/drawing/2014/main" id="{E69D4491-5CE1-7639-B40D-99908FF295C4}"/>
              </a:ext>
            </a:extLst>
          </p:cNvPr>
          <p:cNvSpPr/>
          <p:nvPr/>
        </p:nvSpPr>
        <p:spPr>
          <a:xfrm>
            <a:off x="283862" y="481888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50" dirty="0"/>
          </a:p>
        </p:txBody>
      </p:sp>
      <p:sp>
        <p:nvSpPr>
          <p:cNvPr id="31" name="Text 27">
            <a:extLst>
              <a:ext uri="{FF2B5EF4-FFF2-40B4-BE49-F238E27FC236}">
                <a16:creationId xmlns:a16="http://schemas.microsoft.com/office/drawing/2014/main" id="{C9DC43DD-F31D-39A9-C9A3-7B2DC554A155}"/>
              </a:ext>
            </a:extLst>
          </p:cNvPr>
          <p:cNvSpPr/>
          <p:nvPr/>
        </p:nvSpPr>
        <p:spPr>
          <a:xfrm>
            <a:off x="622190" y="482346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MAPPING</a:t>
            </a:r>
            <a:endParaRPr lang="en-US" sz="900" dirty="0"/>
          </a:p>
        </p:txBody>
      </p:sp>
      <p:sp>
        <p:nvSpPr>
          <p:cNvPr id="32" name="Text 28">
            <a:extLst>
              <a:ext uri="{FF2B5EF4-FFF2-40B4-BE49-F238E27FC236}">
                <a16:creationId xmlns:a16="http://schemas.microsoft.com/office/drawing/2014/main" id="{F2C1AB49-8584-C737-46B5-7C14AD2F585D}"/>
              </a:ext>
            </a:extLst>
          </p:cNvPr>
          <p:cNvSpPr/>
          <p:nvPr/>
        </p:nvSpPr>
        <p:spPr>
          <a:xfrm>
            <a:off x="2496710" y="4823460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Homologated integrators and medium-voltage manufacturers; plant risk geography.</a:t>
            </a:r>
            <a:endParaRPr lang="en-US" sz="780" dirty="0"/>
          </a:p>
        </p:txBody>
      </p:sp>
      <p:sp>
        <p:nvSpPr>
          <p:cNvPr id="33" name="Shape 29">
            <a:extLst>
              <a:ext uri="{FF2B5EF4-FFF2-40B4-BE49-F238E27FC236}">
                <a16:creationId xmlns:a16="http://schemas.microsoft.com/office/drawing/2014/main" id="{B378C5B5-C810-E3F6-1C07-5004F746B3A3}"/>
              </a:ext>
            </a:extLst>
          </p:cNvPr>
          <p:cNvSpPr/>
          <p:nvPr/>
        </p:nvSpPr>
        <p:spPr>
          <a:xfrm>
            <a:off x="164990" y="5148072"/>
            <a:ext cx="11183112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750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0">
            <a:extLst>
              <a:ext uri="{FF2B5EF4-FFF2-40B4-BE49-F238E27FC236}">
                <a16:creationId xmlns:a16="http://schemas.microsoft.com/office/drawing/2014/main" id="{6E3D65AE-C229-61A6-CB25-952EB081FD87}"/>
              </a:ext>
            </a:extLst>
          </p:cNvPr>
          <p:cNvSpPr/>
          <p:nvPr/>
        </p:nvSpPr>
        <p:spPr>
          <a:xfrm>
            <a:off x="283862" y="5198364"/>
            <a:ext cx="228600" cy="228600"/>
          </a:xfrm>
          <a:prstGeom prst="ellipse">
            <a:avLst/>
          </a:prstGeom>
          <a:solidFill>
            <a:srgbClr val="27509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1">
            <a:extLst>
              <a:ext uri="{FF2B5EF4-FFF2-40B4-BE49-F238E27FC236}">
                <a16:creationId xmlns:a16="http://schemas.microsoft.com/office/drawing/2014/main" id="{5EEC0BF1-4C3C-8DE0-6A30-32AADF001F7C}"/>
              </a:ext>
            </a:extLst>
          </p:cNvPr>
          <p:cNvSpPr/>
          <p:nvPr/>
        </p:nvSpPr>
        <p:spPr>
          <a:xfrm>
            <a:off x="283862" y="518464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50" dirty="0"/>
          </a:p>
        </p:txBody>
      </p:sp>
      <p:sp>
        <p:nvSpPr>
          <p:cNvPr id="36" name="Text 32">
            <a:extLst>
              <a:ext uri="{FF2B5EF4-FFF2-40B4-BE49-F238E27FC236}">
                <a16:creationId xmlns:a16="http://schemas.microsoft.com/office/drawing/2014/main" id="{AAB5EBCF-62DE-3EFA-3EAD-6F948799035C}"/>
              </a:ext>
            </a:extLst>
          </p:cNvPr>
          <p:cNvSpPr/>
          <p:nvPr/>
        </p:nvSpPr>
        <p:spPr>
          <a:xfrm>
            <a:off x="622190" y="518922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QUALIFICATION</a:t>
            </a:r>
            <a:endParaRPr lang="en-US" sz="900" dirty="0"/>
          </a:p>
        </p:txBody>
      </p:sp>
      <p:sp>
        <p:nvSpPr>
          <p:cNvPr id="37" name="Text 33">
            <a:extLst>
              <a:ext uri="{FF2B5EF4-FFF2-40B4-BE49-F238E27FC236}">
                <a16:creationId xmlns:a16="http://schemas.microsoft.com/office/drawing/2014/main" id="{3990D040-3546-CDA3-FDE4-F8B96D5E2EB7}"/>
              </a:ext>
            </a:extLst>
          </p:cNvPr>
          <p:cNvSpPr/>
          <p:nvPr/>
        </p:nvSpPr>
        <p:spPr>
          <a:xfrm>
            <a:off x="2496710" y="5189220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audit focused on safety, NR-10/NR-20 and operational resilience.</a:t>
            </a:r>
            <a:endParaRPr lang="en-US" sz="780" dirty="0"/>
          </a:p>
        </p:txBody>
      </p:sp>
      <p:sp>
        <p:nvSpPr>
          <p:cNvPr id="38" name="Shape 34">
            <a:extLst>
              <a:ext uri="{FF2B5EF4-FFF2-40B4-BE49-F238E27FC236}">
                <a16:creationId xmlns:a16="http://schemas.microsoft.com/office/drawing/2014/main" id="{FCACF2D5-8B4C-B192-BE5F-AE96CB312969}"/>
              </a:ext>
            </a:extLst>
          </p:cNvPr>
          <p:cNvSpPr/>
          <p:nvPr/>
        </p:nvSpPr>
        <p:spPr>
          <a:xfrm>
            <a:off x="164990" y="5513832"/>
            <a:ext cx="11183112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750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5">
            <a:extLst>
              <a:ext uri="{FF2B5EF4-FFF2-40B4-BE49-F238E27FC236}">
                <a16:creationId xmlns:a16="http://schemas.microsoft.com/office/drawing/2014/main" id="{3124BDF6-5B87-7563-74EA-95D898B3BED3}"/>
              </a:ext>
            </a:extLst>
          </p:cNvPr>
          <p:cNvSpPr/>
          <p:nvPr/>
        </p:nvSpPr>
        <p:spPr>
          <a:xfrm>
            <a:off x="283862" y="5564124"/>
            <a:ext cx="228600" cy="228600"/>
          </a:xfrm>
          <a:prstGeom prst="ellipse">
            <a:avLst/>
          </a:prstGeom>
          <a:solidFill>
            <a:srgbClr val="27509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6">
            <a:extLst>
              <a:ext uri="{FF2B5EF4-FFF2-40B4-BE49-F238E27FC236}">
                <a16:creationId xmlns:a16="http://schemas.microsoft.com/office/drawing/2014/main" id="{2A620EA4-3A9B-4891-E62B-E1864CEE7A77}"/>
              </a:ext>
            </a:extLst>
          </p:cNvPr>
          <p:cNvSpPr/>
          <p:nvPr/>
        </p:nvSpPr>
        <p:spPr>
          <a:xfrm>
            <a:off x="283862" y="555040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50" dirty="0"/>
          </a:p>
        </p:txBody>
      </p:sp>
      <p:sp>
        <p:nvSpPr>
          <p:cNvPr id="41" name="Text 37">
            <a:extLst>
              <a:ext uri="{FF2B5EF4-FFF2-40B4-BE49-F238E27FC236}">
                <a16:creationId xmlns:a16="http://schemas.microsoft.com/office/drawing/2014/main" id="{6BEF5704-FB70-7177-C134-9B9715A9A1A9}"/>
              </a:ext>
            </a:extLst>
          </p:cNvPr>
          <p:cNvSpPr/>
          <p:nvPr/>
        </p:nvSpPr>
        <p:spPr>
          <a:xfrm>
            <a:off x="622190" y="55549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SOURCING</a:t>
            </a:r>
            <a:endParaRPr lang="en-US" sz="900" dirty="0"/>
          </a:p>
        </p:txBody>
      </p:sp>
      <p:sp>
        <p:nvSpPr>
          <p:cNvPr id="42" name="Text 38">
            <a:extLst>
              <a:ext uri="{FF2B5EF4-FFF2-40B4-BE49-F238E27FC236}">
                <a16:creationId xmlns:a16="http://schemas.microsoft.com/office/drawing/2014/main" id="{A2166B41-DC76-EC0B-37BB-C2EC2347C9BA}"/>
              </a:ext>
            </a:extLst>
          </p:cNvPr>
          <p:cNvSpPr/>
          <p:nvPr/>
        </p:nvSpPr>
        <p:spPr>
          <a:xfrm>
            <a:off x="2496710" y="5554980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development with 3–6 months of overlap without supply shortage.</a:t>
            </a:r>
            <a:endParaRPr lang="en-US" sz="780" dirty="0"/>
          </a:p>
        </p:txBody>
      </p:sp>
      <p:sp>
        <p:nvSpPr>
          <p:cNvPr id="43" name="Shape 39">
            <a:extLst>
              <a:ext uri="{FF2B5EF4-FFF2-40B4-BE49-F238E27FC236}">
                <a16:creationId xmlns:a16="http://schemas.microsoft.com/office/drawing/2014/main" id="{02742475-D5ED-C077-DC0B-74D2F25DC56F}"/>
              </a:ext>
            </a:extLst>
          </p:cNvPr>
          <p:cNvSpPr/>
          <p:nvPr/>
        </p:nvSpPr>
        <p:spPr>
          <a:xfrm>
            <a:off x="164990" y="5879592"/>
            <a:ext cx="11183112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750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0">
            <a:extLst>
              <a:ext uri="{FF2B5EF4-FFF2-40B4-BE49-F238E27FC236}">
                <a16:creationId xmlns:a16="http://schemas.microsoft.com/office/drawing/2014/main" id="{7DF34B04-A04D-3A4B-8789-499D786BDFA6}"/>
              </a:ext>
            </a:extLst>
          </p:cNvPr>
          <p:cNvSpPr/>
          <p:nvPr/>
        </p:nvSpPr>
        <p:spPr>
          <a:xfrm>
            <a:off x="283862" y="5929884"/>
            <a:ext cx="228600" cy="228600"/>
          </a:xfrm>
          <a:prstGeom prst="ellipse">
            <a:avLst/>
          </a:prstGeom>
          <a:solidFill>
            <a:srgbClr val="27509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1">
            <a:extLst>
              <a:ext uri="{FF2B5EF4-FFF2-40B4-BE49-F238E27FC236}">
                <a16:creationId xmlns:a16="http://schemas.microsoft.com/office/drawing/2014/main" id="{355D3970-FE9E-F7A3-8B22-806C6DF4DED6}"/>
              </a:ext>
            </a:extLst>
          </p:cNvPr>
          <p:cNvSpPr/>
          <p:nvPr/>
        </p:nvSpPr>
        <p:spPr>
          <a:xfrm>
            <a:off x="283862" y="591616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50" dirty="0"/>
          </a:p>
        </p:txBody>
      </p:sp>
      <p:sp>
        <p:nvSpPr>
          <p:cNvPr id="46" name="Text 42">
            <a:extLst>
              <a:ext uri="{FF2B5EF4-FFF2-40B4-BE49-F238E27FC236}">
                <a16:creationId xmlns:a16="http://schemas.microsoft.com/office/drawing/2014/main" id="{D32EE072-8C5A-05B6-0201-A343ACFF3204}"/>
              </a:ext>
            </a:extLst>
          </p:cNvPr>
          <p:cNvSpPr/>
          <p:nvPr/>
        </p:nvSpPr>
        <p:spPr>
          <a:xfrm>
            <a:off x="622190" y="592074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</a:t>
            </a:r>
            <a:endParaRPr lang="en-US" sz="900" dirty="0"/>
          </a:p>
        </p:txBody>
      </p:sp>
      <p:sp>
        <p:nvSpPr>
          <p:cNvPr id="47" name="Text 43">
            <a:extLst>
              <a:ext uri="{FF2B5EF4-FFF2-40B4-BE49-F238E27FC236}">
                <a16:creationId xmlns:a16="http://schemas.microsoft.com/office/drawing/2014/main" id="{284B6736-915B-AD87-7405-4D00CE7875CA}"/>
              </a:ext>
            </a:extLst>
          </p:cNvPr>
          <p:cNvSpPr/>
          <p:nvPr/>
        </p:nvSpPr>
        <p:spPr>
          <a:xfrm>
            <a:off x="2496710" y="5920740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SLA, continuity clauses, penalties and insurance coverage.</a:t>
            </a:r>
            <a:endParaRPr lang="en-US" sz="780" dirty="0"/>
          </a:p>
        </p:txBody>
      </p:sp>
      <p:sp>
        <p:nvSpPr>
          <p:cNvPr id="48" name="Shape 44">
            <a:extLst>
              <a:ext uri="{FF2B5EF4-FFF2-40B4-BE49-F238E27FC236}">
                <a16:creationId xmlns:a16="http://schemas.microsoft.com/office/drawing/2014/main" id="{A2488CA9-7988-ADD5-3299-F43DB08C4EBA}"/>
              </a:ext>
            </a:extLst>
          </p:cNvPr>
          <p:cNvSpPr/>
          <p:nvPr/>
        </p:nvSpPr>
        <p:spPr>
          <a:xfrm>
            <a:off x="164990" y="6245352"/>
            <a:ext cx="11183112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7509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5">
            <a:extLst>
              <a:ext uri="{FF2B5EF4-FFF2-40B4-BE49-F238E27FC236}">
                <a16:creationId xmlns:a16="http://schemas.microsoft.com/office/drawing/2014/main" id="{06EF2E2B-8076-A384-D607-7E2349008EA6}"/>
              </a:ext>
            </a:extLst>
          </p:cNvPr>
          <p:cNvSpPr/>
          <p:nvPr/>
        </p:nvSpPr>
        <p:spPr>
          <a:xfrm>
            <a:off x="283862" y="6295644"/>
            <a:ext cx="228600" cy="228600"/>
          </a:xfrm>
          <a:prstGeom prst="ellipse">
            <a:avLst/>
          </a:prstGeom>
          <a:solidFill>
            <a:srgbClr val="27509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6">
            <a:extLst>
              <a:ext uri="{FF2B5EF4-FFF2-40B4-BE49-F238E27FC236}">
                <a16:creationId xmlns:a16="http://schemas.microsoft.com/office/drawing/2014/main" id="{7D442D0E-7519-FD46-607E-AB6599F30CA5}"/>
              </a:ext>
            </a:extLst>
          </p:cNvPr>
          <p:cNvSpPr/>
          <p:nvPr/>
        </p:nvSpPr>
        <p:spPr>
          <a:xfrm>
            <a:off x="283862" y="628192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50" dirty="0"/>
          </a:p>
        </p:txBody>
      </p:sp>
      <p:sp>
        <p:nvSpPr>
          <p:cNvPr id="51" name="Text 47">
            <a:extLst>
              <a:ext uri="{FF2B5EF4-FFF2-40B4-BE49-F238E27FC236}">
                <a16:creationId xmlns:a16="http://schemas.microsoft.com/office/drawing/2014/main" id="{C0380BE4-74D2-3065-873C-23CEA1D03993}"/>
              </a:ext>
            </a:extLst>
          </p:cNvPr>
          <p:cNvSpPr/>
          <p:nvPr/>
        </p:nvSpPr>
        <p:spPr>
          <a:xfrm>
            <a:off x="622190" y="628650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F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PARTNERSHIP</a:t>
            </a:r>
            <a:endParaRPr lang="en-US" sz="900" dirty="0"/>
          </a:p>
        </p:txBody>
      </p:sp>
      <p:sp>
        <p:nvSpPr>
          <p:cNvPr id="52" name="Text 48">
            <a:extLst>
              <a:ext uri="{FF2B5EF4-FFF2-40B4-BE49-F238E27FC236}">
                <a16:creationId xmlns:a16="http://schemas.microsoft.com/office/drawing/2014/main" id="{78058802-3687-CB0F-ACD6-B0DE26FB50BF}"/>
              </a:ext>
            </a:extLst>
          </p:cNvPr>
          <p:cNvSpPr/>
          <p:nvPr/>
        </p:nvSpPr>
        <p:spPr>
          <a:xfrm>
            <a:off x="2496710" y="6286500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relationship with governance, KPIs and joint evolution.</a:t>
            </a:r>
            <a:endParaRPr lang="en-US" sz="780" dirty="0"/>
          </a:p>
        </p:txBody>
      </p:sp>
      <p:pic>
        <p:nvPicPr>
          <p:cNvPr id="54" name="Imagem 53">
            <a:extLst>
              <a:ext uri="{FF2B5EF4-FFF2-40B4-BE49-F238E27FC236}">
                <a16:creationId xmlns:a16="http://schemas.microsoft.com/office/drawing/2014/main" id="{6B6EB839-1338-4C24-36EA-65DAF1BBC7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97501" y="2374458"/>
            <a:ext cx="437069" cy="390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03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313C2D-A0F2-B241-8839-352E9B0BE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1401" y="0"/>
            <a:ext cx="4915856" cy="1187003"/>
          </a:xfrm>
        </p:spPr>
        <p:txBody>
          <a:bodyPr/>
          <a:lstStyle/>
          <a:p>
            <a:r>
              <a:rPr lang="en-US" sz="3600" noProof="0" dirty="0">
                <a:latin typeface="Arial" panose="02000000000000000000"/>
                <a:cs typeface="+mj-cs"/>
              </a:rPr>
              <a:t>Internal Analysis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7A61478-303B-9645-B395-FF07627A8DD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000" i="1" noProof="0" dirty="0">
                <a:latin typeface="Arial" panose="02000000000000000000"/>
                <a:ea typeface="+mj-ea"/>
                <a:cs typeface="+mj-cs"/>
              </a:rPr>
              <a:t>The operation's Need</a:t>
            </a:r>
          </a:p>
          <a:p>
            <a:r>
              <a:rPr lang="en-US" sz="2000" i="1" noProof="0" dirty="0">
                <a:latin typeface="Arial" panose="02000000000000000000"/>
                <a:ea typeface="+mj-ea"/>
                <a:cs typeface="+mj-cs"/>
              </a:rPr>
              <a:t>Market vs current suppliers</a:t>
            </a:r>
          </a:p>
          <a:p>
            <a:r>
              <a:rPr lang="en-US" sz="2000" i="1" noProof="0" dirty="0">
                <a:latin typeface="Arial" panose="02000000000000000000"/>
                <a:ea typeface="+mj-ea"/>
                <a:cs typeface="+mj-cs"/>
              </a:rPr>
              <a:t>Competitiveness</a:t>
            </a:r>
          </a:p>
          <a:p>
            <a:r>
              <a:rPr lang="en-US" sz="2000" i="1" noProof="0" dirty="0">
                <a:latin typeface="Arial" panose="02000000000000000000"/>
                <a:ea typeface="+mj-ea"/>
                <a:cs typeface="+mj-cs"/>
              </a:rPr>
              <a:t>Risk analysis</a:t>
            </a:r>
          </a:p>
          <a:p>
            <a:r>
              <a:rPr lang="en-US" sz="2000" i="1" noProof="0" dirty="0">
                <a:latin typeface="Arial" panose="02000000000000000000"/>
                <a:ea typeface="+mj-ea"/>
                <a:cs typeface="+mj-cs"/>
              </a:rPr>
              <a:t>Resilience</a:t>
            </a:r>
          </a:p>
          <a:p>
            <a:r>
              <a:rPr lang="en-US" sz="2000" i="1" noProof="0" dirty="0">
                <a:latin typeface="Arial" panose="02000000000000000000"/>
                <a:ea typeface="+mj-ea"/>
                <a:cs typeface="+mj-cs"/>
              </a:rPr>
              <a:t>Sustainability</a:t>
            </a:r>
          </a:p>
        </p:txBody>
      </p:sp>
    </p:spTree>
    <p:extLst>
      <p:ext uri="{BB962C8B-B14F-4D97-AF65-F5344CB8AC3E}">
        <p14:creationId xmlns:p14="http://schemas.microsoft.com/office/powerpoint/2010/main" val="30328273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C526853F-7E6A-1B55-CCDF-B777D05789D9}"/>
              </a:ext>
            </a:extLst>
          </p:cNvPr>
          <p:cNvSpPr/>
          <p:nvPr/>
        </p:nvSpPr>
        <p:spPr>
          <a:xfrm>
            <a:off x="2525486" y="6569852"/>
            <a:ext cx="9666514" cy="2881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FAFC48B5-8A47-75B2-129B-59D6C97CD29A}"/>
              </a:ext>
            </a:extLst>
          </p:cNvPr>
          <p:cNvSpPr txBox="1">
            <a:spLocks/>
          </p:cNvSpPr>
          <p:nvPr/>
        </p:nvSpPr>
        <p:spPr>
          <a:xfrm>
            <a:off x="-1067485" y="919493"/>
            <a:ext cx="13997501" cy="387798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defPPr>
              <a:defRPr lang="fr-FR"/>
            </a:defPPr>
            <a:lvl1pPr marL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i="0" kern="1200">
                <a:solidFill>
                  <a:schemeClr val="accent6"/>
                </a:solidFill>
                <a:latin typeface="Arial" panose="02000000000000000000" pitchFamily="2" charset="0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>
                <a:solidFill>
                  <a:srgbClr val="002060"/>
                </a:solidFill>
              </a:rPr>
              <a:t>PURCHASING EXCELLENCE</a:t>
            </a:r>
          </a:p>
          <a:p>
            <a:r>
              <a:rPr lang="en-US" sz="1400" dirty="0">
                <a:solidFill>
                  <a:srgbClr val="002060"/>
                </a:solidFill>
              </a:rPr>
              <a:t>Industrial Team 2026 - 2030</a:t>
            </a:r>
            <a:endParaRPr lang="en-US" sz="1200" dirty="0">
              <a:solidFill>
                <a:srgbClr val="002060"/>
              </a:solidFill>
            </a:endParaRPr>
          </a:p>
        </p:txBody>
      </p:sp>
      <p:grpSp>
        <p:nvGrpSpPr>
          <p:cNvPr id="39" name="Agrupar 38">
            <a:extLst>
              <a:ext uri="{FF2B5EF4-FFF2-40B4-BE49-F238E27FC236}">
                <a16:creationId xmlns:a16="http://schemas.microsoft.com/office/drawing/2014/main" id="{7675BB77-143A-BE7D-99AA-4C916186D6E9}"/>
              </a:ext>
            </a:extLst>
          </p:cNvPr>
          <p:cNvGrpSpPr/>
          <p:nvPr/>
        </p:nvGrpSpPr>
        <p:grpSpPr>
          <a:xfrm>
            <a:off x="88045" y="1359829"/>
            <a:ext cx="2389331" cy="5259539"/>
            <a:chOff x="2427608" y="1270807"/>
            <a:chExt cx="1443345" cy="5259539"/>
          </a:xfrm>
        </p:grpSpPr>
        <p:grpSp>
          <p:nvGrpSpPr>
            <p:cNvPr id="8" name="Groupe 14">
              <a:extLst>
                <a:ext uri="{FF2B5EF4-FFF2-40B4-BE49-F238E27FC236}">
                  <a16:creationId xmlns:a16="http://schemas.microsoft.com/office/drawing/2014/main" id="{3D5C692E-4A78-B140-C25F-D11ED0F5F014}"/>
                </a:ext>
              </a:extLst>
            </p:cNvPr>
            <p:cNvGrpSpPr/>
            <p:nvPr/>
          </p:nvGrpSpPr>
          <p:grpSpPr>
            <a:xfrm>
              <a:off x="2427608" y="1270807"/>
              <a:ext cx="1443345" cy="1294276"/>
              <a:chOff x="3297224" y="4634121"/>
              <a:chExt cx="1531115" cy="1554014"/>
            </a:xfrm>
          </p:grpSpPr>
          <p:sp>
            <p:nvSpPr>
              <p:cNvPr id="9" name="Rectangle : coins arrondis 5">
                <a:extLst>
                  <a:ext uri="{FF2B5EF4-FFF2-40B4-BE49-F238E27FC236}">
                    <a16:creationId xmlns:a16="http://schemas.microsoft.com/office/drawing/2014/main" id="{DD162D88-B075-4A36-E8CA-A29DF9C214A1}"/>
                  </a:ext>
                </a:extLst>
              </p:cNvPr>
              <p:cNvSpPr/>
              <p:nvPr/>
            </p:nvSpPr>
            <p:spPr>
              <a:xfrm>
                <a:off x="3313030" y="4634121"/>
                <a:ext cx="1499503" cy="1521274"/>
              </a:xfrm>
              <a:prstGeom prst="roundRect">
                <a:avLst/>
              </a:prstGeom>
              <a:solidFill>
                <a:schemeClr val="accent4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fr-FR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" name="ZoneTexte 19">
                <a:extLst>
                  <a:ext uri="{FF2B5EF4-FFF2-40B4-BE49-F238E27FC236}">
                    <a16:creationId xmlns:a16="http://schemas.microsoft.com/office/drawing/2014/main" id="{EAC9742A-33CD-4E7E-A8A6-AECED4EF848A}"/>
                  </a:ext>
                </a:extLst>
              </p:cNvPr>
              <p:cNvSpPr txBox="1"/>
              <p:nvPr/>
            </p:nvSpPr>
            <p:spPr>
              <a:xfrm>
                <a:off x="3297224" y="5375144"/>
                <a:ext cx="1531115" cy="8129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fr-F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r-FR" sz="1400" b="0" i="1" u="none" strike="noStrike" kern="1200" cap="all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Black" panose="020B0A04020102020204" pitchFamily="34" charset="0"/>
                    <a:ea typeface="+mn-ea"/>
                    <a:cs typeface="Arial"/>
                  </a:rPr>
                  <a:t>COMPETITIVE</a:t>
                </a:r>
                <a:r>
                  <a:rPr kumimoji="0" lang="fr-FR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  <a:r>
                  <a:rPr kumimoji="0" lang="fr-FR" sz="1400" b="0" i="1" u="none" strike="noStrike" kern="1200" cap="all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Black" panose="020B0A04020102020204" pitchFamily="34" charset="0"/>
                    <a:ea typeface="+mn-ea"/>
                    <a:cs typeface="Arial"/>
                  </a:rPr>
                  <a:t>SOURCING</a:t>
                </a:r>
              </a:p>
            </p:txBody>
          </p:sp>
          <p:pic>
            <p:nvPicPr>
              <p:cNvPr id="11" name="Graphique 13" descr="Couronne avec un remplissage uni">
                <a:extLst>
                  <a:ext uri="{FF2B5EF4-FFF2-40B4-BE49-F238E27FC236}">
                    <a16:creationId xmlns:a16="http://schemas.microsoft.com/office/drawing/2014/main" id="{31D7121B-10C0-11D3-302A-1307BC6AC63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3811702" y="4741773"/>
                <a:ext cx="455639" cy="793928"/>
              </a:xfrm>
              <a:prstGeom prst="rect">
                <a:avLst/>
              </a:prstGeom>
            </p:spPr>
          </p:pic>
        </p:grpSp>
        <p:sp>
          <p:nvSpPr>
            <p:cNvPr id="12" name="Rectangle : coins arrondis 5">
              <a:extLst>
                <a:ext uri="{FF2B5EF4-FFF2-40B4-BE49-F238E27FC236}">
                  <a16:creationId xmlns:a16="http://schemas.microsoft.com/office/drawing/2014/main" id="{1C7BFEEB-8E24-F3CB-1487-771402AB90AF}"/>
                </a:ext>
              </a:extLst>
            </p:cNvPr>
            <p:cNvSpPr/>
            <p:nvPr/>
          </p:nvSpPr>
          <p:spPr>
            <a:xfrm>
              <a:off x="2442508" y="2582463"/>
              <a:ext cx="1413545" cy="3947883"/>
            </a:xfrm>
            <a:prstGeom prst="roundRect">
              <a:avLst/>
            </a:prstGeom>
            <a:solidFill>
              <a:schemeClr val="bg1"/>
            </a:solidFill>
            <a:ln w="5715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FR" sz="1600">
                  <a:solidFill>
                    <a:schemeClr val="tx1">
                      <a:lumMod val="85000"/>
                      <a:lumOff val="15000"/>
                    </a:schemeClr>
                  </a:solidFill>
                  <a:latin typeface="Calibri" panose="020F0502020204030204"/>
                </a:rPr>
                <a:t>*SAVINGS</a:t>
              </a:r>
            </a:p>
            <a:p>
              <a:pPr defTabSz="914446">
                <a:defRPr/>
              </a:pPr>
              <a:r>
                <a:rPr kumimoji="0" lang="fr-FR" sz="1600" b="1" i="0" u="none" strike="noStrike" kern="1200" cap="none" spc="0" normalizeH="0" baseline="0" noProof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*</a:t>
              </a:r>
              <a:r>
                <a:rPr lang="fr-FR" sz="1600" b="1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ROADMAP –COMPETITIVITY PLAN X PSV X OPTEX</a:t>
              </a:r>
            </a:p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*MARKET KNOWLEDGE</a:t>
              </a:r>
            </a:p>
            <a:p>
              <a:pPr marL="171450" marR="0" lvl="0" indent="-17145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fr-FR" sz="1600">
                  <a:solidFill>
                    <a:schemeClr val="tx1">
                      <a:lumMod val="85000"/>
                      <a:lumOff val="15000"/>
                    </a:schemeClr>
                  </a:solidFill>
                  <a:latin typeface="Calibri" panose="020F0502020204030204"/>
                </a:rPr>
                <a:t>CONTRIBUTION TO CRI: </a:t>
              </a:r>
            </a:p>
            <a:p>
              <a:pPr marR="0" lvl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kumimoji="0" lang="fr-FR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KNOWLEDGE IN « COÛT FAÇON »</a:t>
              </a:r>
            </a:p>
            <a:p>
              <a:pPr marR="0" lvl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fr-FR" sz="1600">
                  <a:solidFill>
                    <a:schemeClr val="tx1">
                      <a:lumMod val="85000"/>
                      <a:lumOff val="15000"/>
                    </a:schemeClr>
                  </a:solidFill>
                  <a:latin typeface="Calibri" panose="020F0502020204030204"/>
                </a:rPr>
                <a:t>* WORKSTREAM CONTRACTS</a:t>
              </a:r>
            </a:p>
            <a:p>
              <a:pPr marR="0" lvl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fr-FR" sz="1600">
                  <a:solidFill>
                    <a:schemeClr val="tx1">
                      <a:lumMod val="85000"/>
                      <a:lumOff val="15000"/>
                    </a:schemeClr>
                  </a:solidFill>
                  <a:latin typeface="Calibri" panose="020F0502020204030204"/>
                </a:rPr>
                <a:t>* PPA FOR BUYERS </a:t>
              </a:r>
            </a:p>
          </p:txBody>
        </p:sp>
      </p:grpSp>
      <p:grpSp>
        <p:nvGrpSpPr>
          <p:cNvPr id="40" name="Agrupar 39">
            <a:extLst>
              <a:ext uri="{FF2B5EF4-FFF2-40B4-BE49-F238E27FC236}">
                <a16:creationId xmlns:a16="http://schemas.microsoft.com/office/drawing/2014/main" id="{F7BB2FAB-0EF2-2063-C3BE-D07F74C8B199}"/>
              </a:ext>
            </a:extLst>
          </p:cNvPr>
          <p:cNvGrpSpPr/>
          <p:nvPr/>
        </p:nvGrpSpPr>
        <p:grpSpPr>
          <a:xfrm>
            <a:off x="2448284" y="1438059"/>
            <a:ext cx="2466434" cy="5243156"/>
            <a:chOff x="3939440" y="1321206"/>
            <a:chExt cx="1489921" cy="5243156"/>
          </a:xfrm>
        </p:grpSpPr>
        <p:grpSp>
          <p:nvGrpSpPr>
            <p:cNvPr id="14" name="Groupe 29">
              <a:extLst>
                <a:ext uri="{FF2B5EF4-FFF2-40B4-BE49-F238E27FC236}">
                  <a16:creationId xmlns:a16="http://schemas.microsoft.com/office/drawing/2014/main" id="{86FACA95-A672-C9FF-F5EB-8545C2438555}"/>
                </a:ext>
              </a:extLst>
            </p:cNvPr>
            <p:cNvGrpSpPr/>
            <p:nvPr/>
          </p:nvGrpSpPr>
          <p:grpSpPr>
            <a:xfrm>
              <a:off x="3939440" y="1321206"/>
              <a:ext cx="1489921" cy="1234521"/>
              <a:chOff x="4976544" y="4649938"/>
              <a:chExt cx="1551154" cy="1535536"/>
            </a:xfrm>
          </p:grpSpPr>
          <p:grpSp>
            <p:nvGrpSpPr>
              <p:cNvPr id="15" name="Groupe 15">
                <a:extLst>
                  <a:ext uri="{FF2B5EF4-FFF2-40B4-BE49-F238E27FC236}">
                    <a16:creationId xmlns:a16="http://schemas.microsoft.com/office/drawing/2014/main" id="{FC670241-F21A-9166-DCF7-6CFE567C5180}"/>
                  </a:ext>
                </a:extLst>
              </p:cNvPr>
              <p:cNvGrpSpPr/>
              <p:nvPr/>
            </p:nvGrpSpPr>
            <p:grpSpPr>
              <a:xfrm>
                <a:off x="4976544" y="4664201"/>
                <a:ext cx="1551154" cy="1521273"/>
                <a:chOff x="4976544" y="4664201"/>
                <a:chExt cx="1551154" cy="1521273"/>
              </a:xfrm>
            </p:grpSpPr>
            <p:sp>
              <p:nvSpPr>
                <p:cNvPr id="17" name="Rectangle : coins arrondis 9">
                  <a:extLst>
                    <a:ext uri="{FF2B5EF4-FFF2-40B4-BE49-F238E27FC236}">
                      <a16:creationId xmlns:a16="http://schemas.microsoft.com/office/drawing/2014/main" id="{13CAE3AB-CE46-0ACD-B012-D71DACEFB8E3}"/>
                    </a:ext>
                  </a:extLst>
                </p:cNvPr>
                <p:cNvSpPr/>
                <p:nvPr/>
              </p:nvSpPr>
              <p:spPr>
                <a:xfrm>
                  <a:off x="5016302" y="4664201"/>
                  <a:ext cx="1471639" cy="1521273"/>
                </a:xfrm>
                <a:prstGeom prst="roundRect">
                  <a:avLst/>
                </a:prstGeom>
                <a:solidFill>
                  <a:srgbClr val="00206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t"/>
                <a:lstStyle>
                  <a:defPPr>
                    <a:defRPr lang="fr-F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fr-FR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8" name="ZoneTexte 20">
                  <a:extLst>
                    <a:ext uri="{FF2B5EF4-FFF2-40B4-BE49-F238E27FC236}">
                      <a16:creationId xmlns:a16="http://schemas.microsoft.com/office/drawing/2014/main" id="{9661D9F5-8208-F35B-EC57-8E73251983CD}"/>
                    </a:ext>
                  </a:extLst>
                </p:cNvPr>
                <p:cNvSpPr txBox="1"/>
                <p:nvPr/>
              </p:nvSpPr>
              <p:spPr>
                <a:xfrm>
                  <a:off x="4976544" y="5486703"/>
                  <a:ext cx="1551154" cy="574233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lstStyle>
                  <a:defPPr>
                    <a:defRPr lang="fr-FR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fr-FR" sz="1400" b="0" i="1" u="none" strike="noStrike" kern="1200" cap="all" spc="0" normalizeH="0" baseline="0" noProof="0" err="1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Black" panose="020B0A04020102020204" pitchFamily="34" charset="0"/>
                      <a:ea typeface="+mn-ea"/>
                      <a:cs typeface="Arial"/>
                    </a:rPr>
                    <a:t>resilient</a:t>
                  </a:r>
                  <a:r>
                    <a:rPr kumimoji="0" lang="fr-FR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</a:t>
                  </a:r>
                  <a:r>
                    <a:rPr kumimoji="0" lang="fr-FR" sz="1400" b="0" i="1" u="none" strike="noStrike" kern="1200" cap="all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 Black" panose="020B0A04020102020204" pitchFamily="34" charset="0"/>
                      <a:ea typeface="+mn-ea"/>
                      <a:cs typeface="Arial"/>
                    </a:rPr>
                    <a:t>SOURCING</a:t>
                  </a:r>
                </a:p>
              </p:txBody>
            </p:sp>
          </p:grpSp>
          <p:pic>
            <p:nvPicPr>
              <p:cNvPr id="16" name="Graphique 17" descr="Méditation avec un remplissage uni">
                <a:extLst>
                  <a:ext uri="{FF2B5EF4-FFF2-40B4-BE49-F238E27FC236}">
                    <a16:creationId xmlns:a16="http://schemas.microsoft.com/office/drawing/2014/main" id="{81597107-65DB-1C21-3039-AD86A15E056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5455106" y="4649938"/>
                <a:ext cx="529796" cy="882714"/>
              </a:xfrm>
              <a:prstGeom prst="rect">
                <a:avLst/>
              </a:prstGeom>
            </p:spPr>
          </p:pic>
        </p:grpSp>
        <p:sp>
          <p:nvSpPr>
            <p:cNvPr id="32" name="Rectangle : coins arrondis 9">
              <a:extLst>
                <a:ext uri="{FF2B5EF4-FFF2-40B4-BE49-F238E27FC236}">
                  <a16:creationId xmlns:a16="http://schemas.microsoft.com/office/drawing/2014/main" id="{A6B57C25-E08E-47C3-DFE9-BCA2D266F730}"/>
                </a:ext>
              </a:extLst>
            </p:cNvPr>
            <p:cNvSpPr/>
            <p:nvPr/>
          </p:nvSpPr>
          <p:spPr>
            <a:xfrm>
              <a:off x="3977628" y="2571953"/>
              <a:ext cx="1413545" cy="3992409"/>
            </a:xfrm>
            <a:prstGeom prst="roundRect">
              <a:avLst/>
            </a:prstGeom>
            <a:solidFill>
              <a:schemeClr val="bg1"/>
            </a:solidFill>
            <a:ln w="57150">
              <a:solidFill>
                <a:srgbClr val="002E7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b="0" i="0" u="none" strike="noStrike" kern="1200" cap="none" spc="0" normalizeH="0" baseline="0" noProof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*REDUCE RISKS AND LEAD TIME (TARIFFS,MONOSOURCING, DISRUPTIONS…)</a:t>
              </a:r>
            </a:p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fr-FR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/>
              </a:endParaRPr>
            </a:p>
            <a:p>
              <a:pPr marL="171450" marR="0" lvl="0" indent="-17145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b="0" i="0" u="none" strike="noStrike" kern="1200" cap="none" spc="0" normalizeH="0" baseline="0" noProof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TAX REFORM IN 2026 (BE PREPARED)</a:t>
              </a:r>
            </a:p>
            <a:p>
              <a:pPr marR="0" lvl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endParaRPr kumimoji="0" lang="fr-FR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1" name="Agrupar 40">
            <a:extLst>
              <a:ext uri="{FF2B5EF4-FFF2-40B4-BE49-F238E27FC236}">
                <a16:creationId xmlns:a16="http://schemas.microsoft.com/office/drawing/2014/main" id="{FF89E1BF-4986-E87C-DC24-69AA21AA9601}"/>
              </a:ext>
            </a:extLst>
          </p:cNvPr>
          <p:cNvGrpSpPr/>
          <p:nvPr/>
        </p:nvGrpSpPr>
        <p:grpSpPr>
          <a:xfrm>
            <a:off x="4907947" y="1447050"/>
            <a:ext cx="2340002" cy="5212714"/>
            <a:chOff x="5513083" y="1351647"/>
            <a:chExt cx="1413546" cy="5212714"/>
          </a:xfrm>
        </p:grpSpPr>
        <p:grpSp>
          <p:nvGrpSpPr>
            <p:cNvPr id="19" name="Groupe 16">
              <a:extLst>
                <a:ext uri="{FF2B5EF4-FFF2-40B4-BE49-F238E27FC236}">
                  <a16:creationId xmlns:a16="http://schemas.microsoft.com/office/drawing/2014/main" id="{F230A13D-0E66-FEA7-E7AD-0C19C7C774D7}"/>
                </a:ext>
              </a:extLst>
            </p:cNvPr>
            <p:cNvGrpSpPr/>
            <p:nvPr/>
          </p:nvGrpSpPr>
          <p:grpSpPr>
            <a:xfrm>
              <a:off x="5513083" y="1351647"/>
              <a:ext cx="1413546" cy="1195367"/>
              <a:chOff x="6698423" y="4662195"/>
              <a:chExt cx="1609403" cy="1521273"/>
            </a:xfrm>
          </p:grpSpPr>
          <p:sp>
            <p:nvSpPr>
              <p:cNvPr id="20" name="Rectangle : coins arrondis 10">
                <a:extLst>
                  <a:ext uri="{FF2B5EF4-FFF2-40B4-BE49-F238E27FC236}">
                    <a16:creationId xmlns:a16="http://schemas.microsoft.com/office/drawing/2014/main" id="{BB1FB1BF-A93E-9804-84E9-D21C25E75044}"/>
                  </a:ext>
                </a:extLst>
              </p:cNvPr>
              <p:cNvSpPr/>
              <p:nvPr/>
            </p:nvSpPr>
            <p:spPr>
              <a:xfrm>
                <a:off x="6698423" y="4662195"/>
                <a:ext cx="1609403" cy="1521273"/>
              </a:xfrm>
              <a:prstGeom prst="roundRect">
                <a:avLst/>
              </a:prstGeom>
              <a:solidFill>
                <a:schemeClr val="accent6"/>
              </a:solidFill>
              <a:ln>
                <a:solidFill>
                  <a:srgbClr val="70AD47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fr-FR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" name="ZoneTexte 22">
                <a:extLst>
                  <a:ext uri="{FF2B5EF4-FFF2-40B4-BE49-F238E27FC236}">
                    <a16:creationId xmlns:a16="http://schemas.microsoft.com/office/drawing/2014/main" id="{10A970A0-A2FB-C91A-81F8-A0688D962290}"/>
                  </a:ext>
                </a:extLst>
              </p:cNvPr>
              <p:cNvSpPr txBox="1"/>
              <p:nvPr/>
            </p:nvSpPr>
            <p:spPr>
              <a:xfrm>
                <a:off x="6737571" y="5306995"/>
                <a:ext cx="1531115" cy="8617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fr-F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r-FR" sz="1400" b="0" i="1" u="none" strike="noStrike" kern="1200" cap="all" spc="0" normalizeH="0" baseline="0" noProof="0" dirty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Black" panose="020B0A04020102020204" pitchFamily="34" charset="0"/>
                    <a:ea typeface="+mn-ea"/>
                    <a:cs typeface="Arial"/>
                  </a:rPr>
                  <a:t>sustainable</a:t>
                </a:r>
                <a:r>
                  <a:rPr kumimoji="0" lang="fr-FR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</a:t>
                </a:r>
                <a:r>
                  <a:rPr kumimoji="0" lang="fr-FR" sz="1400" b="0" i="1" u="none" strike="noStrike" kern="1200" cap="all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Black" panose="020B0A04020102020204" pitchFamily="34" charset="0"/>
                    <a:ea typeface="+mn-ea"/>
                    <a:cs typeface="Arial"/>
                  </a:rPr>
                  <a:t>SOURCING</a:t>
                </a:r>
              </a:p>
            </p:txBody>
          </p:sp>
          <p:pic>
            <p:nvPicPr>
              <p:cNvPr id="22" name="Graphique 41" descr="Main ouverte avec une plante avec un remplissage uni">
                <a:extLst>
                  <a:ext uri="{FF2B5EF4-FFF2-40B4-BE49-F238E27FC236}">
                    <a16:creationId xmlns:a16="http://schemas.microsoft.com/office/drawing/2014/main" id="{7BFBB755-D28D-50D6-DA2E-98AB7B6C3BF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7260185" y="4704485"/>
                <a:ext cx="542524" cy="793803"/>
              </a:xfrm>
              <a:prstGeom prst="rect">
                <a:avLst/>
              </a:prstGeom>
            </p:spPr>
          </p:pic>
        </p:grpSp>
        <p:sp>
          <p:nvSpPr>
            <p:cNvPr id="33" name="Rectangle : coins arrondis 10">
              <a:extLst>
                <a:ext uri="{FF2B5EF4-FFF2-40B4-BE49-F238E27FC236}">
                  <a16:creationId xmlns:a16="http://schemas.microsoft.com/office/drawing/2014/main" id="{F6E87596-1334-561B-4ADD-1350C3AAADE2}"/>
                </a:ext>
              </a:extLst>
            </p:cNvPr>
            <p:cNvSpPr/>
            <p:nvPr/>
          </p:nvSpPr>
          <p:spPr>
            <a:xfrm>
              <a:off x="5513084" y="2583560"/>
              <a:ext cx="1413545" cy="3980801"/>
            </a:xfrm>
            <a:prstGeom prst="roundRect">
              <a:avLst/>
            </a:prstGeom>
            <a:solidFill>
              <a:schemeClr val="bg1"/>
            </a:solidFill>
            <a:ln w="57150">
              <a:solidFill>
                <a:srgbClr val="70AD4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b="0" i="0" u="none" strike="noStrike" kern="1200" cap="none" spc="0" normalizeH="0" baseline="0" noProof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*MATURITY GRID</a:t>
              </a:r>
            </a:p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FR">
                  <a:solidFill>
                    <a:schemeClr val="tx1">
                      <a:lumMod val="85000"/>
                      <a:lumOff val="15000"/>
                    </a:schemeClr>
                  </a:solidFill>
                  <a:latin typeface="Calibri" panose="020F0502020204030204"/>
                </a:rPr>
                <a:t>*ENERGY PURCHASING STRATEGY</a:t>
              </a:r>
            </a:p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b="0" i="0" u="none" strike="noStrike" kern="1200" cap="none" spc="0" normalizeH="0" baseline="0" noProof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BIOMASS X BIOMETHANE / RECIF</a:t>
              </a:r>
            </a:p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FR">
                  <a:solidFill>
                    <a:schemeClr val="tx1">
                      <a:lumMod val="85000"/>
                      <a:lumOff val="15000"/>
                    </a:schemeClr>
                  </a:solidFill>
                  <a:latin typeface="Calibri" panose="020F0502020204030204"/>
                </a:rPr>
                <a:t>*WATER EFFICIENCY</a:t>
              </a:r>
            </a:p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FR">
                  <a:solidFill>
                    <a:schemeClr val="tx1">
                      <a:lumMod val="85000"/>
                      <a:lumOff val="15000"/>
                    </a:schemeClr>
                  </a:solidFill>
                  <a:latin typeface="Calibri" panose="020F0502020204030204"/>
                </a:rPr>
                <a:t>WATER EFFICIENCY</a:t>
              </a:r>
            </a:p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2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2" name="Agrupar 41">
            <a:extLst>
              <a:ext uri="{FF2B5EF4-FFF2-40B4-BE49-F238E27FC236}">
                <a16:creationId xmlns:a16="http://schemas.microsoft.com/office/drawing/2014/main" id="{DE415F64-3FF4-E4ED-32F1-3C680643E6B3}"/>
              </a:ext>
            </a:extLst>
          </p:cNvPr>
          <p:cNvGrpSpPr/>
          <p:nvPr/>
        </p:nvGrpSpPr>
        <p:grpSpPr>
          <a:xfrm>
            <a:off x="7328308" y="1448645"/>
            <a:ext cx="2340006" cy="5186390"/>
            <a:chOff x="6929582" y="1359423"/>
            <a:chExt cx="1413549" cy="5186390"/>
          </a:xfrm>
        </p:grpSpPr>
        <p:grpSp>
          <p:nvGrpSpPr>
            <p:cNvPr id="23" name="Groupe 8">
              <a:extLst>
                <a:ext uri="{FF2B5EF4-FFF2-40B4-BE49-F238E27FC236}">
                  <a16:creationId xmlns:a16="http://schemas.microsoft.com/office/drawing/2014/main" id="{5B0EA3C2-9DD8-8C00-B4E5-1B7A998D65A0}"/>
                </a:ext>
              </a:extLst>
            </p:cNvPr>
            <p:cNvGrpSpPr/>
            <p:nvPr/>
          </p:nvGrpSpPr>
          <p:grpSpPr>
            <a:xfrm>
              <a:off x="6929585" y="1359423"/>
              <a:ext cx="1413546" cy="1241263"/>
              <a:chOff x="8448137" y="4691267"/>
              <a:chExt cx="1557922" cy="1521273"/>
            </a:xfrm>
          </p:grpSpPr>
          <p:sp>
            <p:nvSpPr>
              <p:cNvPr id="24" name="Rectangle : coins arrondis 11">
                <a:extLst>
                  <a:ext uri="{FF2B5EF4-FFF2-40B4-BE49-F238E27FC236}">
                    <a16:creationId xmlns:a16="http://schemas.microsoft.com/office/drawing/2014/main" id="{94606DDB-D4F1-C534-437B-CCB9D53CBD02}"/>
                  </a:ext>
                </a:extLst>
              </p:cNvPr>
              <p:cNvSpPr/>
              <p:nvPr/>
            </p:nvSpPr>
            <p:spPr>
              <a:xfrm>
                <a:off x="8448137" y="4691267"/>
                <a:ext cx="1557922" cy="1521273"/>
              </a:xfrm>
              <a:prstGeom prst="roundRect">
                <a:avLst/>
              </a:prstGeom>
              <a:solidFill>
                <a:srgbClr val="A6A6A6"/>
              </a:solidFill>
              <a:ln>
                <a:solidFill>
                  <a:srgbClr val="A6A6A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fr-FR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" name="ZoneTexte 23">
                <a:extLst>
                  <a:ext uri="{FF2B5EF4-FFF2-40B4-BE49-F238E27FC236}">
                    <a16:creationId xmlns:a16="http://schemas.microsoft.com/office/drawing/2014/main" id="{DDC99D8C-0FAC-8DC4-977D-870E38104110}"/>
                  </a:ext>
                </a:extLst>
              </p:cNvPr>
              <p:cNvSpPr txBox="1"/>
              <p:nvPr/>
            </p:nvSpPr>
            <p:spPr>
              <a:xfrm>
                <a:off x="8464929" y="5399028"/>
                <a:ext cx="1524334" cy="735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fr-F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r-FR" sz="1100" b="0" i="1" u="none" strike="noStrike" kern="1200" cap="all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Black" panose="020B0A04020102020204" pitchFamily="34" charset="0"/>
                    <a:ea typeface="+mn-ea"/>
                    <a:cs typeface="Arial"/>
                  </a:rPr>
                  <a:t>TALENTED PEOPLE &amp; IMPACTFUL ORGANIZATION</a:t>
                </a:r>
              </a:p>
            </p:txBody>
          </p:sp>
          <p:pic>
            <p:nvPicPr>
              <p:cNvPr id="26" name="Graphique 36" descr="Croissance de l'activité avec un remplissage uni">
                <a:extLst>
                  <a:ext uri="{FF2B5EF4-FFF2-40B4-BE49-F238E27FC236}">
                    <a16:creationId xmlns:a16="http://schemas.microsoft.com/office/drawing/2014/main" id="{CD9EBE72-82DD-EEB2-BEBF-F17AB219B4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8975808" y="4773090"/>
                <a:ext cx="572362" cy="756974"/>
              </a:xfrm>
              <a:prstGeom prst="rect">
                <a:avLst/>
              </a:prstGeom>
            </p:spPr>
          </p:pic>
        </p:grpSp>
        <p:sp>
          <p:nvSpPr>
            <p:cNvPr id="34" name="Rectangle : coins arrondis 11">
              <a:extLst>
                <a:ext uri="{FF2B5EF4-FFF2-40B4-BE49-F238E27FC236}">
                  <a16:creationId xmlns:a16="http://schemas.microsoft.com/office/drawing/2014/main" id="{E05CE751-21E1-46DA-BA89-851698FA14EF}"/>
                </a:ext>
              </a:extLst>
            </p:cNvPr>
            <p:cNvSpPr/>
            <p:nvPr/>
          </p:nvSpPr>
          <p:spPr>
            <a:xfrm>
              <a:off x="6929582" y="2643501"/>
              <a:ext cx="1413545" cy="3902312"/>
            </a:xfrm>
            <a:prstGeom prst="roundRect">
              <a:avLst/>
            </a:prstGeom>
            <a:solidFill>
              <a:schemeClr val="bg1"/>
            </a:solidFill>
            <a:ln w="57150">
              <a:solidFill>
                <a:srgbClr val="A6A6A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1450" marR="0" lvl="0" indent="-17145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en-US" b="0" i="0" u="none" strike="noStrike" kern="1200" cap="none" spc="0" normalizeH="0" baseline="0" noProof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EMPOWERING TEAMS WITH NEW SKILLS</a:t>
              </a:r>
            </a:p>
            <a:p>
              <a:pPr marR="0" lvl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US">
                  <a:solidFill>
                    <a:schemeClr val="tx1">
                      <a:lumMod val="85000"/>
                      <a:lumOff val="15000"/>
                    </a:schemeClr>
                  </a:solidFill>
                  <a:latin typeface="Calibri" panose="020F0502020204030204"/>
                </a:rPr>
                <a:t>BE READY TO THE FUTURE</a:t>
              </a:r>
            </a:p>
            <a:p>
              <a:pPr marR="0" lvl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US">
                  <a:solidFill>
                    <a:schemeClr val="tx1">
                      <a:lumMod val="85000"/>
                      <a:lumOff val="15000"/>
                    </a:schemeClr>
                  </a:solidFill>
                  <a:latin typeface="Calibri" panose="020F0502020204030204"/>
                </a:rPr>
                <a:t> * COMPETENCY ASSESSMENT</a:t>
              </a:r>
            </a:p>
            <a:p>
              <a:pPr marR="0" lvl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endParaRPr lang="en-US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/>
              </a:endParaRPr>
            </a:p>
            <a:p>
              <a:pPr marL="171450" marR="0" lvl="0" indent="-17145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b="1" i="0" u="none" strike="noStrike" kern="1200" cap="none" spc="0" normalizeH="0" baseline="0" noProof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MFE DAYS </a:t>
              </a:r>
            </a:p>
          </p:txBody>
        </p:sp>
      </p:grpSp>
      <p:grpSp>
        <p:nvGrpSpPr>
          <p:cNvPr id="43" name="Agrupar 42">
            <a:extLst>
              <a:ext uri="{FF2B5EF4-FFF2-40B4-BE49-F238E27FC236}">
                <a16:creationId xmlns:a16="http://schemas.microsoft.com/office/drawing/2014/main" id="{E06EFD1B-184E-10F4-030D-AB26D5F1BF78}"/>
              </a:ext>
            </a:extLst>
          </p:cNvPr>
          <p:cNvGrpSpPr/>
          <p:nvPr/>
        </p:nvGrpSpPr>
        <p:grpSpPr>
          <a:xfrm>
            <a:off x="9635963" y="1402829"/>
            <a:ext cx="2552476" cy="5225205"/>
            <a:chOff x="8363371" y="1320608"/>
            <a:chExt cx="1541897" cy="5225205"/>
          </a:xfrm>
        </p:grpSpPr>
        <p:grpSp>
          <p:nvGrpSpPr>
            <p:cNvPr id="28" name="Groupe 7">
              <a:extLst>
                <a:ext uri="{FF2B5EF4-FFF2-40B4-BE49-F238E27FC236}">
                  <a16:creationId xmlns:a16="http://schemas.microsoft.com/office/drawing/2014/main" id="{5CF20A81-6926-84C7-B948-7FB5D2C5A2EF}"/>
                </a:ext>
              </a:extLst>
            </p:cNvPr>
            <p:cNvGrpSpPr/>
            <p:nvPr/>
          </p:nvGrpSpPr>
          <p:grpSpPr>
            <a:xfrm>
              <a:off x="8363371" y="1320608"/>
              <a:ext cx="1541897" cy="1256367"/>
              <a:chOff x="10171085" y="4634526"/>
              <a:chExt cx="1531115" cy="1530175"/>
            </a:xfrm>
          </p:grpSpPr>
          <p:sp>
            <p:nvSpPr>
              <p:cNvPr id="29" name="Rectangle : coins arrondis 12">
                <a:extLst>
                  <a:ext uri="{FF2B5EF4-FFF2-40B4-BE49-F238E27FC236}">
                    <a16:creationId xmlns:a16="http://schemas.microsoft.com/office/drawing/2014/main" id="{6D2730F9-DCEF-6B7F-2C9D-FD43268DD8F5}"/>
                  </a:ext>
                </a:extLst>
              </p:cNvPr>
              <p:cNvSpPr/>
              <p:nvPr/>
            </p:nvSpPr>
            <p:spPr>
              <a:xfrm>
                <a:off x="10234813" y="4634526"/>
                <a:ext cx="1403661" cy="1521273"/>
              </a:xfrm>
              <a:prstGeom prst="roundRect">
                <a:avLst/>
              </a:prstGeom>
              <a:solidFill>
                <a:schemeClr val="accent1"/>
              </a:solidFill>
              <a:ln>
                <a:solidFill>
                  <a:srgbClr val="4472C4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fr-FR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0" name="ZoneTexte 24">
                <a:extLst>
                  <a:ext uri="{FF2B5EF4-FFF2-40B4-BE49-F238E27FC236}">
                    <a16:creationId xmlns:a16="http://schemas.microsoft.com/office/drawing/2014/main" id="{CCE01282-C4FF-92CD-F73E-771637ED31A5}"/>
                  </a:ext>
                </a:extLst>
              </p:cNvPr>
              <p:cNvSpPr txBox="1"/>
              <p:nvPr/>
            </p:nvSpPr>
            <p:spPr>
              <a:xfrm>
                <a:off x="10171085" y="5227569"/>
                <a:ext cx="1531115" cy="9371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fr-FR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r-FR" sz="1400" b="0" i="1" u="none" strike="noStrike" kern="1200" cap="all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 Black" panose="020B0A04020102020204" pitchFamily="34" charset="0"/>
                    <a:ea typeface="+mn-ea"/>
                    <a:cs typeface="Arial"/>
                  </a:rPr>
                  <a:t>PURCHASING excellence 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1" u="none" strike="noStrike" kern="1200" cap="all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through </a:t>
                </a:r>
                <a:br>
                  <a:rPr kumimoji="0" lang="en-US" sz="800" b="0" i="1" u="none" strike="noStrike" kern="1200" cap="all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</a:br>
                <a:r>
                  <a:rPr kumimoji="0" lang="en-US" sz="800" b="0" i="1" u="none" strike="noStrike" kern="1200" cap="all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digitalized processes &amp; data insights</a:t>
                </a:r>
                <a:endParaRPr kumimoji="0" lang="fr-FR" sz="800" b="0" i="1" u="none" strike="noStrike" kern="1200" cap="all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endParaRPr>
              </a:p>
            </p:txBody>
          </p:sp>
          <p:pic>
            <p:nvPicPr>
              <p:cNvPr id="31" name="Graphique 6" descr="Engrenages avec un remplissage uni">
                <a:extLst>
                  <a:ext uri="{FF2B5EF4-FFF2-40B4-BE49-F238E27FC236}">
                    <a16:creationId xmlns:a16="http://schemas.microsoft.com/office/drawing/2014/main" id="{71CC495A-56D5-CB0B-95BC-938F08C3FE3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10730278" y="4712295"/>
                <a:ext cx="400506" cy="642788"/>
              </a:xfrm>
              <a:prstGeom prst="rect">
                <a:avLst/>
              </a:prstGeom>
            </p:spPr>
          </p:pic>
        </p:grpSp>
        <p:sp>
          <p:nvSpPr>
            <p:cNvPr id="36" name="Rectangle : coins arrondis 12">
              <a:extLst>
                <a:ext uri="{FF2B5EF4-FFF2-40B4-BE49-F238E27FC236}">
                  <a16:creationId xmlns:a16="http://schemas.microsoft.com/office/drawing/2014/main" id="{2CD46497-A771-1A9F-C6A0-0924486A48C4}"/>
                </a:ext>
              </a:extLst>
            </p:cNvPr>
            <p:cNvSpPr/>
            <p:nvPr/>
          </p:nvSpPr>
          <p:spPr>
            <a:xfrm>
              <a:off x="8427547" y="2613211"/>
              <a:ext cx="1413545" cy="3932602"/>
            </a:xfrm>
            <a:prstGeom prst="roundRect">
              <a:avLst/>
            </a:prstGeom>
            <a:solidFill>
              <a:schemeClr val="bg1"/>
            </a:solidFill>
            <a:ln w="57150">
              <a:solidFill>
                <a:srgbClr val="4472C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defPPr>
                <a:defRPr lang="fr-FR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1450" marR="0" lvl="0" indent="-17145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fr-FR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FOCUS ON PRODUCTIVITY:</a:t>
              </a:r>
            </a:p>
            <a:p>
              <a:pPr marR="0" lvl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fr-FR" sz="1600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Calibri" panose="020F0502020204030204"/>
                </a:rPr>
                <a:t>BCM WORKCENTER </a:t>
              </a:r>
              <a:r>
                <a:rPr lang="fr-FR" sz="1600">
                  <a:solidFill>
                    <a:schemeClr val="tx1">
                      <a:lumMod val="85000"/>
                      <a:lumOff val="15000"/>
                    </a:schemeClr>
                  </a:solidFill>
                  <a:latin typeface="Calibri" panose="020F0502020204030204"/>
                </a:rPr>
                <a:t>DIGITAL MINDSET</a:t>
              </a:r>
            </a:p>
            <a:p>
              <a:pPr marR="0" lvl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kumimoji="0" lang="fr-FR" sz="1200" b="0" i="0" u="none" strike="noStrike" kern="1200" cap="none" spc="0" normalizeH="0" baseline="0" noProof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(AURORA/COPILOT)</a:t>
              </a:r>
            </a:p>
            <a:p>
              <a:pPr marR="0" lvl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endParaRPr kumimoji="0" lang="fr-FR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  <a:p>
              <a:pPr marL="171450" marR="0" lvl="0" indent="-17145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fr-FR" sz="1600">
                  <a:solidFill>
                    <a:schemeClr val="tx1">
                      <a:lumMod val="85000"/>
                      <a:lumOff val="15000"/>
                    </a:schemeClr>
                  </a:solidFill>
                  <a:latin typeface="Calibri" panose="020F0502020204030204"/>
                </a:rPr>
                <a:t> </a:t>
              </a:r>
              <a:r>
                <a:rPr lang="fr-FR" sz="1600" b="1">
                  <a:solidFill>
                    <a:schemeClr val="tx1"/>
                  </a:solidFill>
                  <a:latin typeface="Calibri" panose="020F0502020204030204"/>
                </a:rPr>
                <a:t>HIGHLIGHTS MFE SA &lt;-&gt; WW MFE</a:t>
              </a:r>
            </a:p>
            <a:p>
              <a:pPr marR="0" lvl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endParaRPr lang="fr-FR" sz="160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/>
              </a:endParaRPr>
            </a:p>
            <a:p>
              <a:pPr marR="0" lvl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kumimoji="0" lang="fr-FR" sz="1600" b="0" i="0" u="none" strike="noStrike" kern="1200" cap="none" spc="0" normalizeH="0" baseline="0" noProof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* SMART = CATALOGS </a:t>
              </a:r>
            </a:p>
            <a:p>
              <a:pPr marR="0" lvl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endParaRPr lang="fr-FR" sz="160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/>
              </a:endParaRPr>
            </a:p>
            <a:p>
              <a:pPr marR="0" lvl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US" sz="1050">
                  <a:solidFill>
                    <a:schemeClr val="tx1">
                      <a:lumMod val="85000"/>
                      <a:lumOff val="15000"/>
                    </a:schemeClr>
                  </a:solidFill>
                  <a:latin typeface="Calibri" panose="020F0502020204030204"/>
                </a:rPr>
                <a:t>“AI WON'T REPLACE HUMANS, BUT PROFESSIONALS WHO DON'T KNOW HOW TO USE AI WILL BE REPLACED BY THOSE WHO DO”. (MICROSOFT - WEB SUMMIT</a:t>
              </a:r>
              <a:endParaRPr lang="fr-FR" sz="105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/>
              </a:endParaRPr>
            </a:p>
            <a:p>
              <a:pPr marR="0" lvl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endParaRPr kumimoji="0" lang="fr-FR" sz="16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4E021BC6-C026-FAF0-EEF2-300A465DEA99}"/>
              </a:ext>
            </a:extLst>
          </p:cNvPr>
          <p:cNvSpPr/>
          <p:nvPr/>
        </p:nvSpPr>
        <p:spPr>
          <a:xfrm>
            <a:off x="137470" y="3103546"/>
            <a:ext cx="2303897" cy="706454"/>
          </a:xfrm>
          <a:prstGeom prst="roundRect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600" b="1" i="0" u="none" strike="noStrike" kern="1200" cap="none" spc="0" normalizeH="0" baseline="0" noProof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Rectangle : coins arrondis 11">
            <a:extLst>
              <a:ext uri="{FF2B5EF4-FFF2-40B4-BE49-F238E27FC236}">
                <a16:creationId xmlns:a16="http://schemas.microsoft.com/office/drawing/2014/main" id="{7AA536A8-8FD3-11D4-7D23-71FA14F34A8A}"/>
              </a:ext>
            </a:extLst>
          </p:cNvPr>
          <p:cNvSpPr/>
          <p:nvPr/>
        </p:nvSpPr>
        <p:spPr>
          <a:xfrm>
            <a:off x="7351751" y="4910546"/>
            <a:ext cx="2339999" cy="629578"/>
          </a:xfrm>
          <a:prstGeom prst="roundRect">
            <a:avLst/>
          </a:prstGeom>
          <a:noFill/>
          <a:ln w="57150">
            <a:solidFill>
              <a:srgbClr val="A6A6A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b="1" i="0" u="none" strike="noStrike" kern="1200" cap="none" spc="0" normalizeH="0" baseline="0" noProof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Rectangle : coins arrondis 12">
            <a:extLst>
              <a:ext uri="{FF2B5EF4-FFF2-40B4-BE49-F238E27FC236}">
                <a16:creationId xmlns:a16="http://schemas.microsoft.com/office/drawing/2014/main" id="{513726D6-4D01-BBF8-2311-C3D719DBB527}"/>
              </a:ext>
            </a:extLst>
          </p:cNvPr>
          <p:cNvSpPr/>
          <p:nvPr/>
        </p:nvSpPr>
        <p:spPr>
          <a:xfrm>
            <a:off x="9760153" y="4081292"/>
            <a:ext cx="2340000" cy="738013"/>
          </a:xfrm>
          <a:prstGeom prst="roundRect">
            <a:avLst/>
          </a:prstGeom>
          <a:noFill/>
          <a:ln w="57150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fr-FR" sz="1600" b="0" i="0" u="none" strike="noStrike" kern="1200" cap="none" spc="0" normalizeH="0" baseline="0" noProof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20153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2">
            <a:extLst>
              <a:ext uri="{FF2B5EF4-FFF2-40B4-BE49-F238E27FC236}">
                <a16:creationId xmlns:a16="http://schemas.microsoft.com/office/drawing/2014/main" id="{35207604-B5F9-42D2-62F6-BDB689FE173E}"/>
              </a:ext>
            </a:extLst>
          </p:cNvPr>
          <p:cNvSpPr/>
          <p:nvPr/>
        </p:nvSpPr>
        <p:spPr>
          <a:xfrm>
            <a:off x="548640" y="84124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Overview: Total MFE Spend vs Maintenance</a:t>
            </a:r>
            <a:endParaRPr lang="en-US" sz="3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157C764-16F6-241A-2958-F35CFD1CA2E4}"/>
              </a:ext>
            </a:extLst>
          </p:cNvPr>
          <p:cNvSpPr/>
          <p:nvPr/>
        </p:nvSpPr>
        <p:spPr>
          <a:xfrm>
            <a:off x="548640" y="1572768"/>
            <a:ext cx="3575304" cy="1078992"/>
          </a:xfrm>
          <a:prstGeom prst="roundRect">
            <a:avLst>
              <a:gd name="adj" fmla="val 8475"/>
            </a:avLst>
          </a:prstGeom>
          <a:solidFill>
            <a:srgbClr val="131A2E"/>
          </a:solidFill>
          <a:ln w="12700">
            <a:solidFill>
              <a:srgbClr val="2A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F551495F-0CE0-5C65-9079-DA77796F55BF}"/>
              </a:ext>
            </a:extLst>
          </p:cNvPr>
          <p:cNvSpPr/>
          <p:nvPr/>
        </p:nvSpPr>
        <p:spPr>
          <a:xfrm>
            <a:off x="749808" y="1883664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A2C4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>
            <a:extLst>
              <a:ext uri="{FF2B5EF4-FFF2-40B4-BE49-F238E27FC236}">
                <a16:creationId xmlns:a16="http://schemas.microsoft.com/office/drawing/2014/main" id="{F78B77C9-2DC1-149E-8DB8-25C983545D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975104"/>
            <a:ext cx="274320" cy="274320"/>
          </a:xfrm>
          <a:prstGeom prst="rect">
            <a:avLst/>
          </a:prstGeom>
        </p:spPr>
      </p:pic>
      <p:sp>
        <p:nvSpPr>
          <p:cNvPr id="11" name="Text 5">
            <a:extLst>
              <a:ext uri="{FF2B5EF4-FFF2-40B4-BE49-F238E27FC236}">
                <a16:creationId xmlns:a16="http://schemas.microsoft.com/office/drawing/2014/main" id="{EA88D0ED-2043-17A9-6B38-E2F8D3A6C0E3}"/>
              </a:ext>
            </a:extLst>
          </p:cNvPr>
          <p:cNvSpPr/>
          <p:nvPr/>
        </p:nvSpPr>
        <p:spPr>
          <a:xfrm>
            <a:off x="1371600" y="1664208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114,114</a:t>
            </a:r>
            <a:endParaRPr lang="en-US" sz="3000" dirty="0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A15258A4-9D79-988B-FB12-2A27E10D4F73}"/>
              </a:ext>
            </a:extLst>
          </p:cNvPr>
          <p:cNvSpPr/>
          <p:nvPr/>
        </p:nvSpPr>
        <p:spPr>
          <a:xfrm>
            <a:off x="1371600" y="213969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MFE POs</a:t>
            </a:r>
            <a:endParaRPr lang="en-US" sz="1200" dirty="0"/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F4EA24C9-A55B-81D0-8105-EECB879442CB}"/>
              </a:ext>
            </a:extLst>
          </p:cNvPr>
          <p:cNvSpPr/>
          <p:nvPr/>
        </p:nvSpPr>
        <p:spPr>
          <a:xfrm>
            <a:off x="1371600" y="239572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analytics base</a:t>
            </a:r>
            <a:endParaRPr lang="en-US" sz="950" dirty="0"/>
          </a:p>
        </p:txBody>
      </p:sp>
      <p:sp>
        <p:nvSpPr>
          <p:cNvPr id="17" name="Shape 8">
            <a:extLst>
              <a:ext uri="{FF2B5EF4-FFF2-40B4-BE49-F238E27FC236}">
                <a16:creationId xmlns:a16="http://schemas.microsoft.com/office/drawing/2014/main" id="{CC04F502-C8FF-83CF-31A6-E0EA9514C5E7}"/>
              </a:ext>
            </a:extLst>
          </p:cNvPr>
          <p:cNvSpPr/>
          <p:nvPr/>
        </p:nvSpPr>
        <p:spPr>
          <a:xfrm>
            <a:off x="4306824" y="1572768"/>
            <a:ext cx="3575304" cy="1078992"/>
          </a:xfrm>
          <a:prstGeom prst="roundRect">
            <a:avLst>
              <a:gd name="adj" fmla="val 8475"/>
            </a:avLst>
          </a:prstGeom>
          <a:solidFill>
            <a:srgbClr val="131A2E"/>
          </a:solidFill>
          <a:ln w="12700">
            <a:solidFill>
              <a:srgbClr val="2A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9">
            <a:extLst>
              <a:ext uri="{FF2B5EF4-FFF2-40B4-BE49-F238E27FC236}">
                <a16:creationId xmlns:a16="http://schemas.microsoft.com/office/drawing/2014/main" id="{6704143C-87AD-FC77-DA3D-A27B6737BD7F}"/>
              </a:ext>
            </a:extLst>
          </p:cNvPr>
          <p:cNvSpPr/>
          <p:nvPr/>
        </p:nvSpPr>
        <p:spPr>
          <a:xfrm>
            <a:off x="4507992" y="1883664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33290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2" descr="preencoded.png">
            <a:extLst>
              <a:ext uri="{FF2B5EF4-FFF2-40B4-BE49-F238E27FC236}">
                <a16:creationId xmlns:a16="http://schemas.microsoft.com/office/drawing/2014/main" id="{809129CA-4B14-C799-7B26-C8B281F98D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9432" y="1975104"/>
            <a:ext cx="274320" cy="274320"/>
          </a:xfrm>
          <a:prstGeom prst="rect">
            <a:avLst/>
          </a:prstGeom>
        </p:spPr>
      </p:pic>
      <p:sp>
        <p:nvSpPr>
          <p:cNvPr id="28" name="Text 10">
            <a:extLst>
              <a:ext uri="{FF2B5EF4-FFF2-40B4-BE49-F238E27FC236}">
                <a16:creationId xmlns:a16="http://schemas.microsoft.com/office/drawing/2014/main" id="{42E19EEC-C931-382A-00AF-E163322C6E84}"/>
              </a:ext>
            </a:extLst>
          </p:cNvPr>
          <p:cNvSpPr/>
          <p:nvPr/>
        </p:nvSpPr>
        <p:spPr>
          <a:xfrm>
            <a:off x="5129784" y="1664208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8,326</a:t>
            </a:r>
            <a:endParaRPr lang="en-US" sz="3000" dirty="0"/>
          </a:p>
        </p:txBody>
      </p:sp>
      <p:sp>
        <p:nvSpPr>
          <p:cNvPr id="32" name="Text 11">
            <a:extLst>
              <a:ext uri="{FF2B5EF4-FFF2-40B4-BE49-F238E27FC236}">
                <a16:creationId xmlns:a16="http://schemas.microsoft.com/office/drawing/2014/main" id="{720800B7-983C-FB50-BAA2-33E5B04BA78B}"/>
              </a:ext>
            </a:extLst>
          </p:cNvPr>
          <p:cNvSpPr/>
          <p:nvPr/>
        </p:nvSpPr>
        <p:spPr>
          <a:xfrm>
            <a:off x="5129784" y="213969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POs</a:t>
            </a:r>
            <a:endParaRPr lang="en-US" sz="1200" dirty="0"/>
          </a:p>
        </p:txBody>
      </p:sp>
      <p:sp>
        <p:nvSpPr>
          <p:cNvPr id="36" name="Text 12">
            <a:extLst>
              <a:ext uri="{FF2B5EF4-FFF2-40B4-BE49-F238E27FC236}">
                <a16:creationId xmlns:a16="http://schemas.microsoft.com/office/drawing/2014/main" id="{F8DEF8DE-3E23-DE1C-3EFB-76935C112EE7}"/>
              </a:ext>
            </a:extLst>
          </p:cNvPr>
          <p:cNvSpPr/>
          <p:nvPr/>
        </p:nvSpPr>
        <p:spPr>
          <a:xfrm>
            <a:off x="5129784" y="239572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Families</a:t>
            </a:r>
            <a:endParaRPr lang="en-US" sz="950" dirty="0"/>
          </a:p>
        </p:txBody>
      </p:sp>
      <p:sp>
        <p:nvSpPr>
          <p:cNvPr id="40" name="Shape 13">
            <a:extLst>
              <a:ext uri="{FF2B5EF4-FFF2-40B4-BE49-F238E27FC236}">
                <a16:creationId xmlns:a16="http://schemas.microsoft.com/office/drawing/2014/main" id="{8A934E99-8422-09C2-C2C1-F981557D225A}"/>
              </a:ext>
            </a:extLst>
          </p:cNvPr>
          <p:cNvSpPr/>
          <p:nvPr/>
        </p:nvSpPr>
        <p:spPr>
          <a:xfrm>
            <a:off x="8065008" y="1572768"/>
            <a:ext cx="3575304" cy="1078992"/>
          </a:xfrm>
          <a:prstGeom prst="roundRect">
            <a:avLst>
              <a:gd name="adj" fmla="val 8475"/>
            </a:avLst>
          </a:prstGeom>
          <a:solidFill>
            <a:srgbClr val="131A2E"/>
          </a:solidFill>
          <a:ln w="12700">
            <a:solidFill>
              <a:srgbClr val="2A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14">
            <a:extLst>
              <a:ext uri="{FF2B5EF4-FFF2-40B4-BE49-F238E27FC236}">
                <a16:creationId xmlns:a16="http://schemas.microsoft.com/office/drawing/2014/main" id="{67141F44-DF33-45BD-64FF-39DC50994733}"/>
              </a:ext>
            </a:extLst>
          </p:cNvPr>
          <p:cNvSpPr/>
          <p:nvPr/>
        </p:nvSpPr>
        <p:spPr>
          <a:xfrm>
            <a:off x="8266176" y="1883664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A2C4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6" name="Image 3" descr="preencoded.png">
            <a:extLst>
              <a:ext uri="{FF2B5EF4-FFF2-40B4-BE49-F238E27FC236}">
                <a16:creationId xmlns:a16="http://schemas.microsoft.com/office/drawing/2014/main" id="{1BAEFC28-EC84-49FB-D5F9-443DB84DD8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7616" y="1975104"/>
            <a:ext cx="274320" cy="274320"/>
          </a:xfrm>
          <a:prstGeom prst="rect">
            <a:avLst/>
          </a:prstGeom>
        </p:spPr>
      </p:pic>
      <p:sp>
        <p:nvSpPr>
          <p:cNvPr id="50" name="Text 15">
            <a:extLst>
              <a:ext uri="{FF2B5EF4-FFF2-40B4-BE49-F238E27FC236}">
                <a16:creationId xmlns:a16="http://schemas.microsoft.com/office/drawing/2014/main" id="{CF48B77C-58C7-E338-3118-5A9181D85B4F}"/>
              </a:ext>
            </a:extLst>
          </p:cNvPr>
          <p:cNvSpPr/>
          <p:nvPr/>
        </p:nvSpPr>
        <p:spPr>
          <a:xfrm>
            <a:off x="8887968" y="1664208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sp>
        <p:nvSpPr>
          <p:cNvPr id="54" name="Text 16">
            <a:extLst>
              <a:ext uri="{FF2B5EF4-FFF2-40B4-BE49-F238E27FC236}">
                <a16:creationId xmlns:a16="http://schemas.microsoft.com/office/drawing/2014/main" id="{DE84533A-7681-838E-035D-EE9061F08A96}"/>
              </a:ext>
            </a:extLst>
          </p:cNvPr>
          <p:cNvSpPr/>
          <p:nvPr/>
        </p:nvSpPr>
        <p:spPr>
          <a:xfrm>
            <a:off x="8887968" y="213969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 Families</a:t>
            </a:r>
            <a:endParaRPr lang="en-US" sz="1200" dirty="0"/>
          </a:p>
        </p:txBody>
      </p:sp>
      <p:sp>
        <p:nvSpPr>
          <p:cNvPr id="57" name="Text 17">
            <a:extLst>
              <a:ext uri="{FF2B5EF4-FFF2-40B4-BE49-F238E27FC236}">
                <a16:creationId xmlns:a16="http://schemas.microsoft.com/office/drawing/2014/main" id="{D3965290-0780-86BC-2A0B-EB0A640EFF15}"/>
              </a:ext>
            </a:extLst>
          </p:cNvPr>
          <p:cNvSpPr/>
          <p:nvPr/>
        </p:nvSpPr>
        <p:spPr>
          <a:xfrm>
            <a:off x="8887968" y="239572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Families 1 · 2 · 3 — Pareto and ABC</a:t>
            </a:r>
            <a:endParaRPr lang="en-US" sz="950" dirty="0"/>
          </a:p>
        </p:txBody>
      </p:sp>
      <p:sp>
        <p:nvSpPr>
          <p:cNvPr id="59" name="Shape 18">
            <a:extLst>
              <a:ext uri="{FF2B5EF4-FFF2-40B4-BE49-F238E27FC236}">
                <a16:creationId xmlns:a16="http://schemas.microsoft.com/office/drawing/2014/main" id="{603DCAED-ED8E-E109-C462-2DECDE683D20}"/>
              </a:ext>
            </a:extLst>
          </p:cNvPr>
          <p:cNvSpPr/>
          <p:nvPr/>
        </p:nvSpPr>
        <p:spPr>
          <a:xfrm>
            <a:off x="548640" y="2852928"/>
            <a:ext cx="3657600" cy="3035808"/>
          </a:xfrm>
          <a:prstGeom prst="roundRect">
            <a:avLst>
              <a:gd name="adj" fmla="val 3012"/>
            </a:avLst>
          </a:prstGeom>
          <a:solidFill>
            <a:srgbClr val="131A2E"/>
          </a:solidFill>
          <a:ln w="12700">
            <a:solidFill>
              <a:srgbClr val="2A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61" name="Chart 0">
            <a:extLst>
              <a:ext uri="{FF2B5EF4-FFF2-40B4-BE49-F238E27FC236}">
                <a16:creationId xmlns:a16="http://schemas.microsoft.com/office/drawing/2014/main" id="{57C922E8-0A1C-0BF3-8428-CCF87C6D5F68}"/>
              </a:ext>
            </a:extLst>
          </p:cNvPr>
          <p:cNvGraphicFramePr/>
          <p:nvPr/>
        </p:nvGraphicFramePr>
        <p:xfrm>
          <a:off x="1389888" y="2999232"/>
          <a:ext cx="1975104" cy="19751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63" name="Text 19">
            <a:extLst>
              <a:ext uri="{FF2B5EF4-FFF2-40B4-BE49-F238E27FC236}">
                <a16:creationId xmlns:a16="http://schemas.microsoft.com/office/drawing/2014/main" id="{D2ECBCF6-7630-BB57-E72A-E259D93E9C67}"/>
              </a:ext>
            </a:extLst>
          </p:cNvPr>
          <p:cNvSpPr/>
          <p:nvPr/>
        </p:nvSpPr>
        <p:spPr>
          <a:xfrm>
            <a:off x="1389888" y="3666744"/>
            <a:ext cx="19751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7.3%</a:t>
            </a:r>
            <a:endParaRPr lang="en-US" sz="25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2500" dirty="0"/>
          </a:p>
        </p:txBody>
      </p:sp>
      <p:sp>
        <p:nvSpPr>
          <p:cNvPr id="65" name="Shape 20">
            <a:extLst>
              <a:ext uri="{FF2B5EF4-FFF2-40B4-BE49-F238E27FC236}">
                <a16:creationId xmlns:a16="http://schemas.microsoft.com/office/drawing/2014/main" id="{5EFE8320-9A61-CCD8-58E5-28F07F86B460}"/>
              </a:ext>
            </a:extLst>
          </p:cNvPr>
          <p:cNvSpPr/>
          <p:nvPr/>
        </p:nvSpPr>
        <p:spPr>
          <a:xfrm>
            <a:off x="868680" y="513892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60A5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Text 21">
            <a:extLst>
              <a:ext uri="{FF2B5EF4-FFF2-40B4-BE49-F238E27FC236}">
                <a16:creationId xmlns:a16="http://schemas.microsoft.com/office/drawing/2014/main" id="{3E00F188-7143-76F9-9B25-0C591A8601A3}"/>
              </a:ext>
            </a:extLst>
          </p:cNvPr>
          <p:cNvSpPr/>
          <p:nvPr/>
        </p:nvSpPr>
        <p:spPr>
          <a:xfrm>
            <a:off x="1078992" y="505663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7.3% 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</a:t>
            </a:r>
            <a:endParaRPr lang="en-US" sz="1100" dirty="0"/>
          </a:p>
        </p:txBody>
      </p:sp>
      <p:sp>
        <p:nvSpPr>
          <p:cNvPr id="69" name="Shape 22">
            <a:extLst>
              <a:ext uri="{FF2B5EF4-FFF2-40B4-BE49-F238E27FC236}">
                <a16:creationId xmlns:a16="http://schemas.microsoft.com/office/drawing/2014/main" id="{142B39C0-2853-BBBB-6868-E61AB7C7C943}"/>
              </a:ext>
            </a:extLst>
          </p:cNvPr>
          <p:cNvSpPr/>
          <p:nvPr/>
        </p:nvSpPr>
        <p:spPr>
          <a:xfrm>
            <a:off x="2542032" y="513892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1E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Text 23">
            <a:extLst>
              <a:ext uri="{FF2B5EF4-FFF2-40B4-BE49-F238E27FC236}">
                <a16:creationId xmlns:a16="http://schemas.microsoft.com/office/drawing/2014/main" id="{18087A19-C46B-78CE-9BAE-F152A15C0C33}"/>
              </a:ext>
            </a:extLst>
          </p:cNvPr>
          <p:cNvSpPr/>
          <p:nvPr/>
        </p:nvSpPr>
        <p:spPr>
          <a:xfrm>
            <a:off x="2752344" y="505663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92.7% 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Purchases</a:t>
            </a:r>
            <a:endParaRPr lang="en-US" sz="1100" dirty="0"/>
          </a:p>
        </p:txBody>
      </p:sp>
      <p:sp>
        <p:nvSpPr>
          <p:cNvPr id="73" name="Text 24">
            <a:extLst>
              <a:ext uri="{FF2B5EF4-FFF2-40B4-BE49-F238E27FC236}">
                <a16:creationId xmlns:a16="http://schemas.microsoft.com/office/drawing/2014/main" id="{539D101A-CB71-2163-98CF-F286E478E47A}"/>
              </a:ext>
            </a:extLst>
          </p:cNvPr>
          <p:cNvSpPr/>
          <p:nvPr/>
        </p:nvSpPr>
        <p:spPr>
          <a:xfrm>
            <a:off x="777240" y="54681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representativeness: </a:t>
            </a:r>
            <a:r>
              <a:rPr lang="en-US" sz="105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7.3% of total MFE</a:t>
            </a:r>
            <a:endParaRPr lang="en-US" sz="1050" dirty="0"/>
          </a:p>
        </p:txBody>
      </p:sp>
      <p:sp>
        <p:nvSpPr>
          <p:cNvPr id="75" name="Shape 25">
            <a:extLst>
              <a:ext uri="{FF2B5EF4-FFF2-40B4-BE49-F238E27FC236}">
                <a16:creationId xmlns:a16="http://schemas.microsoft.com/office/drawing/2014/main" id="{92E69419-7F5F-B8CA-9CCB-5EBED6188FE9}"/>
              </a:ext>
            </a:extLst>
          </p:cNvPr>
          <p:cNvSpPr/>
          <p:nvPr/>
        </p:nvSpPr>
        <p:spPr>
          <a:xfrm>
            <a:off x="4544568" y="2852928"/>
            <a:ext cx="5084064" cy="1408176"/>
          </a:xfrm>
          <a:prstGeom prst="roundRect">
            <a:avLst>
              <a:gd name="adj" fmla="val 6494"/>
            </a:avLst>
          </a:prstGeom>
          <a:solidFill>
            <a:srgbClr val="18213A"/>
          </a:solidFill>
          <a:ln w="12700">
            <a:solidFill>
              <a:srgbClr val="2A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26">
            <a:extLst>
              <a:ext uri="{FF2B5EF4-FFF2-40B4-BE49-F238E27FC236}">
                <a16:creationId xmlns:a16="http://schemas.microsoft.com/office/drawing/2014/main" id="{987AB6FB-81BA-8FAE-EE88-811839206590}"/>
              </a:ext>
            </a:extLst>
          </p:cNvPr>
          <p:cNvSpPr/>
          <p:nvPr/>
        </p:nvSpPr>
        <p:spPr>
          <a:xfrm>
            <a:off x="4773168" y="332841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A2C4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9" name="Image 4" descr="preencoded.png">
            <a:extLst>
              <a:ext uri="{FF2B5EF4-FFF2-40B4-BE49-F238E27FC236}">
                <a16:creationId xmlns:a16="http://schemas.microsoft.com/office/drawing/2014/main" id="{398B90D1-BB09-E608-147F-267A6B38B6B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64608" y="3419856"/>
            <a:ext cx="274320" cy="274320"/>
          </a:xfrm>
          <a:prstGeom prst="rect">
            <a:avLst/>
          </a:prstGeom>
        </p:spPr>
      </p:pic>
      <p:sp>
        <p:nvSpPr>
          <p:cNvPr id="81" name="Text 27">
            <a:extLst>
              <a:ext uri="{FF2B5EF4-FFF2-40B4-BE49-F238E27FC236}">
                <a16:creationId xmlns:a16="http://schemas.microsoft.com/office/drawing/2014/main" id="{1EF185C0-1A79-FFBE-08A8-57D352B6ECFD}"/>
              </a:ext>
            </a:extLst>
          </p:cNvPr>
          <p:cNvSpPr/>
          <p:nvPr/>
        </p:nvSpPr>
        <p:spPr>
          <a:xfrm>
            <a:off x="5394960" y="3017520"/>
            <a:ext cx="4069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average ticket </a:t>
            </a: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significantly higher</a:t>
            </a: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than the rest of the MFE base — </a:t>
            </a:r>
            <a:r>
              <a:rPr lang="en-US" sz="1300" b="1" dirty="0">
                <a:solidFill>
                  <a:srgbClr val="93B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category</a:t>
            </a: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the purchasing portfolio.</a:t>
            </a:r>
            <a:endParaRPr lang="en-US" sz="1300" dirty="0"/>
          </a:p>
        </p:txBody>
      </p:sp>
      <p:sp>
        <p:nvSpPr>
          <p:cNvPr id="83" name="Shape 28">
            <a:extLst>
              <a:ext uri="{FF2B5EF4-FFF2-40B4-BE49-F238E27FC236}">
                <a16:creationId xmlns:a16="http://schemas.microsoft.com/office/drawing/2014/main" id="{69BB5853-91CF-4640-9642-BA8FB0ED8A3C}"/>
              </a:ext>
            </a:extLst>
          </p:cNvPr>
          <p:cNvSpPr/>
          <p:nvPr/>
        </p:nvSpPr>
        <p:spPr>
          <a:xfrm>
            <a:off x="4544568" y="4480560"/>
            <a:ext cx="5084064" cy="1408176"/>
          </a:xfrm>
          <a:prstGeom prst="roundRect">
            <a:avLst>
              <a:gd name="adj" fmla="val 6494"/>
            </a:avLst>
          </a:prstGeom>
          <a:solidFill>
            <a:srgbClr val="18213A"/>
          </a:solidFill>
          <a:ln w="12700">
            <a:solidFill>
              <a:srgbClr val="2A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5" name="Image 5" descr="preencoded.png">
            <a:extLst>
              <a:ext uri="{FF2B5EF4-FFF2-40B4-BE49-F238E27FC236}">
                <a16:creationId xmlns:a16="http://schemas.microsoft.com/office/drawing/2014/main" id="{1F03ABC3-0A03-B0DF-C09F-187BC5556CE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73168" y="4626864"/>
            <a:ext cx="274320" cy="274320"/>
          </a:xfrm>
          <a:prstGeom prst="rect">
            <a:avLst/>
          </a:prstGeom>
        </p:spPr>
      </p:pic>
      <p:sp>
        <p:nvSpPr>
          <p:cNvPr id="87" name="Text 29">
            <a:extLst>
              <a:ext uri="{FF2B5EF4-FFF2-40B4-BE49-F238E27FC236}">
                <a16:creationId xmlns:a16="http://schemas.microsoft.com/office/drawing/2014/main" id="{C16BE5A8-BFEF-E452-FD72-460B5103B5C1}"/>
              </a:ext>
            </a:extLst>
          </p:cNvPr>
          <p:cNvSpPr/>
          <p:nvPr/>
        </p:nvSpPr>
        <p:spPr>
          <a:xfrm>
            <a:off x="5138928" y="460857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CONTEXT</a:t>
            </a:r>
            <a:endParaRPr lang="en-US" sz="1150" dirty="0"/>
          </a:p>
        </p:txBody>
      </p:sp>
      <p:sp>
        <p:nvSpPr>
          <p:cNvPr id="89" name="Text 30">
            <a:extLst>
              <a:ext uri="{FF2B5EF4-FFF2-40B4-BE49-F238E27FC236}">
                <a16:creationId xmlns:a16="http://schemas.microsoft.com/office/drawing/2014/main" id="{0364F6D5-FFAE-14C8-1FFB-0E1EE4D7F377}"/>
              </a:ext>
            </a:extLst>
          </p:cNvPr>
          <p:cNvSpPr/>
          <p:nvPr/>
        </p:nvSpPr>
        <p:spPr>
          <a:xfrm>
            <a:off x="4773168" y="4956048"/>
            <a:ext cx="4617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Brazilian predictive maintenance market is expanding strongly: </a:t>
            </a: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~21%–30% through 2030–2034</a:t>
            </a: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AI, prescriptive maintenance and digital twins as 2026 trends.</a:t>
            </a:r>
            <a:endParaRPr lang="en-US" sz="1200" dirty="0"/>
          </a:p>
        </p:txBody>
      </p:sp>
      <p:pic>
        <p:nvPicPr>
          <p:cNvPr id="91" name="Image 6" descr="/home/ethos/.assistant/workspace/tmp/gears.png">
            <a:extLst>
              <a:ext uri="{FF2B5EF4-FFF2-40B4-BE49-F238E27FC236}">
                <a16:creationId xmlns:a16="http://schemas.microsoft.com/office/drawing/2014/main" id="{3795A1DE-8B00-CF2C-E5A6-75D0DEC82D2A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811512" y="2852928"/>
            <a:ext cx="1828800" cy="3035808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 44"/>
          <p:cNvSpPr/>
          <p:nvPr/>
        </p:nvSpPr>
        <p:spPr>
          <a:xfrm>
            <a:off x="11214795" y="8787011"/>
            <a:ext cx="844947" cy="158751"/>
          </a:xfrm>
          <a:prstGeom prst="rect">
            <a:avLst/>
          </a:prstGeom>
          <a:noFill/>
          <a:ln/>
        </p:spPr>
        <p:txBody>
          <a:bodyPr wrap="none" lIns="0" tIns="59543" rIns="99237" bIns="0" rtlCol="0" anchor="t"/>
          <a:lstStyle/>
          <a:p>
            <a:pPr algn="r"/>
            <a:r>
              <a:rPr lang="en-US" sz="10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000" dirty="0"/>
          </a:p>
        </p:txBody>
      </p:sp>
      <p:sp>
        <p:nvSpPr>
          <p:cNvPr id="55" name="Text 2">
            <a:extLst>
              <a:ext uri="{FF2B5EF4-FFF2-40B4-BE49-F238E27FC236}">
                <a16:creationId xmlns:a16="http://schemas.microsoft.com/office/drawing/2014/main" id="{3CB1FF87-DFDE-EF65-CB50-F0B9CB29AB45}"/>
              </a:ext>
            </a:extLst>
          </p:cNvPr>
          <p:cNvSpPr/>
          <p:nvPr/>
        </p:nvSpPr>
        <p:spPr>
          <a:xfrm>
            <a:off x="502920" y="859536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Summary: Spend by Family 2025 vs 2026</a:t>
            </a:r>
            <a:endParaRPr lang="en-US" sz="3000" dirty="0"/>
          </a:p>
        </p:txBody>
      </p:sp>
      <p:sp>
        <p:nvSpPr>
          <p:cNvPr id="57" name="Text 3">
            <a:extLst>
              <a:ext uri="{FF2B5EF4-FFF2-40B4-BE49-F238E27FC236}">
                <a16:creationId xmlns:a16="http://schemas.microsoft.com/office/drawing/2014/main" id="{60CB796A-E613-4B09-0869-B82264F46CE6}"/>
              </a:ext>
            </a:extLst>
          </p:cNvPr>
          <p:cNvSpPr/>
          <p:nvPr/>
        </p:nvSpPr>
        <p:spPr>
          <a:xfrm>
            <a:off x="502920" y="1325085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view of the </a:t>
            </a:r>
            <a:r>
              <a:rPr lang="en-US" sz="13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3 maintenance families</a:t>
            </a:r>
            <a:r>
              <a:rPr lang="en-US" sz="13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— </a:t>
            </a:r>
            <a:r>
              <a:rPr lang="en-US" sz="135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R$ 77.8M</a:t>
            </a: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 2025 (Jan–Dec) vs </a:t>
            </a:r>
            <a:r>
              <a:rPr lang="en-US" sz="135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R$ 64.6M</a:t>
            </a:r>
            <a:r>
              <a:rPr lang="en-US" sz="1350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 2026 (Jan–Sep): </a:t>
            </a:r>
            <a:r>
              <a:rPr lang="en-US" sz="13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-17.0% drop </a:t>
            </a:r>
            <a:r>
              <a:rPr lang="en-US" sz="13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 the year-to-date total.</a:t>
            </a:r>
            <a:endParaRPr lang="en-US" sz="1350" dirty="0"/>
          </a:p>
        </p:txBody>
      </p:sp>
      <p:sp>
        <p:nvSpPr>
          <p:cNvPr id="59" name="Shape 4">
            <a:extLst>
              <a:ext uri="{FF2B5EF4-FFF2-40B4-BE49-F238E27FC236}">
                <a16:creationId xmlns:a16="http://schemas.microsoft.com/office/drawing/2014/main" id="{7C1BE97B-A442-253E-E2C7-6FD2FCC43DAD}"/>
              </a:ext>
            </a:extLst>
          </p:cNvPr>
          <p:cNvSpPr/>
          <p:nvPr/>
        </p:nvSpPr>
        <p:spPr>
          <a:xfrm>
            <a:off x="502920" y="1755648"/>
            <a:ext cx="3575304" cy="841248"/>
          </a:xfrm>
          <a:prstGeom prst="roundRect">
            <a:avLst>
              <a:gd name="adj" fmla="val 9783"/>
            </a:avLst>
          </a:prstGeom>
          <a:solidFill>
            <a:srgbClr val="131A2E"/>
          </a:solidFill>
          <a:ln w="12700">
            <a:solidFill>
              <a:srgbClr val="2A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">
            <a:extLst>
              <a:ext uri="{FF2B5EF4-FFF2-40B4-BE49-F238E27FC236}">
                <a16:creationId xmlns:a16="http://schemas.microsoft.com/office/drawing/2014/main" id="{53F93138-6338-E1E7-9E14-6F8E7139242C}"/>
              </a:ext>
            </a:extLst>
          </p:cNvPr>
          <p:cNvSpPr/>
          <p:nvPr/>
        </p:nvSpPr>
        <p:spPr>
          <a:xfrm>
            <a:off x="685800" y="194767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A2C4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3" name="Image 1" descr="preencoded.png">
            <a:extLst>
              <a:ext uri="{FF2B5EF4-FFF2-40B4-BE49-F238E27FC236}">
                <a16:creationId xmlns:a16="http://schemas.microsoft.com/office/drawing/2014/main" id="{63409FAF-7311-D831-ABA8-73069028B5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039112"/>
            <a:ext cx="274320" cy="274320"/>
          </a:xfrm>
          <a:prstGeom prst="rect">
            <a:avLst/>
          </a:prstGeom>
        </p:spPr>
      </p:pic>
      <p:sp>
        <p:nvSpPr>
          <p:cNvPr id="65" name="Text 6">
            <a:extLst>
              <a:ext uri="{FF2B5EF4-FFF2-40B4-BE49-F238E27FC236}">
                <a16:creationId xmlns:a16="http://schemas.microsoft.com/office/drawing/2014/main" id="{7054B40E-AF5E-01CD-B626-9E62A88474D4}"/>
              </a:ext>
            </a:extLst>
          </p:cNvPr>
          <p:cNvSpPr/>
          <p:nvPr/>
        </p:nvSpPr>
        <p:spPr>
          <a:xfrm>
            <a:off x="1280160" y="1828800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93B4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R$ 77,8 M</a:t>
            </a:r>
            <a:endParaRPr lang="en-US" sz="2400" dirty="0"/>
          </a:p>
        </p:txBody>
      </p:sp>
      <p:sp>
        <p:nvSpPr>
          <p:cNvPr id="67" name="Text 7">
            <a:extLst>
              <a:ext uri="{FF2B5EF4-FFF2-40B4-BE49-F238E27FC236}">
                <a16:creationId xmlns:a16="http://schemas.microsoft.com/office/drawing/2014/main" id="{1F41925A-FB89-F9DE-5E79-168A93446B59}"/>
              </a:ext>
            </a:extLst>
          </p:cNvPr>
          <p:cNvSpPr/>
          <p:nvPr/>
        </p:nvSpPr>
        <p:spPr>
          <a:xfrm>
            <a:off x="1280160" y="2231136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Jan–Dec 2025</a:t>
            </a:r>
            <a:endParaRPr lang="en-US" sz="1150" dirty="0"/>
          </a:p>
        </p:txBody>
      </p:sp>
      <p:sp>
        <p:nvSpPr>
          <p:cNvPr id="69" name="Shape 8">
            <a:extLst>
              <a:ext uri="{FF2B5EF4-FFF2-40B4-BE49-F238E27FC236}">
                <a16:creationId xmlns:a16="http://schemas.microsoft.com/office/drawing/2014/main" id="{6A6BA35E-42F9-37BC-EDF5-A191CCEB9128}"/>
              </a:ext>
            </a:extLst>
          </p:cNvPr>
          <p:cNvSpPr/>
          <p:nvPr/>
        </p:nvSpPr>
        <p:spPr>
          <a:xfrm>
            <a:off x="4306824" y="1755648"/>
            <a:ext cx="3575304" cy="841248"/>
          </a:xfrm>
          <a:prstGeom prst="roundRect">
            <a:avLst>
              <a:gd name="adj" fmla="val 9783"/>
            </a:avLst>
          </a:prstGeom>
          <a:solidFill>
            <a:srgbClr val="131A2E"/>
          </a:solidFill>
          <a:ln w="12700">
            <a:solidFill>
              <a:srgbClr val="2A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9">
            <a:extLst>
              <a:ext uri="{FF2B5EF4-FFF2-40B4-BE49-F238E27FC236}">
                <a16:creationId xmlns:a16="http://schemas.microsoft.com/office/drawing/2014/main" id="{8B589B65-A542-159C-5DA7-E5BC2889DE63}"/>
              </a:ext>
            </a:extLst>
          </p:cNvPr>
          <p:cNvSpPr/>
          <p:nvPr/>
        </p:nvSpPr>
        <p:spPr>
          <a:xfrm>
            <a:off x="4489704" y="194767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A2C4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3" name="Image 2" descr="preencoded.png">
            <a:extLst>
              <a:ext uri="{FF2B5EF4-FFF2-40B4-BE49-F238E27FC236}">
                <a16:creationId xmlns:a16="http://schemas.microsoft.com/office/drawing/2014/main" id="{489FA04C-D7A8-7D10-1DD7-5D457CCF50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1144" y="2039112"/>
            <a:ext cx="274320" cy="274320"/>
          </a:xfrm>
          <a:prstGeom prst="rect">
            <a:avLst/>
          </a:prstGeom>
        </p:spPr>
      </p:pic>
      <p:sp>
        <p:nvSpPr>
          <p:cNvPr id="75" name="Text 10">
            <a:extLst>
              <a:ext uri="{FF2B5EF4-FFF2-40B4-BE49-F238E27FC236}">
                <a16:creationId xmlns:a16="http://schemas.microsoft.com/office/drawing/2014/main" id="{C451426C-CE24-50D9-388C-BDA043BBDCC6}"/>
              </a:ext>
            </a:extLst>
          </p:cNvPr>
          <p:cNvSpPr/>
          <p:nvPr/>
        </p:nvSpPr>
        <p:spPr>
          <a:xfrm>
            <a:off x="5084064" y="1828800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R$ 64,6 M</a:t>
            </a:r>
            <a:endParaRPr lang="en-US" sz="2400" dirty="0"/>
          </a:p>
        </p:txBody>
      </p:sp>
      <p:sp>
        <p:nvSpPr>
          <p:cNvPr id="77" name="Text 11">
            <a:extLst>
              <a:ext uri="{FF2B5EF4-FFF2-40B4-BE49-F238E27FC236}">
                <a16:creationId xmlns:a16="http://schemas.microsoft.com/office/drawing/2014/main" id="{CBC4EE5F-F2BB-1913-BDA8-079D3FEAAA25}"/>
              </a:ext>
            </a:extLst>
          </p:cNvPr>
          <p:cNvSpPr/>
          <p:nvPr/>
        </p:nvSpPr>
        <p:spPr>
          <a:xfrm>
            <a:off x="5084064" y="2231136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Jan–Sep 2026</a:t>
            </a:r>
            <a:endParaRPr lang="en-US" sz="1150" dirty="0"/>
          </a:p>
        </p:txBody>
      </p:sp>
      <p:sp>
        <p:nvSpPr>
          <p:cNvPr id="79" name="Shape 12">
            <a:extLst>
              <a:ext uri="{FF2B5EF4-FFF2-40B4-BE49-F238E27FC236}">
                <a16:creationId xmlns:a16="http://schemas.microsoft.com/office/drawing/2014/main" id="{661033EE-3A2A-90AA-011B-2888455D7E32}"/>
              </a:ext>
            </a:extLst>
          </p:cNvPr>
          <p:cNvSpPr/>
          <p:nvPr/>
        </p:nvSpPr>
        <p:spPr>
          <a:xfrm>
            <a:off x="8110728" y="1755648"/>
            <a:ext cx="3575304" cy="841248"/>
          </a:xfrm>
          <a:prstGeom prst="roundRect">
            <a:avLst>
              <a:gd name="adj" fmla="val 9783"/>
            </a:avLst>
          </a:prstGeom>
          <a:solidFill>
            <a:srgbClr val="131A2E"/>
          </a:solidFill>
          <a:ln w="12700">
            <a:solidFill>
              <a:srgbClr val="2A35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13">
            <a:extLst>
              <a:ext uri="{FF2B5EF4-FFF2-40B4-BE49-F238E27FC236}">
                <a16:creationId xmlns:a16="http://schemas.microsoft.com/office/drawing/2014/main" id="{D848D985-A0D9-03F4-EEE1-6B282B511AAB}"/>
              </a:ext>
            </a:extLst>
          </p:cNvPr>
          <p:cNvSpPr/>
          <p:nvPr/>
        </p:nvSpPr>
        <p:spPr>
          <a:xfrm>
            <a:off x="8293608" y="194767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A1B1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3" name="Image 3" descr="preencoded.png">
            <a:extLst>
              <a:ext uri="{FF2B5EF4-FFF2-40B4-BE49-F238E27FC236}">
                <a16:creationId xmlns:a16="http://schemas.microsoft.com/office/drawing/2014/main" id="{AFFEED54-D51F-7901-76A8-9EFD803218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5048" y="2039112"/>
            <a:ext cx="274320" cy="274320"/>
          </a:xfrm>
          <a:prstGeom prst="rect">
            <a:avLst/>
          </a:prstGeom>
        </p:spPr>
      </p:pic>
      <p:sp>
        <p:nvSpPr>
          <p:cNvPr id="85" name="Text 14">
            <a:extLst>
              <a:ext uri="{FF2B5EF4-FFF2-40B4-BE49-F238E27FC236}">
                <a16:creationId xmlns:a16="http://schemas.microsoft.com/office/drawing/2014/main" id="{87D33307-D847-267E-DA49-D96B9A745741}"/>
              </a:ext>
            </a:extLst>
          </p:cNvPr>
          <p:cNvSpPr/>
          <p:nvPr/>
        </p:nvSpPr>
        <p:spPr>
          <a:xfrm>
            <a:off x="8887968" y="1828800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-17,0%</a:t>
            </a:r>
            <a:endParaRPr lang="en-US" sz="2400" dirty="0"/>
          </a:p>
        </p:txBody>
      </p:sp>
      <p:sp>
        <p:nvSpPr>
          <p:cNvPr id="87" name="Text 15">
            <a:extLst>
              <a:ext uri="{FF2B5EF4-FFF2-40B4-BE49-F238E27FC236}">
                <a16:creationId xmlns:a16="http://schemas.microsoft.com/office/drawing/2014/main" id="{88B1721D-7554-765A-48FF-33A08EF3682D}"/>
              </a:ext>
            </a:extLst>
          </p:cNvPr>
          <p:cNvSpPr/>
          <p:nvPr/>
        </p:nvSpPr>
        <p:spPr>
          <a:xfrm>
            <a:off x="8887968" y="2231136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cumulative change</a:t>
            </a:r>
            <a:endParaRPr lang="en-US" sz="1150" dirty="0"/>
          </a:p>
        </p:txBody>
      </p:sp>
      <p:graphicFrame>
        <p:nvGraphicFramePr>
          <p:cNvPr id="89" name="Table 0">
            <a:extLst>
              <a:ext uri="{FF2B5EF4-FFF2-40B4-BE49-F238E27FC236}">
                <a16:creationId xmlns:a16="http://schemas.microsoft.com/office/drawing/2014/main" id="{C446CD31-ADF8-6DB3-57E7-164DF57A42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1751360"/>
              </p:ext>
            </p:extLst>
          </p:nvPr>
        </p:nvGraphicFramePr>
        <p:xfrm>
          <a:off x="502920" y="2761488"/>
          <a:ext cx="11183112" cy="173736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23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JAN–DEC 2025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JAN–SEP 2026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YOY VAR.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93B4F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Family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Electrical / Electronic Parts Repair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R$ 0.9M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R$ 2.4M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+159,8%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BBF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Family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Facilities &amp; Utilities Maintenance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R$ 23.8M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R$ 26.1M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+9,5%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BFDBF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Family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Combined Industrial Services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R$ 53.1M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R$ 36.2M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-31,9%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Families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R$ 77,8 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R$ 64,6 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-17,0%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91" name="Chart 0">
            <a:extLst>
              <a:ext uri="{FF2B5EF4-FFF2-40B4-BE49-F238E27FC236}">
                <a16:creationId xmlns:a16="http://schemas.microsoft.com/office/drawing/2014/main" id="{72EEF654-3E2E-1AA6-69A0-B4F3CC7E206C}"/>
              </a:ext>
            </a:extLst>
          </p:cNvPr>
          <p:cNvGraphicFramePr/>
          <p:nvPr/>
        </p:nvGraphicFramePr>
        <p:xfrm>
          <a:off x="502920" y="4434840"/>
          <a:ext cx="11183112" cy="1783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 2">
            <a:extLst>
              <a:ext uri="{FF2B5EF4-FFF2-40B4-BE49-F238E27FC236}">
                <a16:creationId xmlns:a16="http://schemas.microsoft.com/office/drawing/2014/main" id="{F0A6030B-4960-0B23-8F05-7310E11016D6}"/>
              </a:ext>
            </a:extLst>
          </p:cNvPr>
          <p:cNvSpPr/>
          <p:nvPr/>
        </p:nvSpPr>
        <p:spPr>
          <a:xfrm>
            <a:off x="124835" y="853175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Pareto Analysis — Suppliers of Family </a:t>
            </a:r>
            <a:r>
              <a:rPr lang="en-US" sz="28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Family 1</a:t>
            </a:r>
            <a:endParaRPr lang="en-US" sz="2800" dirty="0"/>
          </a:p>
        </p:txBody>
      </p:sp>
      <p:sp>
        <p:nvSpPr>
          <p:cNvPr id="77" name="Shape 3">
            <a:extLst>
              <a:ext uri="{FF2B5EF4-FFF2-40B4-BE49-F238E27FC236}">
                <a16:creationId xmlns:a16="http://schemas.microsoft.com/office/drawing/2014/main" id="{2F53B81B-DAE2-3C80-B095-A3A2BF262DC6}"/>
              </a:ext>
            </a:extLst>
          </p:cNvPr>
          <p:cNvSpPr/>
          <p:nvPr/>
        </p:nvSpPr>
        <p:spPr>
          <a:xfrm>
            <a:off x="124835" y="1385515"/>
            <a:ext cx="4709160" cy="365760"/>
          </a:xfrm>
          <a:prstGeom prst="roundRect">
            <a:avLst>
              <a:gd name="adj" fmla="val 50000"/>
            </a:avLst>
          </a:prstGeom>
          <a:solidFill>
            <a:srgbClr val="27509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8" name="Text 4">
            <a:extLst>
              <a:ext uri="{FF2B5EF4-FFF2-40B4-BE49-F238E27FC236}">
                <a16:creationId xmlns:a16="http://schemas.microsoft.com/office/drawing/2014/main" id="{385C053D-9D53-B35E-E3B1-E552A28A69FE}"/>
              </a:ext>
            </a:extLst>
          </p:cNvPr>
          <p:cNvSpPr/>
          <p:nvPr/>
        </p:nvSpPr>
        <p:spPr>
          <a:xfrm>
            <a:off x="124835" y="1346553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 · 3 SUPPLIERS · 51.6% OF SPEND</a:t>
            </a:r>
            <a:endParaRPr lang="en-US" sz="1150" dirty="0"/>
          </a:p>
        </p:txBody>
      </p:sp>
      <p:sp>
        <p:nvSpPr>
          <p:cNvPr id="79" name="Shape 5">
            <a:extLst>
              <a:ext uri="{FF2B5EF4-FFF2-40B4-BE49-F238E27FC236}">
                <a16:creationId xmlns:a16="http://schemas.microsoft.com/office/drawing/2014/main" id="{0526215A-9146-622E-5288-C3A0EC3EA64C}"/>
              </a:ext>
            </a:extLst>
          </p:cNvPr>
          <p:cNvSpPr/>
          <p:nvPr/>
        </p:nvSpPr>
        <p:spPr>
          <a:xfrm>
            <a:off x="82296" y="1795405"/>
            <a:ext cx="6812280" cy="4498848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94A3B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0" name="Text 6">
            <a:extLst>
              <a:ext uri="{FF2B5EF4-FFF2-40B4-BE49-F238E27FC236}">
                <a16:creationId xmlns:a16="http://schemas.microsoft.com/office/drawing/2014/main" id="{22BF4660-D67A-4069-64B8-B3FADBB1AD24}"/>
              </a:ext>
            </a:extLst>
          </p:cNvPr>
          <p:cNvSpPr/>
          <p:nvPr/>
        </p:nvSpPr>
        <p:spPr>
          <a:xfrm>
            <a:off x="525780" y="1792224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by supplier (R$ K) × cumulative % — Pareto / ABC Curve</a:t>
            </a:r>
            <a:endParaRPr lang="en-US" sz="1150" dirty="0"/>
          </a:p>
        </p:txBody>
      </p:sp>
      <p:graphicFrame>
        <p:nvGraphicFramePr>
          <p:cNvPr id="81" name="Chart 0">
            <a:extLst>
              <a:ext uri="{FF2B5EF4-FFF2-40B4-BE49-F238E27FC236}">
                <a16:creationId xmlns:a16="http://schemas.microsoft.com/office/drawing/2014/main" id="{5CB3B234-DC99-4AAF-FC5F-82536D0C7EB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85618193"/>
              </p:ext>
            </p:extLst>
          </p:nvPr>
        </p:nvGraphicFramePr>
        <p:xfrm>
          <a:off x="288036" y="2316613"/>
          <a:ext cx="6446520" cy="3886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2" name="Text 7">
            <a:extLst>
              <a:ext uri="{FF2B5EF4-FFF2-40B4-BE49-F238E27FC236}">
                <a16:creationId xmlns:a16="http://schemas.microsoft.com/office/drawing/2014/main" id="{D67DED54-FBBC-25A4-D2CE-DAE35CDAE237}"/>
              </a:ext>
            </a:extLst>
          </p:cNvPr>
          <p:cNvSpPr/>
          <p:nvPr/>
        </p:nvSpPr>
        <p:spPr>
          <a:xfrm>
            <a:off x="7200900" y="138094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275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50" dirty="0"/>
          </a:p>
        </p:txBody>
      </p:sp>
      <p:sp>
        <p:nvSpPr>
          <p:cNvPr id="83" name="Shape 8">
            <a:extLst>
              <a:ext uri="{FF2B5EF4-FFF2-40B4-BE49-F238E27FC236}">
                <a16:creationId xmlns:a16="http://schemas.microsoft.com/office/drawing/2014/main" id="{BBD2A2B6-917D-8405-7F55-2B49F94A5A5F}"/>
              </a:ext>
            </a:extLst>
          </p:cNvPr>
          <p:cNvSpPr/>
          <p:nvPr/>
        </p:nvSpPr>
        <p:spPr>
          <a:xfrm>
            <a:off x="7200900" y="1710126"/>
            <a:ext cx="1307592" cy="749808"/>
          </a:xfrm>
          <a:prstGeom prst="roundRect">
            <a:avLst>
              <a:gd name="adj" fmla="val 10976"/>
            </a:avLst>
          </a:prstGeom>
          <a:solidFill>
            <a:srgbClr val="EEF0FA"/>
          </a:solidFill>
          <a:ln w="12700">
            <a:solidFill>
              <a:srgbClr val="D8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4" name="Image 1" descr="preencoded.png">
            <a:extLst>
              <a:ext uri="{FF2B5EF4-FFF2-40B4-BE49-F238E27FC236}">
                <a16:creationId xmlns:a16="http://schemas.microsoft.com/office/drawing/2014/main" id="{D30C816A-997F-AF1C-BE79-25FA3C01A3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0628" y="1819854"/>
            <a:ext cx="201168" cy="201168"/>
          </a:xfrm>
          <a:prstGeom prst="rect">
            <a:avLst/>
          </a:prstGeom>
        </p:spPr>
      </p:pic>
      <p:sp>
        <p:nvSpPr>
          <p:cNvPr id="85" name="Text 9">
            <a:extLst>
              <a:ext uri="{FF2B5EF4-FFF2-40B4-BE49-F238E27FC236}">
                <a16:creationId xmlns:a16="http://schemas.microsoft.com/office/drawing/2014/main" id="{424F78E5-A37F-9427-DB6A-155BEC8EA2FF}"/>
              </a:ext>
            </a:extLst>
          </p:cNvPr>
          <p:cNvSpPr/>
          <p:nvPr/>
        </p:nvSpPr>
        <p:spPr>
          <a:xfrm>
            <a:off x="7566660" y="1764990"/>
            <a:ext cx="896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800" dirty="0"/>
          </a:p>
        </p:txBody>
      </p:sp>
      <p:sp>
        <p:nvSpPr>
          <p:cNvPr id="86" name="Text 10">
            <a:extLst>
              <a:ext uri="{FF2B5EF4-FFF2-40B4-BE49-F238E27FC236}">
                <a16:creationId xmlns:a16="http://schemas.microsoft.com/office/drawing/2014/main" id="{B02598C4-2630-E024-3BD6-BE51AD8B9080}"/>
              </a:ext>
            </a:extLst>
          </p:cNvPr>
          <p:cNvSpPr/>
          <p:nvPr/>
        </p:nvSpPr>
        <p:spPr>
          <a:xfrm>
            <a:off x="7310628" y="2130750"/>
            <a:ext cx="1124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suppliers</a:t>
            </a:r>
            <a:endParaRPr lang="en-US" sz="900" dirty="0"/>
          </a:p>
        </p:txBody>
      </p:sp>
      <p:sp>
        <p:nvSpPr>
          <p:cNvPr id="87" name="Shape 11">
            <a:extLst>
              <a:ext uri="{FF2B5EF4-FFF2-40B4-BE49-F238E27FC236}">
                <a16:creationId xmlns:a16="http://schemas.microsoft.com/office/drawing/2014/main" id="{10DF6988-3376-65A1-CD26-F9E66882B41E}"/>
              </a:ext>
            </a:extLst>
          </p:cNvPr>
          <p:cNvSpPr/>
          <p:nvPr/>
        </p:nvSpPr>
        <p:spPr>
          <a:xfrm>
            <a:off x="8627364" y="1710126"/>
            <a:ext cx="1307592" cy="749808"/>
          </a:xfrm>
          <a:prstGeom prst="roundRect">
            <a:avLst>
              <a:gd name="adj" fmla="val 10976"/>
            </a:avLst>
          </a:prstGeom>
          <a:solidFill>
            <a:srgbClr val="EEF0FA"/>
          </a:solidFill>
          <a:ln w="12700">
            <a:solidFill>
              <a:srgbClr val="D8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8" name="Image 2" descr="preencoded.png">
            <a:extLst>
              <a:ext uri="{FF2B5EF4-FFF2-40B4-BE49-F238E27FC236}">
                <a16:creationId xmlns:a16="http://schemas.microsoft.com/office/drawing/2014/main" id="{E640F3E6-D35D-B0E8-BE15-EFEC2FB350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7092" y="1819854"/>
            <a:ext cx="201168" cy="201168"/>
          </a:xfrm>
          <a:prstGeom prst="rect">
            <a:avLst/>
          </a:prstGeom>
        </p:spPr>
      </p:pic>
      <p:sp>
        <p:nvSpPr>
          <p:cNvPr id="89" name="Text 12">
            <a:extLst>
              <a:ext uri="{FF2B5EF4-FFF2-40B4-BE49-F238E27FC236}">
                <a16:creationId xmlns:a16="http://schemas.microsoft.com/office/drawing/2014/main" id="{1ADCAE8B-EE64-9B1A-FB9F-3B242096C455}"/>
              </a:ext>
            </a:extLst>
          </p:cNvPr>
          <p:cNvSpPr/>
          <p:nvPr/>
        </p:nvSpPr>
        <p:spPr>
          <a:xfrm>
            <a:off x="8993124" y="1764990"/>
            <a:ext cx="896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R$ 3,3 Mi</a:t>
            </a:r>
            <a:endParaRPr lang="en-US" sz="1500" dirty="0"/>
          </a:p>
        </p:txBody>
      </p:sp>
      <p:sp>
        <p:nvSpPr>
          <p:cNvPr id="90" name="Text 13">
            <a:extLst>
              <a:ext uri="{FF2B5EF4-FFF2-40B4-BE49-F238E27FC236}">
                <a16:creationId xmlns:a16="http://schemas.microsoft.com/office/drawing/2014/main" id="{0D821469-6AEB-1B35-6854-DC4B732F871D}"/>
              </a:ext>
            </a:extLst>
          </p:cNvPr>
          <p:cNvSpPr/>
          <p:nvPr/>
        </p:nvSpPr>
        <p:spPr>
          <a:xfrm>
            <a:off x="8737092" y="2130750"/>
            <a:ext cx="1124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purchases</a:t>
            </a:r>
            <a:endParaRPr lang="en-US" sz="900" dirty="0"/>
          </a:p>
        </p:txBody>
      </p:sp>
      <p:sp>
        <p:nvSpPr>
          <p:cNvPr id="91" name="Shape 14">
            <a:extLst>
              <a:ext uri="{FF2B5EF4-FFF2-40B4-BE49-F238E27FC236}">
                <a16:creationId xmlns:a16="http://schemas.microsoft.com/office/drawing/2014/main" id="{A3888B24-00BF-2E02-78B5-0F44AD8E402D}"/>
              </a:ext>
            </a:extLst>
          </p:cNvPr>
          <p:cNvSpPr/>
          <p:nvPr/>
        </p:nvSpPr>
        <p:spPr>
          <a:xfrm>
            <a:off x="10053828" y="1710126"/>
            <a:ext cx="1307592" cy="749808"/>
          </a:xfrm>
          <a:prstGeom prst="roundRect">
            <a:avLst>
              <a:gd name="adj" fmla="val 10976"/>
            </a:avLst>
          </a:prstGeom>
          <a:solidFill>
            <a:srgbClr val="EEF0FA"/>
          </a:solidFill>
          <a:ln w="12700">
            <a:solidFill>
              <a:srgbClr val="D8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2" name="Image 3" descr="preencoded.png">
            <a:extLst>
              <a:ext uri="{FF2B5EF4-FFF2-40B4-BE49-F238E27FC236}">
                <a16:creationId xmlns:a16="http://schemas.microsoft.com/office/drawing/2014/main" id="{81C7B364-2DB0-DB47-B7B3-E856313BF2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63556" y="1819854"/>
            <a:ext cx="201168" cy="201168"/>
          </a:xfrm>
          <a:prstGeom prst="rect">
            <a:avLst/>
          </a:prstGeom>
        </p:spPr>
      </p:pic>
      <p:sp>
        <p:nvSpPr>
          <p:cNvPr id="93" name="Text 15">
            <a:extLst>
              <a:ext uri="{FF2B5EF4-FFF2-40B4-BE49-F238E27FC236}">
                <a16:creationId xmlns:a16="http://schemas.microsoft.com/office/drawing/2014/main" id="{888DDE8F-ED13-E51F-BC93-5799175C96CC}"/>
              </a:ext>
            </a:extLst>
          </p:cNvPr>
          <p:cNvSpPr/>
          <p:nvPr/>
        </p:nvSpPr>
        <p:spPr>
          <a:xfrm>
            <a:off x="10419588" y="1764990"/>
            <a:ext cx="896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219</a:t>
            </a:r>
            <a:endParaRPr lang="en-US" sz="1800" dirty="0"/>
          </a:p>
        </p:txBody>
      </p:sp>
      <p:sp>
        <p:nvSpPr>
          <p:cNvPr id="94" name="Text 16">
            <a:extLst>
              <a:ext uri="{FF2B5EF4-FFF2-40B4-BE49-F238E27FC236}">
                <a16:creationId xmlns:a16="http://schemas.microsoft.com/office/drawing/2014/main" id="{71014FB5-81C1-3C72-01A6-3A5EDF568D43}"/>
              </a:ext>
            </a:extLst>
          </p:cNvPr>
          <p:cNvSpPr/>
          <p:nvPr/>
        </p:nvSpPr>
        <p:spPr>
          <a:xfrm>
            <a:off x="10163556" y="2130750"/>
            <a:ext cx="1124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lines</a:t>
            </a:r>
            <a:endParaRPr lang="en-US" sz="900" dirty="0"/>
          </a:p>
        </p:txBody>
      </p:sp>
      <p:sp>
        <p:nvSpPr>
          <p:cNvPr id="95" name="Shape 17">
            <a:extLst>
              <a:ext uri="{FF2B5EF4-FFF2-40B4-BE49-F238E27FC236}">
                <a16:creationId xmlns:a16="http://schemas.microsoft.com/office/drawing/2014/main" id="{F69D9029-13F4-20FE-2167-50800A9136C4}"/>
              </a:ext>
            </a:extLst>
          </p:cNvPr>
          <p:cNvSpPr/>
          <p:nvPr/>
        </p:nvSpPr>
        <p:spPr>
          <a:xfrm>
            <a:off x="7200900" y="2569662"/>
            <a:ext cx="2011680" cy="749808"/>
          </a:xfrm>
          <a:prstGeom prst="roundRect">
            <a:avLst>
              <a:gd name="adj" fmla="val 10976"/>
            </a:avLst>
          </a:prstGeom>
          <a:solidFill>
            <a:srgbClr val="EEF0FA"/>
          </a:solidFill>
          <a:ln w="12700">
            <a:solidFill>
              <a:srgbClr val="D8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6" name="Image 4" descr="preencoded.png">
            <a:extLst>
              <a:ext uri="{FF2B5EF4-FFF2-40B4-BE49-F238E27FC236}">
                <a16:creationId xmlns:a16="http://schemas.microsoft.com/office/drawing/2014/main" id="{75821E8E-ECEE-731F-5963-CD662B32D3D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0628" y="2679390"/>
            <a:ext cx="201168" cy="201168"/>
          </a:xfrm>
          <a:prstGeom prst="rect">
            <a:avLst/>
          </a:prstGeom>
        </p:spPr>
      </p:pic>
      <p:sp>
        <p:nvSpPr>
          <p:cNvPr id="97" name="Text 18">
            <a:extLst>
              <a:ext uri="{FF2B5EF4-FFF2-40B4-BE49-F238E27FC236}">
                <a16:creationId xmlns:a16="http://schemas.microsoft.com/office/drawing/2014/main" id="{D360DD41-A371-D0A4-3FF1-BF4642C2BE01}"/>
              </a:ext>
            </a:extLst>
          </p:cNvPr>
          <p:cNvSpPr/>
          <p:nvPr/>
        </p:nvSpPr>
        <p:spPr>
          <a:xfrm>
            <a:off x="7566660" y="2624526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800" dirty="0"/>
          </a:p>
        </p:txBody>
      </p:sp>
      <p:sp>
        <p:nvSpPr>
          <p:cNvPr id="98" name="Text 19">
            <a:extLst>
              <a:ext uri="{FF2B5EF4-FFF2-40B4-BE49-F238E27FC236}">
                <a16:creationId xmlns:a16="http://schemas.microsoft.com/office/drawing/2014/main" id="{8FB91A80-E73E-24BC-B049-742E65DFC21E}"/>
              </a:ext>
            </a:extLst>
          </p:cNvPr>
          <p:cNvSpPr/>
          <p:nvPr/>
        </p:nvSpPr>
        <p:spPr>
          <a:xfrm>
            <a:off x="7310628" y="299028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BRL currency</a:t>
            </a:r>
            <a:endParaRPr lang="en-US" sz="900" dirty="0"/>
          </a:p>
        </p:txBody>
      </p:sp>
      <p:sp>
        <p:nvSpPr>
          <p:cNvPr id="99" name="Shape 20">
            <a:extLst>
              <a:ext uri="{FF2B5EF4-FFF2-40B4-BE49-F238E27FC236}">
                <a16:creationId xmlns:a16="http://schemas.microsoft.com/office/drawing/2014/main" id="{67567255-2A1C-802E-0E15-8CA3B2AAF360}"/>
              </a:ext>
            </a:extLst>
          </p:cNvPr>
          <p:cNvSpPr/>
          <p:nvPr/>
        </p:nvSpPr>
        <p:spPr>
          <a:xfrm>
            <a:off x="9349740" y="2569662"/>
            <a:ext cx="2011680" cy="749808"/>
          </a:xfrm>
          <a:prstGeom prst="roundRect">
            <a:avLst>
              <a:gd name="adj" fmla="val 10976"/>
            </a:avLst>
          </a:prstGeom>
          <a:solidFill>
            <a:srgbClr val="EEF0FA"/>
          </a:solidFill>
          <a:ln w="12700">
            <a:solidFill>
              <a:srgbClr val="D8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0" name="Image 5" descr="preencoded.png">
            <a:extLst>
              <a:ext uri="{FF2B5EF4-FFF2-40B4-BE49-F238E27FC236}">
                <a16:creationId xmlns:a16="http://schemas.microsoft.com/office/drawing/2014/main" id="{8D1736B1-070F-C0EE-69DA-CC842E5CA3C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59468" y="2679390"/>
            <a:ext cx="201168" cy="201168"/>
          </a:xfrm>
          <a:prstGeom prst="rect">
            <a:avLst/>
          </a:prstGeom>
        </p:spPr>
      </p:pic>
      <p:sp>
        <p:nvSpPr>
          <p:cNvPr id="101" name="Text 21">
            <a:extLst>
              <a:ext uri="{FF2B5EF4-FFF2-40B4-BE49-F238E27FC236}">
                <a16:creationId xmlns:a16="http://schemas.microsoft.com/office/drawing/2014/main" id="{48E97960-C7CC-A43A-788C-F7DE6DA8C067}"/>
              </a:ext>
            </a:extLst>
          </p:cNvPr>
          <p:cNvSpPr/>
          <p:nvPr/>
        </p:nvSpPr>
        <p:spPr>
          <a:xfrm>
            <a:off x="9715500" y="2624526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9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+159,8%</a:t>
            </a:r>
            <a:endParaRPr lang="en-US" sz="1500" dirty="0"/>
          </a:p>
        </p:txBody>
      </p:sp>
      <p:sp>
        <p:nvSpPr>
          <p:cNvPr id="102" name="Text 22">
            <a:extLst>
              <a:ext uri="{FF2B5EF4-FFF2-40B4-BE49-F238E27FC236}">
                <a16:creationId xmlns:a16="http://schemas.microsoft.com/office/drawing/2014/main" id="{7DCE23DF-D7B5-3E69-3EEB-E370D87435F0}"/>
              </a:ext>
            </a:extLst>
          </p:cNvPr>
          <p:cNvSpPr/>
          <p:nvPr/>
        </p:nvSpPr>
        <p:spPr>
          <a:xfrm>
            <a:off x="9459468" y="299028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</a:t>
            </a:r>
            <a:endParaRPr lang="en-US" sz="900" dirty="0"/>
          </a:p>
        </p:txBody>
      </p:sp>
      <p:sp>
        <p:nvSpPr>
          <p:cNvPr id="103" name="Shape 23">
            <a:extLst>
              <a:ext uri="{FF2B5EF4-FFF2-40B4-BE49-F238E27FC236}">
                <a16:creationId xmlns:a16="http://schemas.microsoft.com/office/drawing/2014/main" id="{18EAE29C-4AEF-271A-1C08-6CF3BF92E8B3}"/>
              </a:ext>
            </a:extLst>
          </p:cNvPr>
          <p:cNvSpPr/>
          <p:nvPr/>
        </p:nvSpPr>
        <p:spPr>
          <a:xfrm>
            <a:off x="7200900" y="3447486"/>
            <a:ext cx="4160520" cy="896112"/>
          </a:xfrm>
          <a:prstGeom prst="roundRect">
            <a:avLst>
              <a:gd name="adj" fmla="val 9184"/>
            </a:avLst>
          </a:prstGeom>
          <a:solidFill>
            <a:srgbClr val="E8EBF8"/>
          </a:solidFill>
          <a:ln w="12700">
            <a:solidFill>
              <a:srgbClr val="D8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Text 24">
            <a:extLst>
              <a:ext uri="{FF2B5EF4-FFF2-40B4-BE49-F238E27FC236}">
                <a16:creationId xmlns:a16="http://schemas.microsoft.com/office/drawing/2014/main" id="{866D64C2-98D8-E122-2D1E-17363553F6CE}"/>
              </a:ext>
            </a:extLst>
          </p:cNvPr>
          <p:cNvSpPr/>
          <p:nvPr/>
        </p:nvSpPr>
        <p:spPr>
          <a:xfrm>
            <a:off x="7338060" y="3520638"/>
            <a:ext cx="38862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80/20 RULE — </a:t>
            </a: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 suppliers (Class A) concentrate 51.6% of spend. Family growing fast — top priority in demand management and service contracts.</a:t>
            </a:r>
            <a:endParaRPr lang="en-US" sz="1000" dirty="0"/>
          </a:p>
        </p:txBody>
      </p:sp>
      <p:sp>
        <p:nvSpPr>
          <p:cNvPr id="105" name="Text 25">
            <a:extLst>
              <a:ext uri="{FF2B5EF4-FFF2-40B4-BE49-F238E27FC236}">
                <a16:creationId xmlns:a16="http://schemas.microsoft.com/office/drawing/2014/main" id="{6B2DB56A-9C58-3E16-B427-943E000C5826}"/>
              </a:ext>
            </a:extLst>
          </p:cNvPr>
          <p:cNvSpPr/>
          <p:nvPr/>
        </p:nvSpPr>
        <p:spPr>
          <a:xfrm>
            <a:off x="7200900" y="4471614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275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PLAN</a:t>
            </a:r>
            <a:endParaRPr lang="en-US" sz="1150" dirty="0"/>
          </a:p>
        </p:txBody>
      </p:sp>
      <p:sp>
        <p:nvSpPr>
          <p:cNvPr id="106" name="Shape 26">
            <a:extLst>
              <a:ext uri="{FF2B5EF4-FFF2-40B4-BE49-F238E27FC236}">
                <a16:creationId xmlns:a16="http://schemas.microsoft.com/office/drawing/2014/main" id="{8B61FD56-FB64-F414-ACA3-E05A8F634D3D}"/>
              </a:ext>
            </a:extLst>
          </p:cNvPr>
          <p:cNvSpPr/>
          <p:nvPr/>
        </p:nvSpPr>
        <p:spPr>
          <a:xfrm>
            <a:off x="7200900" y="4782510"/>
            <a:ext cx="274320" cy="274320"/>
          </a:xfrm>
          <a:prstGeom prst="ellipse">
            <a:avLst/>
          </a:prstGeom>
          <a:solidFill>
            <a:srgbClr val="27509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7" name="Text 27">
            <a:extLst>
              <a:ext uri="{FF2B5EF4-FFF2-40B4-BE49-F238E27FC236}">
                <a16:creationId xmlns:a16="http://schemas.microsoft.com/office/drawing/2014/main" id="{9D5FA527-4E6C-9063-EA25-0FBDAEEBB016}"/>
              </a:ext>
            </a:extLst>
          </p:cNvPr>
          <p:cNvSpPr/>
          <p:nvPr/>
        </p:nvSpPr>
        <p:spPr>
          <a:xfrm>
            <a:off x="7200900" y="478251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08" name="Text 28">
            <a:extLst>
              <a:ext uri="{FF2B5EF4-FFF2-40B4-BE49-F238E27FC236}">
                <a16:creationId xmlns:a16="http://schemas.microsoft.com/office/drawing/2014/main" id="{9A31D1DA-9C99-36E8-9DBC-E40BE39E1509}"/>
              </a:ext>
            </a:extLst>
          </p:cNvPr>
          <p:cNvSpPr/>
          <p:nvPr/>
        </p:nvSpPr>
        <p:spPr>
          <a:xfrm>
            <a:off x="7584948" y="4745934"/>
            <a:ext cx="3776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 Frame Agreements — </a:t>
            </a: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Negotiate commercial terms with Supplier B, Supplier C and Eletromotores Supplier D.</a:t>
            </a:r>
            <a:endParaRPr lang="en-US" sz="950" dirty="0"/>
          </a:p>
        </p:txBody>
      </p:sp>
      <p:sp>
        <p:nvSpPr>
          <p:cNvPr id="109" name="Shape 29">
            <a:extLst>
              <a:ext uri="{FF2B5EF4-FFF2-40B4-BE49-F238E27FC236}">
                <a16:creationId xmlns:a16="http://schemas.microsoft.com/office/drawing/2014/main" id="{BBC3D83E-7240-1DBB-A3DD-C6D20473AD42}"/>
              </a:ext>
            </a:extLst>
          </p:cNvPr>
          <p:cNvSpPr/>
          <p:nvPr/>
        </p:nvSpPr>
        <p:spPr>
          <a:xfrm>
            <a:off x="7200900" y="5257998"/>
            <a:ext cx="274320" cy="274320"/>
          </a:xfrm>
          <a:prstGeom prst="ellipse">
            <a:avLst/>
          </a:prstGeom>
          <a:solidFill>
            <a:srgbClr val="27509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0" name="Text 30">
            <a:extLst>
              <a:ext uri="{FF2B5EF4-FFF2-40B4-BE49-F238E27FC236}">
                <a16:creationId xmlns:a16="http://schemas.microsoft.com/office/drawing/2014/main" id="{E106FD48-4200-6BB9-F6B1-9EB527D36300}"/>
              </a:ext>
            </a:extLst>
          </p:cNvPr>
          <p:cNvSpPr/>
          <p:nvPr/>
        </p:nvSpPr>
        <p:spPr>
          <a:xfrm>
            <a:off x="7200900" y="525799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11" name="Text 31">
            <a:extLst>
              <a:ext uri="{FF2B5EF4-FFF2-40B4-BE49-F238E27FC236}">
                <a16:creationId xmlns:a16="http://schemas.microsoft.com/office/drawing/2014/main" id="{EF8D3E62-2845-C6C7-AED4-F6FB97F3B083}"/>
              </a:ext>
            </a:extLst>
          </p:cNvPr>
          <p:cNvSpPr/>
          <p:nvPr/>
        </p:nvSpPr>
        <p:spPr>
          <a:xfrm>
            <a:off x="7584948" y="5221422"/>
            <a:ext cx="3776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Management — </a:t>
            </a: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scopes and SLAs to absorb the +159.8% YoY growth — contract mindset.</a:t>
            </a:r>
            <a:endParaRPr lang="en-US" sz="950" dirty="0"/>
          </a:p>
        </p:txBody>
      </p:sp>
      <p:sp>
        <p:nvSpPr>
          <p:cNvPr id="112" name="Shape 32">
            <a:extLst>
              <a:ext uri="{FF2B5EF4-FFF2-40B4-BE49-F238E27FC236}">
                <a16:creationId xmlns:a16="http://schemas.microsoft.com/office/drawing/2014/main" id="{86BC3FA8-6B17-B90D-DEA2-F23E9557E10B}"/>
              </a:ext>
            </a:extLst>
          </p:cNvPr>
          <p:cNvSpPr/>
          <p:nvPr/>
        </p:nvSpPr>
        <p:spPr>
          <a:xfrm>
            <a:off x="7200900" y="5733486"/>
            <a:ext cx="274320" cy="274320"/>
          </a:xfrm>
          <a:prstGeom prst="ellipse">
            <a:avLst/>
          </a:prstGeom>
          <a:solidFill>
            <a:srgbClr val="27509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3" name="Text 33">
            <a:extLst>
              <a:ext uri="{FF2B5EF4-FFF2-40B4-BE49-F238E27FC236}">
                <a16:creationId xmlns:a16="http://schemas.microsoft.com/office/drawing/2014/main" id="{7EC90910-87A5-4DA2-8A7D-C6E9A67B0979}"/>
              </a:ext>
            </a:extLst>
          </p:cNvPr>
          <p:cNvSpPr/>
          <p:nvPr/>
        </p:nvSpPr>
        <p:spPr>
          <a:xfrm>
            <a:off x="7200900" y="573348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14" name="Text 34">
            <a:extLst>
              <a:ext uri="{FF2B5EF4-FFF2-40B4-BE49-F238E27FC236}">
                <a16:creationId xmlns:a16="http://schemas.microsoft.com/office/drawing/2014/main" id="{5B646EB0-9B77-DE19-0BE1-52416F6C5454}"/>
              </a:ext>
            </a:extLst>
          </p:cNvPr>
          <p:cNvSpPr/>
          <p:nvPr/>
        </p:nvSpPr>
        <p:spPr>
          <a:xfrm>
            <a:off x="7584948" y="5696910"/>
            <a:ext cx="3776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Preventive Qualification — </a:t>
            </a: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the qualified base before growth demands emergency scale. Sensors via IoT or AI.</a:t>
            </a:r>
            <a:endParaRPr lang="en-US" sz="950" dirty="0"/>
          </a:p>
        </p:txBody>
      </p:sp>
      <p:sp>
        <p:nvSpPr>
          <p:cNvPr id="121" name="Text 41">
            <a:extLst>
              <a:ext uri="{FF2B5EF4-FFF2-40B4-BE49-F238E27FC236}">
                <a16:creationId xmlns:a16="http://schemas.microsoft.com/office/drawing/2014/main" id="{A2E97E13-6771-6559-AF11-ECEAE776DD3A}"/>
              </a:ext>
            </a:extLst>
          </p:cNvPr>
          <p:cNvSpPr/>
          <p:nvPr/>
        </p:nvSpPr>
        <p:spPr>
          <a:xfrm>
            <a:off x="124835" y="6309360"/>
            <a:ext cx="6812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Detailed Standard PO Analysis (internal analytics, internal base) — 219 Family 1 lines · extraction Oct 6, 2026.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87B469-AEA7-40DA-D737-ADCC66A8A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2">
            <a:extLst>
              <a:ext uri="{FF2B5EF4-FFF2-40B4-BE49-F238E27FC236}">
                <a16:creationId xmlns:a16="http://schemas.microsoft.com/office/drawing/2014/main" id="{6B9BE560-4D48-E164-6AEA-41690284D6BC}"/>
              </a:ext>
            </a:extLst>
          </p:cNvPr>
          <p:cNvSpPr/>
          <p:nvPr/>
        </p:nvSpPr>
        <p:spPr>
          <a:xfrm>
            <a:off x="194806" y="877824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Pareto Analysis — Suppliers of Family </a:t>
            </a:r>
            <a:r>
              <a:rPr lang="en-US" sz="28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Family 2</a:t>
            </a:r>
            <a:endParaRPr lang="en-US" sz="2800" dirty="0"/>
          </a:p>
        </p:txBody>
      </p:sp>
      <p:sp>
        <p:nvSpPr>
          <p:cNvPr id="22" name="Shape 3">
            <a:extLst>
              <a:ext uri="{FF2B5EF4-FFF2-40B4-BE49-F238E27FC236}">
                <a16:creationId xmlns:a16="http://schemas.microsoft.com/office/drawing/2014/main" id="{E2E12AF8-E547-A871-D363-32419809D326}"/>
              </a:ext>
            </a:extLst>
          </p:cNvPr>
          <p:cNvSpPr/>
          <p:nvPr/>
        </p:nvSpPr>
        <p:spPr>
          <a:xfrm>
            <a:off x="95415" y="1449523"/>
            <a:ext cx="4709160" cy="365760"/>
          </a:xfrm>
          <a:prstGeom prst="roundRect">
            <a:avLst>
              <a:gd name="adj" fmla="val 50000"/>
            </a:avLst>
          </a:prstGeom>
          <a:solidFill>
            <a:srgbClr val="27509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4">
            <a:extLst>
              <a:ext uri="{FF2B5EF4-FFF2-40B4-BE49-F238E27FC236}">
                <a16:creationId xmlns:a16="http://schemas.microsoft.com/office/drawing/2014/main" id="{AD94C31E-743C-409A-CFBC-1D0EDE03D77F}"/>
              </a:ext>
            </a:extLst>
          </p:cNvPr>
          <p:cNvSpPr/>
          <p:nvPr/>
        </p:nvSpPr>
        <p:spPr>
          <a:xfrm>
            <a:off x="0" y="1422886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 · 16 SUPPLIERS · 80.6% OF SPEND</a:t>
            </a:r>
            <a:endParaRPr lang="en-US" sz="1150" dirty="0"/>
          </a:p>
        </p:txBody>
      </p:sp>
      <p:sp>
        <p:nvSpPr>
          <p:cNvPr id="24" name="Shape 5">
            <a:extLst>
              <a:ext uri="{FF2B5EF4-FFF2-40B4-BE49-F238E27FC236}">
                <a16:creationId xmlns:a16="http://schemas.microsoft.com/office/drawing/2014/main" id="{0024056D-E0DB-C0BE-23FC-640BECB6F25F}"/>
              </a:ext>
            </a:extLst>
          </p:cNvPr>
          <p:cNvSpPr/>
          <p:nvPr/>
        </p:nvSpPr>
        <p:spPr>
          <a:xfrm>
            <a:off x="118872" y="1901952"/>
            <a:ext cx="6812280" cy="4498848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94A3B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6">
            <a:extLst>
              <a:ext uri="{FF2B5EF4-FFF2-40B4-BE49-F238E27FC236}">
                <a16:creationId xmlns:a16="http://schemas.microsoft.com/office/drawing/2014/main" id="{B4FA4BBC-7597-5345-5839-DECE289368CE}"/>
              </a:ext>
            </a:extLst>
          </p:cNvPr>
          <p:cNvSpPr/>
          <p:nvPr/>
        </p:nvSpPr>
        <p:spPr>
          <a:xfrm>
            <a:off x="347472" y="2029968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by supplier (R$ K) × cumulative % — Pareto / ABC Curve</a:t>
            </a:r>
            <a:endParaRPr lang="en-US" sz="1150" dirty="0"/>
          </a:p>
        </p:txBody>
      </p:sp>
      <p:graphicFrame>
        <p:nvGraphicFramePr>
          <p:cNvPr id="26" name="Chart 0">
            <a:extLst>
              <a:ext uri="{FF2B5EF4-FFF2-40B4-BE49-F238E27FC236}">
                <a16:creationId xmlns:a16="http://schemas.microsoft.com/office/drawing/2014/main" id="{CABF0E42-387F-8B4C-9E4F-823E8B8D087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31666021"/>
              </p:ext>
            </p:extLst>
          </p:nvPr>
        </p:nvGraphicFramePr>
        <p:xfrm>
          <a:off x="301752" y="2340864"/>
          <a:ext cx="6446520" cy="3886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7" name="Text 7">
            <a:extLst>
              <a:ext uri="{FF2B5EF4-FFF2-40B4-BE49-F238E27FC236}">
                <a16:creationId xmlns:a16="http://schemas.microsoft.com/office/drawing/2014/main" id="{BA1039E2-83C0-7BB3-39DB-BAF0581CE7A1}"/>
              </a:ext>
            </a:extLst>
          </p:cNvPr>
          <p:cNvSpPr/>
          <p:nvPr/>
        </p:nvSpPr>
        <p:spPr>
          <a:xfrm>
            <a:off x="7187184" y="149047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275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50" dirty="0"/>
          </a:p>
        </p:txBody>
      </p:sp>
      <p:sp>
        <p:nvSpPr>
          <p:cNvPr id="28" name="Shape 8">
            <a:extLst>
              <a:ext uri="{FF2B5EF4-FFF2-40B4-BE49-F238E27FC236}">
                <a16:creationId xmlns:a16="http://schemas.microsoft.com/office/drawing/2014/main" id="{0BD3F133-DC1F-C26A-6346-613673803A85}"/>
              </a:ext>
            </a:extLst>
          </p:cNvPr>
          <p:cNvSpPr/>
          <p:nvPr/>
        </p:nvSpPr>
        <p:spPr>
          <a:xfrm>
            <a:off x="7187184" y="1819656"/>
            <a:ext cx="1307592" cy="749808"/>
          </a:xfrm>
          <a:prstGeom prst="roundRect">
            <a:avLst>
              <a:gd name="adj" fmla="val 10976"/>
            </a:avLst>
          </a:prstGeom>
          <a:solidFill>
            <a:srgbClr val="EEF0FA"/>
          </a:solidFill>
          <a:ln w="12700">
            <a:solidFill>
              <a:srgbClr val="D8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1" descr="preencoded.png">
            <a:extLst>
              <a:ext uri="{FF2B5EF4-FFF2-40B4-BE49-F238E27FC236}">
                <a16:creationId xmlns:a16="http://schemas.microsoft.com/office/drawing/2014/main" id="{6B85D781-2760-DFAB-4511-03491F9ACF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6912" y="1929384"/>
            <a:ext cx="201168" cy="201168"/>
          </a:xfrm>
          <a:prstGeom prst="rect">
            <a:avLst/>
          </a:prstGeom>
        </p:spPr>
      </p:pic>
      <p:sp>
        <p:nvSpPr>
          <p:cNvPr id="30" name="Text 9">
            <a:extLst>
              <a:ext uri="{FF2B5EF4-FFF2-40B4-BE49-F238E27FC236}">
                <a16:creationId xmlns:a16="http://schemas.microsoft.com/office/drawing/2014/main" id="{44D4965A-9CFD-F4C9-4001-7CA9C75502E0}"/>
              </a:ext>
            </a:extLst>
          </p:cNvPr>
          <p:cNvSpPr/>
          <p:nvPr/>
        </p:nvSpPr>
        <p:spPr>
          <a:xfrm>
            <a:off x="7552944" y="1874520"/>
            <a:ext cx="896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</a:t>
            </a:r>
            <a:endParaRPr lang="en-US" sz="1800" dirty="0"/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E9EBC44B-7CDF-1749-1600-B7E89F593B6A}"/>
              </a:ext>
            </a:extLst>
          </p:cNvPr>
          <p:cNvSpPr/>
          <p:nvPr/>
        </p:nvSpPr>
        <p:spPr>
          <a:xfrm>
            <a:off x="7296912" y="2240280"/>
            <a:ext cx="1124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suppliers</a:t>
            </a:r>
            <a:endParaRPr lang="en-US" sz="900" dirty="0"/>
          </a:p>
        </p:txBody>
      </p:sp>
      <p:sp>
        <p:nvSpPr>
          <p:cNvPr id="32" name="Shape 11">
            <a:extLst>
              <a:ext uri="{FF2B5EF4-FFF2-40B4-BE49-F238E27FC236}">
                <a16:creationId xmlns:a16="http://schemas.microsoft.com/office/drawing/2014/main" id="{18CAB0D6-BEF8-02AD-5F7D-9FEAE4BBAF9B}"/>
              </a:ext>
            </a:extLst>
          </p:cNvPr>
          <p:cNvSpPr/>
          <p:nvPr/>
        </p:nvSpPr>
        <p:spPr>
          <a:xfrm>
            <a:off x="8613648" y="1819656"/>
            <a:ext cx="1307592" cy="749808"/>
          </a:xfrm>
          <a:prstGeom prst="roundRect">
            <a:avLst>
              <a:gd name="adj" fmla="val 10976"/>
            </a:avLst>
          </a:prstGeom>
          <a:solidFill>
            <a:srgbClr val="EEF0FA"/>
          </a:solidFill>
          <a:ln w="12700">
            <a:solidFill>
              <a:srgbClr val="D8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12">
            <a:extLst>
              <a:ext uri="{FF2B5EF4-FFF2-40B4-BE49-F238E27FC236}">
                <a16:creationId xmlns:a16="http://schemas.microsoft.com/office/drawing/2014/main" id="{E89BD0D0-22FF-7C1F-482C-D7EA28780264}"/>
              </a:ext>
            </a:extLst>
          </p:cNvPr>
          <p:cNvSpPr/>
          <p:nvPr/>
        </p:nvSpPr>
        <p:spPr>
          <a:xfrm>
            <a:off x="8723376" y="1874520"/>
            <a:ext cx="1152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R$ 49,9 Mi</a:t>
            </a:r>
            <a:endParaRPr lang="en-US" sz="1500" dirty="0"/>
          </a:p>
        </p:txBody>
      </p:sp>
      <p:sp>
        <p:nvSpPr>
          <p:cNvPr id="35" name="Text 13">
            <a:extLst>
              <a:ext uri="{FF2B5EF4-FFF2-40B4-BE49-F238E27FC236}">
                <a16:creationId xmlns:a16="http://schemas.microsoft.com/office/drawing/2014/main" id="{B5BC4FF5-7878-5F52-1164-BEC58462355A}"/>
              </a:ext>
            </a:extLst>
          </p:cNvPr>
          <p:cNvSpPr/>
          <p:nvPr/>
        </p:nvSpPr>
        <p:spPr>
          <a:xfrm>
            <a:off x="8723376" y="2240280"/>
            <a:ext cx="1124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purchases</a:t>
            </a:r>
            <a:endParaRPr lang="en-US" sz="900" dirty="0"/>
          </a:p>
        </p:txBody>
      </p:sp>
      <p:sp>
        <p:nvSpPr>
          <p:cNvPr id="36" name="Shape 14">
            <a:extLst>
              <a:ext uri="{FF2B5EF4-FFF2-40B4-BE49-F238E27FC236}">
                <a16:creationId xmlns:a16="http://schemas.microsoft.com/office/drawing/2014/main" id="{8F50B5E8-56E7-C1F6-5284-A3BABDC1BFF3}"/>
              </a:ext>
            </a:extLst>
          </p:cNvPr>
          <p:cNvSpPr/>
          <p:nvPr/>
        </p:nvSpPr>
        <p:spPr>
          <a:xfrm>
            <a:off x="10040112" y="1819656"/>
            <a:ext cx="1307592" cy="749808"/>
          </a:xfrm>
          <a:prstGeom prst="roundRect">
            <a:avLst>
              <a:gd name="adj" fmla="val 10976"/>
            </a:avLst>
          </a:prstGeom>
          <a:solidFill>
            <a:srgbClr val="EEF0FA"/>
          </a:solidFill>
          <a:ln w="12700">
            <a:solidFill>
              <a:srgbClr val="D8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7" name="Image 3" descr="preencoded.png">
            <a:extLst>
              <a:ext uri="{FF2B5EF4-FFF2-40B4-BE49-F238E27FC236}">
                <a16:creationId xmlns:a16="http://schemas.microsoft.com/office/drawing/2014/main" id="{65F9D488-6620-BF1C-C41C-948E6A1263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0" y="1929384"/>
            <a:ext cx="201168" cy="201168"/>
          </a:xfrm>
          <a:prstGeom prst="rect">
            <a:avLst/>
          </a:prstGeom>
        </p:spPr>
      </p:pic>
      <p:sp>
        <p:nvSpPr>
          <p:cNvPr id="38" name="Text 15">
            <a:extLst>
              <a:ext uri="{FF2B5EF4-FFF2-40B4-BE49-F238E27FC236}">
                <a16:creationId xmlns:a16="http://schemas.microsoft.com/office/drawing/2014/main" id="{0AA84875-A6C5-CBD1-8733-60D9ED3080D9}"/>
              </a:ext>
            </a:extLst>
          </p:cNvPr>
          <p:cNvSpPr/>
          <p:nvPr/>
        </p:nvSpPr>
        <p:spPr>
          <a:xfrm>
            <a:off x="10405872" y="1874520"/>
            <a:ext cx="896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1.208</a:t>
            </a:r>
            <a:endParaRPr lang="en-US" sz="1800" dirty="0"/>
          </a:p>
        </p:txBody>
      </p:sp>
      <p:sp>
        <p:nvSpPr>
          <p:cNvPr id="39" name="Text 16">
            <a:extLst>
              <a:ext uri="{FF2B5EF4-FFF2-40B4-BE49-F238E27FC236}">
                <a16:creationId xmlns:a16="http://schemas.microsoft.com/office/drawing/2014/main" id="{6FCC1B6C-8736-F7DE-D1F7-16A4F57DFF4E}"/>
              </a:ext>
            </a:extLst>
          </p:cNvPr>
          <p:cNvSpPr/>
          <p:nvPr/>
        </p:nvSpPr>
        <p:spPr>
          <a:xfrm>
            <a:off x="10149840" y="2240280"/>
            <a:ext cx="1124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lines</a:t>
            </a:r>
            <a:endParaRPr lang="en-US" sz="900" dirty="0"/>
          </a:p>
        </p:txBody>
      </p:sp>
      <p:sp>
        <p:nvSpPr>
          <p:cNvPr id="40" name="Shape 17">
            <a:extLst>
              <a:ext uri="{FF2B5EF4-FFF2-40B4-BE49-F238E27FC236}">
                <a16:creationId xmlns:a16="http://schemas.microsoft.com/office/drawing/2014/main" id="{8FC625D1-8A0A-8644-8A54-6952039FA733}"/>
              </a:ext>
            </a:extLst>
          </p:cNvPr>
          <p:cNvSpPr/>
          <p:nvPr/>
        </p:nvSpPr>
        <p:spPr>
          <a:xfrm>
            <a:off x="7187184" y="2679192"/>
            <a:ext cx="2011680" cy="749808"/>
          </a:xfrm>
          <a:prstGeom prst="roundRect">
            <a:avLst>
              <a:gd name="adj" fmla="val 10976"/>
            </a:avLst>
          </a:prstGeom>
          <a:solidFill>
            <a:srgbClr val="EEF0FA"/>
          </a:solidFill>
          <a:ln w="12700">
            <a:solidFill>
              <a:srgbClr val="D8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1" name="Image 4" descr="preencoded.png">
            <a:extLst>
              <a:ext uri="{FF2B5EF4-FFF2-40B4-BE49-F238E27FC236}">
                <a16:creationId xmlns:a16="http://schemas.microsoft.com/office/drawing/2014/main" id="{8C0D60E9-ACE6-5C97-75E8-6B26043E56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96912" y="2788920"/>
            <a:ext cx="201168" cy="201168"/>
          </a:xfrm>
          <a:prstGeom prst="rect">
            <a:avLst/>
          </a:prstGeom>
        </p:spPr>
      </p:pic>
      <p:sp>
        <p:nvSpPr>
          <p:cNvPr id="42" name="Text 18">
            <a:extLst>
              <a:ext uri="{FF2B5EF4-FFF2-40B4-BE49-F238E27FC236}">
                <a16:creationId xmlns:a16="http://schemas.microsoft.com/office/drawing/2014/main" id="{12C9A398-4E22-8A28-0F3E-AD8413B87937}"/>
              </a:ext>
            </a:extLst>
          </p:cNvPr>
          <p:cNvSpPr/>
          <p:nvPr/>
        </p:nvSpPr>
        <p:spPr>
          <a:xfrm>
            <a:off x="7552944" y="2734056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</a:t>
            </a:r>
            <a:endParaRPr lang="en-US" sz="1800" dirty="0"/>
          </a:p>
        </p:txBody>
      </p:sp>
      <p:sp>
        <p:nvSpPr>
          <p:cNvPr id="43" name="Text 19">
            <a:extLst>
              <a:ext uri="{FF2B5EF4-FFF2-40B4-BE49-F238E27FC236}">
                <a16:creationId xmlns:a16="http://schemas.microsoft.com/office/drawing/2014/main" id="{80D74336-11F2-6ACE-3D2C-74C13C8DB63F}"/>
              </a:ext>
            </a:extLst>
          </p:cNvPr>
          <p:cNvSpPr/>
          <p:nvPr/>
        </p:nvSpPr>
        <p:spPr>
          <a:xfrm>
            <a:off x="7296912" y="309981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(747 lines)</a:t>
            </a:r>
            <a:endParaRPr lang="en-US" sz="900" dirty="0"/>
          </a:p>
        </p:txBody>
      </p:sp>
      <p:sp>
        <p:nvSpPr>
          <p:cNvPr id="44" name="Shape 20">
            <a:extLst>
              <a:ext uri="{FF2B5EF4-FFF2-40B4-BE49-F238E27FC236}">
                <a16:creationId xmlns:a16="http://schemas.microsoft.com/office/drawing/2014/main" id="{AE0FE2EE-C4CB-3017-E806-B9E300E7F8B3}"/>
              </a:ext>
            </a:extLst>
          </p:cNvPr>
          <p:cNvSpPr/>
          <p:nvPr/>
        </p:nvSpPr>
        <p:spPr>
          <a:xfrm>
            <a:off x="9336024" y="2679192"/>
            <a:ext cx="2011680" cy="749808"/>
          </a:xfrm>
          <a:prstGeom prst="roundRect">
            <a:avLst>
              <a:gd name="adj" fmla="val 10976"/>
            </a:avLst>
          </a:prstGeom>
          <a:solidFill>
            <a:srgbClr val="EEF0FA"/>
          </a:solidFill>
          <a:ln w="12700">
            <a:solidFill>
              <a:srgbClr val="D8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5" name="Image 5" descr="preencoded.png">
            <a:extLst>
              <a:ext uri="{FF2B5EF4-FFF2-40B4-BE49-F238E27FC236}">
                <a16:creationId xmlns:a16="http://schemas.microsoft.com/office/drawing/2014/main" id="{78BAA39A-D57A-DD19-2EEB-26F76105810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45752" y="2788920"/>
            <a:ext cx="201168" cy="201168"/>
          </a:xfrm>
          <a:prstGeom prst="rect">
            <a:avLst/>
          </a:prstGeom>
        </p:spPr>
      </p:pic>
      <p:sp>
        <p:nvSpPr>
          <p:cNvPr id="46" name="Text 21">
            <a:extLst>
              <a:ext uri="{FF2B5EF4-FFF2-40B4-BE49-F238E27FC236}">
                <a16:creationId xmlns:a16="http://schemas.microsoft.com/office/drawing/2014/main" id="{B77B3CA5-4F36-8AD3-CA50-3B9EF40F23A1}"/>
              </a:ext>
            </a:extLst>
          </p:cNvPr>
          <p:cNvSpPr/>
          <p:nvPr/>
        </p:nvSpPr>
        <p:spPr>
          <a:xfrm>
            <a:off x="9701784" y="2734056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9E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+9,5%</a:t>
            </a:r>
            <a:endParaRPr lang="en-US" sz="1800" dirty="0"/>
          </a:p>
        </p:txBody>
      </p:sp>
      <p:sp>
        <p:nvSpPr>
          <p:cNvPr id="47" name="Text 22">
            <a:extLst>
              <a:ext uri="{FF2B5EF4-FFF2-40B4-BE49-F238E27FC236}">
                <a16:creationId xmlns:a16="http://schemas.microsoft.com/office/drawing/2014/main" id="{AEC6CD5E-C3A6-00F8-410A-74899BD71363}"/>
              </a:ext>
            </a:extLst>
          </p:cNvPr>
          <p:cNvSpPr/>
          <p:nvPr/>
        </p:nvSpPr>
        <p:spPr>
          <a:xfrm>
            <a:off x="9445752" y="309981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</a:t>
            </a:r>
            <a:endParaRPr lang="en-US" sz="900" dirty="0"/>
          </a:p>
        </p:txBody>
      </p:sp>
      <p:sp>
        <p:nvSpPr>
          <p:cNvPr id="48" name="Shape 23">
            <a:extLst>
              <a:ext uri="{FF2B5EF4-FFF2-40B4-BE49-F238E27FC236}">
                <a16:creationId xmlns:a16="http://schemas.microsoft.com/office/drawing/2014/main" id="{62494792-1134-0875-16B2-F35D2769BF7C}"/>
              </a:ext>
            </a:extLst>
          </p:cNvPr>
          <p:cNvSpPr/>
          <p:nvPr/>
        </p:nvSpPr>
        <p:spPr>
          <a:xfrm>
            <a:off x="7187184" y="3557016"/>
            <a:ext cx="4160520" cy="896112"/>
          </a:xfrm>
          <a:prstGeom prst="roundRect">
            <a:avLst>
              <a:gd name="adj" fmla="val 9184"/>
            </a:avLst>
          </a:prstGeom>
          <a:solidFill>
            <a:srgbClr val="E8EBF8"/>
          </a:solidFill>
          <a:ln w="12700">
            <a:solidFill>
              <a:srgbClr val="D8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24">
            <a:extLst>
              <a:ext uri="{FF2B5EF4-FFF2-40B4-BE49-F238E27FC236}">
                <a16:creationId xmlns:a16="http://schemas.microsoft.com/office/drawing/2014/main" id="{469069E0-0581-D899-D52A-9FB27D55B4D7}"/>
              </a:ext>
            </a:extLst>
          </p:cNvPr>
          <p:cNvSpPr/>
          <p:nvPr/>
        </p:nvSpPr>
        <p:spPr>
          <a:xfrm>
            <a:off x="7324344" y="3630168"/>
            <a:ext cx="38862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RULE — </a:t>
            </a: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suppliers (Class A) concentrate 80.6% of spend. Largest maintenance basket — focus on standardized service contracts and demand management.</a:t>
            </a:r>
            <a:endParaRPr lang="en-US" sz="1000" dirty="0"/>
          </a:p>
        </p:txBody>
      </p:sp>
      <p:sp>
        <p:nvSpPr>
          <p:cNvPr id="50" name="Text 25">
            <a:extLst>
              <a:ext uri="{FF2B5EF4-FFF2-40B4-BE49-F238E27FC236}">
                <a16:creationId xmlns:a16="http://schemas.microsoft.com/office/drawing/2014/main" id="{BC2C36B2-26FA-7367-18A2-154FE9349DD3}"/>
              </a:ext>
            </a:extLst>
          </p:cNvPr>
          <p:cNvSpPr/>
          <p:nvPr/>
        </p:nvSpPr>
        <p:spPr>
          <a:xfrm>
            <a:off x="7187184" y="4581144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275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PLAN</a:t>
            </a:r>
            <a:endParaRPr lang="en-US" sz="1150" dirty="0"/>
          </a:p>
        </p:txBody>
      </p:sp>
      <p:sp>
        <p:nvSpPr>
          <p:cNvPr id="51" name="Shape 26">
            <a:extLst>
              <a:ext uri="{FF2B5EF4-FFF2-40B4-BE49-F238E27FC236}">
                <a16:creationId xmlns:a16="http://schemas.microsoft.com/office/drawing/2014/main" id="{C054FEAE-D35D-7EB7-BCEF-47D7261736DB}"/>
              </a:ext>
            </a:extLst>
          </p:cNvPr>
          <p:cNvSpPr/>
          <p:nvPr/>
        </p:nvSpPr>
        <p:spPr>
          <a:xfrm>
            <a:off x="7187184" y="4892040"/>
            <a:ext cx="274320" cy="274320"/>
          </a:xfrm>
          <a:prstGeom prst="ellipse">
            <a:avLst/>
          </a:prstGeom>
          <a:solidFill>
            <a:srgbClr val="27509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27">
            <a:extLst>
              <a:ext uri="{FF2B5EF4-FFF2-40B4-BE49-F238E27FC236}">
                <a16:creationId xmlns:a16="http://schemas.microsoft.com/office/drawing/2014/main" id="{40B7D7A5-4331-A60F-27AE-4AFED13F5A26}"/>
              </a:ext>
            </a:extLst>
          </p:cNvPr>
          <p:cNvSpPr/>
          <p:nvPr/>
        </p:nvSpPr>
        <p:spPr>
          <a:xfrm>
            <a:off x="7187184" y="4892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53" name="Text 28">
            <a:extLst>
              <a:ext uri="{FF2B5EF4-FFF2-40B4-BE49-F238E27FC236}">
                <a16:creationId xmlns:a16="http://schemas.microsoft.com/office/drawing/2014/main" id="{4056D629-C18A-4BFA-54E4-1FF46FCB6ACC}"/>
              </a:ext>
            </a:extLst>
          </p:cNvPr>
          <p:cNvSpPr/>
          <p:nvPr/>
        </p:nvSpPr>
        <p:spPr>
          <a:xfrm>
            <a:off x="7571232" y="4855464"/>
            <a:ext cx="3776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 Frame Agreements — </a:t>
            </a: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Negotiate terms with Supplier A, Supplier G and Supplier H.</a:t>
            </a:r>
            <a:endParaRPr lang="en-US" sz="950" dirty="0"/>
          </a:p>
        </p:txBody>
      </p:sp>
      <p:sp>
        <p:nvSpPr>
          <p:cNvPr id="54" name="Shape 29">
            <a:extLst>
              <a:ext uri="{FF2B5EF4-FFF2-40B4-BE49-F238E27FC236}">
                <a16:creationId xmlns:a16="http://schemas.microsoft.com/office/drawing/2014/main" id="{08AF51B3-D47D-AFB0-2941-A9A340B011A8}"/>
              </a:ext>
            </a:extLst>
          </p:cNvPr>
          <p:cNvSpPr/>
          <p:nvPr/>
        </p:nvSpPr>
        <p:spPr>
          <a:xfrm>
            <a:off x="7187184" y="5367528"/>
            <a:ext cx="274320" cy="274320"/>
          </a:xfrm>
          <a:prstGeom prst="ellipse">
            <a:avLst/>
          </a:prstGeom>
          <a:solidFill>
            <a:srgbClr val="27509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30">
            <a:extLst>
              <a:ext uri="{FF2B5EF4-FFF2-40B4-BE49-F238E27FC236}">
                <a16:creationId xmlns:a16="http://schemas.microsoft.com/office/drawing/2014/main" id="{4D4B2092-F1CB-A18E-4634-33B4FC87C958}"/>
              </a:ext>
            </a:extLst>
          </p:cNvPr>
          <p:cNvSpPr/>
          <p:nvPr/>
        </p:nvSpPr>
        <p:spPr>
          <a:xfrm>
            <a:off x="7187184" y="5367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56" name="Text 31">
            <a:extLst>
              <a:ext uri="{FF2B5EF4-FFF2-40B4-BE49-F238E27FC236}">
                <a16:creationId xmlns:a16="http://schemas.microsoft.com/office/drawing/2014/main" id="{115ABA9F-C308-4756-FF87-58A8D9EFFA30}"/>
              </a:ext>
            </a:extLst>
          </p:cNvPr>
          <p:cNvSpPr/>
          <p:nvPr/>
        </p:nvSpPr>
        <p:spPr>
          <a:xfrm>
            <a:off x="7571232" y="5330952"/>
            <a:ext cx="3776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Management — </a:t>
            </a: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scopes and SLAs (62% of the family is services) to sustain the +9.5% YoY growth.</a:t>
            </a:r>
            <a:endParaRPr lang="en-US" sz="950" dirty="0"/>
          </a:p>
        </p:txBody>
      </p:sp>
      <p:sp>
        <p:nvSpPr>
          <p:cNvPr id="57" name="Shape 32">
            <a:extLst>
              <a:ext uri="{FF2B5EF4-FFF2-40B4-BE49-F238E27FC236}">
                <a16:creationId xmlns:a16="http://schemas.microsoft.com/office/drawing/2014/main" id="{2547E57D-B761-D6DF-35B1-C0BB431D4946}"/>
              </a:ext>
            </a:extLst>
          </p:cNvPr>
          <p:cNvSpPr/>
          <p:nvPr/>
        </p:nvSpPr>
        <p:spPr>
          <a:xfrm>
            <a:off x="7187184" y="5843016"/>
            <a:ext cx="274320" cy="274320"/>
          </a:xfrm>
          <a:prstGeom prst="ellipse">
            <a:avLst/>
          </a:prstGeom>
          <a:solidFill>
            <a:srgbClr val="27509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33">
            <a:extLst>
              <a:ext uri="{FF2B5EF4-FFF2-40B4-BE49-F238E27FC236}">
                <a16:creationId xmlns:a16="http://schemas.microsoft.com/office/drawing/2014/main" id="{BA635DC9-3F7A-4D8F-9248-AE8A80DCDFB2}"/>
              </a:ext>
            </a:extLst>
          </p:cNvPr>
          <p:cNvSpPr/>
          <p:nvPr/>
        </p:nvSpPr>
        <p:spPr>
          <a:xfrm>
            <a:off x="7187184" y="58430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59" name="Text 34">
            <a:extLst>
              <a:ext uri="{FF2B5EF4-FFF2-40B4-BE49-F238E27FC236}">
                <a16:creationId xmlns:a16="http://schemas.microsoft.com/office/drawing/2014/main" id="{74B65B2F-352A-AD40-B986-3EB005E0ABA8}"/>
              </a:ext>
            </a:extLst>
          </p:cNvPr>
          <p:cNvSpPr/>
          <p:nvPr/>
        </p:nvSpPr>
        <p:spPr>
          <a:xfrm>
            <a:off x="7571232" y="5806440"/>
            <a:ext cx="3776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 Consolidation — </a:t>
            </a: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118 suppliers outside the Top 10 — group similar demands and reduce fragmentation.</a:t>
            </a:r>
            <a:endParaRPr lang="en-US" sz="950" dirty="0"/>
          </a:p>
        </p:txBody>
      </p:sp>
      <p:sp>
        <p:nvSpPr>
          <p:cNvPr id="65" name="Text 40">
            <a:extLst>
              <a:ext uri="{FF2B5EF4-FFF2-40B4-BE49-F238E27FC236}">
                <a16:creationId xmlns:a16="http://schemas.microsoft.com/office/drawing/2014/main" id="{BC4B4A0E-8BAD-4D0F-3AD1-A002B63F60DA}"/>
              </a:ext>
            </a:extLst>
          </p:cNvPr>
          <p:cNvSpPr/>
          <p:nvPr/>
        </p:nvSpPr>
        <p:spPr>
          <a:xfrm>
            <a:off x="95415" y="6402788"/>
            <a:ext cx="6812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Detailed Standard PO Analysis (internal analytics, internal base) — 1,208 Family 2 lines · extraction Oct 6, 2026.</a:t>
            </a:r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41811580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 2">
            <a:extLst>
              <a:ext uri="{FF2B5EF4-FFF2-40B4-BE49-F238E27FC236}">
                <a16:creationId xmlns:a16="http://schemas.microsoft.com/office/drawing/2014/main" id="{DDD30998-D016-66F1-BBDB-F244AFACB61F}"/>
              </a:ext>
            </a:extLst>
          </p:cNvPr>
          <p:cNvSpPr/>
          <p:nvPr/>
        </p:nvSpPr>
        <p:spPr>
          <a:xfrm>
            <a:off x="148162" y="795528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Pareto Analysis — Suppliers of Family </a:t>
            </a:r>
            <a:r>
              <a:rPr lang="en-US" sz="28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Family 3</a:t>
            </a:r>
            <a:endParaRPr lang="en-US" sz="2800" dirty="0"/>
          </a:p>
        </p:txBody>
      </p:sp>
      <p:sp>
        <p:nvSpPr>
          <p:cNvPr id="54" name="Shape 3">
            <a:extLst>
              <a:ext uri="{FF2B5EF4-FFF2-40B4-BE49-F238E27FC236}">
                <a16:creationId xmlns:a16="http://schemas.microsoft.com/office/drawing/2014/main" id="{63E3B1F2-F51C-B626-841B-48E69827F8C4}"/>
              </a:ext>
            </a:extLst>
          </p:cNvPr>
          <p:cNvSpPr/>
          <p:nvPr/>
        </p:nvSpPr>
        <p:spPr>
          <a:xfrm>
            <a:off x="148162" y="1325880"/>
            <a:ext cx="4709160" cy="365760"/>
          </a:xfrm>
          <a:prstGeom prst="roundRect">
            <a:avLst>
              <a:gd name="adj" fmla="val 50000"/>
            </a:avLst>
          </a:prstGeom>
          <a:solidFill>
            <a:srgbClr val="27509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4">
            <a:extLst>
              <a:ext uri="{FF2B5EF4-FFF2-40B4-BE49-F238E27FC236}">
                <a16:creationId xmlns:a16="http://schemas.microsoft.com/office/drawing/2014/main" id="{C3172F96-8ADF-470E-DB47-057DF37DE3B0}"/>
              </a:ext>
            </a:extLst>
          </p:cNvPr>
          <p:cNvSpPr/>
          <p:nvPr/>
        </p:nvSpPr>
        <p:spPr>
          <a:xfrm>
            <a:off x="0" y="1308387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 · 57 SUPPLIERS · 80.3% OF SPEND</a:t>
            </a:r>
            <a:endParaRPr lang="en-US" sz="1150" dirty="0"/>
          </a:p>
        </p:txBody>
      </p:sp>
      <p:sp>
        <p:nvSpPr>
          <p:cNvPr id="58" name="Shape 5">
            <a:extLst>
              <a:ext uri="{FF2B5EF4-FFF2-40B4-BE49-F238E27FC236}">
                <a16:creationId xmlns:a16="http://schemas.microsoft.com/office/drawing/2014/main" id="{C3B4530C-3E90-F9CA-55D2-CA5FB80A38DF}"/>
              </a:ext>
            </a:extLst>
          </p:cNvPr>
          <p:cNvSpPr/>
          <p:nvPr/>
        </p:nvSpPr>
        <p:spPr>
          <a:xfrm>
            <a:off x="68649" y="1750145"/>
            <a:ext cx="6812280" cy="4498848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94A3B8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0" name="Text 6">
            <a:extLst>
              <a:ext uri="{FF2B5EF4-FFF2-40B4-BE49-F238E27FC236}">
                <a16:creationId xmlns:a16="http://schemas.microsoft.com/office/drawing/2014/main" id="{C4D5DFD1-BA59-9D33-FF7C-74CF8FAF48B0}"/>
              </a:ext>
            </a:extLst>
          </p:cNvPr>
          <p:cNvSpPr/>
          <p:nvPr/>
        </p:nvSpPr>
        <p:spPr>
          <a:xfrm>
            <a:off x="297249" y="1878161"/>
            <a:ext cx="6355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by supplier (R$ K) × cumulative % — Pareto / ABC Curve</a:t>
            </a:r>
            <a:endParaRPr lang="en-US" sz="1150" dirty="0"/>
          </a:p>
        </p:txBody>
      </p:sp>
      <p:graphicFrame>
        <p:nvGraphicFramePr>
          <p:cNvPr id="62" name="Chart 0">
            <a:extLst>
              <a:ext uri="{FF2B5EF4-FFF2-40B4-BE49-F238E27FC236}">
                <a16:creationId xmlns:a16="http://schemas.microsoft.com/office/drawing/2014/main" id="{37F074BB-3BC2-12B9-8BD5-BC6B1F92BC6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04790035"/>
              </p:ext>
            </p:extLst>
          </p:nvPr>
        </p:nvGraphicFramePr>
        <p:xfrm>
          <a:off x="251529" y="2189057"/>
          <a:ext cx="6446520" cy="3886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4" name="Text 7">
            <a:extLst>
              <a:ext uri="{FF2B5EF4-FFF2-40B4-BE49-F238E27FC236}">
                <a16:creationId xmlns:a16="http://schemas.microsoft.com/office/drawing/2014/main" id="{AC920997-41A7-D72C-A41B-802FF226A87C}"/>
              </a:ext>
            </a:extLst>
          </p:cNvPr>
          <p:cNvSpPr/>
          <p:nvPr/>
        </p:nvSpPr>
        <p:spPr>
          <a:xfrm>
            <a:off x="7347800" y="1438579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275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50" dirty="0"/>
          </a:p>
        </p:txBody>
      </p:sp>
      <p:sp>
        <p:nvSpPr>
          <p:cNvPr id="66" name="Shape 8">
            <a:extLst>
              <a:ext uri="{FF2B5EF4-FFF2-40B4-BE49-F238E27FC236}">
                <a16:creationId xmlns:a16="http://schemas.microsoft.com/office/drawing/2014/main" id="{22124EEB-3175-5DCF-979D-6F79A4AC780C}"/>
              </a:ext>
            </a:extLst>
          </p:cNvPr>
          <p:cNvSpPr/>
          <p:nvPr/>
        </p:nvSpPr>
        <p:spPr>
          <a:xfrm>
            <a:off x="7347800" y="1767763"/>
            <a:ext cx="1307592" cy="749808"/>
          </a:xfrm>
          <a:prstGeom prst="roundRect">
            <a:avLst>
              <a:gd name="adj" fmla="val 10976"/>
            </a:avLst>
          </a:prstGeom>
          <a:solidFill>
            <a:srgbClr val="EEF0FA"/>
          </a:solidFill>
          <a:ln w="12700">
            <a:solidFill>
              <a:srgbClr val="D8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8" name="Image 1" descr="preencoded.png">
            <a:extLst>
              <a:ext uri="{FF2B5EF4-FFF2-40B4-BE49-F238E27FC236}">
                <a16:creationId xmlns:a16="http://schemas.microsoft.com/office/drawing/2014/main" id="{55E8FEA0-36B7-D103-100E-F5A35A58A9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7528" y="1877491"/>
            <a:ext cx="201168" cy="201168"/>
          </a:xfrm>
          <a:prstGeom prst="rect">
            <a:avLst/>
          </a:prstGeom>
        </p:spPr>
      </p:pic>
      <p:sp>
        <p:nvSpPr>
          <p:cNvPr id="70" name="Text 9">
            <a:extLst>
              <a:ext uri="{FF2B5EF4-FFF2-40B4-BE49-F238E27FC236}">
                <a16:creationId xmlns:a16="http://schemas.microsoft.com/office/drawing/2014/main" id="{AD7D05EE-B050-BE36-88EF-45532F3BFAC1}"/>
              </a:ext>
            </a:extLst>
          </p:cNvPr>
          <p:cNvSpPr/>
          <p:nvPr/>
        </p:nvSpPr>
        <p:spPr>
          <a:xfrm>
            <a:off x="7713560" y="1822627"/>
            <a:ext cx="896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328</a:t>
            </a:r>
            <a:endParaRPr lang="en-US" sz="1800" dirty="0"/>
          </a:p>
        </p:txBody>
      </p:sp>
      <p:sp>
        <p:nvSpPr>
          <p:cNvPr id="72" name="Text 10">
            <a:extLst>
              <a:ext uri="{FF2B5EF4-FFF2-40B4-BE49-F238E27FC236}">
                <a16:creationId xmlns:a16="http://schemas.microsoft.com/office/drawing/2014/main" id="{8ADCD0EC-6525-E20A-4B75-5922C94E65F1}"/>
              </a:ext>
            </a:extLst>
          </p:cNvPr>
          <p:cNvSpPr/>
          <p:nvPr/>
        </p:nvSpPr>
        <p:spPr>
          <a:xfrm>
            <a:off x="7457528" y="2188387"/>
            <a:ext cx="1124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suppliers</a:t>
            </a:r>
            <a:endParaRPr lang="en-US" sz="900" dirty="0"/>
          </a:p>
        </p:txBody>
      </p:sp>
      <p:sp>
        <p:nvSpPr>
          <p:cNvPr id="74" name="Shape 11">
            <a:extLst>
              <a:ext uri="{FF2B5EF4-FFF2-40B4-BE49-F238E27FC236}">
                <a16:creationId xmlns:a16="http://schemas.microsoft.com/office/drawing/2014/main" id="{54908BF8-46E9-4B02-0EA4-42B3A9D00AA5}"/>
              </a:ext>
            </a:extLst>
          </p:cNvPr>
          <p:cNvSpPr/>
          <p:nvPr/>
        </p:nvSpPr>
        <p:spPr>
          <a:xfrm>
            <a:off x="8774264" y="1767763"/>
            <a:ext cx="1307592" cy="749808"/>
          </a:xfrm>
          <a:prstGeom prst="roundRect">
            <a:avLst>
              <a:gd name="adj" fmla="val 10976"/>
            </a:avLst>
          </a:prstGeom>
          <a:solidFill>
            <a:srgbClr val="EEF0FA"/>
          </a:solidFill>
          <a:ln w="12700">
            <a:solidFill>
              <a:srgbClr val="D8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12">
            <a:extLst>
              <a:ext uri="{FF2B5EF4-FFF2-40B4-BE49-F238E27FC236}">
                <a16:creationId xmlns:a16="http://schemas.microsoft.com/office/drawing/2014/main" id="{83C7E42F-EE60-B6F3-64E1-22E1238FF662}"/>
              </a:ext>
            </a:extLst>
          </p:cNvPr>
          <p:cNvSpPr/>
          <p:nvPr/>
        </p:nvSpPr>
        <p:spPr>
          <a:xfrm>
            <a:off x="8902678" y="1840915"/>
            <a:ext cx="1060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R$ 89,3 Mi</a:t>
            </a:r>
            <a:endParaRPr lang="en-US" sz="1500" dirty="0"/>
          </a:p>
        </p:txBody>
      </p:sp>
      <p:sp>
        <p:nvSpPr>
          <p:cNvPr id="80" name="Text 13">
            <a:extLst>
              <a:ext uri="{FF2B5EF4-FFF2-40B4-BE49-F238E27FC236}">
                <a16:creationId xmlns:a16="http://schemas.microsoft.com/office/drawing/2014/main" id="{91A25597-7B61-FC35-5A41-2B3A7FBB4A99}"/>
              </a:ext>
            </a:extLst>
          </p:cNvPr>
          <p:cNvSpPr/>
          <p:nvPr/>
        </p:nvSpPr>
        <p:spPr>
          <a:xfrm>
            <a:off x="8883992" y="2188387"/>
            <a:ext cx="1124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purchases</a:t>
            </a:r>
            <a:endParaRPr lang="en-US" sz="900" dirty="0"/>
          </a:p>
        </p:txBody>
      </p:sp>
      <p:sp>
        <p:nvSpPr>
          <p:cNvPr id="82" name="Shape 14">
            <a:extLst>
              <a:ext uri="{FF2B5EF4-FFF2-40B4-BE49-F238E27FC236}">
                <a16:creationId xmlns:a16="http://schemas.microsoft.com/office/drawing/2014/main" id="{97F9ED74-B55C-B292-85A7-C5DCAD01B1BC}"/>
              </a:ext>
            </a:extLst>
          </p:cNvPr>
          <p:cNvSpPr/>
          <p:nvPr/>
        </p:nvSpPr>
        <p:spPr>
          <a:xfrm>
            <a:off x="10200728" y="1767763"/>
            <a:ext cx="1307592" cy="749808"/>
          </a:xfrm>
          <a:prstGeom prst="roundRect">
            <a:avLst>
              <a:gd name="adj" fmla="val 10976"/>
            </a:avLst>
          </a:prstGeom>
          <a:solidFill>
            <a:srgbClr val="EEF0FA"/>
          </a:solidFill>
          <a:ln w="12700">
            <a:solidFill>
              <a:srgbClr val="D8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4" name="Image 3" descr="preencoded.png">
            <a:extLst>
              <a:ext uri="{FF2B5EF4-FFF2-40B4-BE49-F238E27FC236}">
                <a16:creationId xmlns:a16="http://schemas.microsoft.com/office/drawing/2014/main" id="{16643611-521E-86A4-2C0B-AC9BE20CC7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10456" y="1877491"/>
            <a:ext cx="201168" cy="201168"/>
          </a:xfrm>
          <a:prstGeom prst="rect">
            <a:avLst/>
          </a:prstGeom>
        </p:spPr>
      </p:pic>
      <p:sp>
        <p:nvSpPr>
          <p:cNvPr id="86" name="Text 15">
            <a:extLst>
              <a:ext uri="{FF2B5EF4-FFF2-40B4-BE49-F238E27FC236}">
                <a16:creationId xmlns:a16="http://schemas.microsoft.com/office/drawing/2014/main" id="{913C409E-E2FA-2A74-D7CE-DA54AFACED9E}"/>
              </a:ext>
            </a:extLst>
          </p:cNvPr>
          <p:cNvSpPr/>
          <p:nvPr/>
        </p:nvSpPr>
        <p:spPr>
          <a:xfrm>
            <a:off x="10566488" y="1822627"/>
            <a:ext cx="8961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2.741</a:t>
            </a:r>
            <a:endParaRPr lang="en-US" sz="1800" dirty="0"/>
          </a:p>
        </p:txBody>
      </p:sp>
      <p:sp>
        <p:nvSpPr>
          <p:cNvPr id="88" name="Text 16">
            <a:extLst>
              <a:ext uri="{FF2B5EF4-FFF2-40B4-BE49-F238E27FC236}">
                <a16:creationId xmlns:a16="http://schemas.microsoft.com/office/drawing/2014/main" id="{78BA226C-F835-35AD-D91A-956884B72E44}"/>
              </a:ext>
            </a:extLst>
          </p:cNvPr>
          <p:cNvSpPr/>
          <p:nvPr/>
        </p:nvSpPr>
        <p:spPr>
          <a:xfrm>
            <a:off x="10310456" y="2188387"/>
            <a:ext cx="1124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lines</a:t>
            </a:r>
            <a:endParaRPr lang="en-US" sz="900" dirty="0"/>
          </a:p>
        </p:txBody>
      </p:sp>
      <p:sp>
        <p:nvSpPr>
          <p:cNvPr id="90" name="Shape 17">
            <a:extLst>
              <a:ext uri="{FF2B5EF4-FFF2-40B4-BE49-F238E27FC236}">
                <a16:creationId xmlns:a16="http://schemas.microsoft.com/office/drawing/2014/main" id="{D58E6BA0-91FC-C314-1871-EBC1D08DB557}"/>
              </a:ext>
            </a:extLst>
          </p:cNvPr>
          <p:cNvSpPr/>
          <p:nvPr/>
        </p:nvSpPr>
        <p:spPr>
          <a:xfrm>
            <a:off x="7347800" y="2627299"/>
            <a:ext cx="2011680" cy="749808"/>
          </a:xfrm>
          <a:prstGeom prst="roundRect">
            <a:avLst>
              <a:gd name="adj" fmla="val 10976"/>
            </a:avLst>
          </a:prstGeom>
          <a:solidFill>
            <a:srgbClr val="EEF0FA"/>
          </a:solidFill>
          <a:ln w="12700">
            <a:solidFill>
              <a:srgbClr val="D8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2" name="Image 4" descr="preencoded.png">
            <a:extLst>
              <a:ext uri="{FF2B5EF4-FFF2-40B4-BE49-F238E27FC236}">
                <a16:creationId xmlns:a16="http://schemas.microsoft.com/office/drawing/2014/main" id="{3E24D752-0FD4-769E-BA75-F653D044E0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7528" y="2737027"/>
            <a:ext cx="201168" cy="201168"/>
          </a:xfrm>
          <a:prstGeom prst="rect">
            <a:avLst/>
          </a:prstGeom>
        </p:spPr>
      </p:pic>
      <p:sp>
        <p:nvSpPr>
          <p:cNvPr id="94" name="Text 18">
            <a:extLst>
              <a:ext uri="{FF2B5EF4-FFF2-40B4-BE49-F238E27FC236}">
                <a16:creationId xmlns:a16="http://schemas.microsoft.com/office/drawing/2014/main" id="{93BF4F2A-AA26-883E-3418-00AC76F8896B}"/>
              </a:ext>
            </a:extLst>
          </p:cNvPr>
          <p:cNvSpPr/>
          <p:nvPr/>
        </p:nvSpPr>
        <p:spPr>
          <a:xfrm>
            <a:off x="7713560" y="2682163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79%</a:t>
            </a:r>
            <a:endParaRPr lang="en-US" sz="1800" dirty="0"/>
          </a:p>
        </p:txBody>
      </p:sp>
      <p:sp>
        <p:nvSpPr>
          <p:cNvPr id="96" name="Text 19">
            <a:extLst>
              <a:ext uri="{FF2B5EF4-FFF2-40B4-BE49-F238E27FC236}">
                <a16:creationId xmlns:a16="http://schemas.microsoft.com/office/drawing/2014/main" id="{4B918AA8-E5BE-A564-3F1C-B49EBC604171}"/>
              </a:ext>
            </a:extLst>
          </p:cNvPr>
          <p:cNvSpPr/>
          <p:nvPr/>
        </p:nvSpPr>
        <p:spPr>
          <a:xfrm>
            <a:off x="7457528" y="3047923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(2,171 lines)</a:t>
            </a:r>
            <a:endParaRPr lang="en-US" sz="900" dirty="0"/>
          </a:p>
        </p:txBody>
      </p:sp>
      <p:sp>
        <p:nvSpPr>
          <p:cNvPr id="98" name="Shape 20">
            <a:extLst>
              <a:ext uri="{FF2B5EF4-FFF2-40B4-BE49-F238E27FC236}">
                <a16:creationId xmlns:a16="http://schemas.microsoft.com/office/drawing/2014/main" id="{2ECDCD39-882D-EC98-3897-5FEC725AEF23}"/>
              </a:ext>
            </a:extLst>
          </p:cNvPr>
          <p:cNvSpPr/>
          <p:nvPr/>
        </p:nvSpPr>
        <p:spPr>
          <a:xfrm>
            <a:off x="9496640" y="2627299"/>
            <a:ext cx="2011680" cy="749808"/>
          </a:xfrm>
          <a:prstGeom prst="roundRect">
            <a:avLst>
              <a:gd name="adj" fmla="val 10976"/>
            </a:avLst>
          </a:prstGeom>
          <a:solidFill>
            <a:srgbClr val="EEF0FA"/>
          </a:solidFill>
          <a:ln w="12700">
            <a:solidFill>
              <a:srgbClr val="D8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0" name="Image 5" descr="preencoded.png">
            <a:extLst>
              <a:ext uri="{FF2B5EF4-FFF2-40B4-BE49-F238E27FC236}">
                <a16:creationId xmlns:a16="http://schemas.microsoft.com/office/drawing/2014/main" id="{5CF39486-7290-419E-E86B-57A4A677CB7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6368" y="2737027"/>
            <a:ext cx="201168" cy="201168"/>
          </a:xfrm>
          <a:prstGeom prst="rect">
            <a:avLst/>
          </a:prstGeom>
        </p:spPr>
      </p:pic>
      <p:sp>
        <p:nvSpPr>
          <p:cNvPr id="102" name="Text 21">
            <a:extLst>
              <a:ext uri="{FF2B5EF4-FFF2-40B4-BE49-F238E27FC236}">
                <a16:creationId xmlns:a16="http://schemas.microsoft.com/office/drawing/2014/main" id="{4C0159B8-6449-D7B0-E767-55DF57244DF4}"/>
              </a:ext>
            </a:extLst>
          </p:cNvPr>
          <p:cNvSpPr/>
          <p:nvPr/>
        </p:nvSpPr>
        <p:spPr>
          <a:xfrm>
            <a:off x="9862400" y="2682163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-31,9%</a:t>
            </a:r>
            <a:endParaRPr lang="en-US" sz="1500" dirty="0"/>
          </a:p>
        </p:txBody>
      </p:sp>
      <p:sp>
        <p:nvSpPr>
          <p:cNvPr id="104" name="Text 22">
            <a:extLst>
              <a:ext uri="{FF2B5EF4-FFF2-40B4-BE49-F238E27FC236}">
                <a16:creationId xmlns:a16="http://schemas.microsoft.com/office/drawing/2014/main" id="{04DDA035-3ACD-D6A2-B7BC-BB83C9108F8B}"/>
              </a:ext>
            </a:extLst>
          </p:cNvPr>
          <p:cNvSpPr/>
          <p:nvPr/>
        </p:nvSpPr>
        <p:spPr>
          <a:xfrm>
            <a:off x="9606368" y="3047923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</a:t>
            </a:r>
            <a:endParaRPr lang="en-US" sz="900" dirty="0"/>
          </a:p>
        </p:txBody>
      </p:sp>
      <p:sp>
        <p:nvSpPr>
          <p:cNvPr id="106" name="Shape 23">
            <a:extLst>
              <a:ext uri="{FF2B5EF4-FFF2-40B4-BE49-F238E27FC236}">
                <a16:creationId xmlns:a16="http://schemas.microsoft.com/office/drawing/2014/main" id="{5545C26F-A197-A090-6C97-548F2DB6A2FF}"/>
              </a:ext>
            </a:extLst>
          </p:cNvPr>
          <p:cNvSpPr/>
          <p:nvPr/>
        </p:nvSpPr>
        <p:spPr>
          <a:xfrm>
            <a:off x="7347800" y="3505123"/>
            <a:ext cx="4160520" cy="896112"/>
          </a:xfrm>
          <a:prstGeom prst="roundRect">
            <a:avLst>
              <a:gd name="adj" fmla="val 9184"/>
            </a:avLst>
          </a:prstGeom>
          <a:solidFill>
            <a:srgbClr val="E8EBF8"/>
          </a:solidFill>
          <a:ln w="12700">
            <a:solidFill>
              <a:srgbClr val="D8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Text 24">
            <a:extLst>
              <a:ext uri="{FF2B5EF4-FFF2-40B4-BE49-F238E27FC236}">
                <a16:creationId xmlns:a16="http://schemas.microsoft.com/office/drawing/2014/main" id="{7758A925-A200-D5F6-CA84-935FBBD43217}"/>
              </a:ext>
            </a:extLst>
          </p:cNvPr>
          <p:cNvSpPr/>
          <p:nvPr/>
        </p:nvSpPr>
        <p:spPr>
          <a:xfrm>
            <a:off x="7484960" y="3578275"/>
            <a:ext cx="38862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WEAKENED 80/20 RULE — </a:t>
            </a: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 suppliers (Class A) are needed to reach 80.3% of spend — the most fragmented tail of the 3 families. Largest volume, least leverage per supplier.</a:t>
            </a:r>
            <a:endParaRPr lang="en-US" sz="1000" dirty="0"/>
          </a:p>
        </p:txBody>
      </p:sp>
      <p:sp>
        <p:nvSpPr>
          <p:cNvPr id="110" name="Text 25">
            <a:extLst>
              <a:ext uri="{FF2B5EF4-FFF2-40B4-BE49-F238E27FC236}">
                <a16:creationId xmlns:a16="http://schemas.microsoft.com/office/drawing/2014/main" id="{2F9AB24B-D706-A9D9-256A-9016ACD996A1}"/>
              </a:ext>
            </a:extLst>
          </p:cNvPr>
          <p:cNvSpPr/>
          <p:nvPr/>
        </p:nvSpPr>
        <p:spPr>
          <a:xfrm>
            <a:off x="7347800" y="4529251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275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PLAN</a:t>
            </a:r>
            <a:endParaRPr lang="en-US" sz="1150" dirty="0"/>
          </a:p>
        </p:txBody>
      </p:sp>
      <p:sp>
        <p:nvSpPr>
          <p:cNvPr id="112" name="Shape 26">
            <a:extLst>
              <a:ext uri="{FF2B5EF4-FFF2-40B4-BE49-F238E27FC236}">
                <a16:creationId xmlns:a16="http://schemas.microsoft.com/office/drawing/2014/main" id="{B2638A4D-0FBC-9286-A7C7-A002CBB4B935}"/>
              </a:ext>
            </a:extLst>
          </p:cNvPr>
          <p:cNvSpPr/>
          <p:nvPr/>
        </p:nvSpPr>
        <p:spPr>
          <a:xfrm>
            <a:off x="7347800" y="4840147"/>
            <a:ext cx="274320" cy="274320"/>
          </a:xfrm>
          <a:prstGeom prst="ellipse">
            <a:avLst/>
          </a:prstGeom>
          <a:solidFill>
            <a:srgbClr val="27509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4" name="Text 27">
            <a:extLst>
              <a:ext uri="{FF2B5EF4-FFF2-40B4-BE49-F238E27FC236}">
                <a16:creationId xmlns:a16="http://schemas.microsoft.com/office/drawing/2014/main" id="{BF13C88F-0E51-4F56-FAA4-EA386FA57BC2}"/>
              </a:ext>
            </a:extLst>
          </p:cNvPr>
          <p:cNvSpPr/>
          <p:nvPr/>
        </p:nvSpPr>
        <p:spPr>
          <a:xfrm>
            <a:off x="7347800" y="484014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16" name="Text 28">
            <a:extLst>
              <a:ext uri="{FF2B5EF4-FFF2-40B4-BE49-F238E27FC236}">
                <a16:creationId xmlns:a16="http://schemas.microsoft.com/office/drawing/2014/main" id="{B1643C8B-195B-6099-DB0F-46DD50A70A4C}"/>
              </a:ext>
            </a:extLst>
          </p:cNvPr>
          <p:cNvSpPr/>
          <p:nvPr/>
        </p:nvSpPr>
        <p:spPr>
          <a:xfrm>
            <a:off x="7731848" y="4803571"/>
            <a:ext cx="3776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 Frame Agreements — </a:t>
            </a: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Negotiate terms with Supplier A, Supplier E and Supplier F.</a:t>
            </a:r>
            <a:endParaRPr lang="en-US" sz="950" dirty="0"/>
          </a:p>
        </p:txBody>
      </p:sp>
      <p:sp>
        <p:nvSpPr>
          <p:cNvPr id="118" name="Shape 29">
            <a:extLst>
              <a:ext uri="{FF2B5EF4-FFF2-40B4-BE49-F238E27FC236}">
                <a16:creationId xmlns:a16="http://schemas.microsoft.com/office/drawing/2014/main" id="{A8FAE756-91C8-03C3-0683-0537F1876291}"/>
              </a:ext>
            </a:extLst>
          </p:cNvPr>
          <p:cNvSpPr/>
          <p:nvPr/>
        </p:nvSpPr>
        <p:spPr>
          <a:xfrm>
            <a:off x="7347800" y="5315635"/>
            <a:ext cx="274320" cy="274320"/>
          </a:xfrm>
          <a:prstGeom prst="ellipse">
            <a:avLst/>
          </a:prstGeom>
          <a:solidFill>
            <a:srgbClr val="27509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0" name="Text 30">
            <a:extLst>
              <a:ext uri="{FF2B5EF4-FFF2-40B4-BE49-F238E27FC236}">
                <a16:creationId xmlns:a16="http://schemas.microsoft.com/office/drawing/2014/main" id="{F1537F1F-4E15-BF47-58DF-51DA09A5D0BA}"/>
              </a:ext>
            </a:extLst>
          </p:cNvPr>
          <p:cNvSpPr/>
          <p:nvPr/>
        </p:nvSpPr>
        <p:spPr>
          <a:xfrm>
            <a:off x="7347800" y="531563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2" name="Text 31">
            <a:extLst>
              <a:ext uri="{FF2B5EF4-FFF2-40B4-BE49-F238E27FC236}">
                <a16:creationId xmlns:a16="http://schemas.microsoft.com/office/drawing/2014/main" id="{C52AB7B0-3000-03A5-8C91-48AC47649DAE}"/>
              </a:ext>
            </a:extLst>
          </p:cNvPr>
          <p:cNvSpPr/>
          <p:nvPr/>
        </p:nvSpPr>
        <p:spPr>
          <a:xfrm>
            <a:off x="7731848" y="5279059"/>
            <a:ext cx="3776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 Consolidation — </a:t>
            </a: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328 suppliers in total — group similar demands and reduce fragmentation.</a:t>
            </a:r>
            <a:endParaRPr lang="en-US" sz="950" dirty="0"/>
          </a:p>
        </p:txBody>
      </p:sp>
      <p:sp>
        <p:nvSpPr>
          <p:cNvPr id="124" name="Shape 32">
            <a:extLst>
              <a:ext uri="{FF2B5EF4-FFF2-40B4-BE49-F238E27FC236}">
                <a16:creationId xmlns:a16="http://schemas.microsoft.com/office/drawing/2014/main" id="{D6FC22F6-8A9C-1DCF-B86B-78DBAC01324C}"/>
              </a:ext>
            </a:extLst>
          </p:cNvPr>
          <p:cNvSpPr/>
          <p:nvPr/>
        </p:nvSpPr>
        <p:spPr>
          <a:xfrm>
            <a:off x="7347800" y="5791123"/>
            <a:ext cx="274320" cy="274320"/>
          </a:xfrm>
          <a:prstGeom prst="ellipse">
            <a:avLst/>
          </a:prstGeom>
          <a:solidFill>
            <a:srgbClr val="27509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6" name="Text 33">
            <a:extLst>
              <a:ext uri="{FF2B5EF4-FFF2-40B4-BE49-F238E27FC236}">
                <a16:creationId xmlns:a16="http://schemas.microsoft.com/office/drawing/2014/main" id="{E402698F-4BB1-DABD-1266-3F4B5285FB04}"/>
              </a:ext>
            </a:extLst>
          </p:cNvPr>
          <p:cNvSpPr/>
          <p:nvPr/>
        </p:nvSpPr>
        <p:spPr>
          <a:xfrm>
            <a:off x="7347800" y="579112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28" name="Text 34">
            <a:extLst>
              <a:ext uri="{FF2B5EF4-FFF2-40B4-BE49-F238E27FC236}">
                <a16:creationId xmlns:a16="http://schemas.microsoft.com/office/drawing/2014/main" id="{064907B8-0DA3-D24E-4CFA-87F9A4B420CF}"/>
              </a:ext>
            </a:extLst>
          </p:cNvPr>
          <p:cNvSpPr/>
          <p:nvPr/>
        </p:nvSpPr>
        <p:spPr>
          <a:xfrm>
            <a:off x="7731848" y="5754547"/>
            <a:ext cx="3776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Review — </a:t>
            </a: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-31.9% YoY drop: validate whether it is an efficiency gain or undersized maintenance.</a:t>
            </a:r>
            <a:endParaRPr lang="en-US" sz="950" dirty="0"/>
          </a:p>
        </p:txBody>
      </p:sp>
      <p:sp>
        <p:nvSpPr>
          <p:cNvPr id="140" name="Text 40">
            <a:extLst>
              <a:ext uri="{FF2B5EF4-FFF2-40B4-BE49-F238E27FC236}">
                <a16:creationId xmlns:a16="http://schemas.microsoft.com/office/drawing/2014/main" id="{1A7F03F4-3740-4DFD-1604-33645A73A660}"/>
              </a:ext>
            </a:extLst>
          </p:cNvPr>
          <p:cNvSpPr/>
          <p:nvPr/>
        </p:nvSpPr>
        <p:spPr>
          <a:xfrm>
            <a:off x="132259" y="6250248"/>
            <a:ext cx="6812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Detailed Standard PO Analysis (internal analytics, internal base) — 2,741 Family 3 lines · extraction Oct 6, 2026. The values in this analysis match the Executive Summary exactly (R$ 89.3M · -31.9% YoY).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313C2D-A0F2-B241-8839-352E9B0BE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7311" y="106600"/>
            <a:ext cx="4915856" cy="1187003"/>
          </a:xfrm>
        </p:spPr>
        <p:txBody>
          <a:bodyPr/>
          <a:lstStyle/>
          <a:p>
            <a:r>
              <a:rPr lang="en-GB" sz="3600" dirty="0" err="1">
                <a:latin typeface="Arial" panose="02000000000000000000"/>
                <a:cs typeface="+mj-cs"/>
              </a:rPr>
              <a:t>Conclusion</a:t>
            </a:r>
            <a:endParaRPr lang="en-GB" sz="3600" dirty="0">
              <a:latin typeface="Arial" panose="02000000000000000000"/>
              <a:cs typeface="+mj-cs"/>
            </a:endParaRP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7A61478-303B-9645-B395-FF07627A8DD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000" i="1" noProof="0" dirty="0">
                <a:latin typeface="Arial" panose="02000000000000000000"/>
                <a:ea typeface="+mj-ea"/>
                <a:cs typeface="+mj-cs"/>
              </a:rPr>
              <a:t>Opportunity and Recommendations</a:t>
            </a:r>
          </a:p>
          <a:p>
            <a:r>
              <a:rPr lang="en-US" sz="2000" i="1" noProof="0" dirty="0">
                <a:latin typeface="Arial" panose="02000000000000000000"/>
                <a:ea typeface="+mj-ea"/>
                <a:cs typeface="+mj-cs"/>
              </a:rPr>
              <a:t>Plan - Roadmap</a:t>
            </a:r>
          </a:p>
          <a:p>
            <a:r>
              <a:rPr lang="en-US" sz="2000" i="1" noProof="0" dirty="0">
                <a:solidFill>
                  <a:srgbClr val="FF0000"/>
                </a:solidFill>
                <a:latin typeface="Arial" panose="02000000000000000000"/>
                <a:ea typeface="+mj-ea"/>
                <a:cs typeface="+mj-cs"/>
              </a:rPr>
              <a:t>Scorecard</a:t>
            </a:r>
          </a:p>
        </p:txBody>
      </p:sp>
    </p:spTree>
    <p:extLst>
      <p:ext uri="{BB962C8B-B14F-4D97-AF65-F5344CB8AC3E}">
        <p14:creationId xmlns:p14="http://schemas.microsoft.com/office/powerpoint/2010/main" val="41655378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 2">
            <a:extLst>
              <a:ext uri="{FF2B5EF4-FFF2-40B4-BE49-F238E27FC236}">
                <a16:creationId xmlns:a16="http://schemas.microsoft.com/office/drawing/2014/main" id="{6F676461-8A3A-B911-A357-7BE244A903DF}"/>
              </a:ext>
            </a:extLst>
          </p:cNvPr>
          <p:cNvSpPr/>
          <p:nvPr/>
        </p:nvSpPr>
        <p:spPr>
          <a:xfrm>
            <a:off x="454152" y="98755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Opportunities </a:t>
            </a:r>
            <a:r>
              <a:rPr lang="en-US" sz="27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Recommendations</a:t>
            </a:r>
            <a:endParaRPr lang="en-US" sz="2700" dirty="0"/>
          </a:p>
        </p:txBody>
      </p:sp>
      <p:sp>
        <p:nvSpPr>
          <p:cNvPr id="54" name="Text 3">
            <a:extLst>
              <a:ext uri="{FF2B5EF4-FFF2-40B4-BE49-F238E27FC236}">
                <a16:creationId xmlns:a16="http://schemas.microsoft.com/office/drawing/2014/main" id="{0BAC55FD-7C30-DEEB-072B-2E8580EA1CA3}"/>
              </a:ext>
            </a:extLst>
          </p:cNvPr>
          <p:cNvSpPr/>
          <p:nvPr/>
        </p:nvSpPr>
        <p:spPr>
          <a:xfrm>
            <a:off x="411480" y="1552889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prioritized recommendations based on the analysis of the 3 maintenance families (internal base, Sep/2026 extraction), market benchmark and OE 2025 Ranking.</a:t>
            </a:r>
            <a:endParaRPr lang="en-US" sz="1250" dirty="0"/>
          </a:p>
        </p:txBody>
      </p:sp>
      <p:sp>
        <p:nvSpPr>
          <p:cNvPr id="56" name="Shape 4">
            <a:extLst>
              <a:ext uri="{FF2B5EF4-FFF2-40B4-BE49-F238E27FC236}">
                <a16:creationId xmlns:a16="http://schemas.microsoft.com/office/drawing/2014/main" id="{F9525454-6432-9CA8-200E-29B92A7F0FC6}"/>
              </a:ext>
            </a:extLst>
          </p:cNvPr>
          <p:cNvSpPr/>
          <p:nvPr/>
        </p:nvSpPr>
        <p:spPr>
          <a:xfrm>
            <a:off x="454152" y="2139696"/>
            <a:ext cx="5532120" cy="804672"/>
          </a:xfrm>
          <a:prstGeom prst="roundRect">
            <a:avLst>
              <a:gd name="adj" fmla="val 9091"/>
            </a:avLst>
          </a:prstGeom>
          <a:solidFill>
            <a:srgbClr val="EEF0FA"/>
          </a:solidFill>
          <a:ln w="12700">
            <a:solidFill>
              <a:srgbClr val="D8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">
            <a:extLst>
              <a:ext uri="{FF2B5EF4-FFF2-40B4-BE49-F238E27FC236}">
                <a16:creationId xmlns:a16="http://schemas.microsoft.com/office/drawing/2014/main" id="{E22E45F6-60DC-7DED-9D04-C2CCAC89AF3C}"/>
              </a:ext>
            </a:extLst>
          </p:cNvPr>
          <p:cNvSpPr/>
          <p:nvPr/>
        </p:nvSpPr>
        <p:spPr>
          <a:xfrm>
            <a:off x="563880" y="2249424"/>
            <a:ext cx="310896" cy="310896"/>
          </a:xfrm>
          <a:prstGeom prst="ellipse">
            <a:avLst/>
          </a:prstGeom>
          <a:solidFill>
            <a:srgbClr val="27509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6">
            <a:extLst>
              <a:ext uri="{FF2B5EF4-FFF2-40B4-BE49-F238E27FC236}">
                <a16:creationId xmlns:a16="http://schemas.microsoft.com/office/drawing/2014/main" id="{4DCF5D46-D247-DC94-0B46-B383534D9ED6}"/>
              </a:ext>
            </a:extLst>
          </p:cNvPr>
          <p:cNvSpPr/>
          <p:nvPr/>
        </p:nvSpPr>
        <p:spPr>
          <a:xfrm>
            <a:off x="563880" y="22494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62" name="Text 7">
            <a:extLst>
              <a:ext uri="{FF2B5EF4-FFF2-40B4-BE49-F238E27FC236}">
                <a16:creationId xmlns:a16="http://schemas.microsoft.com/office/drawing/2014/main" id="{044C1777-9A74-FDAA-B9C0-C28807E375FE}"/>
              </a:ext>
            </a:extLst>
          </p:cNvPr>
          <p:cNvSpPr/>
          <p:nvPr/>
        </p:nvSpPr>
        <p:spPr>
          <a:xfrm>
            <a:off x="966216" y="2185416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Concentrate spend with a robust multidisciplinary supplier — </a:t>
            </a:r>
            <a:r>
              <a:rPr lang="en-US" sz="86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MPE </a:t>
            </a:r>
            <a:r>
              <a:rPr lang="en-US" sz="86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(8th in OE 2025 Ranking) is the largest supplier of Family 2 (R$ 8.9M) and Family 3 (R$ 11.8M): R$ 20.7M combined validate the strategy. Expand the integrated contract as a model for other families.</a:t>
            </a:r>
            <a:endParaRPr lang="en-US" sz="860" dirty="0"/>
          </a:p>
        </p:txBody>
      </p:sp>
      <p:sp>
        <p:nvSpPr>
          <p:cNvPr id="64" name="Shape 8">
            <a:extLst>
              <a:ext uri="{FF2B5EF4-FFF2-40B4-BE49-F238E27FC236}">
                <a16:creationId xmlns:a16="http://schemas.microsoft.com/office/drawing/2014/main" id="{31CEF473-BB52-C161-4C36-F37BE6CA2755}"/>
              </a:ext>
            </a:extLst>
          </p:cNvPr>
          <p:cNvSpPr/>
          <p:nvPr/>
        </p:nvSpPr>
        <p:spPr>
          <a:xfrm>
            <a:off x="6169152" y="2139696"/>
            <a:ext cx="5532120" cy="804672"/>
          </a:xfrm>
          <a:prstGeom prst="roundRect">
            <a:avLst>
              <a:gd name="adj" fmla="val 9091"/>
            </a:avLst>
          </a:prstGeom>
          <a:solidFill>
            <a:srgbClr val="EEF0FA"/>
          </a:solidFill>
          <a:ln w="12700">
            <a:solidFill>
              <a:srgbClr val="D8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9">
            <a:extLst>
              <a:ext uri="{FF2B5EF4-FFF2-40B4-BE49-F238E27FC236}">
                <a16:creationId xmlns:a16="http://schemas.microsoft.com/office/drawing/2014/main" id="{1242F6E1-1A67-7F03-C52D-4724D0062704}"/>
              </a:ext>
            </a:extLst>
          </p:cNvPr>
          <p:cNvSpPr/>
          <p:nvPr/>
        </p:nvSpPr>
        <p:spPr>
          <a:xfrm>
            <a:off x="6278880" y="2249424"/>
            <a:ext cx="310896" cy="310896"/>
          </a:xfrm>
          <a:prstGeom prst="ellipse">
            <a:avLst/>
          </a:prstGeom>
          <a:solidFill>
            <a:srgbClr val="27509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Text 10">
            <a:extLst>
              <a:ext uri="{FF2B5EF4-FFF2-40B4-BE49-F238E27FC236}">
                <a16:creationId xmlns:a16="http://schemas.microsoft.com/office/drawing/2014/main" id="{4AE68DD2-677F-1355-1DBD-5D25986B9AFC}"/>
              </a:ext>
            </a:extLst>
          </p:cNvPr>
          <p:cNvSpPr/>
          <p:nvPr/>
        </p:nvSpPr>
        <p:spPr>
          <a:xfrm>
            <a:off x="6278880" y="22494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70" name="Text 11">
            <a:extLst>
              <a:ext uri="{FF2B5EF4-FFF2-40B4-BE49-F238E27FC236}">
                <a16:creationId xmlns:a16="http://schemas.microsoft.com/office/drawing/2014/main" id="{C87D5B1F-341E-444E-084F-B0B3A941A54A}"/>
              </a:ext>
            </a:extLst>
          </p:cNvPr>
          <p:cNvSpPr/>
          <p:nvPr/>
        </p:nvSpPr>
        <p:spPr>
          <a:xfrm>
            <a:off x="6681216" y="2185416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Renegotiate Family 3 Top 3 with integrated contracts — </a:t>
            </a:r>
            <a:r>
              <a:rPr lang="en-US" sz="86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A, Supplier E and Supplier F total R$ 19.0M (21.3% of the family, which fell -31.9%). Long-term contracts with availability SLAs and TCO.</a:t>
            </a:r>
            <a:endParaRPr lang="en-US" sz="860" dirty="0"/>
          </a:p>
        </p:txBody>
      </p:sp>
      <p:sp>
        <p:nvSpPr>
          <p:cNvPr id="72" name="Shape 12">
            <a:extLst>
              <a:ext uri="{FF2B5EF4-FFF2-40B4-BE49-F238E27FC236}">
                <a16:creationId xmlns:a16="http://schemas.microsoft.com/office/drawing/2014/main" id="{95249A75-EB0C-231F-26DE-2288638BAE4A}"/>
              </a:ext>
            </a:extLst>
          </p:cNvPr>
          <p:cNvSpPr/>
          <p:nvPr/>
        </p:nvSpPr>
        <p:spPr>
          <a:xfrm>
            <a:off x="454152" y="3035808"/>
            <a:ext cx="5532120" cy="804672"/>
          </a:xfrm>
          <a:prstGeom prst="roundRect">
            <a:avLst>
              <a:gd name="adj" fmla="val 9091"/>
            </a:avLst>
          </a:prstGeom>
          <a:solidFill>
            <a:srgbClr val="EEF0FA"/>
          </a:solidFill>
          <a:ln w="12700">
            <a:solidFill>
              <a:srgbClr val="D8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13">
            <a:extLst>
              <a:ext uri="{FF2B5EF4-FFF2-40B4-BE49-F238E27FC236}">
                <a16:creationId xmlns:a16="http://schemas.microsoft.com/office/drawing/2014/main" id="{E75A1F6E-A539-E526-17B1-A0B2BE373BBA}"/>
              </a:ext>
            </a:extLst>
          </p:cNvPr>
          <p:cNvSpPr/>
          <p:nvPr/>
        </p:nvSpPr>
        <p:spPr>
          <a:xfrm>
            <a:off x="563880" y="3145536"/>
            <a:ext cx="310896" cy="310896"/>
          </a:xfrm>
          <a:prstGeom prst="ellipse">
            <a:avLst/>
          </a:prstGeom>
          <a:solidFill>
            <a:srgbClr val="27509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Text 14">
            <a:extLst>
              <a:ext uri="{FF2B5EF4-FFF2-40B4-BE49-F238E27FC236}">
                <a16:creationId xmlns:a16="http://schemas.microsoft.com/office/drawing/2014/main" id="{3E974247-3387-6ADE-F600-5AC6EDEC5146}"/>
              </a:ext>
            </a:extLst>
          </p:cNvPr>
          <p:cNvSpPr/>
          <p:nvPr/>
        </p:nvSpPr>
        <p:spPr>
          <a:xfrm>
            <a:off x="563880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78" name="Text 15">
            <a:extLst>
              <a:ext uri="{FF2B5EF4-FFF2-40B4-BE49-F238E27FC236}">
                <a16:creationId xmlns:a16="http://schemas.microsoft.com/office/drawing/2014/main" id="{F83E8AB8-DBFD-D839-EAC9-07DD1C851899}"/>
              </a:ext>
            </a:extLst>
          </p:cNvPr>
          <p:cNvSpPr/>
          <p:nvPr/>
        </p:nvSpPr>
        <p:spPr>
          <a:xfrm>
            <a:off x="966216" y="3081528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 Class C in Family 3 — </a:t>
            </a:r>
            <a:r>
              <a:rPr lang="en-US" sz="86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328 suppliers in the family — 318 outside the Top 10 move R$ 78.7M (88%). Immediate rationalization: lower transaction and administrative cost.</a:t>
            </a:r>
            <a:endParaRPr lang="en-US" sz="860" dirty="0"/>
          </a:p>
        </p:txBody>
      </p:sp>
      <p:sp>
        <p:nvSpPr>
          <p:cNvPr id="80" name="Shape 16">
            <a:extLst>
              <a:ext uri="{FF2B5EF4-FFF2-40B4-BE49-F238E27FC236}">
                <a16:creationId xmlns:a16="http://schemas.microsoft.com/office/drawing/2014/main" id="{BE1388B3-0F0F-7BD3-B88E-2B90BF06C991}"/>
              </a:ext>
            </a:extLst>
          </p:cNvPr>
          <p:cNvSpPr/>
          <p:nvPr/>
        </p:nvSpPr>
        <p:spPr>
          <a:xfrm>
            <a:off x="6169152" y="3035808"/>
            <a:ext cx="5532120" cy="804672"/>
          </a:xfrm>
          <a:prstGeom prst="roundRect">
            <a:avLst>
              <a:gd name="adj" fmla="val 9091"/>
            </a:avLst>
          </a:prstGeom>
          <a:solidFill>
            <a:srgbClr val="EEF0FA"/>
          </a:solidFill>
          <a:ln w="12700">
            <a:solidFill>
              <a:srgbClr val="D8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17">
            <a:extLst>
              <a:ext uri="{FF2B5EF4-FFF2-40B4-BE49-F238E27FC236}">
                <a16:creationId xmlns:a16="http://schemas.microsoft.com/office/drawing/2014/main" id="{34898A40-1ECE-B915-701D-A8826150E1A7}"/>
              </a:ext>
            </a:extLst>
          </p:cNvPr>
          <p:cNvSpPr/>
          <p:nvPr/>
        </p:nvSpPr>
        <p:spPr>
          <a:xfrm>
            <a:off x="6278880" y="3145536"/>
            <a:ext cx="310896" cy="310896"/>
          </a:xfrm>
          <a:prstGeom prst="ellipse">
            <a:avLst/>
          </a:prstGeom>
          <a:solidFill>
            <a:srgbClr val="27509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" name="Text 18">
            <a:extLst>
              <a:ext uri="{FF2B5EF4-FFF2-40B4-BE49-F238E27FC236}">
                <a16:creationId xmlns:a16="http://schemas.microsoft.com/office/drawing/2014/main" id="{E7FE94F9-AD17-F84F-0160-24D59EFBAAC6}"/>
              </a:ext>
            </a:extLst>
          </p:cNvPr>
          <p:cNvSpPr/>
          <p:nvPr/>
        </p:nvSpPr>
        <p:spPr>
          <a:xfrm>
            <a:off x="6278880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86" name="Text 19">
            <a:extLst>
              <a:ext uri="{FF2B5EF4-FFF2-40B4-BE49-F238E27FC236}">
                <a16:creationId xmlns:a16="http://schemas.microsoft.com/office/drawing/2014/main" id="{F83B352E-DB9B-3190-E24E-F7335F25D757}"/>
              </a:ext>
            </a:extLst>
          </p:cNvPr>
          <p:cNvSpPr/>
          <p:nvPr/>
        </p:nvSpPr>
        <p:spPr>
          <a:xfrm>
            <a:off x="6681216" y="3081528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automation partners (FANUC, ABB) — </a:t>
            </a:r>
            <a:r>
              <a:rPr lang="en-US" sz="86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automation and robotics partners — native PdM platforms with remote diagnostics and embedded AI.</a:t>
            </a:r>
            <a:endParaRPr lang="en-US" sz="860" dirty="0"/>
          </a:p>
        </p:txBody>
      </p:sp>
      <p:sp>
        <p:nvSpPr>
          <p:cNvPr id="88" name="Shape 20">
            <a:extLst>
              <a:ext uri="{FF2B5EF4-FFF2-40B4-BE49-F238E27FC236}">
                <a16:creationId xmlns:a16="http://schemas.microsoft.com/office/drawing/2014/main" id="{316D6718-2842-FD74-1158-494D3100A31C}"/>
              </a:ext>
            </a:extLst>
          </p:cNvPr>
          <p:cNvSpPr/>
          <p:nvPr/>
        </p:nvSpPr>
        <p:spPr>
          <a:xfrm>
            <a:off x="454152" y="3931920"/>
            <a:ext cx="5532120" cy="804672"/>
          </a:xfrm>
          <a:prstGeom prst="roundRect">
            <a:avLst>
              <a:gd name="adj" fmla="val 9091"/>
            </a:avLst>
          </a:prstGeom>
          <a:solidFill>
            <a:srgbClr val="EEF0FA"/>
          </a:solidFill>
          <a:ln w="12700">
            <a:solidFill>
              <a:srgbClr val="D8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Shape 21">
            <a:extLst>
              <a:ext uri="{FF2B5EF4-FFF2-40B4-BE49-F238E27FC236}">
                <a16:creationId xmlns:a16="http://schemas.microsoft.com/office/drawing/2014/main" id="{FDF69F0A-7A2E-0AF0-2E93-5906B9AAEBB4}"/>
              </a:ext>
            </a:extLst>
          </p:cNvPr>
          <p:cNvSpPr/>
          <p:nvPr/>
        </p:nvSpPr>
        <p:spPr>
          <a:xfrm>
            <a:off x="563880" y="4041648"/>
            <a:ext cx="310896" cy="310896"/>
          </a:xfrm>
          <a:prstGeom prst="ellipse">
            <a:avLst/>
          </a:prstGeom>
          <a:solidFill>
            <a:srgbClr val="27509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" name="Text 22">
            <a:extLst>
              <a:ext uri="{FF2B5EF4-FFF2-40B4-BE49-F238E27FC236}">
                <a16:creationId xmlns:a16="http://schemas.microsoft.com/office/drawing/2014/main" id="{A81DA009-EC85-77A7-52EE-A8F038F624DA}"/>
              </a:ext>
            </a:extLst>
          </p:cNvPr>
          <p:cNvSpPr/>
          <p:nvPr/>
        </p:nvSpPr>
        <p:spPr>
          <a:xfrm>
            <a:off x="563880" y="40416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94" name="Text 23">
            <a:extLst>
              <a:ext uri="{FF2B5EF4-FFF2-40B4-BE49-F238E27FC236}">
                <a16:creationId xmlns:a16="http://schemas.microsoft.com/office/drawing/2014/main" id="{4148E6E5-2150-535E-4DB8-4E1901136C07}"/>
              </a:ext>
            </a:extLst>
          </p:cNvPr>
          <p:cNvSpPr/>
          <p:nvPr/>
        </p:nvSpPr>
        <p:spPr>
          <a:xfrm>
            <a:off x="966216" y="39776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Family 1 +159.8% — </a:t>
            </a:r>
            <a:r>
              <a:rPr lang="en-US" sz="86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increase in electronic failures, new assets or spend reclassification? Top 3 (Supplier B, Supplier C, Supplier D) already concentrates 51.6%.</a:t>
            </a:r>
            <a:endParaRPr lang="en-US" sz="860" dirty="0"/>
          </a:p>
        </p:txBody>
      </p:sp>
      <p:sp>
        <p:nvSpPr>
          <p:cNvPr id="96" name="Shape 24">
            <a:extLst>
              <a:ext uri="{FF2B5EF4-FFF2-40B4-BE49-F238E27FC236}">
                <a16:creationId xmlns:a16="http://schemas.microsoft.com/office/drawing/2014/main" id="{AD3A2798-73B3-7A96-4F2E-92EC3B5D07D0}"/>
              </a:ext>
            </a:extLst>
          </p:cNvPr>
          <p:cNvSpPr/>
          <p:nvPr/>
        </p:nvSpPr>
        <p:spPr>
          <a:xfrm>
            <a:off x="6169152" y="3931920"/>
            <a:ext cx="5532120" cy="804672"/>
          </a:xfrm>
          <a:prstGeom prst="roundRect">
            <a:avLst>
              <a:gd name="adj" fmla="val 9091"/>
            </a:avLst>
          </a:prstGeom>
          <a:solidFill>
            <a:srgbClr val="EEF0FA"/>
          </a:solidFill>
          <a:ln w="12700">
            <a:solidFill>
              <a:srgbClr val="D8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Shape 25">
            <a:extLst>
              <a:ext uri="{FF2B5EF4-FFF2-40B4-BE49-F238E27FC236}">
                <a16:creationId xmlns:a16="http://schemas.microsoft.com/office/drawing/2014/main" id="{AE87BFDE-0C02-62EA-D17A-CCEEBC33438A}"/>
              </a:ext>
            </a:extLst>
          </p:cNvPr>
          <p:cNvSpPr/>
          <p:nvPr/>
        </p:nvSpPr>
        <p:spPr>
          <a:xfrm>
            <a:off x="6278880" y="4041648"/>
            <a:ext cx="310896" cy="310896"/>
          </a:xfrm>
          <a:prstGeom prst="ellipse">
            <a:avLst/>
          </a:prstGeom>
          <a:solidFill>
            <a:srgbClr val="27509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0" name="Text 26">
            <a:extLst>
              <a:ext uri="{FF2B5EF4-FFF2-40B4-BE49-F238E27FC236}">
                <a16:creationId xmlns:a16="http://schemas.microsoft.com/office/drawing/2014/main" id="{F426CACE-B4B0-38F9-1C98-A25F98A92FE4}"/>
              </a:ext>
            </a:extLst>
          </p:cNvPr>
          <p:cNvSpPr/>
          <p:nvPr/>
        </p:nvSpPr>
        <p:spPr>
          <a:xfrm>
            <a:off x="6278880" y="40416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102" name="Text 27">
            <a:extLst>
              <a:ext uri="{FF2B5EF4-FFF2-40B4-BE49-F238E27FC236}">
                <a16:creationId xmlns:a16="http://schemas.microsoft.com/office/drawing/2014/main" id="{EAFD47DF-E862-DA65-8E0F-1681D320311D}"/>
              </a:ext>
            </a:extLst>
          </p:cNvPr>
          <p:cNvSpPr/>
          <p:nvPr/>
        </p:nvSpPr>
        <p:spPr>
          <a:xfrm>
            <a:off x="6681216" y="39776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Rationalize the Family 1 tail — </a:t>
            </a:r>
            <a:r>
              <a:rPr lang="en-US" sz="86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suppliers outside the Top 3 = 48.4% of spend (R$ 1.6M) — consolidate with Supplier B, Supplier C and Eletromotores Supplier D.</a:t>
            </a:r>
            <a:endParaRPr lang="en-US" sz="860" dirty="0"/>
          </a:p>
        </p:txBody>
      </p:sp>
      <p:sp>
        <p:nvSpPr>
          <p:cNvPr id="120" name="Shape 36">
            <a:extLst>
              <a:ext uri="{FF2B5EF4-FFF2-40B4-BE49-F238E27FC236}">
                <a16:creationId xmlns:a16="http://schemas.microsoft.com/office/drawing/2014/main" id="{450DB17F-6F6E-A402-A087-DB843F4A3099}"/>
              </a:ext>
            </a:extLst>
          </p:cNvPr>
          <p:cNvSpPr/>
          <p:nvPr/>
        </p:nvSpPr>
        <p:spPr>
          <a:xfrm>
            <a:off x="289560" y="5010912"/>
            <a:ext cx="3749040" cy="1060704"/>
          </a:xfrm>
          <a:prstGeom prst="roundRect">
            <a:avLst>
              <a:gd name="adj" fmla="val 7759"/>
            </a:avLst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2" name="Text 37">
            <a:extLst>
              <a:ext uri="{FF2B5EF4-FFF2-40B4-BE49-F238E27FC236}">
                <a16:creationId xmlns:a16="http://schemas.microsoft.com/office/drawing/2014/main" id="{3B685CFA-4692-2732-56CE-F5198C4FE57F}"/>
              </a:ext>
            </a:extLst>
          </p:cNvPr>
          <p:cNvSpPr/>
          <p:nvPr/>
        </p:nvSpPr>
        <p:spPr>
          <a:xfrm>
            <a:off x="454152" y="5084064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TCO Management</a:t>
            </a:r>
            <a:endParaRPr lang="en-US" sz="1150" dirty="0"/>
          </a:p>
          <a:p>
            <a:pPr marL="0" indent="0">
              <a:buNone/>
            </a:pPr>
            <a:r>
              <a:rPr lang="en-US" sz="860" dirty="0">
                <a:solidFill>
                  <a:srgbClr val="C7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company model — condition-based maintenance with IoT and real telemetry. 14-month ROI justifies immediate investment.</a:t>
            </a:r>
            <a:endParaRPr lang="en-US" sz="1150" dirty="0"/>
          </a:p>
        </p:txBody>
      </p:sp>
      <p:sp>
        <p:nvSpPr>
          <p:cNvPr id="124" name="Shape 38">
            <a:extLst>
              <a:ext uri="{FF2B5EF4-FFF2-40B4-BE49-F238E27FC236}">
                <a16:creationId xmlns:a16="http://schemas.microsoft.com/office/drawing/2014/main" id="{52FAF027-F431-65D6-2684-BB72478A7866}"/>
              </a:ext>
            </a:extLst>
          </p:cNvPr>
          <p:cNvSpPr/>
          <p:nvPr/>
        </p:nvSpPr>
        <p:spPr>
          <a:xfrm>
            <a:off x="4221480" y="5010912"/>
            <a:ext cx="3749040" cy="1060704"/>
          </a:xfrm>
          <a:prstGeom prst="roundRect">
            <a:avLst>
              <a:gd name="adj" fmla="val 7759"/>
            </a:avLst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6" name="Text 39">
            <a:extLst>
              <a:ext uri="{FF2B5EF4-FFF2-40B4-BE49-F238E27FC236}">
                <a16:creationId xmlns:a16="http://schemas.microsoft.com/office/drawing/2014/main" id="{8B718711-B21C-14AF-8CB1-F73F91AB22D3}"/>
              </a:ext>
            </a:extLst>
          </p:cNvPr>
          <p:cNvSpPr/>
          <p:nvPr/>
        </p:nvSpPr>
        <p:spPr>
          <a:xfrm>
            <a:off x="4386072" y="5084064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PdM Systematically</a:t>
            </a:r>
            <a:endParaRPr lang="en-US" sz="1150" dirty="0"/>
          </a:p>
          <a:p>
            <a:pPr marL="0" indent="0">
              <a:buNone/>
            </a:pPr>
            <a:r>
              <a:rPr lang="en-US" sz="860" dirty="0">
                <a:solidFill>
                  <a:srgbClr val="C7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ABECOM (vibration/AI) and INFRALUB (oil) already operate in maintenance — expand to the 3 families with an integrated ecosystem.</a:t>
            </a:r>
            <a:endParaRPr lang="en-US" sz="1150" dirty="0"/>
          </a:p>
        </p:txBody>
      </p:sp>
      <p:sp>
        <p:nvSpPr>
          <p:cNvPr id="128" name="Shape 40">
            <a:extLst>
              <a:ext uri="{FF2B5EF4-FFF2-40B4-BE49-F238E27FC236}">
                <a16:creationId xmlns:a16="http://schemas.microsoft.com/office/drawing/2014/main" id="{5620D322-E9FD-0D9A-9D04-21646BA8C04D}"/>
              </a:ext>
            </a:extLst>
          </p:cNvPr>
          <p:cNvSpPr/>
          <p:nvPr/>
        </p:nvSpPr>
        <p:spPr>
          <a:xfrm>
            <a:off x="8153400" y="5010912"/>
            <a:ext cx="3749040" cy="1060704"/>
          </a:xfrm>
          <a:prstGeom prst="roundRect">
            <a:avLst>
              <a:gd name="adj" fmla="val 7759"/>
            </a:avLst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0" name="Text 41">
            <a:extLst>
              <a:ext uri="{FF2B5EF4-FFF2-40B4-BE49-F238E27FC236}">
                <a16:creationId xmlns:a16="http://schemas.microsoft.com/office/drawing/2014/main" id="{5EB11A4B-5544-59C4-69B3-781EAC8E6666}"/>
              </a:ext>
            </a:extLst>
          </p:cNvPr>
          <p:cNvSpPr/>
          <p:nvPr/>
        </p:nvSpPr>
        <p:spPr>
          <a:xfrm>
            <a:off x="8317992" y="5084064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114,114 MFE POs</a:t>
            </a:r>
            <a:endParaRPr lang="en-US" sz="1150" dirty="0"/>
          </a:p>
          <a:p>
            <a:pPr marL="0" indent="0">
              <a:buNone/>
            </a:pPr>
            <a:r>
              <a:rPr lang="en-US" sz="860" dirty="0">
                <a:solidFill>
                  <a:srgbClr val="C7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 the full MFE base with maintenance (8,326 POs) to identify cross-family and cross-supplier consolidations.</a:t>
            </a:r>
            <a:endParaRPr lang="en-US" sz="11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 2">
            <a:extLst>
              <a:ext uri="{FF2B5EF4-FFF2-40B4-BE49-F238E27FC236}">
                <a16:creationId xmlns:a16="http://schemas.microsoft.com/office/drawing/2014/main" id="{460F639F-E6A2-FFCD-AC40-526AC85268EF}"/>
              </a:ext>
            </a:extLst>
          </p:cNvPr>
          <p:cNvSpPr/>
          <p:nvPr/>
        </p:nvSpPr>
        <p:spPr>
          <a:xfrm>
            <a:off x="502920" y="91897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 and Watch </a:t>
            </a:r>
            <a:r>
              <a:rPr lang="en-US" sz="27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Points</a:t>
            </a:r>
            <a:endParaRPr lang="en-US" sz="2700" dirty="0"/>
          </a:p>
        </p:txBody>
      </p:sp>
      <p:sp>
        <p:nvSpPr>
          <p:cNvPr id="107" name="Text 3">
            <a:extLst>
              <a:ext uri="{FF2B5EF4-FFF2-40B4-BE49-F238E27FC236}">
                <a16:creationId xmlns:a16="http://schemas.microsoft.com/office/drawing/2014/main" id="{F78834DA-706D-923E-10F9-F611C2A84188}"/>
              </a:ext>
            </a:extLst>
          </p:cNvPr>
          <p:cNvSpPr/>
          <p:nvPr/>
        </p:nvSpPr>
        <p:spPr>
          <a:xfrm>
            <a:off x="502920" y="141274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monitoring is essential to ensure spend variations reflect strategic decisions, not operational degradation.</a:t>
            </a:r>
            <a:endParaRPr lang="en-US" sz="1250" dirty="0"/>
          </a:p>
        </p:txBody>
      </p:sp>
      <p:sp>
        <p:nvSpPr>
          <p:cNvPr id="109" name="Shape 4">
            <a:extLst>
              <a:ext uri="{FF2B5EF4-FFF2-40B4-BE49-F238E27FC236}">
                <a16:creationId xmlns:a16="http://schemas.microsoft.com/office/drawing/2014/main" id="{A712254E-7FAE-0602-94FF-EB262EC266BC}"/>
              </a:ext>
            </a:extLst>
          </p:cNvPr>
          <p:cNvSpPr/>
          <p:nvPr/>
        </p:nvSpPr>
        <p:spPr>
          <a:xfrm>
            <a:off x="2414016" y="1856232"/>
            <a:ext cx="3575304" cy="1737360"/>
          </a:xfrm>
          <a:prstGeom prst="roundRect">
            <a:avLst>
              <a:gd name="adj" fmla="val 4737"/>
            </a:avLst>
          </a:prstGeom>
          <a:solidFill>
            <a:srgbClr val="EEF0FA"/>
          </a:solidFill>
          <a:ln w="12700">
            <a:solidFill>
              <a:srgbClr val="D8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Shape 5">
            <a:extLst>
              <a:ext uri="{FF2B5EF4-FFF2-40B4-BE49-F238E27FC236}">
                <a16:creationId xmlns:a16="http://schemas.microsoft.com/office/drawing/2014/main" id="{FDEF3D34-236A-0F6E-C4B6-1EC592A97370}"/>
              </a:ext>
            </a:extLst>
          </p:cNvPr>
          <p:cNvSpPr/>
          <p:nvPr/>
        </p:nvSpPr>
        <p:spPr>
          <a:xfrm>
            <a:off x="2560320" y="200253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8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3" name="Image 1" descr="preencoded.png">
            <a:extLst>
              <a:ext uri="{FF2B5EF4-FFF2-40B4-BE49-F238E27FC236}">
                <a16:creationId xmlns:a16="http://schemas.microsoft.com/office/drawing/2014/main" id="{5E3B18F3-C224-1419-2A1E-B726773955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760" y="2093976"/>
            <a:ext cx="274320" cy="274320"/>
          </a:xfrm>
          <a:prstGeom prst="rect">
            <a:avLst/>
          </a:prstGeom>
        </p:spPr>
      </p:pic>
      <p:sp>
        <p:nvSpPr>
          <p:cNvPr id="115" name="Text 6">
            <a:extLst>
              <a:ext uri="{FF2B5EF4-FFF2-40B4-BE49-F238E27FC236}">
                <a16:creationId xmlns:a16="http://schemas.microsoft.com/office/drawing/2014/main" id="{89C63D70-028C-F9DC-7437-729F87FD3FAD}"/>
              </a:ext>
            </a:extLst>
          </p:cNvPr>
          <p:cNvSpPr/>
          <p:nvPr/>
        </p:nvSpPr>
        <p:spPr>
          <a:xfrm>
            <a:off x="3127248" y="1984248"/>
            <a:ext cx="274320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1 — +159,8%</a:t>
            </a:r>
            <a:endParaRPr lang="en-US" sz="1300" dirty="0"/>
          </a:p>
          <a:p>
            <a:pPr marL="0" indent="0"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Investigate: real increase in electronic failures, new assets or reclassification from other families?</a:t>
            </a:r>
            <a:endParaRPr lang="en-US" sz="1300" dirty="0"/>
          </a:p>
        </p:txBody>
      </p:sp>
      <p:sp>
        <p:nvSpPr>
          <p:cNvPr id="117" name="Shape 7">
            <a:extLst>
              <a:ext uri="{FF2B5EF4-FFF2-40B4-BE49-F238E27FC236}">
                <a16:creationId xmlns:a16="http://schemas.microsoft.com/office/drawing/2014/main" id="{E9AAA190-0E37-A458-3E76-99DA91E578FD}"/>
              </a:ext>
            </a:extLst>
          </p:cNvPr>
          <p:cNvSpPr/>
          <p:nvPr/>
        </p:nvSpPr>
        <p:spPr>
          <a:xfrm>
            <a:off x="6217920" y="1856232"/>
            <a:ext cx="3575304" cy="1737360"/>
          </a:xfrm>
          <a:prstGeom prst="roundRect">
            <a:avLst>
              <a:gd name="adj" fmla="val 4737"/>
            </a:avLst>
          </a:prstGeom>
          <a:solidFill>
            <a:srgbClr val="EEF0FA"/>
          </a:solidFill>
          <a:ln w="12700">
            <a:solidFill>
              <a:srgbClr val="D8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Shape 8">
            <a:extLst>
              <a:ext uri="{FF2B5EF4-FFF2-40B4-BE49-F238E27FC236}">
                <a16:creationId xmlns:a16="http://schemas.microsoft.com/office/drawing/2014/main" id="{F54F9E58-C28E-14EF-8D0B-14C31B6B48A0}"/>
              </a:ext>
            </a:extLst>
          </p:cNvPr>
          <p:cNvSpPr/>
          <p:nvPr/>
        </p:nvSpPr>
        <p:spPr>
          <a:xfrm>
            <a:off x="6364224" y="200253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8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1" name="Image 2" descr="preencoded.png">
            <a:extLst>
              <a:ext uri="{FF2B5EF4-FFF2-40B4-BE49-F238E27FC236}">
                <a16:creationId xmlns:a16="http://schemas.microsoft.com/office/drawing/2014/main" id="{585827E8-7BC6-5CE5-ED55-71FFCE94AC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5664" y="2093976"/>
            <a:ext cx="274320" cy="274320"/>
          </a:xfrm>
          <a:prstGeom prst="rect">
            <a:avLst/>
          </a:prstGeom>
        </p:spPr>
      </p:pic>
      <p:sp>
        <p:nvSpPr>
          <p:cNvPr id="123" name="Text 9">
            <a:extLst>
              <a:ext uri="{FF2B5EF4-FFF2-40B4-BE49-F238E27FC236}">
                <a16:creationId xmlns:a16="http://schemas.microsoft.com/office/drawing/2014/main" id="{21956E67-33EF-3E4A-E16B-968C036BC0F6}"/>
              </a:ext>
            </a:extLst>
          </p:cNvPr>
          <p:cNvSpPr/>
          <p:nvPr/>
        </p:nvSpPr>
        <p:spPr>
          <a:xfrm>
            <a:off x="6931152" y="1984248"/>
            <a:ext cx="274320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3 — -31,9%</a:t>
            </a:r>
            <a:endParaRPr lang="en-US" sz="1300" dirty="0"/>
          </a:p>
          <a:p>
            <a:pPr marL="0" indent="0"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whether the drop implies reduced maintenance coverage on critical production assets.</a:t>
            </a:r>
            <a:endParaRPr lang="en-US" sz="1300" dirty="0"/>
          </a:p>
        </p:txBody>
      </p:sp>
      <p:sp>
        <p:nvSpPr>
          <p:cNvPr id="125" name="Shape 13">
            <a:extLst>
              <a:ext uri="{FF2B5EF4-FFF2-40B4-BE49-F238E27FC236}">
                <a16:creationId xmlns:a16="http://schemas.microsoft.com/office/drawing/2014/main" id="{53D2E7AA-6475-C74D-9EB0-16F04772A783}"/>
              </a:ext>
            </a:extLst>
          </p:cNvPr>
          <p:cNvSpPr/>
          <p:nvPr/>
        </p:nvSpPr>
        <p:spPr>
          <a:xfrm>
            <a:off x="502920" y="3863340"/>
            <a:ext cx="5532120" cy="1280160"/>
          </a:xfrm>
          <a:prstGeom prst="roundRect">
            <a:avLst>
              <a:gd name="adj" fmla="val 6429"/>
            </a:avLst>
          </a:prstGeom>
          <a:solidFill>
            <a:srgbClr val="E8EBF8"/>
          </a:solidFill>
          <a:ln w="12700">
            <a:solidFill>
              <a:srgbClr val="D8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7" name="Text 14">
            <a:extLst>
              <a:ext uri="{FF2B5EF4-FFF2-40B4-BE49-F238E27FC236}">
                <a16:creationId xmlns:a16="http://schemas.microsoft.com/office/drawing/2014/main" id="{076808C3-C2F7-08AF-1BAC-B7C2A399C8F1}"/>
              </a:ext>
            </a:extLst>
          </p:cNvPr>
          <p:cNvSpPr/>
          <p:nvPr/>
        </p:nvSpPr>
        <p:spPr>
          <a:xfrm>
            <a:off x="685800" y="3991356"/>
            <a:ext cx="5166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Fragmentation</a:t>
            </a:r>
            <a:endParaRPr lang="en-US" sz="1150" dirty="0"/>
          </a:p>
          <a:p>
            <a:pPr marL="0" indent="0"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506 suppliers combined across the 3 families — a long Class C tail means operational risk and high administrative cost.</a:t>
            </a:r>
            <a:endParaRPr lang="en-US" sz="1150" dirty="0"/>
          </a:p>
        </p:txBody>
      </p:sp>
      <p:sp>
        <p:nvSpPr>
          <p:cNvPr id="129" name="Shape 15">
            <a:extLst>
              <a:ext uri="{FF2B5EF4-FFF2-40B4-BE49-F238E27FC236}">
                <a16:creationId xmlns:a16="http://schemas.microsoft.com/office/drawing/2014/main" id="{95F66622-6895-6093-5581-76984ECAF1E9}"/>
              </a:ext>
            </a:extLst>
          </p:cNvPr>
          <p:cNvSpPr/>
          <p:nvPr/>
        </p:nvSpPr>
        <p:spPr>
          <a:xfrm>
            <a:off x="6217920" y="3863340"/>
            <a:ext cx="5532120" cy="1280160"/>
          </a:xfrm>
          <a:prstGeom prst="roundRect">
            <a:avLst>
              <a:gd name="adj" fmla="val 6429"/>
            </a:avLst>
          </a:prstGeom>
          <a:solidFill>
            <a:srgbClr val="E8EBF8"/>
          </a:solidFill>
          <a:ln w="12700">
            <a:solidFill>
              <a:srgbClr val="D8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1" name="Text 16">
            <a:extLst>
              <a:ext uri="{FF2B5EF4-FFF2-40B4-BE49-F238E27FC236}">
                <a16:creationId xmlns:a16="http://schemas.microsoft.com/office/drawing/2014/main" id="{614D1B4F-2153-8D83-5E8B-CB16A4A0DF7A}"/>
              </a:ext>
            </a:extLst>
          </p:cNvPr>
          <p:cNvSpPr/>
          <p:nvPr/>
        </p:nvSpPr>
        <p:spPr>
          <a:xfrm>
            <a:off x="6400800" y="3991356"/>
            <a:ext cx="5166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Systematic PdM</a:t>
            </a:r>
            <a:endParaRPr lang="en-US" sz="1150" dirty="0"/>
          </a:p>
          <a:p>
            <a:pPr marL="0" indent="0"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and partners </a:t>
            </a:r>
            <a:r>
              <a:rPr lang="en-US" sz="950" dirty="0" err="1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place</a:t>
            </a: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(ABECOM, INFRALUB) — but no systematic implementation of integrated predictive maintenance.</a:t>
            </a:r>
            <a:endParaRPr lang="en-US" sz="1150" dirty="0"/>
          </a:p>
        </p:txBody>
      </p:sp>
      <p:sp>
        <p:nvSpPr>
          <p:cNvPr id="133" name="Shape 17">
            <a:extLst>
              <a:ext uri="{FF2B5EF4-FFF2-40B4-BE49-F238E27FC236}">
                <a16:creationId xmlns:a16="http://schemas.microsoft.com/office/drawing/2014/main" id="{12D6250B-7D18-0E0F-2295-20861BED2233}"/>
              </a:ext>
            </a:extLst>
          </p:cNvPr>
          <p:cNvSpPr/>
          <p:nvPr/>
        </p:nvSpPr>
        <p:spPr>
          <a:xfrm>
            <a:off x="3223260" y="5294376"/>
            <a:ext cx="5532120" cy="1280160"/>
          </a:xfrm>
          <a:prstGeom prst="roundRect">
            <a:avLst>
              <a:gd name="adj" fmla="val 6429"/>
            </a:avLst>
          </a:prstGeom>
          <a:solidFill>
            <a:srgbClr val="E8EBF8"/>
          </a:solidFill>
          <a:ln w="12700">
            <a:solidFill>
              <a:srgbClr val="D8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5" name="Text 18">
            <a:extLst>
              <a:ext uri="{FF2B5EF4-FFF2-40B4-BE49-F238E27FC236}">
                <a16:creationId xmlns:a16="http://schemas.microsoft.com/office/drawing/2014/main" id="{85BC18E0-76B0-4C95-A733-E06F826FCEA7}"/>
              </a:ext>
            </a:extLst>
          </p:cNvPr>
          <p:cNvSpPr/>
          <p:nvPr/>
        </p:nvSpPr>
        <p:spPr>
          <a:xfrm>
            <a:off x="3406140" y="5422392"/>
            <a:ext cx="5166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 Volatility</a:t>
            </a:r>
            <a:endParaRPr lang="en-US" sz="1150" dirty="0"/>
          </a:p>
          <a:p>
            <a:pPr marL="0" indent="0"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Imported items (EUR/USD) present in the families — FX exposure on parts and services not localized.</a:t>
            </a:r>
            <a:endParaRPr lang="en-US" sz="11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 2">
            <a:extLst>
              <a:ext uri="{FF2B5EF4-FFF2-40B4-BE49-F238E27FC236}">
                <a16:creationId xmlns:a16="http://schemas.microsoft.com/office/drawing/2014/main" id="{DD189541-90BD-FC9F-1E65-AA256A776C0B}"/>
              </a:ext>
            </a:extLst>
          </p:cNvPr>
          <p:cNvSpPr/>
          <p:nvPr/>
        </p:nvSpPr>
        <p:spPr>
          <a:xfrm>
            <a:off x="96012" y="91440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A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Conclusion: The Window of </a:t>
            </a:r>
            <a:r>
              <a:rPr lang="en-US" sz="2700" b="1" dirty="0">
                <a:solidFill>
                  <a:srgbClr val="E45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 Is Now</a:t>
            </a:r>
            <a:endParaRPr lang="en-US" sz="2700" dirty="0"/>
          </a:p>
        </p:txBody>
      </p:sp>
      <p:sp>
        <p:nvSpPr>
          <p:cNvPr id="35" name="Shape 3">
            <a:extLst>
              <a:ext uri="{FF2B5EF4-FFF2-40B4-BE49-F238E27FC236}">
                <a16:creationId xmlns:a16="http://schemas.microsoft.com/office/drawing/2014/main" id="{B7BF4D94-E71E-CA07-4E79-CD49D08606EC}"/>
              </a:ext>
            </a:extLst>
          </p:cNvPr>
          <p:cNvSpPr/>
          <p:nvPr/>
        </p:nvSpPr>
        <p:spPr>
          <a:xfrm>
            <a:off x="96012" y="1645920"/>
            <a:ext cx="5532120" cy="1700784"/>
          </a:xfrm>
          <a:prstGeom prst="roundRect">
            <a:avLst>
              <a:gd name="adj" fmla="val 5376"/>
            </a:avLst>
          </a:prstGeom>
          <a:solidFill>
            <a:srgbClr val="EEF0FA"/>
          </a:solidFill>
          <a:ln w="12700">
            <a:solidFill>
              <a:srgbClr val="D8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4">
            <a:extLst>
              <a:ext uri="{FF2B5EF4-FFF2-40B4-BE49-F238E27FC236}">
                <a16:creationId xmlns:a16="http://schemas.microsoft.com/office/drawing/2014/main" id="{19B879E7-3B43-BA56-63E4-97CCE71C0405}"/>
              </a:ext>
            </a:extLst>
          </p:cNvPr>
          <p:cNvSpPr/>
          <p:nvPr/>
        </p:nvSpPr>
        <p:spPr>
          <a:xfrm>
            <a:off x="260604" y="1810512"/>
            <a:ext cx="475488" cy="475488"/>
          </a:xfrm>
          <a:prstGeom prst="roundRect">
            <a:avLst>
              <a:gd name="adj" fmla="val 21154"/>
            </a:avLst>
          </a:prstGeom>
          <a:solidFill>
            <a:srgbClr val="FFFFFF"/>
          </a:solidFill>
          <a:ln w="12700">
            <a:solidFill>
              <a:srgbClr val="D8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9" name="Image 1" descr="preencoded.png">
            <a:extLst>
              <a:ext uri="{FF2B5EF4-FFF2-40B4-BE49-F238E27FC236}">
                <a16:creationId xmlns:a16="http://schemas.microsoft.com/office/drawing/2014/main" id="{5522FEDD-0031-112B-9B4B-E86F48C686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" y="1911096"/>
            <a:ext cx="274320" cy="274320"/>
          </a:xfrm>
          <a:prstGeom prst="rect">
            <a:avLst/>
          </a:prstGeom>
        </p:spPr>
      </p:pic>
      <p:sp>
        <p:nvSpPr>
          <p:cNvPr id="41" name="Text 5">
            <a:extLst>
              <a:ext uri="{FF2B5EF4-FFF2-40B4-BE49-F238E27FC236}">
                <a16:creationId xmlns:a16="http://schemas.microsoft.com/office/drawing/2014/main" id="{7E074C78-9A99-195A-B242-3A60A7CF8AF3}"/>
              </a:ext>
            </a:extLst>
          </p:cNvPr>
          <p:cNvSpPr/>
          <p:nvPr/>
        </p:nvSpPr>
        <p:spPr>
          <a:xfrm>
            <a:off x="882396" y="1792224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360° Data</a:t>
            </a:r>
            <a:endParaRPr lang="en-US" sz="1400" dirty="0"/>
          </a:p>
          <a:p>
            <a:pPr marL="0" indent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maintenance families: R$ 77.8M in 2025 → R$ 64.6M in 2026 (Jan–Sep), 506 suppliers, 8,326 POs (7.3% of total MFE).</a:t>
            </a:r>
            <a:endParaRPr lang="en-US" sz="1400" dirty="0"/>
          </a:p>
        </p:txBody>
      </p:sp>
      <p:sp>
        <p:nvSpPr>
          <p:cNvPr id="43" name="Shape 6">
            <a:extLst>
              <a:ext uri="{FF2B5EF4-FFF2-40B4-BE49-F238E27FC236}">
                <a16:creationId xmlns:a16="http://schemas.microsoft.com/office/drawing/2014/main" id="{D04E59F3-B259-0FB7-7187-42D4AAE926E1}"/>
              </a:ext>
            </a:extLst>
          </p:cNvPr>
          <p:cNvSpPr/>
          <p:nvPr/>
        </p:nvSpPr>
        <p:spPr>
          <a:xfrm>
            <a:off x="5811012" y="1645920"/>
            <a:ext cx="5532120" cy="1700784"/>
          </a:xfrm>
          <a:prstGeom prst="roundRect">
            <a:avLst>
              <a:gd name="adj" fmla="val 5376"/>
            </a:avLst>
          </a:prstGeom>
          <a:solidFill>
            <a:srgbClr val="EEF0FA"/>
          </a:solidFill>
          <a:ln w="12700">
            <a:solidFill>
              <a:srgbClr val="D8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7">
            <a:extLst>
              <a:ext uri="{FF2B5EF4-FFF2-40B4-BE49-F238E27FC236}">
                <a16:creationId xmlns:a16="http://schemas.microsoft.com/office/drawing/2014/main" id="{14B1C0E1-3717-FD25-B991-18A7B8D59777}"/>
              </a:ext>
            </a:extLst>
          </p:cNvPr>
          <p:cNvSpPr/>
          <p:nvPr/>
        </p:nvSpPr>
        <p:spPr>
          <a:xfrm>
            <a:off x="5975604" y="1810512"/>
            <a:ext cx="475488" cy="475488"/>
          </a:xfrm>
          <a:prstGeom prst="roundRect">
            <a:avLst>
              <a:gd name="adj" fmla="val 21154"/>
            </a:avLst>
          </a:prstGeom>
          <a:solidFill>
            <a:srgbClr val="FFFFFF"/>
          </a:solidFill>
          <a:ln w="12700">
            <a:solidFill>
              <a:srgbClr val="D8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7" name="Image 2" descr="preencoded.png">
            <a:extLst>
              <a:ext uri="{FF2B5EF4-FFF2-40B4-BE49-F238E27FC236}">
                <a16:creationId xmlns:a16="http://schemas.microsoft.com/office/drawing/2014/main" id="{C5DCAF3A-3BF7-776E-C610-3E40E86F0B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6188" y="1911096"/>
            <a:ext cx="274320" cy="274320"/>
          </a:xfrm>
          <a:prstGeom prst="rect">
            <a:avLst/>
          </a:prstGeom>
        </p:spPr>
      </p:pic>
      <p:sp>
        <p:nvSpPr>
          <p:cNvPr id="49" name="Text 8">
            <a:extLst>
              <a:ext uri="{FF2B5EF4-FFF2-40B4-BE49-F238E27FC236}">
                <a16:creationId xmlns:a16="http://schemas.microsoft.com/office/drawing/2014/main" id="{F0533389-3D8B-98FB-6E92-04E39D75A1C5}"/>
              </a:ext>
            </a:extLst>
          </p:cNvPr>
          <p:cNvSpPr/>
          <p:nvPr/>
        </p:nvSpPr>
        <p:spPr>
          <a:xfrm>
            <a:off x="6597396" y="1792224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Brazilian Market</a:t>
            </a:r>
            <a:endParaRPr lang="en-US" sz="1400" dirty="0"/>
          </a:p>
          <a:p>
            <a:pPr marL="0" indent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 grows at a ~21–30% CAGR through 2030–2034 — an accelerating industry, a huge gap to capture.</a:t>
            </a:r>
            <a:endParaRPr lang="en-US" sz="1400" dirty="0"/>
          </a:p>
        </p:txBody>
      </p:sp>
      <p:sp>
        <p:nvSpPr>
          <p:cNvPr id="51" name="Shape 9">
            <a:extLst>
              <a:ext uri="{FF2B5EF4-FFF2-40B4-BE49-F238E27FC236}">
                <a16:creationId xmlns:a16="http://schemas.microsoft.com/office/drawing/2014/main" id="{B8F84F9F-261A-5CC1-4FAD-F324D846A6B1}"/>
              </a:ext>
            </a:extLst>
          </p:cNvPr>
          <p:cNvSpPr/>
          <p:nvPr/>
        </p:nvSpPr>
        <p:spPr>
          <a:xfrm>
            <a:off x="96012" y="3456432"/>
            <a:ext cx="5532120" cy="1700784"/>
          </a:xfrm>
          <a:prstGeom prst="roundRect">
            <a:avLst>
              <a:gd name="adj" fmla="val 5376"/>
            </a:avLst>
          </a:prstGeom>
          <a:solidFill>
            <a:srgbClr val="EEF0FA"/>
          </a:solidFill>
          <a:ln w="12700">
            <a:solidFill>
              <a:srgbClr val="D8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10">
            <a:extLst>
              <a:ext uri="{FF2B5EF4-FFF2-40B4-BE49-F238E27FC236}">
                <a16:creationId xmlns:a16="http://schemas.microsoft.com/office/drawing/2014/main" id="{887EE5D3-AACD-5D4F-4E5F-2C1568A2BBAB}"/>
              </a:ext>
            </a:extLst>
          </p:cNvPr>
          <p:cNvSpPr/>
          <p:nvPr/>
        </p:nvSpPr>
        <p:spPr>
          <a:xfrm>
            <a:off x="260604" y="3621024"/>
            <a:ext cx="475488" cy="475488"/>
          </a:xfrm>
          <a:prstGeom prst="roundRect">
            <a:avLst>
              <a:gd name="adj" fmla="val 21154"/>
            </a:avLst>
          </a:prstGeom>
          <a:solidFill>
            <a:srgbClr val="FFFFFF"/>
          </a:solidFill>
          <a:ln w="12700">
            <a:solidFill>
              <a:srgbClr val="D8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5" name="Image 3" descr="preencoded.png">
            <a:extLst>
              <a:ext uri="{FF2B5EF4-FFF2-40B4-BE49-F238E27FC236}">
                <a16:creationId xmlns:a16="http://schemas.microsoft.com/office/drawing/2014/main" id="{E16F08F5-EAD6-B326-A034-CE1AEF54F4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188" y="3721608"/>
            <a:ext cx="274320" cy="274320"/>
          </a:xfrm>
          <a:prstGeom prst="rect">
            <a:avLst/>
          </a:prstGeom>
        </p:spPr>
      </p:pic>
      <p:sp>
        <p:nvSpPr>
          <p:cNvPr id="57" name="Text 11">
            <a:extLst>
              <a:ext uri="{FF2B5EF4-FFF2-40B4-BE49-F238E27FC236}">
                <a16:creationId xmlns:a16="http://schemas.microsoft.com/office/drawing/2014/main" id="{BB449261-E6E7-A3E3-5C22-5C085DD6C4AE}"/>
              </a:ext>
            </a:extLst>
          </p:cNvPr>
          <p:cNvSpPr/>
          <p:nvPr/>
        </p:nvSpPr>
        <p:spPr>
          <a:xfrm>
            <a:off x="882396" y="3602736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Benchmark</a:t>
            </a:r>
            <a:endParaRPr lang="en-US" sz="1400" dirty="0"/>
          </a:p>
          <a:p>
            <a:pPr marL="0" indent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14-month ROI, 30–40% savings vs corrective and 91% downtime reduction prove the competitive advantage of predictive management.</a:t>
            </a:r>
            <a:endParaRPr lang="en-US" sz="1400" dirty="0"/>
          </a:p>
        </p:txBody>
      </p:sp>
      <p:sp>
        <p:nvSpPr>
          <p:cNvPr id="59" name="Shape 12">
            <a:extLst>
              <a:ext uri="{FF2B5EF4-FFF2-40B4-BE49-F238E27FC236}">
                <a16:creationId xmlns:a16="http://schemas.microsoft.com/office/drawing/2014/main" id="{69355167-2F02-B024-2BEF-A2796048CA2C}"/>
              </a:ext>
            </a:extLst>
          </p:cNvPr>
          <p:cNvSpPr/>
          <p:nvPr/>
        </p:nvSpPr>
        <p:spPr>
          <a:xfrm>
            <a:off x="5811012" y="3456432"/>
            <a:ext cx="5532120" cy="1700784"/>
          </a:xfrm>
          <a:prstGeom prst="roundRect">
            <a:avLst>
              <a:gd name="adj" fmla="val 5376"/>
            </a:avLst>
          </a:prstGeom>
          <a:solidFill>
            <a:srgbClr val="EEF0FA"/>
          </a:solidFill>
          <a:ln w="12700">
            <a:solidFill>
              <a:srgbClr val="D8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13">
            <a:extLst>
              <a:ext uri="{FF2B5EF4-FFF2-40B4-BE49-F238E27FC236}">
                <a16:creationId xmlns:a16="http://schemas.microsoft.com/office/drawing/2014/main" id="{8840FF72-1CEF-FE5F-7A66-3E9EC581209A}"/>
              </a:ext>
            </a:extLst>
          </p:cNvPr>
          <p:cNvSpPr/>
          <p:nvPr/>
        </p:nvSpPr>
        <p:spPr>
          <a:xfrm>
            <a:off x="5975604" y="3621024"/>
            <a:ext cx="475488" cy="475488"/>
          </a:xfrm>
          <a:prstGeom prst="roundRect">
            <a:avLst>
              <a:gd name="adj" fmla="val 21154"/>
            </a:avLst>
          </a:prstGeom>
          <a:solidFill>
            <a:srgbClr val="FFFFFF"/>
          </a:solidFill>
          <a:ln w="12700">
            <a:solidFill>
              <a:srgbClr val="D8DD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3" name="Image 4" descr="preencoded.png">
            <a:extLst>
              <a:ext uri="{FF2B5EF4-FFF2-40B4-BE49-F238E27FC236}">
                <a16:creationId xmlns:a16="http://schemas.microsoft.com/office/drawing/2014/main" id="{2E000478-57B8-6045-4DA3-80CA0EDE34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6188" y="3721608"/>
            <a:ext cx="274320" cy="274320"/>
          </a:xfrm>
          <a:prstGeom prst="rect">
            <a:avLst/>
          </a:prstGeom>
        </p:spPr>
      </p:pic>
      <p:sp>
        <p:nvSpPr>
          <p:cNvPr id="65" name="Text 14">
            <a:extLst>
              <a:ext uri="{FF2B5EF4-FFF2-40B4-BE49-F238E27FC236}">
                <a16:creationId xmlns:a16="http://schemas.microsoft.com/office/drawing/2014/main" id="{192774B5-6887-74B8-CBD2-77AA7F524D36}"/>
              </a:ext>
            </a:extLst>
          </p:cNvPr>
          <p:cNvSpPr/>
          <p:nvPr/>
        </p:nvSpPr>
        <p:spPr>
          <a:xfrm>
            <a:off x="6597396" y="3602736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Action</a:t>
            </a:r>
            <a:endParaRPr lang="en-US" sz="1400" dirty="0"/>
          </a:p>
          <a:p>
            <a:pPr marL="0" indent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 suppliers (Top 3 of the 3 families), invest in PdM (TRACTIAN, ABB, ROCKWELL already in the portfolio) and adopt TCO management with real data.</a:t>
            </a:r>
            <a:endParaRPr lang="en-US" sz="1400" dirty="0"/>
          </a:p>
        </p:txBody>
      </p:sp>
      <p:sp>
        <p:nvSpPr>
          <p:cNvPr id="67" name="Shape 15">
            <a:extLst>
              <a:ext uri="{FF2B5EF4-FFF2-40B4-BE49-F238E27FC236}">
                <a16:creationId xmlns:a16="http://schemas.microsoft.com/office/drawing/2014/main" id="{A643A2C9-4119-5101-49EC-E88B2C2A5E98}"/>
              </a:ext>
            </a:extLst>
          </p:cNvPr>
          <p:cNvSpPr/>
          <p:nvPr/>
        </p:nvSpPr>
        <p:spPr>
          <a:xfrm>
            <a:off x="96012" y="5413248"/>
            <a:ext cx="10747579" cy="1097280"/>
          </a:xfrm>
          <a:prstGeom prst="roundRect">
            <a:avLst>
              <a:gd name="adj" fmla="val 8333"/>
            </a:avLst>
          </a:prstGeom>
          <a:solidFill>
            <a:srgbClr val="1F3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Text 16">
            <a:extLst>
              <a:ext uri="{FF2B5EF4-FFF2-40B4-BE49-F238E27FC236}">
                <a16:creationId xmlns:a16="http://schemas.microsoft.com/office/drawing/2014/main" id="{C3A9E2AC-C1E1-F770-2E4B-66797F8C0BE7}"/>
              </a:ext>
            </a:extLst>
          </p:cNvPr>
          <p:cNvSpPr/>
          <p:nvPr/>
        </p:nvSpPr>
        <p:spPr>
          <a:xfrm>
            <a:off x="370332" y="5522976"/>
            <a:ext cx="106070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of global industries plan to invest in predictive maintenance by 2026. </a:t>
            </a:r>
            <a:r>
              <a:rPr lang="en-US" sz="1150" dirty="0">
                <a:solidFill>
                  <a:srgbClr val="C7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Brazilian market is accelerating — companies that act now will capture sustainable competitive advantage. The global ~21–30% PdM CAGR leaves no doubt: this is the transformation that will define the industrial leaders of the next decade.</a:t>
            </a:r>
            <a:endParaRPr lang="en-US" sz="11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Agrupar 12">
            <a:extLst>
              <a:ext uri="{FF2B5EF4-FFF2-40B4-BE49-F238E27FC236}">
                <a16:creationId xmlns:a16="http://schemas.microsoft.com/office/drawing/2014/main" id="{7DE916AB-BD2E-44BE-E19E-3F57372430D3}"/>
              </a:ext>
            </a:extLst>
          </p:cNvPr>
          <p:cNvGrpSpPr/>
          <p:nvPr/>
        </p:nvGrpSpPr>
        <p:grpSpPr>
          <a:xfrm>
            <a:off x="646394" y="1340553"/>
            <a:ext cx="2000000" cy="1685164"/>
            <a:chOff x="794646" y="1170543"/>
            <a:chExt cx="2000000" cy="1685164"/>
          </a:xfrm>
        </p:grpSpPr>
        <p:sp>
          <p:nvSpPr>
            <p:cNvPr id="106" name="R204">
              <a:extLst>
                <a:ext uri="{FF2B5EF4-FFF2-40B4-BE49-F238E27FC236}">
                  <a16:creationId xmlns:a16="http://schemas.microsoft.com/office/drawing/2014/main" id="{CABD2FA1-E7C9-0C0A-EC19-88DB33B40972}"/>
                </a:ext>
              </a:extLst>
            </p:cNvPr>
            <p:cNvSpPr/>
            <p:nvPr/>
          </p:nvSpPr>
          <p:spPr>
            <a:xfrm>
              <a:off x="794646" y="1405707"/>
              <a:ext cx="2000000" cy="1450000"/>
            </a:xfrm>
            <a:prstGeom prst="roundRect">
              <a:avLst/>
            </a:prstGeom>
            <a:solidFill>
              <a:schemeClr val="tx2">
                <a:lumMod val="10000"/>
                <a:lumOff val="90000"/>
                <a:alpha val="78000"/>
              </a:schemeClr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" name="TB205">
              <a:extLst>
                <a:ext uri="{FF2B5EF4-FFF2-40B4-BE49-F238E27FC236}">
                  <a16:creationId xmlns:a16="http://schemas.microsoft.com/office/drawing/2014/main" id="{6F93758A-C548-2E1F-5971-4CAF45DFCA00}"/>
                </a:ext>
              </a:extLst>
            </p:cNvPr>
            <p:cNvSpPr txBox="1"/>
            <p:nvPr/>
          </p:nvSpPr>
          <p:spPr>
            <a:xfrm>
              <a:off x="964646" y="1525707"/>
              <a:ext cx="1700000" cy="450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rmAutofit/>
            </a:bodyPr>
            <a:lstStyle/>
            <a:p>
              <a:pPr algn="l"/>
              <a:r>
                <a:rPr lang="en-US" sz="2800" b="1">
                  <a:solidFill>
                    <a:srgbClr val="0A453E"/>
                  </a:solidFill>
                  <a:latin typeface="Arial"/>
                </a:rPr>
                <a:t>1</a:t>
              </a:r>
            </a:p>
          </p:txBody>
        </p:sp>
        <p:sp>
          <p:nvSpPr>
            <p:cNvPr id="110" name="TB206">
              <a:extLst>
                <a:ext uri="{FF2B5EF4-FFF2-40B4-BE49-F238E27FC236}">
                  <a16:creationId xmlns:a16="http://schemas.microsoft.com/office/drawing/2014/main" id="{5A907524-0A5E-07CB-B2DF-AC5FA2AD56EE}"/>
                </a:ext>
              </a:extLst>
            </p:cNvPr>
            <p:cNvSpPr txBox="1"/>
            <p:nvPr/>
          </p:nvSpPr>
          <p:spPr>
            <a:xfrm>
              <a:off x="964646" y="2025707"/>
              <a:ext cx="1700000" cy="450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rmAutofit/>
            </a:bodyPr>
            <a:lstStyle/>
            <a:p>
              <a:pPr algn="l"/>
              <a:r>
                <a:rPr lang="en-US" sz="1200" b="1">
                  <a:solidFill>
                    <a:srgbClr val="0A443E"/>
                  </a:solidFill>
                </a:rPr>
                <a:t>CONTRACT RENEGOTIATION</a:t>
              </a:r>
            </a:p>
          </p:txBody>
        </p:sp>
        <p:sp>
          <p:nvSpPr>
            <p:cNvPr id="112" name="TB207">
              <a:extLst>
                <a:ext uri="{FF2B5EF4-FFF2-40B4-BE49-F238E27FC236}">
                  <a16:creationId xmlns:a16="http://schemas.microsoft.com/office/drawing/2014/main" id="{5A1479B8-0FA7-59D4-D79A-B8B3219B8E6D}"/>
                </a:ext>
              </a:extLst>
            </p:cNvPr>
            <p:cNvSpPr txBox="1"/>
            <p:nvPr/>
          </p:nvSpPr>
          <p:spPr>
            <a:xfrm>
              <a:off x="964646" y="2463935"/>
              <a:ext cx="1700000" cy="300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/>
              <a:r>
                <a:rPr lang="en-US" sz="1000" b="0">
                  <a:solidFill>
                    <a:schemeClr val="bg2">
                      <a:lumMod val="50000"/>
                    </a:schemeClr>
                  </a:solidFill>
                  <a:latin typeface="Arial"/>
                </a:rPr>
                <a:t>Systematic review of terms, SLAs &amp; volume discounts</a:t>
              </a:r>
            </a:p>
          </p:txBody>
        </p:sp>
        <p:pic>
          <p:nvPicPr>
            <p:cNvPr id="186" name="Gráfico 185" descr="Aperto de mão com preenchimento sólido">
              <a:extLst>
                <a:ext uri="{FF2B5EF4-FFF2-40B4-BE49-F238E27FC236}">
                  <a16:creationId xmlns:a16="http://schemas.microsoft.com/office/drawing/2014/main" id="{CB512835-9821-6B6D-4411-105B4B9F7FF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139213" y="1441369"/>
              <a:ext cx="523220" cy="523220"/>
            </a:xfrm>
            <a:prstGeom prst="rect">
              <a:avLst/>
            </a:prstGeom>
          </p:spPr>
        </p:pic>
        <p:pic>
          <p:nvPicPr>
            <p:cNvPr id="206" name="Imagem 205">
              <a:extLst>
                <a:ext uri="{FF2B5EF4-FFF2-40B4-BE49-F238E27FC236}">
                  <a16:creationId xmlns:a16="http://schemas.microsoft.com/office/drawing/2014/main" id="{C175F95E-77D6-BF80-E2DF-AB210805195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60373" y="1170543"/>
              <a:ext cx="468547" cy="461050"/>
            </a:xfrm>
            <a:prstGeom prst="ellipse">
              <a:avLst/>
            </a:prstGeom>
          </p:spPr>
        </p:pic>
      </p:grpSp>
      <p:grpSp>
        <p:nvGrpSpPr>
          <p:cNvPr id="3" name="Agrupar 2">
            <a:extLst>
              <a:ext uri="{FF2B5EF4-FFF2-40B4-BE49-F238E27FC236}">
                <a16:creationId xmlns:a16="http://schemas.microsoft.com/office/drawing/2014/main" id="{8E9949E7-91E3-4EC0-5B1B-E60A3A7CD7F3}"/>
              </a:ext>
            </a:extLst>
          </p:cNvPr>
          <p:cNvGrpSpPr/>
          <p:nvPr/>
        </p:nvGrpSpPr>
        <p:grpSpPr>
          <a:xfrm>
            <a:off x="7142729" y="1342228"/>
            <a:ext cx="2000000" cy="1681814"/>
            <a:chOff x="2949646" y="1173893"/>
            <a:chExt cx="2000000" cy="1681814"/>
          </a:xfrm>
        </p:grpSpPr>
        <p:sp>
          <p:nvSpPr>
            <p:cNvPr id="114" name="R208">
              <a:extLst>
                <a:ext uri="{FF2B5EF4-FFF2-40B4-BE49-F238E27FC236}">
                  <a16:creationId xmlns:a16="http://schemas.microsoft.com/office/drawing/2014/main" id="{BF4827ED-90EB-C8C2-251E-C8552AAD1900}"/>
                </a:ext>
              </a:extLst>
            </p:cNvPr>
            <p:cNvSpPr/>
            <p:nvPr/>
          </p:nvSpPr>
          <p:spPr>
            <a:xfrm>
              <a:off x="2949646" y="1405707"/>
              <a:ext cx="2000000" cy="1450000"/>
            </a:xfrm>
            <a:prstGeom prst="roundRect">
              <a:avLst/>
            </a:prstGeom>
            <a:solidFill>
              <a:schemeClr val="tx2">
                <a:lumMod val="10000"/>
                <a:lumOff val="90000"/>
                <a:alpha val="78000"/>
              </a:schemeClr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" name="TB209">
              <a:extLst>
                <a:ext uri="{FF2B5EF4-FFF2-40B4-BE49-F238E27FC236}">
                  <a16:creationId xmlns:a16="http://schemas.microsoft.com/office/drawing/2014/main" id="{F1EF3D75-9DEE-FFF0-05AB-3715E07B1D7C}"/>
                </a:ext>
              </a:extLst>
            </p:cNvPr>
            <p:cNvSpPr txBox="1"/>
            <p:nvPr/>
          </p:nvSpPr>
          <p:spPr>
            <a:xfrm>
              <a:off x="3119646" y="1525707"/>
              <a:ext cx="1700000" cy="450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rmAutofit/>
            </a:bodyPr>
            <a:lstStyle/>
            <a:p>
              <a:pPr algn="l"/>
              <a:r>
                <a:rPr lang="en-US" sz="2800" b="1">
                  <a:solidFill>
                    <a:srgbClr val="0A453E"/>
                  </a:solidFill>
                  <a:latin typeface="Arial"/>
                </a:rPr>
                <a:t>4</a:t>
              </a:r>
            </a:p>
          </p:txBody>
        </p:sp>
        <p:sp>
          <p:nvSpPr>
            <p:cNvPr id="118" name="TB210">
              <a:extLst>
                <a:ext uri="{FF2B5EF4-FFF2-40B4-BE49-F238E27FC236}">
                  <a16:creationId xmlns:a16="http://schemas.microsoft.com/office/drawing/2014/main" id="{46205038-A03F-FDDF-E6A4-B248CA04DEC7}"/>
                </a:ext>
              </a:extLst>
            </p:cNvPr>
            <p:cNvSpPr txBox="1"/>
            <p:nvPr/>
          </p:nvSpPr>
          <p:spPr>
            <a:xfrm>
              <a:off x="3119646" y="2025707"/>
              <a:ext cx="1700000" cy="450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rmAutofit/>
            </a:bodyPr>
            <a:lstStyle/>
            <a:p>
              <a:pPr algn="l"/>
              <a:r>
                <a:rPr lang="en-US" sz="1200" b="1">
                  <a:solidFill>
                    <a:srgbClr val="0A443E"/>
                  </a:solidFill>
                </a:rPr>
                <a:t>SPEND CONSOLIDATION</a:t>
              </a:r>
            </a:p>
          </p:txBody>
        </p:sp>
        <p:sp>
          <p:nvSpPr>
            <p:cNvPr id="120" name="TB211">
              <a:extLst>
                <a:ext uri="{FF2B5EF4-FFF2-40B4-BE49-F238E27FC236}">
                  <a16:creationId xmlns:a16="http://schemas.microsoft.com/office/drawing/2014/main" id="{446F78DF-E266-B817-FB13-0FD1A829DA88}"/>
                </a:ext>
              </a:extLst>
            </p:cNvPr>
            <p:cNvSpPr txBox="1"/>
            <p:nvPr/>
          </p:nvSpPr>
          <p:spPr>
            <a:xfrm>
              <a:off x="3119646" y="2463935"/>
              <a:ext cx="1700000" cy="300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/>
              <a:r>
                <a:rPr lang="en-US" sz="1000" b="0">
                  <a:solidFill>
                    <a:schemeClr val="bg2">
                      <a:lumMod val="50000"/>
                    </a:schemeClr>
                  </a:solidFill>
                  <a:latin typeface="Arial"/>
                </a:rPr>
                <a:t>Aggregate volume across Bus for leverage</a:t>
              </a:r>
            </a:p>
          </p:txBody>
        </p:sp>
        <p:pic>
          <p:nvPicPr>
            <p:cNvPr id="188" name="Gráfico 187" descr="Gráfico de barras com tendência ascendente com preenchimento sólido">
              <a:extLst>
                <a:ext uri="{FF2B5EF4-FFF2-40B4-BE49-F238E27FC236}">
                  <a16:creationId xmlns:a16="http://schemas.microsoft.com/office/drawing/2014/main" id="{9C81525E-58C5-3BEB-1F53-86BF1DF96F6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335689" y="1435959"/>
              <a:ext cx="450001" cy="450001"/>
            </a:xfrm>
            <a:prstGeom prst="rect">
              <a:avLst/>
            </a:prstGeom>
          </p:spPr>
        </p:pic>
        <p:pic>
          <p:nvPicPr>
            <p:cNvPr id="208" name="Imagem 207">
              <a:extLst>
                <a:ext uri="{FF2B5EF4-FFF2-40B4-BE49-F238E27FC236}">
                  <a16:creationId xmlns:a16="http://schemas.microsoft.com/office/drawing/2014/main" id="{7DF4F1CD-43F8-89B7-5170-DC2F8B42176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715372" y="1173893"/>
              <a:ext cx="468548" cy="454350"/>
            </a:xfrm>
            <a:prstGeom prst="ellipse">
              <a:avLst/>
            </a:prstGeom>
          </p:spPr>
        </p:pic>
      </p:grpSp>
      <p:grpSp>
        <p:nvGrpSpPr>
          <p:cNvPr id="6" name="Agrupar 5">
            <a:extLst>
              <a:ext uri="{FF2B5EF4-FFF2-40B4-BE49-F238E27FC236}">
                <a16:creationId xmlns:a16="http://schemas.microsoft.com/office/drawing/2014/main" id="{5A2997B5-1497-EC00-1537-FFA237A894C0}"/>
              </a:ext>
            </a:extLst>
          </p:cNvPr>
          <p:cNvGrpSpPr/>
          <p:nvPr/>
        </p:nvGrpSpPr>
        <p:grpSpPr>
          <a:xfrm>
            <a:off x="9308174" y="1340553"/>
            <a:ext cx="2000000" cy="1685164"/>
            <a:chOff x="5104646" y="1170543"/>
            <a:chExt cx="2000000" cy="1685164"/>
          </a:xfrm>
        </p:grpSpPr>
        <p:grpSp>
          <p:nvGrpSpPr>
            <p:cNvPr id="5" name="Agrupar 4">
              <a:extLst>
                <a:ext uri="{FF2B5EF4-FFF2-40B4-BE49-F238E27FC236}">
                  <a16:creationId xmlns:a16="http://schemas.microsoft.com/office/drawing/2014/main" id="{3206F9AA-B51C-E867-F84F-54840F1840B1}"/>
                </a:ext>
              </a:extLst>
            </p:cNvPr>
            <p:cNvGrpSpPr/>
            <p:nvPr/>
          </p:nvGrpSpPr>
          <p:grpSpPr>
            <a:xfrm>
              <a:off x="5104646" y="1405707"/>
              <a:ext cx="2000000" cy="1450000"/>
              <a:chOff x="5104646" y="1405707"/>
              <a:chExt cx="2000000" cy="1450000"/>
            </a:xfrm>
          </p:grpSpPr>
          <p:sp>
            <p:nvSpPr>
              <p:cNvPr id="122" name="R212">
                <a:extLst>
                  <a:ext uri="{FF2B5EF4-FFF2-40B4-BE49-F238E27FC236}">
                    <a16:creationId xmlns:a16="http://schemas.microsoft.com/office/drawing/2014/main" id="{8BD663D6-F29D-C6DB-0AE7-434DA9FCE0A5}"/>
                  </a:ext>
                </a:extLst>
              </p:cNvPr>
              <p:cNvSpPr/>
              <p:nvPr/>
            </p:nvSpPr>
            <p:spPr>
              <a:xfrm>
                <a:off x="5104646" y="1405707"/>
                <a:ext cx="2000000" cy="1450000"/>
              </a:xfrm>
              <a:prstGeom prst="roundRect">
                <a:avLst/>
              </a:prstGeom>
              <a:solidFill>
                <a:schemeClr val="tx2">
                  <a:lumMod val="10000"/>
                  <a:lumOff val="90000"/>
                  <a:alpha val="78000"/>
                </a:schemeClr>
              </a:solidFill>
              <a:ln>
                <a:noFill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4" name="TB213">
                <a:extLst>
                  <a:ext uri="{FF2B5EF4-FFF2-40B4-BE49-F238E27FC236}">
                    <a16:creationId xmlns:a16="http://schemas.microsoft.com/office/drawing/2014/main" id="{AEB711E3-8349-4DC4-FBCC-B9FAD970E16C}"/>
                  </a:ext>
                </a:extLst>
              </p:cNvPr>
              <p:cNvSpPr txBox="1"/>
              <p:nvPr/>
            </p:nvSpPr>
            <p:spPr>
              <a:xfrm>
                <a:off x="5274646" y="1525707"/>
                <a:ext cx="1700000" cy="4500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rmAutofit/>
              </a:bodyPr>
              <a:lstStyle/>
              <a:p>
                <a:pPr algn="l"/>
                <a:r>
                  <a:rPr lang="en-US" sz="2800" b="1">
                    <a:solidFill>
                      <a:srgbClr val="0A453E"/>
                    </a:solidFill>
                    <a:latin typeface="Arial"/>
                  </a:rPr>
                  <a:t>5</a:t>
                </a:r>
              </a:p>
            </p:txBody>
          </p:sp>
          <p:sp>
            <p:nvSpPr>
              <p:cNvPr id="126" name="TB214">
                <a:extLst>
                  <a:ext uri="{FF2B5EF4-FFF2-40B4-BE49-F238E27FC236}">
                    <a16:creationId xmlns:a16="http://schemas.microsoft.com/office/drawing/2014/main" id="{F2BA7F63-C9D9-F8AF-32E1-94E57B37E7BC}"/>
                  </a:ext>
                </a:extLst>
              </p:cNvPr>
              <p:cNvSpPr txBox="1"/>
              <p:nvPr/>
            </p:nvSpPr>
            <p:spPr>
              <a:xfrm>
                <a:off x="5274646" y="2025707"/>
                <a:ext cx="1700000" cy="4500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rmAutofit/>
              </a:bodyPr>
              <a:lstStyle/>
              <a:p>
                <a:pPr algn="l"/>
                <a:r>
                  <a:rPr lang="en-US" sz="1200" b="1">
                    <a:solidFill>
                      <a:srgbClr val="0A443E"/>
                    </a:solidFill>
                  </a:rPr>
                  <a:t>ESCALATION CLAUSES</a:t>
                </a:r>
              </a:p>
            </p:txBody>
          </p:sp>
          <p:sp>
            <p:nvSpPr>
              <p:cNvPr id="128" name="TB215">
                <a:extLst>
                  <a:ext uri="{FF2B5EF4-FFF2-40B4-BE49-F238E27FC236}">
                    <a16:creationId xmlns:a16="http://schemas.microsoft.com/office/drawing/2014/main" id="{2C0A47AA-108C-340E-1391-ECC13C661F69}"/>
                  </a:ext>
                </a:extLst>
              </p:cNvPr>
              <p:cNvSpPr txBox="1"/>
              <p:nvPr/>
            </p:nvSpPr>
            <p:spPr>
              <a:xfrm>
                <a:off x="5274646" y="2463935"/>
                <a:ext cx="1700000" cy="3000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Autofit/>
              </a:bodyPr>
              <a:lstStyle/>
              <a:p>
                <a:pPr algn="l"/>
                <a:r>
                  <a:rPr lang="en-US" sz="1000" b="0">
                    <a:solidFill>
                      <a:schemeClr val="bg2">
                        <a:lumMod val="50000"/>
                      </a:schemeClr>
                    </a:solidFill>
                    <a:latin typeface="Arial"/>
                  </a:rPr>
                  <a:t>Price caps &amp; floors, long term Contracts</a:t>
                </a:r>
              </a:p>
            </p:txBody>
          </p:sp>
        </p:grpSp>
        <p:pic>
          <p:nvPicPr>
            <p:cNvPr id="190" name="Gráfico 189" descr="Dólar com preenchimento sólido">
              <a:extLst>
                <a:ext uri="{FF2B5EF4-FFF2-40B4-BE49-F238E27FC236}">
                  <a16:creationId xmlns:a16="http://schemas.microsoft.com/office/drawing/2014/main" id="{DF31363E-A84A-BE84-07C6-152BCB34BA4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515840" y="1455707"/>
              <a:ext cx="431917" cy="431917"/>
            </a:xfrm>
            <a:prstGeom prst="rect">
              <a:avLst/>
            </a:prstGeom>
          </p:spPr>
        </p:pic>
        <p:pic>
          <p:nvPicPr>
            <p:cNvPr id="210" name="Imagem 209">
              <a:extLst>
                <a:ext uri="{FF2B5EF4-FFF2-40B4-BE49-F238E27FC236}">
                  <a16:creationId xmlns:a16="http://schemas.microsoft.com/office/drawing/2014/main" id="{C10721ED-9B7A-B81F-AA0F-CE80A927A52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846275" y="1170543"/>
              <a:ext cx="475459" cy="461051"/>
            </a:xfrm>
            <a:prstGeom prst="ellipse">
              <a:avLst/>
            </a:prstGeom>
          </p:spPr>
        </p:pic>
      </p:grpSp>
      <p:grpSp>
        <p:nvGrpSpPr>
          <p:cNvPr id="9" name="Agrupar 8">
            <a:extLst>
              <a:ext uri="{FF2B5EF4-FFF2-40B4-BE49-F238E27FC236}">
                <a16:creationId xmlns:a16="http://schemas.microsoft.com/office/drawing/2014/main" id="{3AE413FE-8A69-7CCC-E6BB-929397457EFE}"/>
              </a:ext>
            </a:extLst>
          </p:cNvPr>
          <p:cNvGrpSpPr/>
          <p:nvPr/>
        </p:nvGrpSpPr>
        <p:grpSpPr>
          <a:xfrm>
            <a:off x="4977284" y="3074632"/>
            <a:ext cx="2000000" cy="1685164"/>
            <a:chOff x="7259646" y="1170543"/>
            <a:chExt cx="2000000" cy="1685164"/>
          </a:xfrm>
        </p:grpSpPr>
        <p:sp>
          <p:nvSpPr>
            <p:cNvPr id="130" name="R216">
              <a:extLst>
                <a:ext uri="{FF2B5EF4-FFF2-40B4-BE49-F238E27FC236}">
                  <a16:creationId xmlns:a16="http://schemas.microsoft.com/office/drawing/2014/main" id="{230889C1-393B-53DE-7A86-C3832E976BA4}"/>
                </a:ext>
              </a:extLst>
            </p:cNvPr>
            <p:cNvSpPr/>
            <p:nvPr/>
          </p:nvSpPr>
          <p:spPr>
            <a:xfrm>
              <a:off x="7259646" y="1405707"/>
              <a:ext cx="2000000" cy="1450000"/>
            </a:xfrm>
            <a:prstGeom prst="roundRect">
              <a:avLst/>
            </a:prstGeom>
            <a:solidFill>
              <a:schemeClr val="tx2">
                <a:lumMod val="10000"/>
                <a:lumOff val="90000"/>
                <a:alpha val="78000"/>
              </a:schemeClr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" name="TB217">
              <a:extLst>
                <a:ext uri="{FF2B5EF4-FFF2-40B4-BE49-F238E27FC236}">
                  <a16:creationId xmlns:a16="http://schemas.microsoft.com/office/drawing/2014/main" id="{32B7D915-E037-1E98-08ED-40F76D5E3FB4}"/>
                </a:ext>
              </a:extLst>
            </p:cNvPr>
            <p:cNvSpPr txBox="1"/>
            <p:nvPr/>
          </p:nvSpPr>
          <p:spPr>
            <a:xfrm>
              <a:off x="7429646" y="1525707"/>
              <a:ext cx="1700000" cy="450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rmAutofit/>
            </a:bodyPr>
            <a:lstStyle/>
            <a:p>
              <a:pPr algn="l"/>
              <a:r>
                <a:rPr lang="en-US" sz="2800" b="1">
                  <a:solidFill>
                    <a:srgbClr val="0A453E"/>
                  </a:solidFill>
                  <a:latin typeface="Arial"/>
                </a:rPr>
                <a:t>8</a:t>
              </a:r>
            </a:p>
          </p:txBody>
        </p:sp>
        <p:sp>
          <p:nvSpPr>
            <p:cNvPr id="134" name="TB218">
              <a:extLst>
                <a:ext uri="{FF2B5EF4-FFF2-40B4-BE49-F238E27FC236}">
                  <a16:creationId xmlns:a16="http://schemas.microsoft.com/office/drawing/2014/main" id="{E193DB46-6026-432B-BFC8-BADEAC9CFF05}"/>
                </a:ext>
              </a:extLst>
            </p:cNvPr>
            <p:cNvSpPr txBox="1"/>
            <p:nvPr/>
          </p:nvSpPr>
          <p:spPr>
            <a:xfrm>
              <a:off x="7429646" y="2025707"/>
              <a:ext cx="1700000" cy="450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rmAutofit/>
            </a:bodyPr>
            <a:lstStyle/>
            <a:p>
              <a:pPr algn="l"/>
              <a:r>
                <a:rPr lang="en-US" sz="1200" b="1">
                  <a:solidFill>
                    <a:srgbClr val="0A443E"/>
                  </a:solidFill>
                </a:rPr>
                <a:t>AI-POWERED CLM</a:t>
              </a:r>
            </a:p>
          </p:txBody>
        </p:sp>
        <p:sp>
          <p:nvSpPr>
            <p:cNvPr id="136" name="TB219">
              <a:extLst>
                <a:ext uri="{FF2B5EF4-FFF2-40B4-BE49-F238E27FC236}">
                  <a16:creationId xmlns:a16="http://schemas.microsoft.com/office/drawing/2014/main" id="{96DB7F2E-B58A-AC0A-C5C5-DBD9B1813C77}"/>
                </a:ext>
              </a:extLst>
            </p:cNvPr>
            <p:cNvSpPr txBox="1"/>
            <p:nvPr/>
          </p:nvSpPr>
          <p:spPr>
            <a:xfrm>
              <a:off x="7429646" y="2463935"/>
              <a:ext cx="1700000" cy="300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/>
              <a:r>
                <a:rPr lang="en-US" sz="1000" b="0">
                  <a:solidFill>
                    <a:schemeClr val="bg2">
                      <a:lumMod val="50000"/>
                    </a:schemeClr>
                  </a:solidFill>
                  <a:latin typeface="Arial"/>
                </a:rPr>
                <a:t>Automated risk detection &amp; renewal tracking</a:t>
              </a:r>
            </a:p>
          </p:txBody>
        </p:sp>
        <p:pic>
          <p:nvPicPr>
            <p:cNvPr id="192" name="Gráfico 191" descr="Internet das Coisas com preenchimento sólido">
              <a:extLst>
                <a:ext uri="{FF2B5EF4-FFF2-40B4-BE49-F238E27FC236}">
                  <a16:creationId xmlns:a16="http://schemas.microsoft.com/office/drawing/2014/main" id="{92359E6E-2902-8466-C72D-488B6EED76D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642800" y="1411607"/>
              <a:ext cx="484100" cy="484100"/>
            </a:xfrm>
            <a:prstGeom prst="rect">
              <a:avLst/>
            </a:prstGeom>
          </p:spPr>
        </p:pic>
        <p:pic>
          <p:nvPicPr>
            <p:cNvPr id="212" name="Imagem 211">
              <a:extLst>
                <a:ext uri="{FF2B5EF4-FFF2-40B4-BE49-F238E27FC236}">
                  <a16:creationId xmlns:a16="http://schemas.microsoft.com/office/drawing/2014/main" id="{46CC8CD2-71FC-1C64-4BFF-C00E2195BC2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043452" y="1170543"/>
              <a:ext cx="472388" cy="461051"/>
            </a:xfrm>
            <a:prstGeom prst="ellipse">
              <a:avLst/>
            </a:prstGeom>
          </p:spPr>
        </p:pic>
      </p:grp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B935F19D-AC43-BAAA-CF1E-309807AC6A66}"/>
              </a:ext>
            </a:extLst>
          </p:cNvPr>
          <p:cNvGrpSpPr/>
          <p:nvPr/>
        </p:nvGrpSpPr>
        <p:grpSpPr>
          <a:xfrm>
            <a:off x="9308174" y="3074632"/>
            <a:ext cx="2000000" cy="1685164"/>
            <a:chOff x="9414646" y="1170543"/>
            <a:chExt cx="2000000" cy="1685164"/>
          </a:xfrm>
        </p:grpSpPr>
        <p:sp>
          <p:nvSpPr>
            <p:cNvPr id="138" name="R220">
              <a:extLst>
                <a:ext uri="{FF2B5EF4-FFF2-40B4-BE49-F238E27FC236}">
                  <a16:creationId xmlns:a16="http://schemas.microsoft.com/office/drawing/2014/main" id="{D9EDC1DC-9191-5267-EEFB-20CFBB37E661}"/>
                </a:ext>
              </a:extLst>
            </p:cNvPr>
            <p:cNvSpPr/>
            <p:nvPr/>
          </p:nvSpPr>
          <p:spPr>
            <a:xfrm>
              <a:off x="9414646" y="1405707"/>
              <a:ext cx="2000000" cy="1450000"/>
            </a:xfrm>
            <a:prstGeom prst="roundRect">
              <a:avLst/>
            </a:prstGeom>
            <a:solidFill>
              <a:schemeClr val="tx2">
                <a:lumMod val="10000"/>
                <a:lumOff val="90000"/>
                <a:alpha val="78000"/>
              </a:schemeClr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" name="TB221">
              <a:extLst>
                <a:ext uri="{FF2B5EF4-FFF2-40B4-BE49-F238E27FC236}">
                  <a16:creationId xmlns:a16="http://schemas.microsoft.com/office/drawing/2014/main" id="{4E722C94-8352-F005-948A-B3A66B695A80}"/>
                </a:ext>
              </a:extLst>
            </p:cNvPr>
            <p:cNvSpPr txBox="1"/>
            <p:nvPr/>
          </p:nvSpPr>
          <p:spPr>
            <a:xfrm>
              <a:off x="9584646" y="1525707"/>
              <a:ext cx="1700000" cy="450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rmAutofit/>
            </a:bodyPr>
            <a:lstStyle/>
            <a:p>
              <a:pPr algn="l"/>
              <a:r>
                <a:rPr lang="en-US" sz="2800" b="1">
                  <a:solidFill>
                    <a:srgbClr val="0A453E"/>
                  </a:solidFill>
                  <a:latin typeface="Arial"/>
                </a:rPr>
                <a:t>10</a:t>
              </a:r>
            </a:p>
          </p:txBody>
        </p:sp>
        <p:sp>
          <p:nvSpPr>
            <p:cNvPr id="142" name="TB222">
              <a:extLst>
                <a:ext uri="{FF2B5EF4-FFF2-40B4-BE49-F238E27FC236}">
                  <a16:creationId xmlns:a16="http://schemas.microsoft.com/office/drawing/2014/main" id="{3D0F3399-7289-FF24-5042-D809702F806F}"/>
                </a:ext>
              </a:extLst>
            </p:cNvPr>
            <p:cNvSpPr txBox="1"/>
            <p:nvPr/>
          </p:nvSpPr>
          <p:spPr>
            <a:xfrm>
              <a:off x="9584646" y="2025707"/>
              <a:ext cx="1700000" cy="450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rmAutofit/>
            </a:bodyPr>
            <a:lstStyle/>
            <a:p>
              <a:pPr algn="l"/>
              <a:r>
                <a:rPr lang="en-US" sz="1200" b="1">
                  <a:solidFill>
                    <a:srgbClr val="0A443E"/>
                  </a:solidFill>
                </a:rPr>
                <a:t>PURCHASING ALLIANCES</a:t>
              </a:r>
            </a:p>
          </p:txBody>
        </p:sp>
        <p:sp>
          <p:nvSpPr>
            <p:cNvPr id="144" name="TB223">
              <a:extLst>
                <a:ext uri="{FF2B5EF4-FFF2-40B4-BE49-F238E27FC236}">
                  <a16:creationId xmlns:a16="http://schemas.microsoft.com/office/drawing/2014/main" id="{955A8681-30D7-83C9-97A3-7CD05D917993}"/>
                </a:ext>
              </a:extLst>
            </p:cNvPr>
            <p:cNvSpPr txBox="1"/>
            <p:nvPr/>
          </p:nvSpPr>
          <p:spPr>
            <a:xfrm>
              <a:off x="9584646" y="2463935"/>
              <a:ext cx="1700000" cy="300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/>
              <a:r>
                <a:rPr lang="en-US" sz="1000" b="0">
                  <a:solidFill>
                    <a:schemeClr val="bg2">
                      <a:lumMod val="50000"/>
                    </a:schemeClr>
                  </a:solidFill>
                  <a:latin typeface="Arial"/>
                </a:rPr>
                <a:t>Join </a:t>
              </a:r>
              <a:r>
                <a:rPr lang="en-US" sz="1000">
                  <a:solidFill>
                    <a:schemeClr val="bg2">
                      <a:lumMod val="50000"/>
                    </a:schemeClr>
                  </a:solidFill>
                  <a:latin typeface="Arial"/>
                </a:rPr>
                <a:t>b</a:t>
              </a:r>
              <a:r>
                <a:rPr lang="en-US" sz="1000" b="0">
                  <a:solidFill>
                    <a:schemeClr val="bg2">
                      <a:lumMod val="50000"/>
                    </a:schemeClr>
                  </a:solidFill>
                  <a:latin typeface="Arial"/>
                </a:rPr>
                <a:t>uying groups for scale pricing</a:t>
              </a:r>
            </a:p>
          </p:txBody>
        </p:sp>
        <p:pic>
          <p:nvPicPr>
            <p:cNvPr id="194" name="Gráfico 193" descr="Sucesso do grupo com preenchimento sólido">
              <a:extLst>
                <a:ext uri="{FF2B5EF4-FFF2-40B4-BE49-F238E27FC236}">
                  <a16:creationId xmlns:a16="http://schemas.microsoft.com/office/drawing/2014/main" id="{548868E9-1C0A-EA3E-4355-E612FA35217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0792001" y="1475707"/>
              <a:ext cx="480000" cy="480000"/>
            </a:xfrm>
            <a:prstGeom prst="rect">
              <a:avLst/>
            </a:prstGeom>
          </p:spPr>
        </p:pic>
        <p:pic>
          <p:nvPicPr>
            <p:cNvPr id="214" name="Imagem 213">
              <a:extLst>
                <a:ext uri="{FF2B5EF4-FFF2-40B4-BE49-F238E27FC236}">
                  <a16:creationId xmlns:a16="http://schemas.microsoft.com/office/drawing/2014/main" id="{A975C993-7CCC-81C6-694E-713BCB65E2F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0237558" y="1170543"/>
              <a:ext cx="475984" cy="461051"/>
            </a:xfrm>
            <a:prstGeom prst="ellipse">
              <a:avLst/>
            </a:prstGeom>
          </p:spPr>
        </p:pic>
      </p:grpSp>
      <p:grpSp>
        <p:nvGrpSpPr>
          <p:cNvPr id="4" name="Agrupar 3">
            <a:extLst>
              <a:ext uri="{FF2B5EF4-FFF2-40B4-BE49-F238E27FC236}">
                <a16:creationId xmlns:a16="http://schemas.microsoft.com/office/drawing/2014/main" id="{23A47ED5-4560-2BBF-16DC-1CCE2513BDDD}"/>
              </a:ext>
            </a:extLst>
          </p:cNvPr>
          <p:cNvGrpSpPr/>
          <p:nvPr/>
        </p:nvGrpSpPr>
        <p:grpSpPr>
          <a:xfrm>
            <a:off x="2811839" y="1364665"/>
            <a:ext cx="2000000" cy="1636940"/>
            <a:chOff x="794646" y="2999397"/>
            <a:chExt cx="2000000" cy="1636940"/>
          </a:xfrm>
        </p:grpSpPr>
        <p:sp>
          <p:nvSpPr>
            <p:cNvPr id="146" name="R224">
              <a:extLst>
                <a:ext uri="{FF2B5EF4-FFF2-40B4-BE49-F238E27FC236}">
                  <a16:creationId xmlns:a16="http://schemas.microsoft.com/office/drawing/2014/main" id="{CFDA7900-9E88-50DF-5772-7423B31F2EAC}"/>
                </a:ext>
              </a:extLst>
            </p:cNvPr>
            <p:cNvSpPr/>
            <p:nvPr/>
          </p:nvSpPr>
          <p:spPr>
            <a:xfrm>
              <a:off x="794646" y="3186337"/>
              <a:ext cx="2000000" cy="1450000"/>
            </a:xfrm>
            <a:prstGeom prst="roundRect">
              <a:avLst/>
            </a:prstGeom>
            <a:solidFill>
              <a:schemeClr val="tx2">
                <a:lumMod val="10000"/>
                <a:lumOff val="90000"/>
                <a:alpha val="78000"/>
              </a:schemeClr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" name="TB225">
              <a:extLst>
                <a:ext uri="{FF2B5EF4-FFF2-40B4-BE49-F238E27FC236}">
                  <a16:creationId xmlns:a16="http://schemas.microsoft.com/office/drawing/2014/main" id="{AD13DC2F-495C-A19A-D5A5-9551B1B045D3}"/>
                </a:ext>
              </a:extLst>
            </p:cNvPr>
            <p:cNvSpPr txBox="1"/>
            <p:nvPr/>
          </p:nvSpPr>
          <p:spPr>
            <a:xfrm>
              <a:off x="964646" y="3306337"/>
              <a:ext cx="1700000" cy="450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rmAutofit/>
            </a:bodyPr>
            <a:lstStyle/>
            <a:p>
              <a:pPr algn="l"/>
              <a:r>
                <a:rPr lang="en-US" sz="2800" b="1">
                  <a:solidFill>
                    <a:srgbClr val="0A453E"/>
                  </a:solidFill>
                  <a:latin typeface="Arial"/>
                </a:rPr>
                <a:t>2</a:t>
              </a:r>
            </a:p>
          </p:txBody>
        </p:sp>
        <p:sp>
          <p:nvSpPr>
            <p:cNvPr id="150" name="TB226">
              <a:extLst>
                <a:ext uri="{FF2B5EF4-FFF2-40B4-BE49-F238E27FC236}">
                  <a16:creationId xmlns:a16="http://schemas.microsoft.com/office/drawing/2014/main" id="{52FA730A-B4F4-7622-DC37-4970E6E23514}"/>
                </a:ext>
              </a:extLst>
            </p:cNvPr>
            <p:cNvSpPr txBox="1"/>
            <p:nvPr/>
          </p:nvSpPr>
          <p:spPr>
            <a:xfrm>
              <a:off x="964646" y="3806337"/>
              <a:ext cx="1700000" cy="450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rmAutofit/>
            </a:bodyPr>
            <a:lstStyle/>
            <a:p>
              <a:pPr algn="l"/>
              <a:r>
                <a:rPr lang="en-US" sz="1200" b="1">
                  <a:solidFill>
                    <a:srgbClr val="0A443E"/>
                  </a:solidFill>
                </a:rPr>
                <a:t>TOTAL COST OF OWNERSHIP</a:t>
              </a:r>
            </a:p>
          </p:txBody>
        </p:sp>
        <p:sp>
          <p:nvSpPr>
            <p:cNvPr id="152" name="TB227">
              <a:extLst>
                <a:ext uri="{FF2B5EF4-FFF2-40B4-BE49-F238E27FC236}">
                  <a16:creationId xmlns:a16="http://schemas.microsoft.com/office/drawing/2014/main" id="{C8B1F82D-8B7E-87ED-BE1A-F7A0F95CA684}"/>
                </a:ext>
              </a:extLst>
            </p:cNvPr>
            <p:cNvSpPr txBox="1"/>
            <p:nvPr/>
          </p:nvSpPr>
          <p:spPr>
            <a:xfrm>
              <a:off x="964646" y="4244565"/>
              <a:ext cx="1700000" cy="300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rmAutofit lnSpcReduction="10000"/>
            </a:bodyPr>
            <a:lstStyle/>
            <a:p>
              <a:pPr algn="l"/>
              <a:r>
                <a:rPr lang="en-US" sz="1000" b="0">
                  <a:solidFill>
                    <a:schemeClr val="bg2">
                      <a:lumMod val="50000"/>
                    </a:schemeClr>
                  </a:solidFill>
                  <a:latin typeface="Arial"/>
                </a:rPr>
                <a:t>Evaluate lifecycle cost, not unit price</a:t>
              </a:r>
            </a:p>
          </p:txBody>
        </p:sp>
        <p:pic>
          <p:nvPicPr>
            <p:cNvPr id="196" name="Gráfico 195" descr="Gráfico de pizza com preenchimento sólido">
              <a:extLst>
                <a:ext uri="{FF2B5EF4-FFF2-40B4-BE49-F238E27FC236}">
                  <a16:creationId xmlns:a16="http://schemas.microsoft.com/office/drawing/2014/main" id="{165A429C-BFEA-398C-1F96-35675391F45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2281152" y="3236337"/>
              <a:ext cx="441138" cy="441138"/>
            </a:xfrm>
            <a:prstGeom prst="rect">
              <a:avLst/>
            </a:prstGeom>
          </p:spPr>
        </p:pic>
        <p:pic>
          <p:nvPicPr>
            <p:cNvPr id="216" name="Imagem 215">
              <a:extLst>
                <a:ext uri="{FF2B5EF4-FFF2-40B4-BE49-F238E27FC236}">
                  <a16:creationId xmlns:a16="http://schemas.microsoft.com/office/drawing/2014/main" id="{C22859EE-2E8E-051E-69B5-274BCE9A8B8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60373" y="2999397"/>
              <a:ext cx="468547" cy="461050"/>
            </a:xfrm>
            <a:prstGeom prst="ellipse">
              <a:avLst/>
            </a:prstGeom>
          </p:spPr>
        </p:pic>
      </p:grp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42AEA4B2-7881-4D9E-5F04-9EEB4023DDFF}"/>
              </a:ext>
            </a:extLst>
          </p:cNvPr>
          <p:cNvGrpSpPr/>
          <p:nvPr/>
        </p:nvGrpSpPr>
        <p:grpSpPr>
          <a:xfrm>
            <a:off x="2811839" y="3098744"/>
            <a:ext cx="2000000" cy="1636940"/>
            <a:chOff x="2978133" y="2999397"/>
            <a:chExt cx="2000000" cy="1636940"/>
          </a:xfrm>
        </p:grpSpPr>
        <p:sp>
          <p:nvSpPr>
            <p:cNvPr id="162" name="R232">
              <a:extLst>
                <a:ext uri="{FF2B5EF4-FFF2-40B4-BE49-F238E27FC236}">
                  <a16:creationId xmlns:a16="http://schemas.microsoft.com/office/drawing/2014/main" id="{DC93296F-A60C-F01B-49E8-CC3857F331B0}"/>
                </a:ext>
              </a:extLst>
            </p:cNvPr>
            <p:cNvSpPr/>
            <p:nvPr/>
          </p:nvSpPr>
          <p:spPr>
            <a:xfrm>
              <a:off x="2978133" y="3186337"/>
              <a:ext cx="2000000" cy="1450000"/>
            </a:xfrm>
            <a:prstGeom prst="roundRect">
              <a:avLst/>
            </a:prstGeom>
            <a:solidFill>
              <a:schemeClr val="tx2">
                <a:lumMod val="10000"/>
                <a:lumOff val="90000"/>
                <a:alpha val="78000"/>
              </a:schemeClr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" name="TB233">
              <a:extLst>
                <a:ext uri="{FF2B5EF4-FFF2-40B4-BE49-F238E27FC236}">
                  <a16:creationId xmlns:a16="http://schemas.microsoft.com/office/drawing/2014/main" id="{1DD4ED27-8D28-7D28-8B28-AE8FE8717D69}"/>
                </a:ext>
              </a:extLst>
            </p:cNvPr>
            <p:cNvSpPr txBox="1"/>
            <p:nvPr/>
          </p:nvSpPr>
          <p:spPr>
            <a:xfrm>
              <a:off x="3148133" y="3306337"/>
              <a:ext cx="1700000" cy="450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rmAutofit/>
            </a:bodyPr>
            <a:lstStyle/>
            <a:p>
              <a:pPr algn="l"/>
              <a:r>
                <a:rPr lang="en-US" sz="2800" b="1">
                  <a:solidFill>
                    <a:srgbClr val="0A453E"/>
                  </a:solidFill>
                  <a:latin typeface="Arial"/>
                </a:rPr>
                <a:t>7</a:t>
              </a:r>
            </a:p>
          </p:txBody>
        </p:sp>
        <p:sp>
          <p:nvSpPr>
            <p:cNvPr id="166" name="TB234">
              <a:extLst>
                <a:ext uri="{FF2B5EF4-FFF2-40B4-BE49-F238E27FC236}">
                  <a16:creationId xmlns:a16="http://schemas.microsoft.com/office/drawing/2014/main" id="{BC21D40B-D8E4-B3DB-7920-53D3E86A9D02}"/>
                </a:ext>
              </a:extLst>
            </p:cNvPr>
            <p:cNvSpPr txBox="1"/>
            <p:nvPr/>
          </p:nvSpPr>
          <p:spPr>
            <a:xfrm>
              <a:off x="3148133" y="3806337"/>
              <a:ext cx="1700000" cy="450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rmAutofit/>
            </a:bodyPr>
            <a:lstStyle/>
            <a:p>
              <a:pPr algn="l"/>
              <a:r>
                <a:rPr lang="en-US" sz="1200" b="1">
                  <a:solidFill>
                    <a:srgbClr val="0A443E"/>
                  </a:solidFill>
                </a:rPr>
                <a:t>GLOBAL SOURCING</a:t>
              </a:r>
            </a:p>
          </p:txBody>
        </p:sp>
        <p:sp>
          <p:nvSpPr>
            <p:cNvPr id="168" name="TB235">
              <a:extLst>
                <a:ext uri="{FF2B5EF4-FFF2-40B4-BE49-F238E27FC236}">
                  <a16:creationId xmlns:a16="http://schemas.microsoft.com/office/drawing/2014/main" id="{6ACB10D8-1B5F-63B3-38F6-C1A0B6A04FC1}"/>
                </a:ext>
              </a:extLst>
            </p:cNvPr>
            <p:cNvSpPr txBox="1"/>
            <p:nvPr/>
          </p:nvSpPr>
          <p:spPr>
            <a:xfrm>
              <a:off x="3148133" y="4244565"/>
              <a:ext cx="1700000" cy="300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/>
              <a:r>
                <a:rPr lang="en-US" sz="1000" b="0">
                  <a:solidFill>
                    <a:schemeClr val="bg2">
                      <a:lumMod val="50000"/>
                    </a:schemeClr>
                  </a:solidFill>
                  <a:latin typeface="Arial"/>
                </a:rPr>
                <a:t>Diversify risk-aware geographic spread</a:t>
              </a:r>
            </a:p>
          </p:txBody>
        </p:sp>
        <p:pic>
          <p:nvPicPr>
            <p:cNvPr id="200" name="Gráfico 199" descr="Globo terrestre: Américas com preenchimento sólido">
              <a:extLst>
                <a:ext uri="{FF2B5EF4-FFF2-40B4-BE49-F238E27FC236}">
                  <a16:creationId xmlns:a16="http://schemas.microsoft.com/office/drawing/2014/main" id="{4A23EF7A-9D2B-C3C7-2448-E94874D94A6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4345933" y="3202237"/>
              <a:ext cx="485137" cy="485137"/>
            </a:xfrm>
            <a:prstGeom prst="rect">
              <a:avLst/>
            </a:prstGeom>
          </p:spPr>
        </p:pic>
        <p:pic>
          <p:nvPicPr>
            <p:cNvPr id="218" name="Imagem 217">
              <a:extLst>
                <a:ext uri="{FF2B5EF4-FFF2-40B4-BE49-F238E27FC236}">
                  <a16:creationId xmlns:a16="http://schemas.microsoft.com/office/drawing/2014/main" id="{B32F9947-E676-4DF0-090C-CB309487DD0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741939" y="2999397"/>
              <a:ext cx="472388" cy="461051"/>
            </a:xfrm>
            <a:prstGeom prst="ellipse">
              <a:avLst/>
            </a:prstGeom>
          </p:spPr>
        </p:pic>
      </p:grp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F95F117E-3A41-19FB-ED5C-CD29F59170A6}"/>
              </a:ext>
            </a:extLst>
          </p:cNvPr>
          <p:cNvGrpSpPr/>
          <p:nvPr/>
        </p:nvGrpSpPr>
        <p:grpSpPr>
          <a:xfrm>
            <a:off x="646394" y="3098744"/>
            <a:ext cx="2000000" cy="1636941"/>
            <a:chOff x="823133" y="2999396"/>
            <a:chExt cx="2000000" cy="1636941"/>
          </a:xfrm>
        </p:grpSpPr>
        <p:sp>
          <p:nvSpPr>
            <p:cNvPr id="154" name="R228">
              <a:extLst>
                <a:ext uri="{FF2B5EF4-FFF2-40B4-BE49-F238E27FC236}">
                  <a16:creationId xmlns:a16="http://schemas.microsoft.com/office/drawing/2014/main" id="{1F73186F-4889-F669-A7D7-480BD007FF16}"/>
                </a:ext>
              </a:extLst>
            </p:cNvPr>
            <p:cNvSpPr/>
            <p:nvPr/>
          </p:nvSpPr>
          <p:spPr>
            <a:xfrm>
              <a:off x="823133" y="3186337"/>
              <a:ext cx="2000000" cy="1450000"/>
            </a:xfrm>
            <a:prstGeom prst="roundRect">
              <a:avLst/>
            </a:prstGeom>
            <a:solidFill>
              <a:schemeClr val="tx2">
                <a:lumMod val="10000"/>
                <a:lumOff val="90000"/>
                <a:alpha val="78000"/>
              </a:schemeClr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" name="TB229">
              <a:extLst>
                <a:ext uri="{FF2B5EF4-FFF2-40B4-BE49-F238E27FC236}">
                  <a16:creationId xmlns:a16="http://schemas.microsoft.com/office/drawing/2014/main" id="{CC163BEF-29C9-F71F-E8C9-01A74F5A21E9}"/>
                </a:ext>
              </a:extLst>
            </p:cNvPr>
            <p:cNvSpPr txBox="1"/>
            <p:nvPr/>
          </p:nvSpPr>
          <p:spPr>
            <a:xfrm>
              <a:off x="993133" y="3306337"/>
              <a:ext cx="1700000" cy="450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rmAutofit/>
            </a:bodyPr>
            <a:lstStyle/>
            <a:p>
              <a:pPr algn="l"/>
              <a:r>
                <a:rPr lang="en-US" sz="2800" b="1">
                  <a:solidFill>
                    <a:srgbClr val="0A453E"/>
                  </a:solidFill>
                  <a:latin typeface="Arial"/>
                </a:rPr>
                <a:t>6</a:t>
              </a:r>
            </a:p>
          </p:txBody>
        </p:sp>
        <p:sp>
          <p:nvSpPr>
            <p:cNvPr id="158" name="TB230">
              <a:extLst>
                <a:ext uri="{FF2B5EF4-FFF2-40B4-BE49-F238E27FC236}">
                  <a16:creationId xmlns:a16="http://schemas.microsoft.com/office/drawing/2014/main" id="{48DA4BB8-7967-831E-84B4-87FD4DA3C44F}"/>
                </a:ext>
              </a:extLst>
            </p:cNvPr>
            <p:cNvSpPr txBox="1"/>
            <p:nvPr/>
          </p:nvSpPr>
          <p:spPr>
            <a:xfrm>
              <a:off x="993133" y="3806337"/>
              <a:ext cx="1700000" cy="450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rmAutofit/>
            </a:bodyPr>
            <a:lstStyle/>
            <a:p>
              <a:pPr algn="l"/>
              <a:r>
                <a:rPr lang="en-US" sz="1200" b="1">
                  <a:solidFill>
                    <a:srgbClr val="0A443E"/>
                  </a:solidFill>
                </a:rPr>
                <a:t>SUPPLIER COLLABORATION</a:t>
              </a:r>
            </a:p>
          </p:txBody>
        </p:sp>
        <p:sp>
          <p:nvSpPr>
            <p:cNvPr id="160" name="TB231">
              <a:extLst>
                <a:ext uri="{FF2B5EF4-FFF2-40B4-BE49-F238E27FC236}">
                  <a16:creationId xmlns:a16="http://schemas.microsoft.com/office/drawing/2014/main" id="{8F629766-7493-A796-EFF1-0BB4C3EAD403}"/>
                </a:ext>
              </a:extLst>
            </p:cNvPr>
            <p:cNvSpPr txBox="1"/>
            <p:nvPr/>
          </p:nvSpPr>
          <p:spPr>
            <a:xfrm>
              <a:off x="993133" y="4244565"/>
              <a:ext cx="1700000" cy="300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/>
              <a:r>
                <a:rPr lang="en-US" sz="1000" b="0">
                  <a:solidFill>
                    <a:schemeClr val="bg2">
                      <a:lumMod val="50000"/>
                    </a:schemeClr>
                  </a:solidFill>
                  <a:latin typeface="Arial"/>
                </a:rPr>
                <a:t>Gain-sharing in long-term agreements</a:t>
              </a:r>
            </a:p>
          </p:txBody>
        </p:sp>
        <p:pic>
          <p:nvPicPr>
            <p:cNvPr id="198" name="Gráfico 197" descr="Ciclo com pessoas com preenchimento sólido">
              <a:extLst>
                <a:ext uri="{FF2B5EF4-FFF2-40B4-BE49-F238E27FC236}">
                  <a16:creationId xmlns:a16="http://schemas.microsoft.com/office/drawing/2014/main" id="{964EB5A5-4134-7785-9E30-57219D1B397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2116972" y="3202237"/>
              <a:ext cx="534100" cy="534100"/>
            </a:xfrm>
            <a:prstGeom prst="rect">
              <a:avLst/>
            </a:prstGeom>
          </p:spPr>
        </p:pic>
        <p:pic>
          <p:nvPicPr>
            <p:cNvPr id="220" name="Imagem 219">
              <a:extLst>
                <a:ext uri="{FF2B5EF4-FFF2-40B4-BE49-F238E27FC236}">
                  <a16:creationId xmlns:a16="http://schemas.microsoft.com/office/drawing/2014/main" id="{D61BAC67-396C-A0E1-F355-D48CB3CD638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586939" y="2999396"/>
              <a:ext cx="472389" cy="461052"/>
            </a:xfrm>
            <a:prstGeom prst="ellipse">
              <a:avLst/>
            </a:prstGeom>
          </p:spPr>
        </p:pic>
      </p:grpSp>
      <p:grpSp>
        <p:nvGrpSpPr>
          <p:cNvPr id="7" name="Agrupar 6">
            <a:extLst>
              <a:ext uri="{FF2B5EF4-FFF2-40B4-BE49-F238E27FC236}">
                <a16:creationId xmlns:a16="http://schemas.microsoft.com/office/drawing/2014/main" id="{3DE07EF8-AE99-68EB-A68E-B9048EC547DE}"/>
              </a:ext>
            </a:extLst>
          </p:cNvPr>
          <p:cNvGrpSpPr/>
          <p:nvPr/>
        </p:nvGrpSpPr>
        <p:grpSpPr>
          <a:xfrm>
            <a:off x="4977284" y="1364665"/>
            <a:ext cx="2000000" cy="1636940"/>
            <a:chOff x="7259646" y="2999397"/>
            <a:chExt cx="2000000" cy="1636940"/>
          </a:xfrm>
        </p:grpSpPr>
        <p:sp>
          <p:nvSpPr>
            <p:cNvPr id="170" name="R236">
              <a:extLst>
                <a:ext uri="{FF2B5EF4-FFF2-40B4-BE49-F238E27FC236}">
                  <a16:creationId xmlns:a16="http://schemas.microsoft.com/office/drawing/2014/main" id="{5140A062-0601-002A-9128-D8AAC84B4816}"/>
                </a:ext>
              </a:extLst>
            </p:cNvPr>
            <p:cNvSpPr/>
            <p:nvPr/>
          </p:nvSpPr>
          <p:spPr>
            <a:xfrm>
              <a:off x="7259646" y="3186337"/>
              <a:ext cx="2000000" cy="1450000"/>
            </a:xfrm>
            <a:prstGeom prst="roundRect">
              <a:avLst/>
            </a:prstGeom>
            <a:solidFill>
              <a:schemeClr val="tx2">
                <a:lumMod val="10000"/>
                <a:lumOff val="90000"/>
                <a:alpha val="78000"/>
              </a:schemeClr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2" name="TB237">
              <a:extLst>
                <a:ext uri="{FF2B5EF4-FFF2-40B4-BE49-F238E27FC236}">
                  <a16:creationId xmlns:a16="http://schemas.microsoft.com/office/drawing/2014/main" id="{0F76E0D3-A9B3-DDF6-1A45-96FC0B97B66A}"/>
                </a:ext>
              </a:extLst>
            </p:cNvPr>
            <p:cNvSpPr txBox="1"/>
            <p:nvPr/>
          </p:nvSpPr>
          <p:spPr>
            <a:xfrm>
              <a:off x="7429646" y="3306337"/>
              <a:ext cx="1700000" cy="450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rmAutofit/>
            </a:bodyPr>
            <a:lstStyle/>
            <a:p>
              <a:pPr algn="l"/>
              <a:r>
                <a:rPr lang="en-US" sz="2800" b="1">
                  <a:solidFill>
                    <a:srgbClr val="0A453E"/>
                  </a:solidFill>
                  <a:latin typeface="Arial"/>
                </a:rPr>
                <a:t>3</a:t>
              </a:r>
            </a:p>
          </p:txBody>
        </p:sp>
        <p:sp>
          <p:nvSpPr>
            <p:cNvPr id="174" name="TB238">
              <a:extLst>
                <a:ext uri="{FF2B5EF4-FFF2-40B4-BE49-F238E27FC236}">
                  <a16:creationId xmlns:a16="http://schemas.microsoft.com/office/drawing/2014/main" id="{4D9D169F-F4FE-C39C-0B36-13403122BE78}"/>
                </a:ext>
              </a:extLst>
            </p:cNvPr>
            <p:cNvSpPr txBox="1"/>
            <p:nvPr/>
          </p:nvSpPr>
          <p:spPr>
            <a:xfrm>
              <a:off x="7429646" y="3806337"/>
              <a:ext cx="1700000" cy="450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rmAutofit/>
            </a:bodyPr>
            <a:lstStyle/>
            <a:p>
              <a:pPr algn="l"/>
              <a:r>
                <a:rPr lang="en-US" sz="1200" b="1">
                  <a:solidFill>
                    <a:srgbClr val="0A443E"/>
                  </a:solidFill>
                </a:rPr>
                <a:t>MAVERICK SPEND CONTROL</a:t>
              </a:r>
            </a:p>
          </p:txBody>
        </p:sp>
        <p:sp>
          <p:nvSpPr>
            <p:cNvPr id="176" name="TB239">
              <a:extLst>
                <a:ext uri="{FF2B5EF4-FFF2-40B4-BE49-F238E27FC236}">
                  <a16:creationId xmlns:a16="http://schemas.microsoft.com/office/drawing/2014/main" id="{29605BD0-B150-6047-21A6-2E26F4B84F30}"/>
                </a:ext>
              </a:extLst>
            </p:cNvPr>
            <p:cNvSpPr txBox="1"/>
            <p:nvPr/>
          </p:nvSpPr>
          <p:spPr>
            <a:xfrm>
              <a:off x="7429646" y="4244565"/>
              <a:ext cx="1830000" cy="240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/>
              <a:r>
                <a:rPr lang="en-US" sz="1000" b="0">
                  <a:solidFill>
                    <a:schemeClr val="bg2">
                      <a:lumMod val="50000"/>
                    </a:schemeClr>
                  </a:solidFill>
                  <a:latin typeface="Arial"/>
                </a:rPr>
                <a:t>Enforce PO compliance &amp; e-catalogs</a:t>
              </a:r>
            </a:p>
          </p:txBody>
        </p:sp>
        <p:pic>
          <p:nvPicPr>
            <p:cNvPr id="202" name="Gráfico 201" descr="Área de Transferência Marcada com preenchimento sólido">
              <a:extLst>
                <a:ext uri="{FF2B5EF4-FFF2-40B4-BE49-F238E27FC236}">
                  <a16:creationId xmlns:a16="http://schemas.microsoft.com/office/drawing/2014/main" id="{72B850E8-D762-BAC7-7DBA-0A59F54424B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8641763" y="3202237"/>
              <a:ext cx="485137" cy="485137"/>
            </a:xfrm>
            <a:prstGeom prst="rect">
              <a:avLst/>
            </a:prstGeom>
          </p:spPr>
        </p:pic>
        <p:pic>
          <p:nvPicPr>
            <p:cNvPr id="222" name="Imagem 221">
              <a:extLst>
                <a:ext uri="{FF2B5EF4-FFF2-40B4-BE49-F238E27FC236}">
                  <a16:creationId xmlns:a16="http://schemas.microsoft.com/office/drawing/2014/main" id="{54BEB8A3-F615-7F28-CCA4-57F8DF1BCE8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025373" y="2999397"/>
              <a:ext cx="468547" cy="461050"/>
            </a:xfrm>
            <a:prstGeom prst="ellipse">
              <a:avLst/>
            </a:prstGeom>
          </p:spPr>
        </p:pic>
      </p:grp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BC1054D3-63E8-FDC9-EF58-DC2EED1D0D5B}"/>
              </a:ext>
            </a:extLst>
          </p:cNvPr>
          <p:cNvGrpSpPr/>
          <p:nvPr/>
        </p:nvGrpSpPr>
        <p:grpSpPr>
          <a:xfrm>
            <a:off x="7142729" y="3098744"/>
            <a:ext cx="2000000" cy="1636940"/>
            <a:chOff x="7288133" y="2999397"/>
            <a:chExt cx="2000000" cy="1636940"/>
          </a:xfrm>
        </p:grpSpPr>
        <p:sp>
          <p:nvSpPr>
            <p:cNvPr id="178" name="R240">
              <a:extLst>
                <a:ext uri="{FF2B5EF4-FFF2-40B4-BE49-F238E27FC236}">
                  <a16:creationId xmlns:a16="http://schemas.microsoft.com/office/drawing/2014/main" id="{B779B36D-E57D-DCB8-6BE6-5A3C27ED9738}"/>
                </a:ext>
              </a:extLst>
            </p:cNvPr>
            <p:cNvSpPr/>
            <p:nvPr/>
          </p:nvSpPr>
          <p:spPr>
            <a:xfrm>
              <a:off x="7288133" y="3186337"/>
              <a:ext cx="2000000" cy="1450000"/>
            </a:xfrm>
            <a:prstGeom prst="roundRect">
              <a:avLst/>
            </a:prstGeom>
            <a:solidFill>
              <a:schemeClr val="tx2">
                <a:lumMod val="10000"/>
                <a:lumOff val="90000"/>
                <a:alpha val="78000"/>
              </a:schemeClr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0" name="TB241">
              <a:extLst>
                <a:ext uri="{FF2B5EF4-FFF2-40B4-BE49-F238E27FC236}">
                  <a16:creationId xmlns:a16="http://schemas.microsoft.com/office/drawing/2014/main" id="{6D2264C0-864A-3FA4-EACF-809FCB087BB3}"/>
                </a:ext>
              </a:extLst>
            </p:cNvPr>
            <p:cNvSpPr txBox="1"/>
            <p:nvPr/>
          </p:nvSpPr>
          <p:spPr>
            <a:xfrm>
              <a:off x="7458133" y="3306337"/>
              <a:ext cx="1700000" cy="450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rmAutofit/>
            </a:bodyPr>
            <a:lstStyle/>
            <a:p>
              <a:pPr algn="l"/>
              <a:r>
                <a:rPr lang="en-US" sz="2800" b="1">
                  <a:solidFill>
                    <a:srgbClr val="0A453E"/>
                  </a:solidFill>
                  <a:latin typeface="Arial"/>
                </a:rPr>
                <a:t>9</a:t>
              </a:r>
            </a:p>
          </p:txBody>
        </p:sp>
        <p:sp>
          <p:nvSpPr>
            <p:cNvPr id="182" name="TB242">
              <a:extLst>
                <a:ext uri="{FF2B5EF4-FFF2-40B4-BE49-F238E27FC236}">
                  <a16:creationId xmlns:a16="http://schemas.microsoft.com/office/drawing/2014/main" id="{7700C3B2-637C-E9B2-7C7B-86B1A7E7D446}"/>
                </a:ext>
              </a:extLst>
            </p:cNvPr>
            <p:cNvSpPr txBox="1"/>
            <p:nvPr/>
          </p:nvSpPr>
          <p:spPr>
            <a:xfrm>
              <a:off x="7458133" y="3806337"/>
              <a:ext cx="1700000" cy="450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rmAutofit/>
            </a:bodyPr>
            <a:lstStyle/>
            <a:p>
              <a:pPr algn="l"/>
              <a:r>
                <a:rPr lang="en-US" sz="1200" b="1">
                  <a:solidFill>
                    <a:srgbClr val="0A443E"/>
                  </a:solidFill>
                </a:rPr>
                <a:t>INTEGRATED EPC SOURCING</a:t>
              </a:r>
            </a:p>
          </p:txBody>
        </p:sp>
        <p:sp>
          <p:nvSpPr>
            <p:cNvPr id="184" name="TB243">
              <a:extLst>
                <a:ext uri="{FF2B5EF4-FFF2-40B4-BE49-F238E27FC236}">
                  <a16:creationId xmlns:a16="http://schemas.microsoft.com/office/drawing/2014/main" id="{1B4E5B06-053C-D640-05BD-08AB8178CEF0}"/>
                </a:ext>
              </a:extLst>
            </p:cNvPr>
            <p:cNvSpPr txBox="1"/>
            <p:nvPr/>
          </p:nvSpPr>
          <p:spPr>
            <a:xfrm>
              <a:off x="7458133" y="4244565"/>
              <a:ext cx="1700000" cy="300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rmAutofit lnSpcReduction="10000"/>
            </a:bodyPr>
            <a:lstStyle/>
            <a:p>
              <a:pPr algn="l"/>
              <a:r>
                <a:rPr lang="en-US" sz="1000" b="0">
                  <a:solidFill>
                    <a:schemeClr val="bg2">
                      <a:lumMod val="50000"/>
                    </a:schemeClr>
                  </a:solidFill>
                  <a:latin typeface="Arial"/>
                </a:rPr>
                <a:t>Frame agreements &amp; Spec standardization</a:t>
              </a:r>
            </a:p>
          </p:txBody>
        </p:sp>
        <p:pic>
          <p:nvPicPr>
            <p:cNvPr id="204" name="Gráfico 203" descr="Contrato com preenchimento sólido">
              <a:extLst>
                <a:ext uri="{FF2B5EF4-FFF2-40B4-BE49-F238E27FC236}">
                  <a16:creationId xmlns:a16="http://schemas.microsoft.com/office/drawing/2014/main" id="{B2D918A7-864C-3ECC-8DC8-5CAC1C428BB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8796401" y="3237344"/>
              <a:ext cx="426732" cy="426732"/>
            </a:xfrm>
            <a:prstGeom prst="rect">
              <a:avLst/>
            </a:prstGeom>
          </p:spPr>
        </p:pic>
        <p:pic>
          <p:nvPicPr>
            <p:cNvPr id="224" name="Imagem 223">
              <a:extLst>
                <a:ext uri="{FF2B5EF4-FFF2-40B4-BE49-F238E27FC236}">
                  <a16:creationId xmlns:a16="http://schemas.microsoft.com/office/drawing/2014/main" id="{93B9095C-5D67-755D-A254-8B5A8836443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051939" y="2999397"/>
              <a:ext cx="472388" cy="461051"/>
            </a:xfrm>
            <a:prstGeom prst="ellipse">
              <a:avLst/>
            </a:prstGeom>
          </p:spPr>
        </p:pic>
      </p:grpSp>
      <p:sp>
        <p:nvSpPr>
          <p:cNvPr id="234" name="CaixaDeTexto 233">
            <a:extLst>
              <a:ext uri="{FF2B5EF4-FFF2-40B4-BE49-F238E27FC236}">
                <a16:creationId xmlns:a16="http://schemas.microsoft.com/office/drawing/2014/main" id="{6C81E81E-F514-835D-C96A-B6BC7A50431E}"/>
              </a:ext>
            </a:extLst>
          </p:cNvPr>
          <p:cNvSpPr txBox="1"/>
          <p:nvPr/>
        </p:nvSpPr>
        <p:spPr>
          <a:xfrm>
            <a:off x="178296" y="881773"/>
            <a:ext cx="5689534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altLang="fr-FR" sz="2800" b="1" dirty="0">
                <a:solidFill>
                  <a:srgbClr val="27509B"/>
                </a:solidFill>
                <a:latin typeface="Arial"/>
                <a:cs typeface="Arial"/>
              </a:rPr>
              <a:t>VISION 2026-2030 </a:t>
            </a:r>
          </a:p>
        </p:txBody>
      </p:sp>
      <p:sp>
        <p:nvSpPr>
          <p:cNvPr id="244" name="Titre 9">
            <a:extLst>
              <a:ext uri="{FF2B5EF4-FFF2-40B4-BE49-F238E27FC236}">
                <a16:creationId xmlns:a16="http://schemas.microsoft.com/office/drawing/2014/main" id="{EA82FE22-5E7F-33DA-D264-AEC1A6DE9364}"/>
              </a:ext>
            </a:extLst>
          </p:cNvPr>
          <p:cNvSpPr txBox="1">
            <a:spLocks/>
          </p:cNvSpPr>
          <p:nvPr/>
        </p:nvSpPr>
        <p:spPr>
          <a:xfrm>
            <a:off x="293461" y="5626239"/>
            <a:ext cx="3879731" cy="781389"/>
          </a:xfrm>
          <a:prstGeom prst="rect">
            <a:avLst/>
          </a:prstGeom>
        </p:spPr>
        <p:txBody>
          <a:bodyPr vert="horz" lIns="121920" tIns="60960" rIns="121920" bIns="60960" rtlCol="0" anchor="ctr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400" i="1" kern="1200" baseline="0">
                <a:solidFill>
                  <a:schemeClr val="bg1"/>
                </a:solidFill>
                <a:latin typeface="Arial Black" panose="020B0A04020102090204" pitchFamily="34" charset="0"/>
                <a:ea typeface="+mj-ea"/>
                <a:cs typeface="+mj-cs"/>
              </a:defRPr>
            </a:lvl1pPr>
          </a:lstStyle>
          <a:p>
            <a:pPr marL="285750" indent="-285750" defTabSz="1219170">
              <a:buFont typeface="Arial"/>
              <a:buChar char="•"/>
            </a:pPr>
            <a:r>
              <a:rPr lang="fr-FR" sz="1400" b="1" i="0">
                <a:solidFill>
                  <a:srgbClr val="11246D"/>
                </a:solidFill>
                <a:latin typeface="Arial"/>
                <a:cs typeface="Arial"/>
              </a:rPr>
              <a:t>PPA </a:t>
            </a:r>
            <a:r>
              <a:rPr lang="fr-FR" sz="800" b="1" i="0">
                <a:solidFill>
                  <a:srgbClr val="11246D"/>
                </a:solidFill>
                <a:latin typeface="Arial"/>
                <a:cs typeface="Arial"/>
              </a:rPr>
              <a:t>(</a:t>
            </a:r>
            <a:r>
              <a:rPr lang="fr-FR" sz="800" i="0">
                <a:solidFill>
                  <a:srgbClr val="11246D"/>
                </a:solidFill>
                <a:latin typeface="Arial"/>
                <a:cs typeface="Arial"/>
              </a:rPr>
              <a:t>WATER, EBU, HANDLING, MAINTENANCE, MECHANICAL PARTS, </a:t>
            </a:r>
            <a:r>
              <a:rPr lang="fr-FR" sz="800" i="0" err="1">
                <a:solidFill>
                  <a:srgbClr val="11246D"/>
                </a:solidFill>
                <a:latin typeface="Arial"/>
                <a:cs typeface="Arial"/>
              </a:rPr>
              <a:t>Transitic</a:t>
            </a:r>
            <a:r>
              <a:rPr lang="fr-FR" sz="800" i="0">
                <a:solidFill>
                  <a:srgbClr val="11246D"/>
                </a:solidFill>
                <a:latin typeface="Arial"/>
                <a:cs typeface="Arial"/>
              </a:rPr>
              <a:t>)</a:t>
            </a:r>
          </a:p>
          <a:p>
            <a:pPr marL="285750" indent="-285750" defTabSz="1219170">
              <a:buFont typeface="Arial"/>
              <a:buChar char="•"/>
            </a:pPr>
            <a:endParaRPr lang="fr-FR" sz="800" i="0">
              <a:solidFill>
                <a:srgbClr val="11246D"/>
              </a:solidFill>
              <a:latin typeface="Arial"/>
              <a:cs typeface="Arial"/>
            </a:endParaRPr>
          </a:p>
          <a:p>
            <a:pPr marL="285750" indent="-285750" defTabSz="1219170">
              <a:buFont typeface="Arial"/>
              <a:buChar char="•"/>
            </a:pPr>
            <a:r>
              <a:rPr lang="fr-FR" sz="1400" b="1" i="0">
                <a:solidFill>
                  <a:srgbClr val="11246D"/>
                </a:solidFill>
                <a:latin typeface="Arial"/>
                <a:cs typeface="Arial"/>
              </a:rPr>
              <a:t>ROADMAP</a:t>
            </a:r>
            <a:r>
              <a:rPr lang="fr-FR" sz="1800" i="0">
                <a:solidFill>
                  <a:srgbClr val="11246D"/>
                </a:solidFill>
                <a:latin typeface="Arial"/>
                <a:cs typeface="Arial"/>
              </a:rPr>
              <a:t> </a:t>
            </a:r>
            <a:r>
              <a:rPr lang="fr-FR" sz="1400" i="0">
                <a:solidFill>
                  <a:srgbClr val="11246D"/>
                </a:solidFill>
                <a:latin typeface="Arial"/>
                <a:cs typeface="Arial"/>
              </a:rPr>
              <a:t> </a:t>
            </a:r>
            <a:r>
              <a:rPr lang="fr-FR" sz="800" i="0">
                <a:solidFill>
                  <a:srgbClr val="11246D"/>
                </a:solidFill>
                <a:latin typeface="Arial"/>
                <a:cs typeface="Arial"/>
              </a:rPr>
              <a:t>COMPETITIVITY PLAN X PSV X OPTEX</a:t>
            </a:r>
            <a:endParaRPr lang="fr-FR" sz="1400" b="1" i="0">
              <a:solidFill>
                <a:srgbClr val="11246D"/>
              </a:solidFill>
              <a:latin typeface="Arial"/>
              <a:cs typeface="Arial"/>
            </a:endParaRPr>
          </a:p>
        </p:txBody>
      </p:sp>
      <p:sp>
        <p:nvSpPr>
          <p:cNvPr id="247" name="CaixaDeTexto 246">
            <a:extLst>
              <a:ext uri="{FF2B5EF4-FFF2-40B4-BE49-F238E27FC236}">
                <a16:creationId xmlns:a16="http://schemas.microsoft.com/office/drawing/2014/main" id="{98E00E93-EBE7-9F74-1CC0-6EA810F1A457}"/>
              </a:ext>
            </a:extLst>
          </p:cNvPr>
          <p:cNvSpPr txBox="1"/>
          <p:nvPr/>
        </p:nvSpPr>
        <p:spPr>
          <a:xfrm>
            <a:off x="4723319" y="5626239"/>
            <a:ext cx="259699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defTabSz="1219170">
              <a:buFont typeface="Arial"/>
              <a:buChar char="•"/>
            </a:pPr>
            <a:r>
              <a:rPr lang="fr-FR" sz="1400" b="1" i="0">
                <a:solidFill>
                  <a:srgbClr val="11246D"/>
                </a:solidFill>
                <a:latin typeface="Arial"/>
                <a:cs typeface="Arial"/>
              </a:rPr>
              <a:t>L3M</a:t>
            </a:r>
            <a:r>
              <a:rPr lang="fr-FR" sz="1400" i="0">
                <a:solidFill>
                  <a:srgbClr val="11246D"/>
                </a:solidFill>
                <a:latin typeface="Arial"/>
                <a:cs typeface="Arial"/>
              </a:rPr>
              <a:t> – </a:t>
            </a:r>
            <a:r>
              <a:rPr lang="fr-FR" sz="800" i="0">
                <a:solidFill>
                  <a:srgbClr val="11246D"/>
                </a:solidFill>
                <a:latin typeface="Arial"/>
                <a:cs typeface="Arial"/>
              </a:rPr>
              <a:t>LIFE LONG LEARNING</a:t>
            </a:r>
          </a:p>
          <a:p>
            <a:pPr marL="285750" indent="-285750" defTabSz="1219170">
              <a:buFont typeface="Arial"/>
              <a:buChar char="•"/>
            </a:pPr>
            <a:endParaRPr lang="fr-FR" sz="1400" i="0">
              <a:solidFill>
                <a:srgbClr val="11246D"/>
              </a:solidFill>
              <a:latin typeface="Arial"/>
              <a:cs typeface="Arial"/>
            </a:endParaRPr>
          </a:p>
          <a:p>
            <a:pPr marL="285750" indent="-285750" defTabSz="1219170">
              <a:buFont typeface="Arial"/>
              <a:buChar char="•"/>
            </a:pPr>
            <a:r>
              <a:rPr lang="fr-FR" sz="1400" b="1" i="0">
                <a:solidFill>
                  <a:srgbClr val="11246D"/>
                </a:solidFill>
                <a:latin typeface="Arial"/>
                <a:cs typeface="Arial"/>
              </a:rPr>
              <a:t>BENCHMARK </a:t>
            </a:r>
          </a:p>
        </p:txBody>
      </p:sp>
      <p:sp>
        <p:nvSpPr>
          <p:cNvPr id="249" name="CaixaDeTexto 248">
            <a:extLst>
              <a:ext uri="{FF2B5EF4-FFF2-40B4-BE49-F238E27FC236}">
                <a16:creationId xmlns:a16="http://schemas.microsoft.com/office/drawing/2014/main" id="{96DB0CBD-C89C-5A7B-DE4F-1CBC8069D8EB}"/>
              </a:ext>
            </a:extLst>
          </p:cNvPr>
          <p:cNvSpPr txBox="1"/>
          <p:nvPr/>
        </p:nvSpPr>
        <p:spPr>
          <a:xfrm>
            <a:off x="7556212" y="5626239"/>
            <a:ext cx="4254315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defTabSz="1219170">
              <a:buFont typeface="Arial"/>
              <a:buChar char="•"/>
            </a:pPr>
            <a:r>
              <a:rPr lang="fr-FR" sz="1400" b="1" i="0">
                <a:solidFill>
                  <a:srgbClr val="11246D"/>
                </a:solidFill>
                <a:latin typeface="Arial"/>
                <a:cs typeface="Arial"/>
              </a:rPr>
              <a:t>FAIRS &amp; WORKSHOP</a:t>
            </a:r>
          </a:p>
          <a:p>
            <a:pPr defTabSz="1219170"/>
            <a:endParaRPr lang="fr-FR" sz="1100" i="0">
              <a:solidFill>
                <a:srgbClr val="11246D"/>
              </a:solidFill>
              <a:latin typeface="Arial"/>
              <a:cs typeface="Arial"/>
            </a:endParaRPr>
          </a:p>
          <a:p>
            <a:pPr marL="285750" indent="-285750" defTabSz="1219170">
              <a:buFont typeface="Arial" panose="020B0604020202020204" pitchFamily="34" charset="0"/>
              <a:buChar char="•"/>
            </a:pPr>
            <a:r>
              <a:rPr lang="fr-FR" sz="1400" b="1" i="0">
                <a:solidFill>
                  <a:srgbClr val="11246D"/>
                </a:solidFill>
                <a:latin typeface="Arial"/>
                <a:cs typeface="Arial"/>
              </a:rPr>
              <a:t>BIB FACTOR &amp; Bib innove</a:t>
            </a:r>
          </a:p>
        </p:txBody>
      </p:sp>
      <p:grpSp>
        <p:nvGrpSpPr>
          <p:cNvPr id="259" name="Agrupar 258">
            <a:extLst>
              <a:ext uri="{FF2B5EF4-FFF2-40B4-BE49-F238E27FC236}">
                <a16:creationId xmlns:a16="http://schemas.microsoft.com/office/drawing/2014/main" id="{DFAD39C4-ACE9-600F-8FD3-323F0CC22473}"/>
              </a:ext>
            </a:extLst>
          </p:cNvPr>
          <p:cNvGrpSpPr/>
          <p:nvPr/>
        </p:nvGrpSpPr>
        <p:grpSpPr>
          <a:xfrm>
            <a:off x="178296" y="4731513"/>
            <a:ext cx="11592756" cy="781389"/>
            <a:chOff x="287626" y="4725836"/>
            <a:chExt cx="11592756" cy="781389"/>
          </a:xfrm>
        </p:grpSpPr>
        <p:sp>
          <p:nvSpPr>
            <p:cNvPr id="253" name="Retângulo: Cantos Arredondados 252">
              <a:extLst>
                <a:ext uri="{FF2B5EF4-FFF2-40B4-BE49-F238E27FC236}">
                  <a16:creationId xmlns:a16="http://schemas.microsoft.com/office/drawing/2014/main" id="{2D865776-825C-4633-6C82-39019314CAFF}"/>
                </a:ext>
              </a:extLst>
            </p:cNvPr>
            <p:cNvSpPr/>
            <p:nvPr/>
          </p:nvSpPr>
          <p:spPr>
            <a:xfrm>
              <a:off x="287626" y="4918589"/>
              <a:ext cx="11592756" cy="446375"/>
            </a:xfrm>
            <a:prstGeom prst="roundRect">
              <a:avLst>
                <a:gd name="adj" fmla="val 21319"/>
              </a:avLst>
            </a:prstGeom>
            <a:solidFill>
              <a:srgbClr val="00205B">
                <a:alpha val="85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endParaRPr lang="en-US"/>
            </a:p>
          </p:txBody>
        </p:sp>
        <p:sp>
          <p:nvSpPr>
            <p:cNvPr id="251" name="CaixaDeTexto 250">
              <a:extLst>
                <a:ext uri="{FF2B5EF4-FFF2-40B4-BE49-F238E27FC236}">
                  <a16:creationId xmlns:a16="http://schemas.microsoft.com/office/drawing/2014/main" id="{61CAE205-E997-D946-4B6E-9BA6E3424F39}"/>
                </a:ext>
              </a:extLst>
            </p:cNvPr>
            <p:cNvSpPr txBox="1"/>
            <p:nvPr/>
          </p:nvSpPr>
          <p:spPr>
            <a:xfrm>
              <a:off x="1163682" y="4979756"/>
              <a:ext cx="687977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1219170"/>
              <a:r>
                <a:rPr lang="fr-FR" altLang="fr-FR" sz="1600" b="1" i="0">
                  <a:solidFill>
                    <a:schemeClr val="bg1"/>
                  </a:solidFill>
                  <a:latin typeface="Arial"/>
                  <a:cs typeface="Arial"/>
                </a:rPr>
                <a:t>ENCOURAGE:</a:t>
              </a:r>
              <a:endParaRPr lang="fr-FR" altLang="fr-FR" sz="1600" i="0">
                <a:solidFill>
                  <a:schemeClr val="bg1"/>
                </a:solidFill>
                <a:latin typeface="Arial"/>
                <a:cs typeface="Arial"/>
              </a:endParaRPr>
            </a:p>
          </p:txBody>
        </p:sp>
        <p:pic>
          <p:nvPicPr>
            <p:cNvPr id="255" name="Graphique 41">
              <a:extLst>
                <a:ext uri="{FF2B5EF4-FFF2-40B4-BE49-F238E27FC236}">
                  <a16:creationId xmlns:a16="http://schemas.microsoft.com/office/drawing/2014/main" id="{9C42CAE5-082D-DA0A-4568-ABAAF4D15A0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385195" y="4725836"/>
              <a:ext cx="789362" cy="78138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62222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4458049"/>
      </p:ext>
    </p:extLst>
  </p:cSld>
  <p:clrMapOvr>
    <a:masterClrMapping/>
  </p:clrMapOvr>
</p:sld>
</file>

<file path=ppt/theme/theme1.xml><?xml version="1.0" encoding="utf-8"?>
<a:theme xmlns:a="http://schemas.openxmlformats.org/drawingml/2006/main" name="2_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1B9D66E95134B4D9EA7E33B72B389DD" ma:contentTypeVersion="13" ma:contentTypeDescription="Create a new document." ma:contentTypeScope="" ma:versionID="99a00a7177e852d0e95eb3e3e3c6d4dd">
  <xsd:schema xmlns:xsd="http://www.w3.org/2001/XMLSchema" xmlns:xs="http://www.w3.org/2001/XMLSchema" xmlns:p="http://schemas.microsoft.com/office/2006/metadata/properties" xmlns:ns2="b4d3298e-91d2-4705-ba68-bdad5a8fe449" xmlns:ns3="b64d671b-c4af-492e-a8be-ab385b079d9b" targetNamespace="http://schemas.microsoft.com/office/2006/metadata/properties" ma:root="true" ma:fieldsID="5b91a356aacd87e6e1772f75b6197e52" ns2:_="" ns3:_="">
    <xsd:import namespace="b4d3298e-91d2-4705-ba68-bdad5a8fe449"/>
    <xsd:import namespace="b64d671b-c4af-492e-a8be-ab385b079d9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d3298e-91d2-4705-ba68-bdad5a8fe44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baec4aeb-d159-410d-8e29-7b8081bc29f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64d671b-c4af-492e-a8be-ab385b079d9b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0e323dc3-0882-4891-b50a-0e78b81b05eb}" ma:internalName="TaxCatchAll" ma:showField="CatchAllData" ma:web="b64d671b-c4af-492e-a8be-ab385b079d9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64d671b-c4af-492e-a8be-ab385b079d9b" xsi:nil="true"/>
    <lcf76f155ced4ddcb4097134ff3c332f xmlns="b4d3298e-91d2-4705-ba68-bdad5a8fe449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7B54524-7552-432A-A0D6-7408A73E4AA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4d3298e-91d2-4705-ba68-bdad5a8fe449"/>
    <ds:schemaRef ds:uri="b64d671b-c4af-492e-a8be-ab385b079d9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EE9910D-39C4-4FD5-BEB0-03052A1B0861}">
  <ds:schemaRefs>
    <ds:schemaRef ds:uri="http://www.w3.org/XML/1998/namespace"/>
    <ds:schemaRef ds:uri="http://schemas.microsoft.com/office/2006/documentManagement/types"/>
    <ds:schemaRef ds:uri="http://purl.org/dc/elements/1.1/"/>
    <ds:schemaRef ds:uri="http://purl.org/dc/dcmitype/"/>
    <ds:schemaRef ds:uri="http://schemas.microsoft.com/office/2006/metadata/properties"/>
    <ds:schemaRef ds:uri="b64d671b-c4af-492e-a8be-ab385b079d9b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b4d3298e-91d2-4705-ba68-bdad5a8fe449"/>
  </ds:schemaRefs>
</ds:datastoreItem>
</file>

<file path=customXml/itemProps3.xml><?xml version="1.0" encoding="utf-8"?>
<ds:datastoreItem xmlns:ds="http://schemas.openxmlformats.org/officeDocument/2006/customXml" ds:itemID="{4CF1DF28-D25B-48B2-9333-7B16D5CB699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29257</TotalTime>
  <Words>4850</Words>
  <Application>Microsoft Office PowerPoint</Application>
  <PresentationFormat>Widescreen</PresentationFormat>
  <Paragraphs>724</Paragraphs>
  <Slides>30</Slides>
  <Notes>25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3</vt:i4>
      </vt:variant>
      <vt:variant>
        <vt:lpstr>Títulos de slides</vt:lpstr>
      </vt:variant>
      <vt:variant>
        <vt:i4>30</vt:i4>
      </vt:variant>
    </vt:vector>
  </HeadingPairs>
  <TitlesOfParts>
    <vt:vector size="41" baseType="lpstr">
      <vt:lpstr>Arial</vt:lpstr>
      <vt:lpstr>Arial Black</vt:lpstr>
      <vt:lpstr>Calibri</vt:lpstr>
      <vt:lpstr>Inter</vt:lpstr>
      <vt:lpstr>Inter Bold</vt:lpstr>
      <vt:lpstr>Lucida Grande</vt:lpstr>
      <vt:lpstr>Open Sans</vt:lpstr>
      <vt:lpstr>Wingdings</vt:lpstr>
      <vt:lpstr>2_Thème Office</vt:lpstr>
      <vt:lpstr>3_Thème Office</vt:lpstr>
      <vt:lpstr>4_Thème Office</vt:lpstr>
      <vt:lpstr>PPA :</vt:lpstr>
      <vt:lpstr>PPA: AGENDA</vt:lpstr>
      <vt:lpstr>Sênior Buyer</vt:lpstr>
      <vt:lpstr>Apresentação do PowerPoint</vt:lpstr>
      <vt:lpstr>Apresentação do PowerPoint</vt:lpstr>
      <vt:lpstr>Apresentação do PowerPoint</vt:lpstr>
      <vt:lpstr>Apresentação do PowerPoint</vt:lpstr>
      <vt:lpstr>National Market Analysis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Internal Analysis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Conclusion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PPA Maintenance 2026</dc:title>
  <dc:creator>Jean Somogyi</dc:creator>
  <cp:lastModifiedBy>Jean Somogyi</cp:lastModifiedBy>
  <cp:revision>338</cp:revision>
  <dcterms:created xsi:type="dcterms:W3CDTF">2020-09-28T12:34:56Z</dcterms:created>
  <dcterms:modified xsi:type="dcterms:W3CDTF">2026-10-20T02:57:02Z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0x01010071B9D66E95134B4D9EA7E33B72B389DD</vt:lpwstr>
  </property>
  <property fmtid="{D5CDD505-2E9C-101B-9397-08002B2CF9AE}" pid="3" name="MSIP_Label_09e9a456-2778-4ca9-be06-1190b1e1118a_Enabled">
    <vt:lpwstr>true</vt:lpwstr>
  </property>
  <property fmtid="{D5CDD505-2E9C-101B-9397-08002B2CF9AE}" pid="4" name="MSIP_Label_09e9a456-2778-4ca9-be06-1190b1e1118a_SetDate">
    <vt:lpwstr>2022-01-06T08:46:52Z</vt:lpwstr>
  </property>
  <property fmtid="{D5CDD505-2E9C-101B-9397-08002B2CF9AE}" pid="5" name="MSIP_Label_09e9a456-2778-4ca9-be06-1190b1e1118a_Method">
    <vt:lpwstr>Standard</vt:lpwstr>
  </property>
  <property fmtid="{D5CDD505-2E9C-101B-9397-08002B2CF9AE}" pid="6" name="MSIP_Label_09e9a456-2778-4ca9-be06-1190b1e1118a_Name">
    <vt:lpwstr>D3</vt:lpwstr>
  </property>
  <property fmtid="{D5CDD505-2E9C-101B-9397-08002B2CF9AE}" pid="7" name="MSIP_Label_09e9a456-2778-4ca9-be06-1190b1e1118a_SiteId">
    <vt:lpwstr>658ba197-6c73-4fea-91bd-1c7d8de6bf2c</vt:lpwstr>
  </property>
  <property fmtid="{D5CDD505-2E9C-101B-9397-08002B2CF9AE}" pid="8" name="MSIP_Label_09e9a456-2778-4ca9-be06-1190b1e1118a_ActionId">
    <vt:lpwstr>5c23438b-e9dd-4c2e-bea4-1c0f4e77bcab</vt:lpwstr>
  </property>
  <property fmtid="{D5CDD505-2E9C-101B-9397-08002B2CF9AE}" pid="9" name="MSIP_Label_09e9a456-2778-4ca9-be06-1190b1e1118a_ContentBits">
    <vt:lpwstr>0</vt:lpwstr>
  </property>
  <property fmtid="{D5CDD505-2E9C-101B-9397-08002B2CF9AE}" pid="10" name="MediaServiceImageTags">
    <vt:lpwstr/>
  </property>
</Properties>
</file>